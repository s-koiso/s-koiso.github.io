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76"/>
  </p:notesMasterIdLst>
  <p:handoutMasterIdLst>
    <p:handoutMasterId r:id="rId77"/>
  </p:handoutMasterIdLst>
  <p:sldIdLst>
    <p:sldId id="314" r:id="rId5"/>
    <p:sldId id="326" r:id="rId6"/>
    <p:sldId id="334" r:id="rId7"/>
    <p:sldId id="336" r:id="rId8"/>
    <p:sldId id="335" r:id="rId9"/>
    <p:sldId id="330" r:id="rId10"/>
    <p:sldId id="402" r:id="rId11"/>
    <p:sldId id="337" r:id="rId12"/>
    <p:sldId id="338" r:id="rId13"/>
    <p:sldId id="339" r:id="rId14"/>
    <p:sldId id="403" r:id="rId15"/>
    <p:sldId id="344" r:id="rId16"/>
    <p:sldId id="361" r:id="rId17"/>
    <p:sldId id="404" r:id="rId18"/>
    <p:sldId id="346" r:id="rId19"/>
    <p:sldId id="345" r:id="rId20"/>
    <p:sldId id="347" r:id="rId21"/>
    <p:sldId id="362" r:id="rId22"/>
    <p:sldId id="348" r:id="rId23"/>
    <p:sldId id="363" r:id="rId24"/>
    <p:sldId id="364" r:id="rId25"/>
    <p:sldId id="365" r:id="rId26"/>
    <p:sldId id="376" r:id="rId27"/>
    <p:sldId id="377" r:id="rId28"/>
    <p:sldId id="380" r:id="rId29"/>
    <p:sldId id="381" r:id="rId30"/>
    <p:sldId id="382" r:id="rId31"/>
    <p:sldId id="383" r:id="rId32"/>
    <p:sldId id="405" r:id="rId33"/>
    <p:sldId id="327" r:id="rId34"/>
    <p:sldId id="349" r:id="rId35"/>
    <p:sldId id="384" r:id="rId36"/>
    <p:sldId id="341" r:id="rId37"/>
    <p:sldId id="385" r:id="rId38"/>
    <p:sldId id="386" r:id="rId39"/>
    <p:sldId id="358" r:id="rId40"/>
    <p:sldId id="406" r:id="rId41"/>
    <p:sldId id="407" r:id="rId42"/>
    <p:sldId id="408" r:id="rId43"/>
    <p:sldId id="409" r:id="rId44"/>
    <p:sldId id="410" r:id="rId45"/>
    <p:sldId id="411" r:id="rId46"/>
    <p:sldId id="412" r:id="rId47"/>
    <p:sldId id="413" r:id="rId48"/>
    <p:sldId id="414" r:id="rId49"/>
    <p:sldId id="415" r:id="rId50"/>
    <p:sldId id="416" r:id="rId51"/>
    <p:sldId id="387" r:id="rId52"/>
    <p:sldId id="388" r:id="rId53"/>
    <p:sldId id="389" r:id="rId54"/>
    <p:sldId id="390" r:id="rId55"/>
    <p:sldId id="391" r:id="rId56"/>
    <p:sldId id="392" r:id="rId57"/>
    <p:sldId id="393" r:id="rId58"/>
    <p:sldId id="394" r:id="rId59"/>
    <p:sldId id="395" r:id="rId60"/>
    <p:sldId id="417" r:id="rId61"/>
    <p:sldId id="342" r:id="rId62"/>
    <p:sldId id="350" r:id="rId63"/>
    <p:sldId id="352" r:id="rId64"/>
    <p:sldId id="353" r:id="rId65"/>
    <p:sldId id="357" r:id="rId66"/>
    <p:sldId id="354" r:id="rId67"/>
    <p:sldId id="355" r:id="rId68"/>
    <p:sldId id="379" r:id="rId69"/>
    <p:sldId id="356" r:id="rId70"/>
    <p:sldId id="397" r:id="rId71"/>
    <p:sldId id="398" r:id="rId72"/>
    <p:sldId id="399" r:id="rId73"/>
    <p:sldId id="400" r:id="rId74"/>
    <p:sldId id="328" r:id="rId75"/>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F205A6F-9E27-4CCF-8CA3-554D9C5F71A9}">
          <p14:sldIdLst>
            <p14:sldId id="314"/>
            <p14:sldId id="326"/>
            <p14:sldId id="334"/>
            <p14:sldId id="336"/>
            <p14:sldId id="335"/>
            <p14:sldId id="330"/>
          </p14:sldIdLst>
        </p14:section>
        <p14:section name="1. Definition &amp; Analyses" id="{D7276128-516E-4251-B69B-7256E0D9EEEC}">
          <p14:sldIdLst>
            <p14:sldId id="402"/>
            <p14:sldId id="337"/>
            <p14:sldId id="338"/>
            <p14:sldId id="339"/>
            <p14:sldId id="403"/>
            <p14:sldId id="344"/>
            <p14:sldId id="361"/>
            <p14:sldId id="404"/>
            <p14:sldId id="346"/>
            <p14:sldId id="345"/>
            <p14:sldId id="347"/>
            <p14:sldId id="362"/>
            <p14:sldId id="348"/>
            <p14:sldId id="363"/>
            <p14:sldId id="364"/>
            <p14:sldId id="365"/>
            <p14:sldId id="376"/>
            <p14:sldId id="377"/>
            <p14:sldId id="380"/>
            <p14:sldId id="381"/>
            <p14:sldId id="382"/>
            <p14:sldId id="383"/>
          </p14:sldIdLst>
        </p14:section>
        <p14:section name="2. Practice" id="{85C34C7B-7C5A-4ADC-B148-BA505C87663E}">
          <p14:sldIdLst>
            <p14:sldId id="405"/>
            <p14:sldId id="327"/>
            <p14:sldId id="349"/>
            <p14:sldId id="384"/>
            <p14:sldId id="341"/>
            <p14:sldId id="385"/>
            <p14:sldId id="386"/>
          </p14:sldIdLst>
        </p14:section>
        <p14:section name="SG" id="{610C363A-2DA9-4A09-91C9-0376F16A1A87}">
          <p14:sldIdLst>
            <p14:sldId id="358"/>
            <p14:sldId id="406"/>
            <p14:sldId id="407"/>
            <p14:sldId id="408"/>
            <p14:sldId id="409"/>
            <p14:sldId id="410"/>
            <p14:sldId id="411"/>
            <p14:sldId id="412"/>
            <p14:sldId id="413"/>
            <p14:sldId id="414"/>
            <p14:sldId id="415"/>
            <p14:sldId id="416"/>
            <p14:sldId id="387"/>
          </p14:sldIdLst>
        </p14:section>
        <p14:section name="2. Later half" id="{526822A4-07B4-4482-8A11-36E07EA26282}">
          <p14:sldIdLst>
            <p14:sldId id="388"/>
            <p14:sldId id="389"/>
            <p14:sldId id="390"/>
            <p14:sldId id="391"/>
            <p14:sldId id="392"/>
            <p14:sldId id="393"/>
            <p14:sldId id="394"/>
            <p14:sldId id="395"/>
          </p14:sldIdLst>
        </p14:section>
        <p14:section name="3. Use cases" id="{B60B0747-8142-4959-92C4-0A2EBAFB396A}">
          <p14:sldIdLst>
            <p14:sldId id="417"/>
            <p14:sldId id="342"/>
            <p14:sldId id="350"/>
            <p14:sldId id="352"/>
            <p14:sldId id="353"/>
            <p14:sldId id="357"/>
            <p14:sldId id="354"/>
            <p14:sldId id="355"/>
            <p14:sldId id="379"/>
            <p14:sldId id="356"/>
            <p14:sldId id="397"/>
            <p14:sldId id="398"/>
            <p14:sldId id="399"/>
            <p14:sldId id="400"/>
            <p14:sldId id="328"/>
          </p14:sldIdLst>
        </p14:section>
        <p14:section name="Appendix" id="{3F533774-B8C2-41C7-BEA7-471BE4598833}">
          <p14:sldIdLst/>
        </p14:section>
      </p14:sectionLst>
    </p:ex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3A50B07-7071-0074-F045-3BC42B92FA38}" name="Koiso, Satoshi" initials="SK" userId="S::SKOISO@mgh.harvard.edu::5aae84c5-94d6-4633-b40e-a16272bfe86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DCE5"/>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7" autoAdjust="0"/>
    <p:restoredTop sz="79552" autoAdjust="0"/>
  </p:normalViewPr>
  <p:slideViewPr>
    <p:cSldViewPr snapToGrid="0">
      <p:cViewPr varScale="1">
        <p:scale>
          <a:sx n="74" d="100"/>
          <a:sy n="74" d="100"/>
        </p:scale>
        <p:origin x="666" y="30"/>
      </p:cViewPr>
      <p:guideLst>
        <p:guide orient="horz" pos="3360"/>
        <p:guide pos="3840"/>
      </p:guideLst>
    </p:cSldViewPr>
  </p:slideViewPr>
  <p:outlineViewPr>
    <p:cViewPr>
      <p:scale>
        <a:sx n="33" d="100"/>
        <a:sy n="33" d="100"/>
      </p:scale>
      <p:origin x="0" y="-12672"/>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3037840" cy="466434"/>
          </a:xfrm>
          <a:prstGeom prst="rect">
            <a:avLst/>
          </a:prstGeom>
        </p:spPr>
        <p:txBody>
          <a:bodyPr vert="horz" lIns="93170" tIns="46586" rIns="93170" bIns="46586"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970938" y="0"/>
            <a:ext cx="3037840" cy="466434"/>
          </a:xfrm>
          <a:prstGeom prst="rect">
            <a:avLst/>
          </a:prstGeom>
        </p:spPr>
        <p:txBody>
          <a:bodyPr vert="horz" lIns="93170" tIns="46586" rIns="93170" bIns="46586" rtlCol="0"/>
          <a:lstStyle>
            <a:lvl1pPr algn="r">
              <a:defRPr sz="1200"/>
            </a:lvl1pPr>
          </a:lstStyle>
          <a:p>
            <a:fld id="{F352A77B-D33C-49B3-A83C-450AA2ED72B3}" type="datetimeFigureOut">
              <a:rPr lang="en-US" smtClean="0"/>
              <a:t>6/19/2026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829968"/>
            <a:ext cx="3037840" cy="466434"/>
          </a:xfrm>
          <a:prstGeom prst="rect">
            <a:avLst/>
          </a:prstGeom>
        </p:spPr>
        <p:txBody>
          <a:bodyPr vert="horz" lIns="93170" tIns="46586" rIns="93170" bIns="46586"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970938" y="8829968"/>
            <a:ext cx="3037840" cy="466434"/>
          </a:xfrm>
          <a:prstGeom prst="rect">
            <a:avLst/>
          </a:prstGeom>
        </p:spPr>
        <p:txBody>
          <a:bodyPr vert="horz" lIns="93170" tIns="46586" rIns="93170" bIns="46586"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0" tIns="46586" rIns="93170" bIns="46586" rtlCol="0"/>
          <a:lstStyle>
            <a:lvl1pPr algn="l">
              <a:defRPr sz="1200"/>
            </a:lvl1pPr>
          </a:lstStyle>
          <a:p>
            <a:endParaRPr lang="en-US" dirty="0"/>
          </a:p>
        </p:txBody>
      </p:sp>
      <p:sp>
        <p:nvSpPr>
          <p:cNvPr id="3" name="Date Placeholder 2"/>
          <p:cNvSpPr>
            <a:spLocks noGrp="1"/>
          </p:cNvSpPr>
          <p:nvPr>
            <p:ph type="dt" idx="1"/>
          </p:nvPr>
        </p:nvSpPr>
        <p:spPr>
          <a:xfrm>
            <a:off x="3970938" y="0"/>
            <a:ext cx="3037840" cy="466434"/>
          </a:xfrm>
          <a:prstGeom prst="rect">
            <a:avLst/>
          </a:prstGeom>
        </p:spPr>
        <p:txBody>
          <a:bodyPr vert="horz" lIns="93170" tIns="46586" rIns="93170" bIns="46586" rtlCol="0"/>
          <a:lstStyle>
            <a:lvl1pPr algn="r">
              <a:defRPr sz="1200"/>
            </a:lvl1pPr>
          </a:lstStyle>
          <a:p>
            <a:fld id="{E38D8F9A-F5CB-4EF8-A859-ED5E107B9763}" type="datetimeFigureOut">
              <a:rPr lang="en-US" smtClean="0"/>
              <a:t>6/19/2026</a:t>
            </a:fld>
            <a:endParaRPr lang="en-US" dirty="0"/>
          </a:p>
        </p:txBody>
      </p:sp>
      <p:sp>
        <p:nvSpPr>
          <p:cNvPr id="4" name="Slide Image Placeholder 3"/>
          <p:cNvSpPr>
            <a:spLocks noGrp="1" noRot="1" noChangeAspect="1"/>
          </p:cNvSpPr>
          <p:nvPr>
            <p:ph type="sldImg" idx="2"/>
          </p:nvPr>
        </p:nvSpPr>
        <p:spPr>
          <a:xfrm>
            <a:off x="715963" y="1162050"/>
            <a:ext cx="5580062" cy="3138488"/>
          </a:xfrm>
          <a:prstGeom prst="rect">
            <a:avLst/>
          </a:prstGeom>
          <a:noFill/>
          <a:ln w="12700">
            <a:solidFill>
              <a:prstClr val="black"/>
            </a:solidFill>
          </a:ln>
        </p:spPr>
        <p:txBody>
          <a:bodyPr vert="horz" lIns="93170" tIns="46586" rIns="93170" bIns="46586" rtlCol="0" anchor="ctr"/>
          <a:lstStyle/>
          <a:p>
            <a:endParaRPr lang="en-US" dirty="0"/>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0" tIns="46586" rIns="93170" bIns="4658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8"/>
            <a:ext cx="3037840" cy="466434"/>
          </a:xfrm>
          <a:prstGeom prst="rect">
            <a:avLst/>
          </a:prstGeom>
        </p:spPr>
        <p:txBody>
          <a:bodyPr vert="horz" lIns="93170" tIns="46586" rIns="93170" bIns="4658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8"/>
            <a:ext cx="3037840" cy="466434"/>
          </a:xfrm>
          <a:prstGeom prst="rect">
            <a:avLst/>
          </a:prstGeom>
        </p:spPr>
        <p:txBody>
          <a:bodyPr vert="horz" lIns="93170" tIns="46586" rIns="93170" bIns="46586"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a:t>
            </a:fld>
            <a:endParaRPr lang="en-US" dirty="0"/>
          </a:p>
        </p:txBody>
      </p:sp>
    </p:spTree>
    <p:extLst>
      <p:ext uri="{BB962C8B-B14F-4D97-AF65-F5344CB8AC3E}">
        <p14:creationId xmlns:p14="http://schemas.microsoft.com/office/powerpoint/2010/main" val="2569137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Flight</a:t>
            </a:r>
            <a:r>
              <a:rPr lang="ja-JP" altLang="en-US" dirty="0"/>
              <a:t>で</a:t>
            </a:r>
            <a:endParaRPr lang="en-US" altLang="ja-JP" dirty="0"/>
          </a:p>
          <a:p>
            <a:r>
              <a:rPr lang="ja-JP" altLang="en-US" dirty="0"/>
              <a:t>おススメの便が３つ</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2</a:t>
            </a:fld>
            <a:endParaRPr lang="en-US" dirty="0"/>
          </a:p>
        </p:txBody>
      </p:sp>
    </p:spTree>
    <p:extLst>
      <p:ext uri="{BB962C8B-B14F-4D97-AF65-F5344CB8AC3E}">
        <p14:creationId xmlns:p14="http://schemas.microsoft.com/office/powerpoint/2010/main" val="18129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色々と考慮できる要素があると思いますが、</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3</a:t>
            </a:fld>
            <a:endParaRPr lang="en-US" dirty="0"/>
          </a:p>
        </p:txBody>
      </p:sp>
    </p:spTree>
    <p:extLst>
      <p:ext uri="{BB962C8B-B14F-4D97-AF65-F5344CB8AC3E}">
        <p14:creationId xmlns:p14="http://schemas.microsoft.com/office/powerpoint/2010/main" val="1119774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無意識のうちに期待される</a:t>
            </a:r>
            <a:endParaRPr lang="en-US" altLang="ja-JP" dirty="0"/>
          </a:p>
          <a:p>
            <a:endParaRPr lang="en-US" dirty="0"/>
          </a:p>
          <a:p>
            <a:endParaRPr lang="en-US" dirty="0"/>
          </a:p>
          <a:p>
            <a:r>
              <a:rPr lang="ja-JP" altLang="en-US" dirty="0"/>
              <a:t>私自身こういった分野が存在することを現在の職場で働き始めてから、初めて知りました。</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4</a:t>
            </a:fld>
            <a:endParaRPr lang="en-US" dirty="0"/>
          </a:p>
        </p:txBody>
      </p:sp>
    </p:spTree>
    <p:extLst>
      <p:ext uri="{BB962C8B-B14F-4D97-AF65-F5344CB8AC3E}">
        <p14:creationId xmlns:p14="http://schemas.microsoft.com/office/powerpoint/2010/main" val="2868781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dirty="0"/>
          </a:p>
          <a:p>
            <a:endParaRPr lang="en-US" altLang="ja-JP" dirty="0"/>
          </a:p>
          <a:p>
            <a:r>
              <a:rPr lang="ja-JP" altLang="en-US" dirty="0"/>
              <a:t>私個人の研究の話はあまりしない。</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5</a:t>
            </a:fld>
            <a:endParaRPr lang="en-US" dirty="0"/>
          </a:p>
        </p:txBody>
      </p:sp>
    </p:spTree>
    <p:extLst>
      <p:ext uri="{BB962C8B-B14F-4D97-AF65-F5344CB8AC3E}">
        <p14:creationId xmlns:p14="http://schemas.microsoft.com/office/powerpoint/2010/main" val="19377711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ja-JP" altLang="en-US" dirty="0"/>
              <a:t>１で定義や分析の流れ</a:t>
            </a:r>
            <a:endParaRPr lang="en-US" altLang="ja-JP" dirty="0"/>
          </a:p>
          <a:p>
            <a:r>
              <a:rPr lang="ja-JP" altLang="en-US" dirty="0"/>
              <a:t>２でもう少し具体的に実際に体験して</a:t>
            </a:r>
            <a:endParaRPr lang="en-US" altLang="ja-JP" dirty="0"/>
          </a:p>
          <a:p>
            <a:r>
              <a:rPr lang="ja-JP" altLang="en-US" dirty="0"/>
              <a:t>３は現実にどこで使われるか</a:t>
            </a:r>
            <a:endParaRPr lang="en-US" altLang="ja-JP" dirty="0"/>
          </a:p>
          <a:p>
            <a:endParaRPr lang="en-US" dirty="0"/>
          </a:p>
          <a:p>
            <a:r>
              <a:rPr lang="ja-JP" altLang="en-US" dirty="0"/>
              <a:t>ちなみに、</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6</a:t>
            </a:fld>
            <a:endParaRPr lang="en-US" dirty="0"/>
          </a:p>
        </p:txBody>
      </p:sp>
    </p:spTree>
    <p:extLst>
      <p:ext uri="{BB962C8B-B14F-4D97-AF65-F5344CB8AC3E}">
        <p14:creationId xmlns:p14="http://schemas.microsoft.com/office/powerpoint/2010/main" val="17159656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E6C62-AB5F-EFCE-241E-E2EC4ED89A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B1AB4-550C-496B-329A-547C7C8EEB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0B18C-1022-72CF-0B0B-A4577E488A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C07314-2084-64E8-4B03-B3C11CCCD706}"/>
              </a:ext>
            </a:extLst>
          </p:cNvPr>
          <p:cNvSpPr>
            <a:spLocks noGrp="1"/>
          </p:cNvSpPr>
          <p:nvPr>
            <p:ph type="sldNum" sz="quarter" idx="5"/>
          </p:nvPr>
        </p:nvSpPr>
        <p:spPr/>
        <p:txBody>
          <a:bodyPr/>
          <a:lstStyle/>
          <a:p>
            <a:fld id="{D4B9A9E5-4F7F-4A7D-9DE1-899232329269}" type="slidenum">
              <a:rPr lang="en-US" smtClean="0"/>
              <a:t>7</a:t>
            </a:fld>
            <a:endParaRPr lang="en-US" dirty="0"/>
          </a:p>
        </p:txBody>
      </p:sp>
    </p:spTree>
    <p:extLst>
      <p:ext uri="{BB962C8B-B14F-4D97-AF65-F5344CB8AC3E}">
        <p14:creationId xmlns:p14="http://schemas.microsoft.com/office/powerpoint/2010/main" val="363481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dirty="0"/>
          </a:p>
          <a:p>
            <a:endParaRPr lang="en-US" altLang="ja-JP" dirty="0"/>
          </a:p>
          <a:p>
            <a:r>
              <a:rPr lang="ja-JP" altLang="en-US" dirty="0"/>
              <a:t>例は医療多め</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9</a:t>
            </a:fld>
            <a:endParaRPr lang="en-US" dirty="0"/>
          </a:p>
        </p:txBody>
      </p:sp>
    </p:spTree>
    <p:extLst>
      <p:ext uri="{BB962C8B-B14F-4D97-AF65-F5344CB8AC3E}">
        <p14:creationId xmlns:p14="http://schemas.microsoft.com/office/powerpoint/2010/main" val="38472804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意思決定にかかわる問題と目的を設定します</a:t>
            </a:r>
            <a:endParaRPr lang="en-US" altLang="ja-JP" dirty="0"/>
          </a:p>
          <a:p>
            <a:r>
              <a:rPr lang="ja-JP" altLang="en-US" dirty="0"/>
              <a:t>意思決定にかかわる問題とは、複数の選択肢</a:t>
            </a:r>
            <a:endParaRPr lang="en-US" altLang="ja-JP" dirty="0"/>
          </a:p>
          <a:p>
            <a:endParaRPr lang="en-US" dirty="0"/>
          </a:p>
          <a:p>
            <a:endParaRPr lang="en-US" dirty="0"/>
          </a:p>
          <a:p>
            <a:r>
              <a:rPr lang="ja-JP" altLang="en-US" dirty="0"/>
              <a:t>意思決定した後にどうなりたいのか、目的</a:t>
            </a:r>
            <a:endParaRPr lang="en-US" altLang="ja-JP"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11</a:t>
            </a:fld>
            <a:endParaRPr lang="en-US" dirty="0"/>
          </a:p>
        </p:txBody>
      </p:sp>
    </p:spTree>
    <p:extLst>
      <p:ext uri="{BB962C8B-B14F-4D97-AF65-F5344CB8AC3E}">
        <p14:creationId xmlns:p14="http://schemas.microsoft.com/office/powerpoint/2010/main" val="9423879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医療経済では</a:t>
            </a:r>
            <a:r>
              <a:rPr lang="en-US" altLang="ja-JP" dirty="0"/>
              <a:t>QALYs(</a:t>
            </a:r>
            <a:r>
              <a:rPr lang="zh-TW" altLang="en-US" dirty="0"/>
              <a:t>質調整生存年</a:t>
            </a:r>
            <a:r>
              <a:rPr lang="en-US" altLang="zh-TW" dirty="0"/>
              <a:t>)</a:t>
            </a:r>
            <a:r>
              <a:rPr lang="ja-JP" altLang="en-US" dirty="0"/>
              <a:t>を効果としてよく使用</a:t>
            </a:r>
            <a:endParaRPr lang="en-US" dirty="0"/>
          </a:p>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14</a:t>
            </a:fld>
            <a:endParaRPr lang="en-US" dirty="0"/>
          </a:p>
        </p:txBody>
      </p:sp>
    </p:spTree>
    <p:extLst>
      <p:ext uri="{BB962C8B-B14F-4D97-AF65-F5344CB8AC3E}">
        <p14:creationId xmlns:p14="http://schemas.microsoft.com/office/powerpoint/2010/main" val="38122597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少し唐突に感じられるかもしれませんが、分析においてはシミュレーションモデルを作成することが頻繁にあります。</a:t>
            </a:r>
            <a:endParaRPr lang="en-US" altLang="ja-JP" dirty="0"/>
          </a:p>
          <a:p>
            <a:r>
              <a:rPr lang="ja-JP" altLang="en-US" dirty="0"/>
              <a:t>というのも、問題に直面している状況というのは、</a:t>
            </a:r>
            <a:endParaRPr lang="en-US" altLang="ja-JP" dirty="0"/>
          </a:p>
          <a:p>
            <a:r>
              <a:rPr lang="ja-JP" altLang="en-US" dirty="0"/>
              <a:t>複数の選択肢の全部を実際にやって確かめることができないから悩んでいる状況なので、</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15</a:t>
            </a:fld>
            <a:endParaRPr lang="en-US" dirty="0"/>
          </a:p>
        </p:txBody>
      </p:sp>
    </p:spTree>
    <p:extLst>
      <p:ext uri="{BB962C8B-B14F-4D97-AF65-F5344CB8AC3E}">
        <p14:creationId xmlns:p14="http://schemas.microsoft.com/office/powerpoint/2010/main" val="9172148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17</a:t>
            </a:fld>
            <a:endParaRPr lang="en-US" dirty="0"/>
          </a:p>
        </p:txBody>
      </p:sp>
    </p:spTree>
    <p:extLst>
      <p:ext uri="{BB962C8B-B14F-4D97-AF65-F5344CB8AC3E}">
        <p14:creationId xmlns:p14="http://schemas.microsoft.com/office/powerpoint/2010/main" val="17420423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梅毒は経過が長い病気。</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19</a:t>
            </a:fld>
            <a:endParaRPr lang="en-US" dirty="0"/>
          </a:p>
        </p:txBody>
      </p:sp>
    </p:spTree>
    <p:extLst>
      <p:ext uri="{BB962C8B-B14F-4D97-AF65-F5344CB8AC3E}">
        <p14:creationId xmlns:p14="http://schemas.microsoft.com/office/powerpoint/2010/main" val="101547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dirty="0"/>
          </a:p>
          <a:p>
            <a:r>
              <a:rPr lang="en-US" altLang="ja-JP" dirty="0"/>
              <a:t>RCT</a:t>
            </a:r>
            <a:r>
              <a:rPr lang="ja-JP" altLang="en-US" dirty="0"/>
              <a:t>：介入や治療の因果効果を最も信頼性高く評価するための実験的手法</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21</a:t>
            </a:fld>
            <a:endParaRPr lang="en-US" dirty="0"/>
          </a:p>
        </p:txBody>
      </p:sp>
    </p:spTree>
    <p:extLst>
      <p:ext uri="{BB962C8B-B14F-4D97-AF65-F5344CB8AC3E}">
        <p14:creationId xmlns:p14="http://schemas.microsoft.com/office/powerpoint/2010/main" val="39390308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確率的不確実性：コイントスで実際にコインを投げないと表が出るか裏が出るかわからない</a:t>
            </a:r>
            <a:endParaRPr lang="en-US" altLang="ja-JP" dirty="0"/>
          </a:p>
          <a:p>
            <a:endParaRPr lang="en-US" dirty="0"/>
          </a:p>
          <a:p>
            <a:r>
              <a:rPr lang="ja-JP" altLang="en-US" dirty="0"/>
              <a:t>モデルの不確実性：マラリア患者で、偽陰性が出た場合に試験的治療をするのか、２回目の検査をするのか</a:t>
            </a:r>
            <a:endParaRPr lang="en-US" altLang="ja-JP" dirty="0"/>
          </a:p>
          <a:p>
            <a:endParaRPr lang="en-US" dirty="0"/>
          </a:p>
          <a:p>
            <a:r>
              <a:rPr lang="ja-JP" altLang="en-US" dirty="0"/>
              <a:t>パラメータの不確実性：各パラメータの値は一義的には決まらない。信頼区間</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24</a:t>
            </a:fld>
            <a:endParaRPr lang="en-US" dirty="0"/>
          </a:p>
        </p:txBody>
      </p:sp>
    </p:spTree>
    <p:extLst>
      <p:ext uri="{BB962C8B-B14F-4D97-AF65-F5344CB8AC3E}">
        <p14:creationId xmlns:p14="http://schemas.microsoft.com/office/powerpoint/2010/main" val="10859777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D587A-86FB-790F-AA2C-3ACC0900DD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6E28B1-FBAE-531D-EE31-5E288577AD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C56500-DCBF-2279-9190-A213EFB1AE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0FF7BE-E193-F311-2763-365F4B01D4F9}"/>
              </a:ext>
            </a:extLst>
          </p:cNvPr>
          <p:cNvSpPr>
            <a:spLocks noGrp="1"/>
          </p:cNvSpPr>
          <p:nvPr>
            <p:ph type="sldNum" sz="quarter" idx="5"/>
          </p:nvPr>
        </p:nvSpPr>
        <p:spPr/>
        <p:txBody>
          <a:bodyPr/>
          <a:lstStyle/>
          <a:p>
            <a:fld id="{D4B9A9E5-4F7F-4A7D-9DE1-899232329269}" type="slidenum">
              <a:rPr lang="en-US" smtClean="0"/>
              <a:t>29</a:t>
            </a:fld>
            <a:endParaRPr lang="en-US" dirty="0"/>
          </a:p>
        </p:txBody>
      </p:sp>
    </p:spTree>
    <p:extLst>
      <p:ext uri="{BB962C8B-B14F-4D97-AF65-F5344CB8AC3E}">
        <p14:creationId xmlns:p14="http://schemas.microsoft.com/office/powerpoint/2010/main" val="19630408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dirty="0"/>
          </a:p>
          <a:p>
            <a:r>
              <a:rPr lang="en-US" altLang="ja-JP" dirty="0"/>
              <a:t>QAH</a:t>
            </a:r>
            <a:r>
              <a:rPr lang="ja-JP" altLang="en-US" dirty="0"/>
              <a:t>という指標は実在しない。今回限りの発明</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33</a:t>
            </a:fld>
            <a:endParaRPr lang="en-US" dirty="0"/>
          </a:p>
        </p:txBody>
      </p:sp>
    </p:spTree>
    <p:extLst>
      <p:ext uri="{BB962C8B-B14F-4D97-AF65-F5344CB8AC3E}">
        <p14:creationId xmlns:p14="http://schemas.microsoft.com/office/powerpoint/2010/main" val="5617510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今からお話するのは想像上のシチュエーションです</a:t>
            </a:r>
            <a:endParaRPr lang="en-US" altLang="ja-JP" dirty="0"/>
          </a:p>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36</a:t>
            </a:fld>
            <a:endParaRPr lang="en-US" dirty="0"/>
          </a:p>
        </p:txBody>
      </p:sp>
    </p:spTree>
    <p:extLst>
      <p:ext uri="{BB962C8B-B14F-4D97-AF65-F5344CB8AC3E}">
        <p14:creationId xmlns:p14="http://schemas.microsoft.com/office/powerpoint/2010/main" val="37068007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F5FE8-0114-144C-1775-CFFE23A5BA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D33BFB-96FF-C3D8-4FF9-7D0166DA9E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1737F8-A952-A3F7-ED7F-A057EDB3D0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D4A98-6185-854B-6F09-0CDF8091C703}"/>
              </a:ext>
            </a:extLst>
          </p:cNvPr>
          <p:cNvSpPr>
            <a:spLocks noGrp="1"/>
          </p:cNvSpPr>
          <p:nvPr>
            <p:ph type="sldNum" sz="quarter" idx="5"/>
          </p:nvPr>
        </p:nvSpPr>
        <p:spPr/>
        <p:txBody>
          <a:bodyPr/>
          <a:lstStyle/>
          <a:p>
            <a:fld id="{D4B9A9E5-4F7F-4A7D-9DE1-899232329269}" type="slidenum">
              <a:rPr lang="en-US" smtClean="0"/>
              <a:t>37</a:t>
            </a:fld>
            <a:endParaRPr lang="en-US" dirty="0"/>
          </a:p>
        </p:txBody>
      </p:sp>
    </p:spTree>
    <p:extLst>
      <p:ext uri="{BB962C8B-B14F-4D97-AF65-F5344CB8AC3E}">
        <p14:creationId xmlns:p14="http://schemas.microsoft.com/office/powerpoint/2010/main" val="20378377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F193C-8658-4117-DCE0-7645667C4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20CAF-5B1D-D7EB-4314-8C0C246683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A9FE51-FC9A-C6C8-7FA6-707458DC19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82E93A-819F-D189-E4F3-FE98C5E5777D}"/>
              </a:ext>
            </a:extLst>
          </p:cNvPr>
          <p:cNvSpPr>
            <a:spLocks noGrp="1"/>
          </p:cNvSpPr>
          <p:nvPr>
            <p:ph type="sldNum" sz="quarter" idx="5"/>
          </p:nvPr>
        </p:nvSpPr>
        <p:spPr/>
        <p:txBody>
          <a:bodyPr/>
          <a:lstStyle/>
          <a:p>
            <a:fld id="{D4B9A9E5-4F7F-4A7D-9DE1-899232329269}" type="slidenum">
              <a:rPr lang="en-US" smtClean="0"/>
              <a:t>38</a:t>
            </a:fld>
            <a:endParaRPr lang="en-US" dirty="0"/>
          </a:p>
        </p:txBody>
      </p:sp>
    </p:spTree>
    <p:extLst>
      <p:ext uri="{BB962C8B-B14F-4D97-AF65-F5344CB8AC3E}">
        <p14:creationId xmlns:p14="http://schemas.microsoft.com/office/powerpoint/2010/main" val="4018939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9AB7D-9F66-9ACE-58C1-307BDBF90E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3F975C-71CF-6133-3FD6-CEA205C4D6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F4A59C-82CB-A9D0-FC16-2E9CF50730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E69E6C-5D80-1E18-B4B7-0ED09D363B03}"/>
              </a:ext>
            </a:extLst>
          </p:cNvPr>
          <p:cNvSpPr>
            <a:spLocks noGrp="1"/>
          </p:cNvSpPr>
          <p:nvPr>
            <p:ph type="sldNum" sz="quarter" idx="5"/>
          </p:nvPr>
        </p:nvSpPr>
        <p:spPr/>
        <p:txBody>
          <a:bodyPr/>
          <a:lstStyle/>
          <a:p>
            <a:fld id="{D4B9A9E5-4F7F-4A7D-9DE1-899232329269}" type="slidenum">
              <a:rPr lang="en-US" smtClean="0"/>
              <a:t>39</a:t>
            </a:fld>
            <a:endParaRPr lang="en-US" dirty="0"/>
          </a:p>
        </p:txBody>
      </p:sp>
    </p:spTree>
    <p:extLst>
      <p:ext uri="{BB962C8B-B14F-4D97-AF65-F5344CB8AC3E}">
        <p14:creationId xmlns:p14="http://schemas.microsoft.com/office/powerpoint/2010/main" val="23310594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E5F4B-61DE-C151-0F15-3A3EA44D00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4A61EB-DA45-4CE3-35D8-89FC41FADA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D8C535-8E4F-2DFD-40FC-7110539A05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E35DE7-8DAB-3085-C14B-E170A2AD952C}"/>
              </a:ext>
            </a:extLst>
          </p:cNvPr>
          <p:cNvSpPr>
            <a:spLocks noGrp="1"/>
          </p:cNvSpPr>
          <p:nvPr>
            <p:ph type="sldNum" sz="quarter" idx="5"/>
          </p:nvPr>
        </p:nvSpPr>
        <p:spPr/>
        <p:txBody>
          <a:bodyPr/>
          <a:lstStyle/>
          <a:p>
            <a:fld id="{D4B9A9E5-4F7F-4A7D-9DE1-899232329269}" type="slidenum">
              <a:rPr lang="en-US" smtClean="0"/>
              <a:t>40</a:t>
            </a:fld>
            <a:endParaRPr lang="en-US" dirty="0"/>
          </a:p>
        </p:txBody>
      </p:sp>
    </p:spTree>
    <p:extLst>
      <p:ext uri="{BB962C8B-B14F-4D97-AF65-F5344CB8AC3E}">
        <p14:creationId xmlns:p14="http://schemas.microsoft.com/office/powerpoint/2010/main" val="29034234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7A274-2883-B08F-0537-7A9FAEC816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49BA19-3031-92A2-4F0B-5F5AD68838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321438-ADDA-535E-7C20-37E751982B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89B12A-38F3-6172-5E2E-76D69CF9300E}"/>
              </a:ext>
            </a:extLst>
          </p:cNvPr>
          <p:cNvSpPr>
            <a:spLocks noGrp="1"/>
          </p:cNvSpPr>
          <p:nvPr>
            <p:ph type="sldNum" sz="quarter" idx="5"/>
          </p:nvPr>
        </p:nvSpPr>
        <p:spPr/>
        <p:txBody>
          <a:bodyPr/>
          <a:lstStyle/>
          <a:p>
            <a:fld id="{D4B9A9E5-4F7F-4A7D-9DE1-899232329269}" type="slidenum">
              <a:rPr lang="en-US" smtClean="0"/>
              <a:t>41</a:t>
            </a:fld>
            <a:endParaRPr lang="en-US" dirty="0"/>
          </a:p>
        </p:txBody>
      </p:sp>
    </p:spTree>
    <p:extLst>
      <p:ext uri="{BB962C8B-B14F-4D97-AF65-F5344CB8AC3E}">
        <p14:creationId xmlns:p14="http://schemas.microsoft.com/office/powerpoint/2010/main" val="7291575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576D0-E805-BAD1-D50E-97A339BD65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EE5B15-A488-A451-9821-F571F2CCD2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752EFE-22CB-58FA-5654-07D3FD9B11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2ACFB0-20DF-2249-5033-69EB3B018BBA}"/>
              </a:ext>
            </a:extLst>
          </p:cNvPr>
          <p:cNvSpPr>
            <a:spLocks noGrp="1"/>
          </p:cNvSpPr>
          <p:nvPr>
            <p:ph type="sldNum" sz="quarter" idx="5"/>
          </p:nvPr>
        </p:nvSpPr>
        <p:spPr/>
        <p:txBody>
          <a:bodyPr/>
          <a:lstStyle/>
          <a:p>
            <a:fld id="{D4B9A9E5-4F7F-4A7D-9DE1-899232329269}" type="slidenum">
              <a:rPr lang="en-US" smtClean="0"/>
              <a:t>42</a:t>
            </a:fld>
            <a:endParaRPr lang="en-US" dirty="0"/>
          </a:p>
        </p:txBody>
      </p:sp>
    </p:spTree>
    <p:extLst>
      <p:ext uri="{BB962C8B-B14F-4D97-AF65-F5344CB8AC3E}">
        <p14:creationId xmlns:p14="http://schemas.microsoft.com/office/powerpoint/2010/main" val="40703724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E204F-8E62-D47F-4756-CEEA853A9E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CF15DF-0D9B-8CAF-A490-FFEBECF7D7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36C6B3-CE6A-A6D1-80FB-7D9ABB54A4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CACA52-3C05-3391-F1FF-2019D4DD3467}"/>
              </a:ext>
            </a:extLst>
          </p:cNvPr>
          <p:cNvSpPr>
            <a:spLocks noGrp="1"/>
          </p:cNvSpPr>
          <p:nvPr>
            <p:ph type="sldNum" sz="quarter" idx="5"/>
          </p:nvPr>
        </p:nvSpPr>
        <p:spPr/>
        <p:txBody>
          <a:bodyPr/>
          <a:lstStyle/>
          <a:p>
            <a:fld id="{D4B9A9E5-4F7F-4A7D-9DE1-899232329269}" type="slidenum">
              <a:rPr lang="en-US" smtClean="0"/>
              <a:t>43</a:t>
            </a:fld>
            <a:endParaRPr lang="en-US" dirty="0"/>
          </a:p>
        </p:txBody>
      </p:sp>
    </p:spTree>
    <p:extLst>
      <p:ext uri="{BB962C8B-B14F-4D97-AF65-F5344CB8AC3E}">
        <p14:creationId xmlns:p14="http://schemas.microsoft.com/office/powerpoint/2010/main" val="27429347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19F3B-2E31-27A4-54AF-ACC80DC0BE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2D5B5-4F3A-11DE-B3EA-25BD49AAE1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0490CB-0803-440E-F35B-DCB55CE7DE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6825DB-40B7-BCEB-9981-E5B7AC76DBDA}"/>
              </a:ext>
            </a:extLst>
          </p:cNvPr>
          <p:cNvSpPr>
            <a:spLocks noGrp="1"/>
          </p:cNvSpPr>
          <p:nvPr>
            <p:ph type="sldNum" sz="quarter" idx="5"/>
          </p:nvPr>
        </p:nvSpPr>
        <p:spPr/>
        <p:txBody>
          <a:bodyPr/>
          <a:lstStyle/>
          <a:p>
            <a:fld id="{D4B9A9E5-4F7F-4A7D-9DE1-899232329269}" type="slidenum">
              <a:rPr lang="en-US" smtClean="0"/>
              <a:t>44</a:t>
            </a:fld>
            <a:endParaRPr lang="en-US" dirty="0"/>
          </a:p>
        </p:txBody>
      </p:sp>
    </p:spTree>
    <p:extLst>
      <p:ext uri="{BB962C8B-B14F-4D97-AF65-F5344CB8AC3E}">
        <p14:creationId xmlns:p14="http://schemas.microsoft.com/office/powerpoint/2010/main" val="18320779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6BA21-5ED1-450D-C522-186CAA5978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09464A-F244-94F5-4C8B-081FCF4024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195F71-C383-47B7-34D8-7D06FF6310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AC5028-2AE8-22C4-E85D-B753F05B8963}"/>
              </a:ext>
            </a:extLst>
          </p:cNvPr>
          <p:cNvSpPr>
            <a:spLocks noGrp="1"/>
          </p:cNvSpPr>
          <p:nvPr>
            <p:ph type="sldNum" sz="quarter" idx="5"/>
          </p:nvPr>
        </p:nvSpPr>
        <p:spPr/>
        <p:txBody>
          <a:bodyPr/>
          <a:lstStyle/>
          <a:p>
            <a:fld id="{D4B9A9E5-4F7F-4A7D-9DE1-899232329269}" type="slidenum">
              <a:rPr lang="en-US" smtClean="0"/>
              <a:t>45</a:t>
            </a:fld>
            <a:endParaRPr lang="en-US" dirty="0"/>
          </a:p>
        </p:txBody>
      </p:sp>
    </p:spTree>
    <p:extLst>
      <p:ext uri="{BB962C8B-B14F-4D97-AF65-F5344CB8AC3E}">
        <p14:creationId xmlns:p14="http://schemas.microsoft.com/office/powerpoint/2010/main" val="23448054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18882-BC32-8F6E-80A0-37F57852A5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6ABD35-F563-348A-805E-A8E1670DBC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54355A-C423-B753-F869-1C2AC10225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0CEDBD-CFF1-A587-1660-D9B975403C7F}"/>
              </a:ext>
            </a:extLst>
          </p:cNvPr>
          <p:cNvSpPr>
            <a:spLocks noGrp="1"/>
          </p:cNvSpPr>
          <p:nvPr>
            <p:ph type="sldNum" sz="quarter" idx="5"/>
          </p:nvPr>
        </p:nvSpPr>
        <p:spPr/>
        <p:txBody>
          <a:bodyPr/>
          <a:lstStyle/>
          <a:p>
            <a:fld id="{D4B9A9E5-4F7F-4A7D-9DE1-899232329269}" type="slidenum">
              <a:rPr lang="en-US" smtClean="0"/>
              <a:t>46</a:t>
            </a:fld>
            <a:endParaRPr lang="en-US" dirty="0"/>
          </a:p>
        </p:txBody>
      </p:sp>
    </p:spTree>
    <p:extLst>
      <p:ext uri="{BB962C8B-B14F-4D97-AF65-F5344CB8AC3E}">
        <p14:creationId xmlns:p14="http://schemas.microsoft.com/office/powerpoint/2010/main" val="35921127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E00EF-C537-5254-AAF1-D13D835EE4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0F2BF7-CDE8-5CAA-DE20-DF36FE7D6D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B69E05-DA66-775C-65F7-7BB51B59CB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8681F3-1B5F-08E4-7CD9-B51886E0FD86}"/>
              </a:ext>
            </a:extLst>
          </p:cNvPr>
          <p:cNvSpPr>
            <a:spLocks noGrp="1"/>
          </p:cNvSpPr>
          <p:nvPr>
            <p:ph type="sldNum" sz="quarter" idx="5"/>
          </p:nvPr>
        </p:nvSpPr>
        <p:spPr/>
        <p:txBody>
          <a:bodyPr/>
          <a:lstStyle/>
          <a:p>
            <a:fld id="{D4B9A9E5-4F7F-4A7D-9DE1-899232329269}" type="slidenum">
              <a:rPr lang="en-US" smtClean="0"/>
              <a:t>47</a:t>
            </a:fld>
            <a:endParaRPr lang="en-US" dirty="0"/>
          </a:p>
        </p:txBody>
      </p:sp>
    </p:spTree>
    <p:extLst>
      <p:ext uri="{BB962C8B-B14F-4D97-AF65-F5344CB8AC3E}">
        <p14:creationId xmlns:p14="http://schemas.microsoft.com/office/powerpoint/2010/main" val="35688031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ja-JP" altLang="en-US" dirty="0"/>
              <a:t>医療の場合でも同じこと</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48</a:t>
            </a:fld>
            <a:endParaRPr lang="en-US" dirty="0"/>
          </a:p>
        </p:txBody>
      </p:sp>
    </p:spTree>
    <p:extLst>
      <p:ext uri="{BB962C8B-B14F-4D97-AF65-F5344CB8AC3E}">
        <p14:creationId xmlns:p14="http://schemas.microsoft.com/office/powerpoint/2010/main" val="40835657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このグラフの見方</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54</a:t>
            </a:fld>
            <a:endParaRPr lang="en-US" dirty="0"/>
          </a:p>
        </p:txBody>
      </p:sp>
    </p:spTree>
    <p:extLst>
      <p:ext uri="{BB962C8B-B14F-4D97-AF65-F5344CB8AC3E}">
        <p14:creationId xmlns:p14="http://schemas.microsoft.com/office/powerpoint/2010/main" val="38501445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9302F-68ED-EDD6-7A43-DE370382D8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699A47-A699-FC59-8254-CF31E1FBD5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86116-7453-E662-8F2C-DC4C3A94476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では、この意思決定科学が世の中でどう使われているか３つの分野におけるユースケースをお話します</a:t>
            </a:r>
            <a:endParaRPr lang="en-US" dirty="0"/>
          </a:p>
          <a:p>
            <a:endParaRPr lang="en-US" dirty="0"/>
          </a:p>
        </p:txBody>
      </p:sp>
      <p:sp>
        <p:nvSpPr>
          <p:cNvPr id="4" name="Slide Number Placeholder 3">
            <a:extLst>
              <a:ext uri="{FF2B5EF4-FFF2-40B4-BE49-F238E27FC236}">
                <a16:creationId xmlns:a16="http://schemas.microsoft.com/office/drawing/2014/main" id="{4A42EA20-9DB4-8850-495E-F699329E298F}"/>
              </a:ext>
            </a:extLst>
          </p:cNvPr>
          <p:cNvSpPr>
            <a:spLocks noGrp="1"/>
          </p:cNvSpPr>
          <p:nvPr>
            <p:ph type="sldNum" sz="quarter" idx="5"/>
          </p:nvPr>
        </p:nvSpPr>
        <p:spPr/>
        <p:txBody>
          <a:bodyPr/>
          <a:lstStyle/>
          <a:p>
            <a:fld id="{D4B9A9E5-4F7F-4A7D-9DE1-899232329269}" type="slidenum">
              <a:rPr lang="en-US" smtClean="0"/>
              <a:t>57</a:t>
            </a:fld>
            <a:endParaRPr lang="en-US" dirty="0"/>
          </a:p>
        </p:txBody>
      </p:sp>
    </p:spTree>
    <p:extLst>
      <p:ext uri="{BB962C8B-B14F-4D97-AF65-F5344CB8AC3E}">
        <p14:creationId xmlns:p14="http://schemas.microsoft.com/office/powerpoint/2010/main" val="30904373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医療におけるユースケースです。</a:t>
            </a:r>
            <a:endParaRPr lang="en-US" altLang="ja-JP" dirty="0"/>
          </a:p>
          <a:p>
            <a:r>
              <a:rPr lang="ja-JP" altLang="en-US" dirty="0"/>
              <a:t>個別具体の治療や病気に使えるというのはお分かりいただけたと思いますが、</a:t>
            </a:r>
            <a:endParaRPr lang="en-US" altLang="ja-JP" dirty="0"/>
          </a:p>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58</a:t>
            </a:fld>
            <a:endParaRPr lang="en-US" dirty="0"/>
          </a:p>
        </p:txBody>
      </p:sp>
    </p:spTree>
    <p:extLst>
      <p:ext uri="{BB962C8B-B14F-4D97-AF65-F5344CB8AC3E}">
        <p14:creationId xmlns:p14="http://schemas.microsoft.com/office/powerpoint/2010/main" val="33101778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dirty="0"/>
              <a:t>ACIP</a:t>
            </a:r>
            <a:r>
              <a:rPr lang="ja-JP" altLang="en-US" dirty="0"/>
              <a:t>の助言が正式に採用されると、</a:t>
            </a:r>
            <a:r>
              <a:rPr lang="en-US" altLang="ja-JP" dirty="0"/>
              <a:t>CDC</a:t>
            </a:r>
            <a:r>
              <a:rPr lang="ja-JP" altLang="en-US" dirty="0"/>
              <a:t>や</a:t>
            </a:r>
            <a:r>
              <a:rPr lang="en-US" altLang="ja-JP" dirty="0"/>
              <a:t>HHS</a:t>
            </a:r>
            <a:r>
              <a:rPr lang="ja-JP" altLang="en-US" dirty="0"/>
              <a:t>の正式なワクチンのレコメンデーションになります。</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59</a:t>
            </a:fld>
            <a:endParaRPr lang="en-US" dirty="0"/>
          </a:p>
        </p:txBody>
      </p:sp>
    </p:spTree>
    <p:extLst>
      <p:ext uri="{BB962C8B-B14F-4D97-AF65-F5344CB8AC3E}">
        <p14:creationId xmlns:p14="http://schemas.microsoft.com/office/powerpoint/2010/main" val="28418346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日本との関係、また意思決定科学が歴史的に使われてきた分野として</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60</a:t>
            </a:fld>
            <a:endParaRPr lang="en-US" dirty="0"/>
          </a:p>
        </p:txBody>
      </p:sp>
    </p:spTree>
    <p:extLst>
      <p:ext uri="{BB962C8B-B14F-4D97-AF65-F5344CB8AC3E}">
        <p14:creationId xmlns:p14="http://schemas.microsoft.com/office/powerpoint/2010/main" val="39716703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ja-JP" altLang="en-US" dirty="0">
                <a:effectLst/>
              </a:rPr>
              <a:t>中央社会保険医療協議会とは、健康保険制度や診療報酬の改定などについて審議する厚労省の諮問機関</a:t>
            </a: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61</a:t>
            </a:fld>
            <a:endParaRPr lang="en-US" dirty="0"/>
          </a:p>
        </p:txBody>
      </p:sp>
    </p:spTree>
    <p:extLst>
      <p:ext uri="{BB962C8B-B14F-4D97-AF65-F5344CB8AC3E}">
        <p14:creationId xmlns:p14="http://schemas.microsoft.com/office/powerpoint/2010/main" val="40989762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ja-JP" altLang="en-US" dirty="0"/>
              <a:t>問の対象になっているパラメータというのは</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63</a:t>
            </a:fld>
            <a:endParaRPr lang="en-US" dirty="0"/>
          </a:p>
        </p:txBody>
      </p:sp>
    </p:spTree>
    <p:extLst>
      <p:ext uri="{BB962C8B-B14F-4D97-AF65-F5344CB8AC3E}">
        <p14:creationId xmlns:p14="http://schemas.microsoft.com/office/powerpoint/2010/main" val="3299353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一サンプルあたりの追加期待価値</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64</a:t>
            </a:fld>
            <a:endParaRPr lang="en-US" dirty="0"/>
          </a:p>
        </p:txBody>
      </p:sp>
    </p:spTree>
    <p:extLst>
      <p:ext uri="{BB962C8B-B14F-4D97-AF65-F5344CB8AC3E}">
        <p14:creationId xmlns:p14="http://schemas.microsoft.com/office/powerpoint/2010/main" val="4545970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そろそろまとめ</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67</a:t>
            </a:fld>
            <a:endParaRPr lang="en-US" dirty="0"/>
          </a:p>
        </p:txBody>
      </p:sp>
    </p:spTree>
    <p:extLst>
      <p:ext uri="{BB962C8B-B14F-4D97-AF65-F5344CB8AC3E}">
        <p14:creationId xmlns:p14="http://schemas.microsoft.com/office/powerpoint/2010/main" val="15500743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本講演の練習に付き合ってくださった方に、この場を借りてお礼を申し上げたいと思います。</a:t>
            </a:r>
            <a:endParaRPr lang="en-US" altLang="ja-JP" dirty="0"/>
          </a:p>
          <a:p>
            <a:endParaRPr lang="en-US" altLang="ja-JP" dirty="0"/>
          </a:p>
          <a:p>
            <a:r>
              <a:rPr lang="ja-JP" altLang="en-US" dirty="0"/>
              <a:t>今後もこの分野で研究を続けていくので、ご関心やご相談がありましたら、</a:t>
            </a:r>
            <a:endParaRPr lang="en-US" altLang="ja-JP" dirty="0"/>
          </a:p>
          <a:p>
            <a:r>
              <a:rPr lang="ja-JP" altLang="en-US" dirty="0"/>
              <a:t>お気軽にご連絡いただけますと幸いです。</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71</a:t>
            </a:fld>
            <a:endParaRPr lang="en-US" dirty="0"/>
          </a:p>
        </p:txBody>
      </p:sp>
    </p:spTree>
    <p:extLst>
      <p:ext uri="{BB962C8B-B14F-4D97-AF65-F5344CB8AC3E}">
        <p14:creationId xmlns:p14="http://schemas.microsoft.com/office/powerpoint/2010/main" val="25390071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rgbClr val="002060"/>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6B97173-A601-1D66-1651-4FE0D76A0BC7}"/>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8454" t="1728"/>
          <a:stretch/>
        </p:blipFill>
        <p:spPr>
          <a:xfrm>
            <a:off x="-1" y="0"/>
            <a:ext cx="8264995" cy="5320146"/>
          </a:xfrm>
          <a:prstGeom prst="rect">
            <a:avLst/>
          </a:prstGeom>
        </p:spPr>
      </p:pic>
      <p:sp>
        <p:nvSpPr>
          <p:cNvPr id="2" name="Rectangle 1">
            <a:extLst>
              <a:ext uri="{FF2B5EF4-FFF2-40B4-BE49-F238E27FC236}">
                <a16:creationId xmlns:a16="http://schemas.microsoft.com/office/drawing/2014/main" id="{D8A73C3B-6575-90FE-BFBB-756A111AF003}"/>
              </a:ext>
            </a:extLst>
          </p:cNvPr>
          <p:cNvSpPr/>
          <p:nvPr userDrawn="1"/>
        </p:nvSpPr>
        <p:spPr>
          <a:xfrm>
            <a:off x="0" y="6581775"/>
            <a:ext cx="3028950" cy="27622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200" dirty="0">
                <a:solidFill>
                  <a:schemeClr val="bg1">
                    <a:lumMod val="85000"/>
                  </a:schemeClr>
                </a:solidFill>
                <a:latin typeface="Arial" panose="020B0604020202020204" pitchFamily="34" charset="0"/>
                <a:ea typeface="Meiryo UI" panose="020B0604030504040204" pitchFamily="50" charset="-128"/>
                <a:cs typeface="Arial" panose="020B0604020202020204" pitchFamily="34" charset="0"/>
              </a:rPr>
              <a:t>© Satoshi Koiso</a:t>
            </a:r>
          </a:p>
        </p:txBody>
      </p:sp>
    </p:spTree>
    <p:extLst>
      <p:ext uri="{BB962C8B-B14F-4D97-AF65-F5344CB8AC3E}">
        <p14:creationId xmlns:p14="http://schemas.microsoft.com/office/powerpoint/2010/main" val="38108473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ab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5CC9A46-E0E7-B31D-3E27-6F4303A45A9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8883" t="18052" r="46636"/>
          <a:stretch/>
        </p:blipFill>
        <p:spPr>
          <a:xfrm rot="16200000" flipH="1" flipV="1">
            <a:off x="10211071" y="-715403"/>
            <a:ext cx="1266663" cy="2697632"/>
          </a:xfrm>
          <a:prstGeom prst="rect">
            <a:avLst/>
          </a:prstGeom>
        </p:spPr>
      </p:pic>
      <p:sp>
        <p:nvSpPr>
          <p:cNvPr id="7" name="Title 6">
            <a:extLst>
              <a:ext uri="{FF2B5EF4-FFF2-40B4-BE49-F238E27FC236}">
                <a16:creationId xmlns:a16="http://schemas.microsoft.com/office/drawing/2014/main" id="{767669DC-4C7F-9B50-FCC0-F2AF5B2A9509}"/>
              </a:ext>
            </a:extLst>
          </p:cNvPr>
          <p:cNvSpPr>
            <a:spLocks noGrp="1"/>
          </p:cNvSpPr>
          <p:nvPr>
            <p:ph type="title" hasCustomPrompt="1"/>
          </p:nvPr>
        </p:nvSpPr>
        <p:spPr>
          <a:xfrm>
            <a:off x="467139" y="589724"/>
            <a:ext cx="11221278" cy="362776"/>
          </a:xfrm>
          <a:prstGeom prst="rect">
            <a:avLst/>
          </a:prstGeom>
        </p:spPr>
        <p:txBody>
          <a:bodyPr lIns="0" tIns="0" rIns="0" bIns="0" anchor="ctr">
            <a:noAutofit/>
          </a:bodyPr>
          <a:lstStyle>
            <a:lvl1pPr>
              <a:lnSpc>
                <a:spcPct val="100000"/>
              </a:lnSpc>
              <a:spcAft>
                <a:spcPts val="0"/>
              </a:spcAft>
              <a:defRPr sz="2800" b="1">
                <a:solidFill>
                  <a:srgbClr val="002060"/>
                </a:solidFill>
              </a:defRPr>
            </a:lvl1pPr>
          </a:lstStyle>
          <a:p>
            <a:r>
              <a:rPr lang="en-US" dirty="0"/>
              <a:t>Click to add title</a:t>
            </a:r>
          </a:p>
        </p:txBody>
      </p:sp>
      <p:sp>
        <p:nvSpPr>
          <p:cNvPr id="9" name="Table Placeholder 8">
            <a:extLst>
              <a:ext uri="{FF2B5EF4-FFF2-40B4-BE49-F238E27FC236}">
                <a16:creationId xmlns:a16="http://schemas.microsoft.com/office/drawing/2014/main" id="{BEF581C2-7562-2E21-E6DD-20AEFC43AABC}"/>
              </a:ext>
            </a:extLst>
          </p:cNvPr>
          <p:cNvSpPr>
            <a:spLocks noGrp="1"/>
          </p:cNvSpPr>
          <p:nvPr>
            <p:ph type="tbl" sz="quarter" idx="10"/>
          </p:nvPr>
        </p:nvSpPr>
        <p:spPr>
          <a:xfrm>
            <a:off x="467139" y="1938131"/>
            <a:ext cx="11221278" cy="4622672"/>
          </a:xfrm>
        </p:spPr>
        <p:txBody>
          <a:bodyPr lIns="0" tIns="0" rIns="0" bIns="0">
            <a:noAutofit/>
          </a:bodyPr>
          <a:lstStyle>
            <a:lvl1pPr>
              <a:lnSpc>
                <a:spcPct val="100000"/>
              </a:lnSpc>
              <a:defRPr sz="2400"/>
            </a:lvl1pPr>
          </a:lstStyle>
          <a:p>
            <a:r>
              <a:rPr lang="en-US" dirty="0"/>
              <a:t>Click icon to add table</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11554312" y="6560803"/>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cxnSp>
        <p:nvCxnSpPr>
          <p:cNvPr id="4" name="Straight Connector 3">
            <a:extLst>
              <a:ext uri="{FF2B5EF4-FFF2-40B4-BE49-F238E27FC236}">
                <a16:creationId xmlns:a16="http://schemas.microsoft.com/office/drawing/2014/main" id="{76AA6E50-66C3-6BC1-F8C9-4A376131E4DA}"/>
              </a:ext>
            </a:extLst>
          </p:cNvPr>
          <p:cNvCxnSpPr/>
          <p:nvPr userDrawn="1"/>
        </p:nvCxnSpPr>
        <p:spPr>
          <a:xfrm>
            <a:off x="0" y="983974"/>
            <a:ext cx="9412357"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Table Placeholder 8">
            <a:extLst>
              <a:ext uri="{FF2B5EF4-FFF2-40B4-BE49-F238E27FC236}">
                <a16:creationId xmlns:a16="http://schemas.microsoft.com/office/drawing/2014/main" id="{98987AD4-4C38-3E07-9A18-6847AC4C7450}"/>
              </a:ext>
            </a:extLst>
          </p:cNvPr>
          <p:cNvSpPr>
            <a:spLocks noGrp="1"/>
          </p:cNvSpPr>
          <p:nvPr>
            <p:ph type="tbl" sz="quarter" idx="11"/>
          </p:nvPr>
        </p:nvSpPr>
        <p:spPr>
          <a:xfrm>
            <a:off x="467139" y="1093305"/>
            <a:ext cx="11221278" cy="735496"/>
          </a:xfrm>
          <a:prstGeom prst="rect">
            <a:avLst/>
          </a:prstGeom>
        </p:spPr>
        <p:txBody>
          <a:bodyPr lIns="0" tIns="0" rIns="0" bIns="0">
            <a:noAutofit/>
          </a:bodyPr>
          <a:lstStyle>
            <a:lvl1pPr marL="0" indent="0">
              <a:buNone/>
              <a:defRPr sz="2400" b="1">
                <a:solidFill>
                  <a:srgbClr val="002060"/>
                </a:solidFill>
              </a:defRPr>
            </a:lvl1pPr>
          </a:lstStyle>
          <a:p>
            <a:r>
              <a:rPr lang="en-US" dirty="0"/>
              <a:t>Click icon to add table</a:t>
            </a:r>
          </a:p>
        </p:txBody>
      </p:sp>
      <p:sp>
        <p:nvSpPr>
          <p:cNvPr id="2" name="Rectangle 1">
            <a:extLst>
              <a:ext uri="{FF2B5EF4-FFF2-40B4-BE49-F238E27FC236}">
                <a16:creationId xmlns:a16="http://schemas.microsoft.com/office/drawing/2014/main" id="{0370BBD7-411C-DEB1-E248-62BF3C0133A1}"/>
              </a:ext>
            </a:extLst>
          </p:cNvPr>
          <p:cNvSpPr/>
          <p:nvPr userDrawn="1"/>
        </p:nvSpPr>
        <p:spPr>
          <a:xfrm>
            <a:off x="0" y="6581775"/>
            <a:ext cx="3028950" cy="2762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200" dirty="0">
                <a:solidFill>
                  <a:schemeClr val="bg1">
                    <a:lumMod val="50000"/>
                  </a:schemeClr>
                </a:solidFill>
                <a:latin typeface="Arial" panose="020B0604020202020204" pitchFamily="34" charset="0"/>
                <a:ea typeface="Meiryo UI" panose="020B0604030504040204" pitchFamily="50" charset="-128"/>
                <a:cs typeface="Arial" panose="020B0604020202020204" pitchFamily="34" charset="0"/>
              </a:rPr>
              <a:t>© Satoshi Koiso</a:t>
            </a:r>
          </a:p>
        </p:txBody>
      </p:sp>
    </p:spTree>
    <p:extLst>
      <p:ext uri="{BB962C8B-B14F-4D97-AF65-F5344CB8AC3E}">
        <p14:creationId xmlns:p14="http://schemas.microsoft.com/office/powerpoint/2010/main" val="277078048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ntent and Table 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E5D17C7-3503-7305-8191-20863B738898}"/>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r="55824" b="26760"/>
          <a:stretch/>
        </p:blipFill>
        <p:spPr>
          <a:xfrm>
            <a:off x="9229725" y="1835240"/>
            <a:ext cx="2962275" cy="5022760"/>
          </a:xfrm>
          <a:prstGeom prst="rect">
            <a:avLst/>
          </a:prstGeom>
        </p:spPr>
      </p:pic>
      <p:sp>
        <p:nvSpPr>
          <p:cNvPr id="14" name="Rectangle 13">
            <a:extLst>
              <a:ext uri="{FF2B5EF4-FFF2-40B4-BE49-F238E27FC236}">
                <a16:creationId xmlns:a16="http://schemas.microsoft.com/office/drawing/2014/main" id="{C76E1AE6-3E01-1CBD-CAEC-11056D00ADE5}"/>
              </a:ext>
              <a:ext uri="{C183D7F6-B498-43B3-948B-1728B52AA6E4}">
                <adec:decorative xmlns:adec="http://schemas.microsoft.com/office/drawing/2017/decorative" val="1"/>
              </a:ext>
            </a:extLst>
          </p:cNvPr>
          <p:cNvSpPr/>
          <p:nvPr userDrawn="1"/>
        </p:nvSpPr>
        <p:spPr>
          <a:xfrm>
            <a:off x="4443413" y="1835240"/>
            <a:ext cx="7000875" cy="42798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90E28F03-2149-7C50-779B-6A2D8D789AF5}"/>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0903" r="75060" b="10347"/>
          <a:stretch/>
        </p:blipFill>
        <p:spPr>
          <a:xfrm rot="16200000">
            <a:off x="149650" y="-149653"/>
            <a:ext cx="1672375" cy="1971675"/>
          </a:xfrm>
          <a:prstGeom prst="rect">
            <a:avLst/>
          </a:prstGeom>
        </p:spPr>
      </p:pic>
      <p:sp>
        <p:nvSpPr>
          <p:cNvPr id="10" name="Title 9">
            <a:extLst>
              <a:ext uri="{FF2B5EF4-FFF2-40B4-BE49-F238E27FC236}">
                <a16:creationId xmlns:a16="http://schemas.microsoft.com/office/drawing/2014/main" id="{CA4CAE4E-4252-8471-C50B-1DD5AFBFECCA}"/>
              </a:ext>
            </a:extLst>
          </p:cNvPr>
          <p:cNvSpPr>
            <a:spLocks noGrp="1"/>
          </p:cNvSpPr>
          <p:nvPr>
            <p:ph type="title" hasCustomPrompt="1"/>
          </p:nvPr>
        </p:nvSpPr>
        <p:spPr>
          <a:xfrm>
            <a:off x="914399" y="365125"/>
            <a:ext cx="10363202" cy="1603462"/>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E493CE42-5465-91AC-A1F4-A4821AE37A9C}"/>
              </a:ext>
            </a:extLst>
          </p:cNvPr>
          <p:cNvSpPr>
            <a:spLocks noGrp="1"/>
          </p:cNvSpPr>
          <p:nvPr>
            <p:ph sz="quarter" idx="10" hasCustomPrompt="1"/>
          </p:nvPr>
        </p:nvSpPr>
        <p:spPr>
          <a:xfrm>
            <a:off x="914399" y="2022250"/>
            <a:ext cx="3299013" cy="391491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able Placeholder 12">
            <a:extLst>
              <a:ext uri="{FF2B5EF4-FFF2-40B4-BE49-F238E27FC236}">
                <a16:creationId xmlns:a16="http://schemas.microsoft.com/office/drawing/2014/main" id="{156A00B1-F3E3-B7FF-58F4-61DE3EF07C07}"/>
              </a:ext>
            </a:extLst>
          </p:cNvPr>
          <p:cNvSpPr>
            <a:spLocks noGrp="1"/>
          </p:cNvSpPr>
          <p:nvPr>
            <p:ph type="tbl" sz="quarter" idx="11" hasCustomPrompt="1"/>
          </p:nvPr>
        </p:nvSpPr>
        <p:spPr>
          <a:xfrm>
            <a:off x="4602163" y="2017713"/>
            <a:ext cx="6675437" cy="3932237"/>
          </a:xfrm>
        </p:spPr>
        <p:txBody>
          <a:bodyPr>
            <a:normAutofit/>
          </a:bodyPr>
          <a:lstStyle>
            <a:lvl1pPr>
              <a:defRPr sz="2000"/>
            </a:lvl1pPr>
          </a:lstStyle>
          <a:p>
            <a:r>
              <a:rPr lang="en-US" dirty="0"/>
              <a:t>Click icon to insert table</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05621495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5CC9A46-E0E7-B31D-3E27-6F4303A45A9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8883" t="18052" r="46636"/>
          <a:stretch/>
        </p:blipFill>
        <p:spPr>
          <a:xfrm rot="16200000" flipH="1" flipV="1">
            <a:off x="9553763" y="-952310"/>
            <a:ext cx="1685928" cy="3590547"/>
          </a:xfrm>
          <a:prstGeom prst="rect">
            <a:avLst/>
          </a:prstGeom>
        </p:spPr>
      </p:pic>
      <p:sp>
        <p:nvSpPr>
          <p:cNvPr id="7" name="Title 6">
            <a:extLst>
              <a:ext uri="{FF2B5EF4-FFF2-40B4-BE49-F238E27FC236}">
                <a16:creationId xmlns:a16="http://schemas.microsoft.com/office/drawing/2014/main" id="{767669DC-4C7F-9B50-FCC0-F2AF5B2A9509}"/>
              </a:ext>
            </a:extLst>
          </p:cNvPr>
          <p:cNvSpPr>
            <a:spLocks noGrp="1"/>
          </p:cNvSpPr>
          <p:nvPr>
            <p:ph type="title" hasCustomPrompt="1"/>
          </p:nvPr>
        </p:nvSpPr>
        <p:spPr>
          <a:xfrm>
            <a:off x="923545" y="584477"/>
            <a:ext cx="10354052" cy="1209765"/>
          </a:xfrm>
        </p:spPr>
        <p:txBody>
          <a:bodyPr>
            <a:normAutofit/>
          </a:bodyPr>
          <a:lstStyle>
            <a:lvl1pPr>
              <a:defRPr sz="3200"/>
            </a:lvl1pPr>
          </a:lstStyle>
          <a:p>
            <a:r>
              <a:rPr lang="en-US" dirty="0"/>
              <a:t>Click to add title</a:t>
            </a:r>
          </a:p>
        </p:txBody>
      </p:sp>
      <p:sp>
        <p:nvSpPr>
          <p:cNvPr id="9" name="Table Placeholder 8">
            <a:extLst>
              <a:ext uri="{FF2B5EF4-FFF2-40B4-BE49-F238E27FC236}">
                <a16:creationId xmlns:a16="http://schemas.microsoft.com/office/drawing/2014/main" id="{BEF581C2-7562-2E21-E6DD-20AEFC43AABC}"/>
              </a:ext>
            </a:extLst>
          </p:cNvPr>
          <p:cNvSpPr>
            <a:spLocks noGrp="1"/>
          </p:cNvSpPr>
          <p:nvPr>
            <p:ph type="tbl" sz="quarter" idx="10"/>
          </p:nvPr>
        </p:nvSpPr>
        <p:spPr>
          <a:xfrm>
            <a:off x="923545" y="2009775"/>
            <a:ext cx="10354052" cy="3931920"/>
          </a:xfrm>
        </p:spPr>
        <p:txBody>
          <a:bodyPr>
            <a:normAutofit/>
          </a:bodyPr>
          <a:lstStyle>
            <a:lvl1pPr>
              <a:defRPr sz="2400"/>
            </a:lvl1pPr>
          </a:lstStyle>
          <a:p>
            <a:r>
              <a:rPr lang="en-US"/>
              <a:t>Click icon to add table</a:t>
            </a:r>
            <a:endParaRPr lang="en-US" dirty="0"/>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16384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0DFB311A-EAAD-7656-C753-E8C739948535}"/>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4533" t="18691" r="1" b="-131"/>
          <a:stretch/>
        </p:blipFill>
        <p:spPr>
          <a:xfrm rot="5400000">
            <a:off x="7851419" y="-1244552"/>
            <a:ext cx="3096029" cy="5585137"/>
          </a:xfrm>
          <a:custGeom>
            <a:avLst/>
            <a:gdLst>
              <a:gd name="connsiteX0" fmla="*/ 0 w 1756624"/>
              <a:gd name="connsiteY0" fmla="*/ 0 h 6858000"/>
              <a:gd name="connsiteX1" fmla="*/ 1756624 w 1756624"/>
              <a:gd name="connsiteY1" fmla="*/ 0 h 6858000"/>
              <a:gd name="connsiteX2" fmla="*/ 1756624 w 1756624"/>
              <a:gd name="connsiteY2" fmla="*/ 6858000 h 6858000"/>
              <a:gd name="connsiteX3" fmla="*/ 0 w 175662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756624" h="6858000">
                <a:moveTo>
                  <a:pt x="0" y="0"/>
                </a:moveTo>
                <a:lnTo>
                  <a:pt x="1756624" y="0"/>
                </a:lnTo>
                <a:lnTo>
                  <a:pt x="1756624" y="6858000"/>
                </a:lnTo>
                <a:lnTo>
                  <a:pt x="0" y="6858000"/>
                </a:lnTo>
                <a:close/>
              </a:path>
            </a:pathLst>
          </a:custGeom>
        </p:spPr>
      </p:pic>
      <p:pic>
        <p:nvPicPr>
          <p:cNvPr id="10" name="Graphic 9">
            <a:extLst>
              <a:ext uri="{FF2B5EF4-FFF2-40B4-BE49-F238E27FC236}">
                <a16:creationId xmlns:a16="http://schemas.microsoft.com/office/drawing/2014/main" id="{1612F0DE-D367-10BB-1F71-60AA6527CAD4}"/>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4151" r="18577"/>
          <a:stretch/>
        </p:blipFill>
        <p:spPr>
          <a:xfrm>
            <a:off x="7010400" y="0"/>
            <a:ext cx="5181600" cy="6858000"/>
          </a:xfrm>
          <a:prstGeom prst="rect">
            <a:avLst/>
          </a:prstGeom>
        </p:spPr>
      </p:pic>
      <p:sp>
        <p:nvSpPr>
          <p:cNvPr id="2" name="Title 1">
            <a:extLst>
              <a:ext uri="{FF2B5EF4-FFF2-40B4-BE49-F238E27FC236}">
                <a16:creationId xmlns:a16="http://schemas.microsoft.com/office/drawing/2014/main" id="{4F4F5799-FC34-2F2D-D11E-9B472CAF066E}"/>
              </a:ext>
            </a:extLst>
          </p:cNvPr>
          <p:cNvSpPr>
            <a:spLocks noGrp="1"/>
          </p:cNvSpPr>
          <p:nvPr>
            <p:ph type="title" hasCustomPrompt="1"/>
          </p:nvPr>
        </p:nvSpPr>
        <p:spPr>
          <a:xfrm>
            <a:off x="914400" y="315533"/>
            <a:ext cx="5181600" cy="2376868"/>
          </a:xfrm>
        </p:spPr>
        <p:txBody>
          <a:bodyPr anchor="b">
            <a:normAutofit/>
          </a:bodyPr>
          <a:lstStyle>
            <a:lvl1pPr>
              <a:defRPr sz="3200"/>
            </a:lvl1pPr>
          </a:lstStyle>
          <a:p>
            <a:r>
              <a:rPr lang="en-US" dirty="0"/>
              <a:t>Click to add title</a:t>
            </a:r>
          </a:p>
        </p:txBody>
      </p:sp>
      <p:sp>
        <p:nvSpPr>
          <p:cNvPr id="8" name="Content Placeholder 7">
            <a:extLst>
              <a:ext uri="{FF2B5EF4-FFF2-40B4-BE49-F238E27FC236}">
                <a16:creationId xmlns:a16="http://schemas.microsoft.com/office/drawing/2014/main" id="{2575025C-084B-CD7A-F546-0E13BA13CFEF}"/>
              </a:ext>
            </a:extLst>
          </p:cNvPr>
          <p:cNvSpPr>
            <a:spLocks noGrp="1"/>
          </p:cNvSpPr>
          <p:nvPr>
            <p:ph sz="quarter" idx="10" hasCustomPrompt="1"/>
          </p:nvPr>
        </p:nvSpPr>
        <p:spPr>
          <a:xfrm>
            <a:off x="914400" y="2844800"/>
            <a:ext cx="5181600" cy="3128963"/>
          </a:xfrm>
        </p:spPr>
        <p:txBody>
          <a:bodyPr>
            <a:normAutofit/>
          </a:bodyPr>
          <a:lstStyle>
            <a:lvl1pPr marL="0" indent="0">
              <a:lnSpc>
                <a:spcPct val="120000"/>
              </a:lnSpc>
              <a:buNone/>
              <a:defRPr sz="2000"/>
            </a:lvl1pPr>
            <a:lvl2pPr>
              <a:lnSpc>
                <a:spcPct val="120000"/>
              </a:lnSpc>
              <a:defRPr sz="1800"/>
            </a:lvl2pPr>
            <a:lvl3pPr>
              <a:lnSpc>
                <a:spcPct val="120000"/>
              </a:lnSpc>
              <a:defRPr sz="1600"/>
            </a:lvl3pPr>
            <a:lvl4pPr>
              <a:lnSpc>
                <a:spcPct val="120000"/>
              </a:lnSpc>
              <a:defRPr sz="1400"/>
            </a:lvl4pPr>
            <a:lvl5pPr>
              <a:lnSpc>
                <a:spcPct val="120000"/>
              </a:lnSpc>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238750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rgbClr val="002060"/>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5DE041D-A3BF-94FF-029C-719D4DADA215}"/>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3300" t="13815"/>
          <a:stretch/>
        </p:blipFill>
        <p:spPr>
          <a:xfrm>
            <a:off x="0" y="-1"/>
            <a:ext cx="4239206" cy="3776193"/>
          </a:xfrm>
          <a:prstGeom prst="rect">
            <a:avLst/>
          </a:prstGeom>
        </p:spPr>
      </p:pic>
      <p:sp>
        <p:nvSpPr>
          <p:cNvPr id="2" name="Title 1">
            <a:extLst>
              <a:ext uri="{FF2B5EF4-FFF2-40B4-BE49-F238E27FC236}">
                <a16:creationId xmlns:a16="http://schemas.microsoft.com/office/drawing/2014/main" id="{0DEE605D-0584-F71C-A97D-B672F13E3911}"/>
              </a:ext>
            </a:extLst>
          </p:cNvPr>
          <p:cNvSpPr>
            <a:spLocks noGrp="1"/>
          </p:cNvSpPr>
          <p:nvPr>
            <p:ph type="title" hasCustomPrompt="1"/>
          </p:nvPr>
        </p:nvSpPr>
        <p:spPr>
          <a:xfrm>
            <a:off x="914400" y="2580640"/>
            <a:ext cx="5181600" cy="3368819"/>
          </a:xfrm>
        </p:spPr>
        <p:txBody>
          <a:bodyPr anchor="b">
            <a:normAutofit/>
          </a:bodyPr>
          <a:lstStyle>
            <a:lvl1pPr>
              <a:defRPr sz="4800">
                <a:solidFill>
                  <a:schemeClr val="bg1"/>
                </a:solidFill>
              </a:defRPr>
            </a:lvl1pPr>
          </a:lstStyle>
          <a:p>
            <a:r>
              <a:rPr lang="en-US" dirty="0"/>
              <a:t>Click to add title</a:t>
            </a:r>
          </a:p>
        </p:txBody>
      </p:sp>
      <p:sp>
        <p:nvSpPr>
          <p:cNvPr id="9" name="Picture Placeholder 8">
            <a:extLst>
              <a:ext uri="{FF2B5EF4-FFF2-40B4-BE49-F238E27FC236}">
                <a16:creationId xmlns:a16="http://schemas.microsoft.com/office/drawing/2014/main" id="{59AF635C-89E6-F6EF-FA6A-417A9A84BF4A}"/>
              </a:ext>
            </a:extLst>
          </p:cNvPr>
          <p:cNvSpPr>
            <a:spLocks noGrp="1"/>
          </p:cNvSpPr>
          <p:nvPr>
            <p:ph type="pic" sz="quarter" idx="10" hasCustomPrompt="1"/>
          </p:nvPr>
        </p:nvSpPr>
        <p:spPr>
          <a:xfrm>
            <a:off x="6085840" y="-10159"/>
            <a:ext cx="6116320" cy="6868160"/>
          </a:xfrm>
          <a:custGeom>
            <a:avLst/>
            <a:gdLst>
              <a:gd name="connsiteX0" fmla="*/ 0 w 6116320"/>
              <a:gd name="connsiteY0" fmla="*/ 0 h 6880225"/>
              <a:gd name="connsiteX1" fmla="*/ 6116320 w 6116320"/>
              <a:gd name="connsiteY1" fmla="*/ 0 h 6880225"/>
              <a:gd name="connsiteX2" fmla="*/ 6116320 w 6116320"/>
              <a:gd name="connsiteY2" fmla="*/ 6880225 h 6880225"/>
              <a:gd name="connsiteX3" fmla="*/ 0 w 6116320"/>
              <a:gd name="connsiteY3" fmla="*/ 6880225 h 6880225"/>
              <a:gd name="connsiteX4" fmla="*/ 0 w 6116320"/>
              <a:gd name="connsiteY4" fmla="*/ 0 h 6880225"/>
              <a:gd name="connsiteX0" fmla="*/ 0 w 6116320"/>
              <a:gd name="connsiteY0" fmla="*/ 0 h 6880225"/>
              <a:gd name="connsiteX1" fmla="*/ 6116320 w 6116320"/>
              <a:gd name="connsiteY1" fmla="*/ 0 h 6880225"/>
              <a:gd name="connsiteX2" fmla="*/ 6116320 w 6116320"/>
              <a:gd name="connsiteY2" fmla="*/ 6880225 h 6880225"/>
              <a:gd name="connsiteX3" fmla="*/ 2052320 w 6116320"/>
              <a:gd name="connsiteY3" fmla="*/ 6880225 h 6880225"/>
              <a:gd name="connsiteX4" fmla="*/ 0 w 6116320"/>
              <a:gd name="connsiteY4" fmla="*/ 0 h 6880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6320" h="6880225">
                <a:moveTo>
                  <a:pt x="0" y="0"/>
                </a:moveTo>
                <a:lnTo>
                  <a:pt x="6116320" y="0"/>
                </a:lnTo>
                <a:lnTo>
                  <a:pt x="6116320" y="6880225"/>
                </a:lnTo>
                <a:lnTo>
                  <a:pt x="2052320" y="6880225"/>
                </a:lnTo>
                <a:lnTo>
                  <a:pt x="0" y="0"/>
                </a:lnTo>
                <a:close/>
              </a:path>
            </a:pathLst>
          </a:custGeom>
        </p:spPr>
        <p:txBody>
          <a:bodyPr>
            <a:norm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736789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Content and left Image 1">
    <p:bg>
      <p:bgPr>
        <a:solidFill>
          <a:srgbClr val="002060"/>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589277D-BC14-E7E0-5822-5575F563E1C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6200000">
            <a:off x="8039100" y="228600"/>
            <a:ext cx="4381500" cy="3924300"/>
          </a:xfrm>
          <a:prstGeom prst="rect">
            <a:avLst/>
          </a:prstGeom>
        </p:spPr>
      </p:pic>
      <p:sp>
        <p:nvSpPr>
          <p:cNvPr id="2" name="Title 1">
            <a:extLst>
              <a:ext uri="{FF2B5EF4-FFF2-40B4-BE49-F238E27FC236}">
                <a16:creationId xmlns:a16="http://schemas.microsoft.com/office/drawing/2014/main" id="{4FDB1BDE-C8F3-ACC0-740B-CBD8128777D5}"/>
              </a:ext>
            </a:extLst>
          </p:cNvPr>
          <p:cNvSpPr>
            <a:spLocks noGrp="1"/>
          </p:cNvSpPr>
          <p:nvPr>
            <p:ph type="title"/>
          </p:nvPr>
        </p:nvSpPr>
        <p:spPr>
          <a:xfrm>
            <a:off x="6096000" y="375285"/>
            <a:ext cx="4896678" cy="3624984"/>
          </a:xfrm>
        </p:spPr>
        <p:txBody>
          <a:bodyPr anchor="b">
            <a:normAutofit/>
          </a:bodyPr>
          <a:lstStyle>
            <a:lvl1pPr>
              <a:defRPr sz="480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128597A3-47D0-F393-55D9-07FFD951F396}"/>
              </a:ext>
            </a:extLst>
          </p:cNvPr>
          <p:cNvSpPr>
            <a:spLocks noGrp="1"/>
          </p:cNvSpPr>
          <p:nvPr>
            <p:ph type="pic" sz="quarter" idx="11"/>
          </p:nvPr>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405384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586 w 6096586"/>
              <a:gd name="connsiteY0" fmla="*/ 0 h 6858000"/>
              <a:gd name="connsiteX1" fmla="*/ 4054426 w 6096586"/>
              <a:gd name="connsiteY1" fmla="*/ 0 h 6858000"/>
              <a:gd name="connsiteX2" fmla="*/ 6096586 w 6096586"/>
              <a:gd name="connsiteY2" fmla="*/ 6858000 h 6858000"/>
              <a:gd name="connsiteX3" fmla="*/ 586 w 6096586"/>
              <a:gd name="connsiteY3" fmla="*/ 6858000 h 6858000"/>
              <a:gd name="connsiteX4" fmla="*/ 586 w 6096586"/>
              <a:gd name="connsiteY4" fmla="*/ 3669792 h 6858000"/>
              <a:gd name="connsiteX5" fmla="*/ 586 w 6096586"/>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4053840" y="0"/>
                </a:lnTo>
                <a:lnTo>
                  <a:pt x="6096000" y="6858000"/>
                </a:lnTo>
                <a:lnTo>
                  <a:pt x="950976" y="6858000"/>
                </a:lnTo>
                <a:lnTo>
                  <a:pt x="0" y="3669792"/>
                </a:lnTo>
                <a:lnTo>
                  <a:pt x="0" y="0"/>
                </a:lnTo>
                <a:close/>
              </a:path>
            </a:pathLst>
          </a:custGeom>
        </p:spPr>
        <p:txBody>
          <a:bodyPr>
            <a:normAutofit/>
          </a:bodyPr>
          <a:lstStyle>
            <a:lvl1pPr marL="0" indent="0" algn="l">
              <a:buNone/>
              <a:defRPr sz="2000">
                <a:solidFill>
                  <a:schemeClr val="bg1"/>
                </a:solidFill>
              </a:defRPr>
            </a:lvl1pPr>
          </a:lstStyle>
          <a:p>
            <a:r>
              <a:rPr lang="en-US"/>
              <a:t>Click icon to add picture</a:t>
            </a:r>
            <a:endParaRPr lang="en-US" dirty="0"/>
          </a:p>
        </p:txBody>
      </p:sp>
      <p:sp>
        <p:nvSpPr>
          <p:cNvPr id="9" name="Content Placeholder 10">
            <a:extLst>
              <a:ext uri="{FF2B5EF4-FFF2-40B4-BE49-F238E27FC236}">
                <a16:creationId xmlns:a16="http://schemas.microsoft.com/office/drawing/2014/main" id="{4BF260CE-C6E3-AE7A-DB8E-A72A1CF5B54E}"/>
              </a:ext>
            </a:extLst>
          </p:cNvPr>
          <p:cNvSpPr>
            <a:spLocks noGrp="1"/>
          </p:cNvSpPr>
          <p:nvPr>
            <p:ph sz="quarter" idx="10" hasCustomPrompt="1"/>
          </p:nvPr>
        </p:nvSpPr>
        <p:spPr>
          <a:xfrm>
            <a:off x="6096000" y="4172990"/>
            <a:ext cx="4896677" cy="2309726"/>
          </a:xfrm>
        </p:spPr>
        <p:txBody>
          <a:bodyPr>
            <a:normAutofit/>
          </a:bodyPr>
          <a:lstStyle>
            <a:lvl1pPr marL="0" indent="0">
              <a:spcBef>
                <a:spcPts val="0"/>
              </a:spcBef>
              <a:spcAft>
                <a:spcPts val="1200"/>
              </a:spcAft>
              <a:buNone/>
              <a:defRPr sz="2000">
                <a:solidFill>
                  <a:schemeClr val="bg1"/>
                </a:solidFill>
              </a:defRPr>
            </a:lvl1pPr>
            <a:lvl2pPr marL="742950" indent="-285750">
              <a:spcBef>
                <a:spcPts val="0"/>
              </a:spcBef>
              <a:spcAft>
                <a:spcPts val="1200"/>
              </a:spcAft>
              <a:buFont typeface="Arial" panose="020B0604020202020204" pitchFamily="34" charset="0"/>
              <a:buChar char="•"/>
              <a:defRPr sz="1800">
                <a:solidFill>
                  <a:schemeClr val="bg1"/>
                </a:solidFill>
              </a:defRPr>
            </a:lvl2pPr>
            <a:lvl3pPr marL="1200150" indent="-285750">
              <a:spcBef>
                <a:spcPts val="0"/>
              </a:spcBef>
              <a:spcAft>
                <a:spcPts val="1200"/>
              </a:spcAft>
              <a:buFont typeface="Arial" panose="020B0604020202020204" pitchFamily="34" charset="0"/>
              <a:buChar char="•"/>
              <a:defRPr sz="1600">
                <a:solidFill>
                  <a:schemeClr val="bg1"/>
                </a:solidFill>
              </a:defRPr>
            </a:lvl3pPr>
            <a:lvl4pPr marL="1657350" indent="-285750">
              <a:spcBef>
                <a:spcPts val="0"/>
              </a:spcBef>
              <a:spcAft>
                <a:spcPts val="1200"/>
              </a:spcAft>
              <a:buFont typeface="Arial" panose="020B0604020202020204" pitchFamily="34" charset="0"/>
              <a:buChar char="•"/>
              <a:defRPr sz="1400">
                <a:solidFill>
                  <a:schemeClr val="bg1"/>
                </a:solidFill>
              </a:defRPr>
            </a:lvl4pPr>
            <a:lvl5pPr marL="2114550" indent="-285750">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9111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verview">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2B74EE53-DB22-C27E-074F-A7129585FEA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5158" t="-5374" b="78533"/>
          <a:stretch/>
        </p:blipFill>
        <p:spPr>
          <a:xfrm rot="10800000">
            <a:off x="6324600" y="0"/>
            <a:ext cx="5867400" cy="1647324"/>
          </a:xfrm>
          <a:prstGeom prst="rect">
            <a:avLst/>
          </a:prstGeom>
        </p:spPr>
      </p:pic>
      <p:sp>
        <p:nvSpPr>
          <p:cNvPr id="2" name="Title 1">
            <a:extLst>
              <a:ext uri="{FF2B5EF4-FFF2-40B4-BE49-F238E27FC236}">
                <a16:creationId xmlns:a16="http://schemas.microsoft.com/office/drawing/2014/main" id="{278AEF0C-FA4B-8C23-0132-5529EC244F9E}"/>
              </a:ext>
            </a:extLst>
          </p:cNvPr>
          <p:cNvSpPr>
            <a:spLocks noGrp="1"/>
          </p:cNvSpPr>
          <p:nvPr>
            <p:ph type="title" hasCustomPrompt="1"/>
          </p:nvPr>
        </p:nvSpPr>
        <p:spPr>
          <a:xfrm>
            <a:off x="6126480" y="1310639"/>
            <a:ext cx="4805997" cy="2689629"/>
          </a:xfrm>
        </p:spPr>
        <p:txBody>
          <a:bodyPr anchor="b">
            <a:normAutofit/>
          </a:bodyPr>
          <a:lstStyle>
            <a:lvl1pPr>
              <a:defRPr sz="4800"/>
            </a:lvl1pPr>
          </a:lstStyle>
          <a:p>
            <a:r>
              <a:rPr lang="en-US" dirty="0"/>
              <a:t>Click to add title</a:t>
            </a:r>
          </a:p>
        </p:txBody>
      </p:sp>
      <p:sp>
        <p:nvSpPr>
          <p:cNvPr id="12" name="Picture Placeholder 11">
            <a:extLst>
              <a:ext uri="{FF2B5EF4-FFF2-40B4-BE49-F238E27FC236}">
                <a16:creationId xmlns:a16="http://schemas.microsoft.com/office/drawing/2014/main" id="{B3DD4867-9B0B-647C-1F78-5E50BF30F089}"/>
              </a:ext>
            </a:extLst>
          </p:cNvPr>
          <p:cNvSpPr>
            <a:spLocks noGrp="1"/>
          </p:cNvSpPr>
          <p:nvPr>
            <p:ph type="pic" sz="quarter" idx="11"/>
          </p:nvPr>
        </p:nvSpPr>
        <p:spPr>
          <a:xfrm>
            <a:off x="0" y="-1016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053840 w 6096000"/>
              <a:gd name="connsiteY2" fmla="*/ 6858000 h 6858000"/>
              <a:gd name="connsiteX3" fmla="*/ 0 w 6096000"/>
              <a:gd name="connsiteY3" fmla="*/ 6858000 h 6858000"/>
              <a:gd name="connsiteX4" fmla="*/ 0 w 6096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58000">
                <a:moveTo>
                  <a:pt x="0" y="0"/>
                </a:moveTo>
                <a:lnTo>
                  <a:pt x="6096000" y="0"/>
                </a:lnTo>
                <a:lnTo>
                  <a:pt x="4053840" y="6858000"/>
                </a:lnTo>
                <a:lnTo>
                  <a:pt x="0" y="6858000"/>
                </a:lnTo>
                <a:lnTo>
                  <a:pt x="0" y="0"/>
                </a:lnTo>
                <a:close/>
              </a:path>
            </a:pathLst>
          </a:custGeom>
        </p:spPr>
        <p:txBody>
          <a:bodyPr>
            <a:normAutofit/>
          </a:bodyPr>
          <a:lstStyle>
            <a:lvl1pPr marL="0" indent="0" algn="ctr">
              <a:buNone/>
              <a:defRPr sz="2000"/>
            </a:lvl1pPr>
          </a:lstStyle>
          <a:p>
            <a:r>
              <a:rPr lang="en-US"/>
              <a:t>Click icon to add picture</a:t>
            </a:r>
            <a:endParaRPr lang="en-US" dirty="0"/>
          </a:p>
        </p:txBody>
      </p:sp>
      <p:sp>
        <p:nvSpPr>
          <p:cNvPr id="10" name="Content Placeholder 9">
            <a:extLst>
              <a:ext uri="{FF2B5EF4-FFF2-40B4-BE49-F238E27FC236}">
                <a16:creationId xmlns:a16="http://schemas.microsoft.com/office/drawing/2014/main" id="{BFF4D65D-965A-5E86-4D91-C72D1D03A8B9}"/>
              </a:ext>
            </a:extLst>
          </p:cNvPr>
          <p:cNvSpPr>
            <a:spLocks noGrp="1"/>
          </p:cNvSpPr>
          <p:nvPr>
            <p:ph sz="quarter" idx="10" hasCustomPrompt="1"/>
          </p:nvPr>
        </p:nvSpPr>
        <p:spPr>
          <a:xfrm>
            <a:off x="6126163" y="4172990"/>
            <a:ext cx="4805997" cy="2389736"/>
          </a:xfr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6365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4C9F686-E069-3B60-9625-01EE6A41D75D}"/>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5239"/>
          <a:stretch/>
        </p:blipFill>
        <p:spPr>
          <a:xfrm flipH="1">
            <a:off x="9135414" y="0"/>
            <a:ext cx="3056586" cy="6858000"/>
          </a:xfrm>
          <a:custGeom>
            <a:avLst/>
            <a:gdLst>
              <a:gd name="connsiteX0" fmla="*/ 4284372 w 4284372"/>
              <a:gd name="connsiteY0" fmla="*/ 0 h 6858000"/>
              <a:gd name="connsiteX1" fmla="*/ 0 w 4284372"/>
              <a:gd name="connsiteY1" fmla="*/ 0 h 6858000"/>
              <a:gd name="connsiteX2" fmla="*/ 0 w 4284372"/>
              <a:gd name="connsiteY2" fmla="*/ 6858000 h 6858000"/>
              <a:gd name="connsiteX3" fmla="*/ 4284372 w 428437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84372" h="6858000">
                <a:moveTo>
                  <a:pt x="4284372" y="0"/>
                </a:moveTo>
                <a:lnTo>
                  <a:pt x="0" y="0"/>
                </a:lnTo>
                <a:lnTo>
                  <a:pt x="0" y="6858000"/>
                </a:lnTo>
                <a:lnTo>
                  <a:pt x="4284372" y="6858000"/>
                </a:lnTo>
                <a:close/>
              </a:path>
            </a:pathLst>
          </a:custGeom>
        </p:spPr>
      </p:pic>
      <p:pic>
        <p:nvPicPr>
          <p:cNvPr id="9" name="Graphic 8">
            <a:extLst>
              <a:ext uri="{FF2B5EF4-FFF2-40B4-BE49-F238E27FC236}">
                <a16:creationId xmlns:a16="http://schemas.microsoft.com/office/drawing/2014/main" id="{6D7227F9-50F9-820B-69B7-924C0212046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2330"/>
          <a:stretch/>
        </p:blipFill>
        <p:spPr>
          <a:xfrm>
            <a:off x="7810500" y="3025140"/>
            <a:ext cx="4381500" cy="3832860"/>
          </a:xfrm>
          <a:prstGeom prst="rect">
            <a:avLst/>
          </a:prstGeom>
        </p:spPr>
      </p:pic>
      <p:sp>
        <p:nvSpPr>
          <p:cNvPr id="2" name="Title 1">
            <a:extLst>
              <a:ext uri="{FF2B5EF4-FFF2-40B4-BE49-F238E27FC236}">
                <a16:creationId xmlns:a16="http://schemas.microsoft.com/office/drawing/2014/main" id="{448D1E69-316E-A8E1-7ADA-040A0E490730}"/>
              </a:ext>
            </a:extLst>
          </p:cNvPr>
          <p:cNvSpPr>
            <a:spLocks noGrp="1"/>
          </p:cNvSpPr>
          <p:nvPr>
            <p:ph type="title" hasCustomPrompt="1"/>
          </p:nvPr>
        </p:nvSpPr>
        <p:spPr>
          <a:xfrm>
            <a:off x="914399" y="365125"/>
            <a:ext cx="7273637" cy="1646555"/>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61069CA0-E0AB-99C6-10DB-13AAC019DD7D}"/>
              </a:ext>
            </a:extLst>
          </p:cNvPr>
          <p:cNvSpPr>
            <a:spLocks noGrp="1"/>
          </p:cNvSpPr>
          <p:nvPr>
            <p:ph sz="quarter" idx="10" hasCustomPrompt="1"/>
          </p:nvPr>
        </p:nvSpPr>
        <p:spPr>
          <a:xfrm>
            <a:off x="914399" y="2011363"/>
            <a:ext cx="7273638" cy="4155757"/>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815213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wo Content 1">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6E20435-B9A5-359D-133D-5D3EED409CD5}"/>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55" t="41988" r="53993" b="33420"/>
          <a:stretch/>
        </p:blipFill>
        <p:spPr>
          <a:xfrm rot="10800000">
            <a:off x="9198864" y="-5"/>
            <a:ext cx="2993136" cy="1517907"/>
          </a:xfrm>
          <a:prstGeom prst="rect">
            <a:avLst/>
          </a:prstGeom>
        </p:spPr>
      </p:pic>
      <p:pic>
        <p:nvPicPr>
          <p:cNvPr id="9" name="Graphic 8">
            <a:extLst>
              <a:ext uri="{FF2B5EF4-FFF2-40B4-BE49-F238E27FC236}">
                <a16:creationId xmlns:a16="http://schemas.microsoft.com/office/drawing/2014/main" id="{7B99CAE4-AA9B-52BA-7DE8-8245CE705D35}"/>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25445" t="24819" r="46503"/>
          <a:stretch/>
        </p:blipFill>
        <p:spPr>
          <a:xfrm rot="16200000">
            <a:off x="961221" y="4525179"/>
            <a:ext cx="1371600" cy="3294042"/>
          </a:xfrm>
          <a:prstGeom prst="rect">
            <a:avLst/>
          </a:prstGeom>
        </p:spPr>
      </p:pic>
      <p:sp>
        <p:nvSpPr>
          <p:cNvPr id="10" name="Title 9">
            <a:extLst>
              <a:ext uri="{FF2B5EF4-FFF2-40B4-BE49-F238E27FC236}">
                <a16:creationId xmlns:a16="http://schemas.microsoft.com/office/drawing/2014/main" id="{28DFE681-710B-6FE5-B8E0-3BC9DB9F12D1}"/>
              </a:ext>
            </a:extLst>
          </p:cNvPr>
          <p:cNvSpPr>
            <a:spLocks noGrp="1"/>
          </p:cNvSpPr>
          <p:nvPr>
            <p:ph type="title" hasCustomPrompt="1"/>
          </p:nvPr>
        </p:nvSpPr>
        <p:spPr>
          <a:xfrm>
            <a:off x="914399" y="365125"/>
            <a:ext cx="10363201" cy="1629601"/>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3FE383D3-6A16-1891-FF52-470B26B94042}"/>
              </a:ext>
            </a:extLst>
          </p:cNvPr>
          <p:cNvSpPr>
            <a:spLocks noGrp="1"/>
          </p:cNvSpPr>
          <p:nvPr>
            <p:ph sz="quarter" idx="10" hasCustomPrompt="1"/>
          </p:nvPr>
        </p:nvSpPr>
        <p:spPr>
          <a:xfrm>
            <a:off x="914399"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74B5EB04-CA6E-7417-56DF-A55B21E94B74}"/>
              </a:ext>
            </a:extLst>
          </p:cNvPr>
          <p:cNvSpPr>
            <a:spLocks noGrp="1"/>
          </p:cNvSpPr>
          <p:nvPr>
            <p:ph sz="quarter" idx="11" hasCustomPrompt="1"/>
          </p:nvPr>
        </p:nvSpPr>
        <p:spPr>
          <a:xfrm>
            <a:off x="6284891"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417792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A783FA55-EF1D-66CF-8FD5-29086D71E62F}"/>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81" t="40714" r="61027" b="44471"/>
          <a:stretch/>
        </p:blipFill>
        <p:spPr>
          <a:xfrm rot="10800000" flipV="1">
            <a:off x="-26830" y="5950040"/>
            <a:ext cx="2513521" cy="914400"/>
          </a:xfrm>
          <a:prstGeom prst="rect">
            <a:avLst/>
          </a:prstGeom>
        </p:spPr>
      </p:pic>
      <p:pic>
        <p:nvPicPr>
          <p:cNvPr id="9" name="Graphic 8">
            <a:extLst>
              <a:ext uri="{FF2B5EF4-FFF2-40B4-BE49-F238E27FC236}">
                <a16:creationId xmlns:a16="http://schemas.microsoft.com/office/drawing/2014/main" id="{542CEFED-8DE0-0155-A5B6-A44051A6D034}"/>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8883" t="18052" r="46636"/>
          <a:stretch/>
        </p:blipFill>
        <p:spPr>
          <a:xfrm rot="16200000" flipH="1" flipV="1">
            <a:off x="9553763" y="-952310"/>
            <a:ext cx="1685928" cy="3590547"/>
          </a:xfrm>
          <a:prstGeom prst="rect">
            <a:avLst/>
          </a:prstGeom>
        </p:spPr>
      </p:pic>
      <p:sp>
        <p:nvSpPr>
          <p:cNvPr id="10" name="Title 9">
            <a:extLst>
              <a:ext uri="{FF2B5EF4-FFF2-40B4-BE49-F238E27FC236}">
                <a16:creationId xmlns:a16="http://schemas.microsoft.com/office/drawing/2014/main" id="{57FC493E-284F-ADBA-D92D-883CAB13ADCA}"/>
              </a:ext>
            </a:extLst>
          </p:cNvPr>
          <p:cNvSpPr>
            <a:spLocks noGrp="1"/>
          </p:cNvSpPr>
          <p:nvPr>
            <p:ph type="title" hasCustomPrompt="1"/>
          </p:nvPr>
        </p:nvSpPr>
        <p:spPr>
          <a:xfrm>
            <a:off x="914398" y="365125"/>
            <a:ext cx="10439401" cy="161701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4B8B2035-4AA9-D25E-9F15-3ED36F734D13}"/>
              </a:ext>
            </a:extLst>
          </p:cNvPr>
          <p:cNvSpPr>
            <a:spLocks noGrp="1"/>
          </p:cNvSpPr>
          <p:nvPr>
            <p:ph sz="quarter" idx="10" hasCustomPrompt="1"/>
          </p:nvPr>
        </p:nvSpPr>
        <p:spPr>
          <a:xfrm>
            <a:off x="914399" y="2022250"/>
            <a:ext cx="3310129" cy="3747180"/>
          </a:xfrm>
        </p:spPr>
        <p:txBody>
          <a:bodyPr>
            <a:normAutofit/>
          </a:bodyPr>
          <a:lstStyle>
            <a:lvl1pPr>
              <a:spcBef>
                <a:spcPts val="0"/>
              </a:spcBef>
              <a:spcAft>
                <a:spcPts val="1200"/>
              </a:spcAft>
              <a:defRPr sz="2000" b="1"/>
            </a:lvl1pPr>
            <a:lvl2pPr>
              <a:spcBef>
                <a:spcPts val="0"/>
              </a:spcBef>
              <a:spcAft>
                <a:spcPts val="1200"/>
              </a:spcAft>
              <a:defRPr sz="1800" b="1"/>
            </a:lvl2pPr>
            <a:lvl3pPr>
              <a:spcBef>
                <a:spcPts val="0"/>
              </a:spcBef>
              <a:spcAft>
                <a:spcPts val="1200"/>
              </a:spcAft>
              <a:defRPr sz="1600" b="1"/>
            </a:lvl3pPr>
            <a:lvl4pPr>
              <a:spcBef>
                <a:spcPts val="0"/>
              </a:spcBef>
              <a:spcAft>
                <a:spcPts val="1200"/>
              </a:spcAft>
              <a:defRPr sz="1400" b="1"/>
            </a:lvl4pPr>
            <a:lvl5pPr>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6A694422-6B3E-3D80-AC41-FD1CED52ACAB}"/>
              </a:ext>
            </a:extLst>
          </p:cNvPr>
          <p:cNvSpPr>
            <a:spLocks noGrp="1"/>
          </p:cNvSpPr>
          <p:nvPr>
            <p:ph sz="quarter" idx="11" hasCustomPrompt="1"/>
          </p:nvPr>
        </p:nvSpPr>
        <p:spPr>
          <a:xfrm>
            <a:off x="4602310" y="2018120"/>
            <a:ext cx="675148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7828138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and right Image">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48DBD2A1-633E-7A22-751B-5CEFCA93F20C}"/>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7703" t="485" b="67543"/>
          <a:stretch/>
        </p:blipFill>
        <p:spPr>
          <a:xfrm rot="5400000">
            <a:off x="-115162" y="115164"/>
            <a:ext cx="1895058" cy="1664735"/>
          </a:xfrm>
          <a:prstGeom prst="rect">
            <a:avLst/>
          </a:prstGeom>
        </p:spPr>
      </p:pic>
      <p:sp>
        <p:nvSpPr>
          <p:cNvPr id="9" name="Title 8">
            <a:extLst>
              <a:ext uri="{FF2B5EF4-FFF2-40B4-BE49-F238E27FC236}">
                <a16:creationId xmlns:a16="http://schemas.microsoft.com/office/drawing/2014/main" id="{3E7BF4D0-D641-9859-157D-B9094EF3DAB1}"/>
              </a:ext>
            </a:extLst>
          </p:cNvPr>
          <p:cNvSpPr>
            <a:spLocks noGrp="1"/>
          </p:cNvSpPr>
          <p:nvPr>
            <p:ph type="title" hasCustomPrompt="1"/>
          </p:nvPr>
        </p:nvSpPr>
        <p:spPr>
          <a:xfrm>
            <a:off x="916385" y="446313"/>
            <a:ext cx="5179615" cy="1448747"/>
          </a:xfrm>
        </p:spPr>
        <p:txBody>
          <a:bodyPr>
            <a:normAutofit/>
          </a:bodyPr>
          <a:lstStyle>
            <a:lvl1pPr>
              <a:defRPr sz="3200"/>
            </a:lvl1pPr>
          </a:lstStyle>
          <a:p>
            <a:r>
              <a:rPr lang="en-US" dirty="0"/>
              <a:t>Click to add title</a:t>
            </a:r>
          </a:p>
        </p:txBody>
      </p:sp>
      <p:sp>
        <p:nvSpPr>
          <p:cNvPr id="10" name="Content Placeholder 10">
            <a:extLst>
              <a:ext uri="{FF2B5EF4-FFF2-40B4-BE49-F238E27FC236}">
                <a16:creationId xmlns:a16="http://schemas.microsoft.com/office/drawing/2014/main" id="{115AE488-757F-4C5A-7733-85C1D1EA98D3}"/>
              </a:ext>
            </a:extLst>
          </p:cNvPr>
          <p:cNvSpPr>
            <a:spLocks noGrp="1"/>
          </p:cNvSpPr>
          <p:nvPr>
            <p:ph sz="quarter" idx="10" hasCustomPrompt="1"/>
          </p:nvPr>
        </p:nvSpPr>
        <p:spPr>
          <a:xfrm>
            <a:off x="914399" y="2022250"/>
            <a:ext cx="5181600" cy="374718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
        <p:nvSpPr>
          <p:cNvPr id="12" name="Picture Placeholder 11">
            <a:extLst>
              <a:ext uri="{FF2B5EF4-FFF2-40B4-BE49-F238E27FC236}">
                <a16:creationId xmlns:a16="http://schemas.microsoft.com/office/drawing/2014/main" id="{39DD264F-42B5-DBB0-9839-DB4C6827ED76}"/>
              </a:ext>
            </a:extLst>
          </p:cNvPr>
          <p:cNvSpPr>
            <a:spLocks noGrp="1"/>
          </p:cNvSpPr>
          <p:nvPr>
            <p:ph type="pic" sz="quarter" idx="11"/>
          </p:nvPr>
        </p:nvSpPr>
        <p:spPr>
          <a:xfrm>
            <a:off x="6076950" y="0"/>
            <a:ext cx="6115050" cy="6868886"/>
          </a:xfrm>
          <a:custGeom>
            <a:avLst/>
            <a:gdLst>
              <a:gd name="connsiteX0" fmla="*/ 0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0 w 6115050"/>
              <a:gd name="connsiteY4" fmla="*/ 0 h 6858000"/>
              <a:gd name="connsiteX0" fmla="*/ 2024742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2024742 w 6115050"/>
              <a:gd name="connsiteY4" fmla="*/ 0 h 6858000"/>
              <a:gd name="connsiteX0" fmla="*/ 2024742 w 6115050"/>
              <a:gd name="connsiteY0" fmla="*/ 0 h 6858000"/>
              <a:gd name="connsiteX1" fmla="*/ 6115050 w 6115050"/>
              <a:gd name="connsiteY1" fmla="*/ 0 h 6858000"/>
              <a:gd name="connsiteX2" fmla="*/ 6115050 w 6115050"/>
              <a:gd name="connsiteY2" fmla="*/ 3603171 h 6858000"/>
              <a:gd name="connsiteX3" fmla="*/ 6115050 w 6115050"/>
              <a:gd name="connsiteY3" fmla="*/ 6858000 h 6858000"/>
              <a:gd name="connsiteX4" fmla="*/ 0 w 6115050"/>
              <a:gd name="connsiteY4" fmla="*/ 6858000 h 6858000"/>
              <a:gd name="connsiteX5" fmla="*/ 2024742 w 6115050"/>
              <a:gd name="connsiteY5" fmla="*/ 0 h 6858000"/>
              <a:gd name="connsiteX0" fmla="*/ 2024742 w 6115050"/>
              <a:gd name="connsiteY0" fmla="*/ 0 h 6868886"/>
              <a:gd name="connsiteX1" fmla="*/ 6115050 w 6115050"/>
              <a:gd name="connsiteY1" fmla="*/ 0 h 6868886"/>
              <a:gd name="connsiteX2" fmla="*/ 6115050 w 6115050"/>
              <a:gd name="connsiteY2" fmla="*/ 3603171 h 6868886"/>
              <a:gd name="connsiteX3" fmla="*/ 5157107 w 6115050"/>
              <a:gd name="connsiteY3" fmla="*/ 6868886 h 6868886"/>
              <a:gd name="connsiteX4" fmla="*/ 0 w 6115050"/>
              <a:gd name="connsiteY4" fmla="*/ 6858000 h 6868886"/>
              <a:gd name="connsiteX5" fmla="*/ 2024742 w 6115050"/>
              <a:gd name="connsiteY5" fmla="*/ 0 h 6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15050" h="6868886">
                <a:moveTo>
                  <a:pt x="2024742" y="0"/>
                </a:moveTo>
                <a:lnTo>
                  <a:pt x="6115050" y="0"/>
                </a:lnTo>
                <a:lnTo>
                  <a:pt x="6115050" y="3603171"/>
                </a:lnTo>
                <a:lnTo>
                  <a:pt x="5157107" y="6868886"/>
                </a:lnTo>
                <a:lnTo>
                  <a:pt x="0" y="6858000"/>
                </a:lnTo>
                <a:lnTo>
                  <a:pt x="2024742" y="0"/>
                </a:lnTo>
                <a:close/>
              </a:path>
            </a:pathLst>
          </a:custGeom>
        </p:spPr>
        <p:txBody>
          <a:bodyPr>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34670084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wo Content 3">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13A42171-0D82-07BF-4667-498861CC2AFB}"/>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8883" t="34408" r="46636" b="1"/>
          <a:stretch/>
        </p:blipFill>
        <p:spPr>
          <a:xfrm flipH="1" flipV="1">
            <a:off x="10506072" y="3984078"/>
            <a:ext cx="1685928" cy="2873921"/>
          </a:xfrm>
          <a:prstGeom prst="rect">
            <a:avLst/>
          </a:prstGeom>
        </p:spPr>
      </p:pic>
      <p:pic>
        <p:nvPicPr>
          <p:cNvPr id="9" name="Graphic 8">
            <a:extLst>
              <a:ext uri="{FF2B5EF4-FFF2-40B4-BE49-F238E27FC236}">
                <a16:creationId xmlns:a16="http://schemas.microsoft.com/office/drawing/2014/main" id="{13C71A0D-EE6D-54C4-71DE-04BE28558058}"/>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29718" t="47145" r="39389" b="8754"/>
          <a:stretch/>
        </p:blipFill>
        <p:spPr>
          <a:xfrm rot="5400000" flipV="1">
            <a:off x="9781526" y="-311511"/>
            <a:ext cx="2098964" cy="2721985"/>
          </a:xfrm>
          <a:prstGeom prst="rect">
            <a:avLst/>
          </a:prstGeom>
        </p:spPr>
      </p:pic>
      <p:sp>
        <p:nvSpPr>
          <p:cNvPr id="10" name="Title 9">
            <a:extLst>
              <a:ext uri="{FF2B5EF4-FFF2-40B4-BE49-F238E27FC236}">
                <a16:creationId xmlns:a16="http://schemas.microsoft.com/office/drawing/2014/main" id="{3F82FA92-501B-5A05-E15F-2FB9BCEBE312}"/>
              </a:ext>
            </a:extLst>
          </p:cNvPr>
          <p:cNvSpPr>
            <a:spLocks noGrp="1"/>
          </p:cNvSpPr>
          <p:nvPr>
            <p:ph type="title" hasCustomPrompt="1"/>
          </p:nvPr>
        </p:nvSpPr>
        <p:spPr>
          <a:xfrm>
            <a:off x="891990" y="434225"/>
            <a:ext cx="9524998" cy="149962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B463EEE0-BE31-122C-586C-8BA8D90371E6}"/>
              </a:ext>
            </a:extLst>
          </p:cNvPr>
          <p:cNvSpPr>
            <a:spLocks noGrp="1"/>
          </p:cNvSpPr>
          <p:nvPr>
            <p:ph sz="quarter" idx="10" hasCustomPrompt="1"/>
          </p:nvPr>
        </p:nvSpPr>
        <p:spPr>
          <a:xfrm>
            <a:off x="914399" y="2022250"/>
            <a:ext cx="6257366" cy="3914910"/>
          </a:xfrm>
        </p:spPr>
        <p:txBody>
          <a:bodyPr>
            <a:normAutofit/>
          </a:bodyPr>
          <a:lstStyle>
            <a:lvl1pPr marL="0" indent="0">
              <a:spcBef>
                <a:spcPts val="0"/>
              </a:spcBef>
              <a:spcAft>
                <a:spcPts val="1200"/>
              </a:spcAft>
              <a:buNone/>
              <a:defRPr sz="2000" b="0"/>
            </a:lvl1pPr>
            <a:lvl2pPr marL="228600">
              <a:spcBef>
                <a:spcPts val="0"/>
              </a:spcBef>
              <a:spcAft>
                <a:spcPts val="1200"/>
              </a:spcAft>
              <a:defRPr sz="2000" b="0"/>
            </a:lvl2pPr>
            <a:lvl3pPr marL="685800">
              <a:spcBef>
                <a:spcPts val="0"/>
              </a:spcBef>
              <a:spcAft>
                <a:spcPts val="1200"/>
              </a:spcAft>
              <a:defRPr sz="1800" b="0"/>
            </a:lvl3pPr>
            <a:lvl4pPr marL="914400">
              <a:spcBef>
                <a:spcPts val="0"/>
              </a:spcBef>
              <a:spcAft>
                <a:spcPts val="1200"/>
              </a:spcAft>
              <a:defRPr sz="1600" b="0"/>
            </a:lvl4pPr>
            <a:lvl5pPr marL="1143000">
              <a:spcBef>
                <a:spcPts val="0"/>
              </a:spcBef>
              <a:spcAft>
                <a:spcPts val="1200"/>
              </a:spcAft>
              <a:defRPr sz="16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52C157D5-2C68-BA6A-033B-A4CC016CA68F}"/>
              </a:ext>
            </a:extLst>
          </p:cNvPr>
          <p:cNvSpPr>
            <a:spLocks noGrp="1"/>
          </p:cNvSpPr>
          <p:nvPr>
            <p:ph sz="quarter" idx="11" hasCustomPrompt="1"/>
          </p:nvPr>
        </p:nvSpPr>
        <p:spPr>
          <a:xfrm>
            <a:off x="7967475" y="2018119"/>
            <a:ext cx="2449514" cy="3931919"/>
          </a:xfrm>
        </p:spPr>
        <p:txBody>
          <a:bodyPr>
            <a:normAutofit/>
          </a:bodyPr>
          <a:lstStyle>
            <a:lvl1pPr>
              <a:spcBef>
                <a:spcPts val="0"/>
              </a:spcBef>
              <a:spcAft>
                <a:spcPts val="1200"/>
              </a:spcAft>
              <a:defRPr sz="2000" b="1"/>
            </a:lvl1pPr>
            <a:lvl2pPr marL="411480">
              <a:spcBef>
                <a:spcPts val="0"/>
              </a:spcBef>
              <a:spcAft>
                <a:spcPts val="1200"/>
              </a:spcAft>
              <a:defRPr sz="1800" b="1"/>
            </a:lvl2pPr>
            <a:lvl3pPr marL="502920">
              <a:spcBef>
                <a:spcPts val="0"/>
              </a:spcBef>
              <a:spcAft>
                <a:spcPts val="1200"/>
              </a:spcAft>
              <a:defRPr sz="1600" b="1"/>
            </a:lvl3pPr>
            <a:lvl4pPr marL="594360">
              <a:spcBef>
                <a:spcPts val="0"/>
              </a:spcBef>
              <a:spcAft>
                <a:spcPts val="1200"/>
              </a:spcAft>
              <a:defRPr sz="1400" b="1"/>
            </a:lvl4pPr>
            <a:lvl5pPr marL="685800">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1198423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2">
    <p:bg>
      <p:bgPr>
        <a:solidFill>
          <a:srgbClr val="00206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3A3E8B6-2BD8-19E0-7F51-7A25EF836F8C}"/>
              </a:ext>
            </a:extLst>
          </p:cNvPr>
          <p:cNvSpPr>
            <a:spLocks noGrp="1"/>
          </p:cNvSpPr>
          <p:nvPr>
            <p:ph type="title" hasCustomPrompt="1"/>
          </p:nvPr>
        </p:nvSpPr>
        <p:spPr>
          <a:xfrm>
            <a:off x="6091515" y="374090"/>
            <a:ext cx="5057104" cy="3624984"/>
          </a:xfrm>
        </p:spPr>
        <p:txBody>
          <a:bodyPr anchor="b">
            <a:normAutofit/>
          </a:bodyPr>
          <a:lstStyle>
            <a:lvl1pPr>
              <a:defRPr sz="4800">
                <a:solidFill>
                  <a:schemeClr val="bg1"/>
                </a:solidFill>
              </a:defRPr>
            </a:lvl1pPr>
          </a:lstStyle>
          <a:p>
            <a:r>
              <a:rPr lang="en-US" dirty="0"/>
              <a:t>Click to add title</a:t>
            </a:r>
          </a:p>
        </p:txBody>
      </p:sp>
      <p:sp>
        <p:nvSpPr>
          <p:cNvPr id="8" name="Content Placeholder 2">
            <a:extLst>
              <a:ext uri="{FF2B5EF4-FFF2-40B4-BE49-F238E27FC236}">
                <a16:creationId xmlns:a16="http://schemas.microsoft.com/office/drawing/2014/main" id="{B1F96043-F6A4-F581-7DB8-96138F0E4011}"/>
              </a:ext>
            </a:extLst>
          </p:cNvPr>
          <p:cNvSpPr>
            <a:spLocks noGrp="1"/>
          </p:cNvSpPr>
          <p:nvPr>
            <p:ph idx="1" hasCustomPrompt="1"/>
          </p:nvPr>
        </p:nvSpPr>
        <p:spPr>
          <a:xfrm>
            <a:off x="6091514" y="4172989"/>
            <a:ext cx="5057103" cy="2519363"/>
          </a:xfrm>
        </p:spPr>
        <p:txBody>
          <a:bodyPr>
            <a:normAutofit/>
          </a:bodyPr>
          <a:lstStyle>
            <a:lvl1pPr marL="0" indent="0">
              <a:lnSpc>
                <a:spcPct val="90000"/>
              </a:lnSpc>
              <a:spcBef>
                <a:spcPts val="0"/>
              </a:spcBef>
              <a:spcAft>
                <a:spcPts val="0"/>
              </a:spcAft>
              <a:buNone/>
              <a:defRPr sz="2000" baseline="0">
                <a:solidFill>
                  <a:schemeClr val="bg1"/>
                </a:solidFill>
              </a:defRPr>
            </a:lvl1pPr>
            <a:lvl2pPr marL="742950" indent="-285750">
              <a:lnSpc>
                <a:spcPct val="90000"/>
              </a:lnSpc>
              <a:spcBef>
                <a:spcPts val="0"/>
              </a:spcBef>
              <a:spcAft>
                <a:spcPts val="0"/>
              </a:spcAft>
              <a:buFont typeface="Arial" panose="020B0604020202020204" pitchFamily="34" charset="0"/>
              <a:buChar char="•"/>
              <a:defRPr sz="1800" baseline="0">
                <a:solidFill>
                  <a:schemeClr val="bg1"/>
                </a:solidFill>
              </a:defRPr>
            </a:lvl2pPr>
            <a:lvl3pPr marL="1200150" indent="-285750">
              <a:lnSpc>
                <a:spcPct val="90000"/>
              </a:lnSpc>
              <a:spcBef>
                <a:spcPts val="0"/>
              </a:spcBef>
              <a:spcAft>
                <a:spcPts val="0"/>
              </a:spcAft>
              <a:buFont typeface="Arial" panose="020B0604020202020204" pitchFamily="34" charset="0"/>
              <a:buChar char="•"/>
              <a:defRPr sz="1600" baseline="0">
                <a:solidFill>
                  <a:schemeClr val="bg1"/>
                </a:solidFill>
              </a:defRPr>
            </a:lvl3pPr>
            <a:lvl4pPr marL="1657350" indent="-285750">
              <a:lnSpc>
                <a:spcPct val="90000"/>
              </a:lnSpc>
              <a:spcBef>
                <a:spcPts val="0"/>
              </a:spcBef>
              <a:spcAft>
                <a:spcPts val="0"/>
              </a:spcAft>
              <a:buFont typeface="Arial" panose="020B0604020202020204" pitchFamily="34" charset="0"/>
              <a:buChar char="•"/>
              <a:defRPr sz="1400" baseline="0">
                <a:solidFill>
                  <a:schemeClr val="bg1"/>
                </a:solidFill>
              </a:defRPr>
            </a:lvl4pPr>
            <a:lvl5pPr marL="2000250" indent="-171450">
              <a:lnSpc>
                <a:spcPct val="90000"/>
              </a:lnSpc>
              <a:spcBef>
                <a:spcPts val="0"/>
              </a:spcBef>
              <a:spcAft>
                <a:spcPts val="0"/>
              </a:spcAft>
              <a:buFont typeface="Arial" panose="020B0604020202020204" pitchFamily="34" charset="0"/>
              <a:buChar char="•"/>
              <a:defRPr sz="1200" baseline="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C805DE67-EFB0-F6F3-6C08-2FE90284C31C}"/>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151" r="18577"/>
          <a:stretch/>
        </p:blipFill>
        <p:spPr>
          <a:xfrm flipH="1">
            <a:off x="0" y="0"/>
            <a:ext cx="5181600" cy="6858000"/>
          </a:xfrm>
          <a:prstGeom prst="rect">
            <a:avLst/>
          </a:prstGeom>
        </p:spPr>
      </p:pic>
    </p:spTree>
    <p:extLst>
      <p:ext uri="{BB962C8B-B14F-4D97-AF65-F5344CB8AC3E}">
        <p14:creationId xmlns:p14="http://schemas.microsoft.com/office/powerpoint/2010/main" val="247034701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US"/>
              <a:t>Pitch Deck</a:t>
            </a:r>
            <a:endParaRPr lang="en-US" dirty="0"/>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707" r:id="rId1"/>
    <p:sldLayoutId id="2147483719" r:id="rId2"/>
    <p:sldLayoutId id="2147483716" r:id="rId3"/>
    <p:sldLayoutId id="2147483718" r:id="rId4"/>
    <p:sldLayoutId id="2147483708" r:id="rId5"/>
    <p:sldLayoutId id="2147483709" r:id="rId6"/>
    <p:sldLayoutId id="2147483712" r:id="rId7"/>
    <p:sldLayoutId id="2147483710" r:id="rId8"/>
    <p:sldLayoutId id="2147483711" r:id="rId9"/>
    <p:sldLayoutId id="2147483713" r:id="rId10"/>
    <p:sldLayoutId id="2147483714" r:id="rId11"/>
    <p:sldLayoutId id="2147483715" r:id="rId12"/>
    <p:sldLayoutId id="2147483717" r:id="rId13"/>
    <p:sldLayoutId id="2147483706" r:id="rId14"/>
  </p:sldLayoutIdLst>
  <p:hf hdr="0" ftr="0" dt="0"/>
  <p:txStyles>
    <p:titleStyle>
      <a:lvl1pPr algn="l" defTabSz="914400" rtl="0" eaLnBrk="1" latinLnBrk="0" hangingPunct="1">
        <a:lnSpc>
          <a:spcPct val="90000"/>
        </a:lnSpc>
        <a:spcBef>
          <a:spcPct val="0"/>
        </a:spcBef>
        <a:buNone/>
        <a:defRPr sz="4400" kern="1200" cap="none" baseline="0">
          <a:solidFill>
            <a:schemeClr val="tx1"/>
          </a:solidFill>
          <a:latin typeface="Arial" panose="020B0604020202020204" pitchFamily="34" charset="0"/>
          <a:ea typeface="Meiryo" panose="020B0604030504040204" pitchFamily="34" charset="-128"/>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eiryo" panose="020B0604030504040204" pitchFamily="34" charset="-128"/>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eiryo" panose="020B0604030504040204" pitchFamily="34" charset="-128"/>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eiryo" panose="020B0604030504040204" pitchFamily="34" charset="-128"/>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eiryo" panose="020B0604030504040204" pitchFamily="34" charset="-128"/>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eiryo" panose="020B0604030504040204" pitchFamily="34" charset="-128"/>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4.png"/><Relationship Id="rId7"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hyperlink" Target="https://ameblo.jp/socchidiary/entry-12687858014.html" TargetMode="External"/><Relationship Id="rId4" Type="http://schemas.microsoft.com/office/2007/relationships/hdphoto" Target="../media/hdphoto1.wdp"/><Relationship Id="rId9" Type="http://schemas.openxmlformats.org/officeDocument/2006/relationships/image" Target="../media/image38.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6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6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40FB97-D7F2-8229-DF1D-44421E58DF71}"/>
              </a:ext>
            </a:extLst>
          </p:cNvPr>
          <p:cNvSpPr/>
          <p:nvPr/>
        </p:nvSpPr>
        <p:spPr>
          <a:xfrm>
            <a:off x="6129444" y="4939011"/>
            <a:ext cx="5657850" cy="9758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2400" noProof="0" dirty="0">
                <a:solidFill>
                  <a:schemeClr val="bg1"/>
                </a:solidFill>
                <a:latin typeface="Arial" panose="020B0604020202020204" pitchFamily="34" charset="0"/>
                <a:ea typeface="Meiryo UI" panose="020B0604030504040204" pitchFamily="50" charset="-128"/>
                <a:cs typeface="Arial" panose="020B0604020202020204" pitchFamily="34" charset="0"/>
              </a:rPr>
              <a:t>Satoshi Koiso</a:t>
            </a:r>
          </a:p>
          <a:p>
            <a:pPr algn="r"/>
            <a:r>
              <a:rPr lang="en-US" sz="2400" noProof="0" dirty="0">
                <a:solidFill>
                  <a:schemeClr val="bg1"/>
                </a:solidFill>
                <a:latin typeface="Arial" panose="020B0604020202020204" pitchFamily="34" charset="0"/>
                <a:ea typeface="Meiryo UI" panose="020B0604030504040204" pitchFamily="50" charset="-128"/>
                <a:cs typeface="Arial" panose="020B0604020202020204" pitchFamily="34" charset="0"/>
              </a:rPr>
              <a:t>Medical Practice Evaluation Center</a:t>
            </a:r>
          </a:p>
          <a:p>
            <a:pPr algn="r"/>
            <a:r>
              <a:rPr lang="en-US" sz="2400" noProof="0" dirty="0">
                <a:solidFill>
                  <a:schemeClr val="bg1"/>
                </a:solidFill>
                <a:latin typeface="Arial" panose="020B0604020202020204" pitchFamily="34" charset="0"/>
                <a:ea typeface="Meiryo UI" panose="020B0604030504040204" pitchFamily="50" charset="-128"/>
                <a:cs typeface="Arial" panose="020B0604020202020204" pitchFamily="34" charset="0"/>
              </a:rPr>
              <a:t>Massachusetts General Hospital</a:t>
            </a:r>
          </a:p>
        </p:txBody>
      </p:sp>
      <p:sp>
        <p:nvSpPr>
          <p:cNvPr id="4" name="Rectangle 3">
            <a:extLst>
              <a:ext uri="{FF2B5EF4-FFF2-40B4-BE49-F238E27FC236}">
                <a16:creationId xmlns:a16="http://schemas.microsoft.com/office/drawing/2014/main" id="{DE3F9140-EC34-B8CA-E824-A34C7CA20A32}"/>
              </a:ext>
            </a:extLst>
          </p:cNvPr>
          <p:cNvSpPr/>
          <p:nvPr/>
        </p:nvSpPr>
        <p:spPr>
          <a:xfrm>
            <a:off x="5887156" y="2721990"/>
            <a:ext cx="5900138" cy="18259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4400" b="1" noProof="0" dirty="0">
                <a:latin typeface="Arial" panose="020B0604020202020204" pitchFamily="34" charset="0"/>
                <a:ea typeface="Meiryo UI" panose="020B0604030504040204" pitchFamily="50" charset="-128"/>
                <a:cs typeface="Arial" panose="020B0604020202020204" pitchFamily="34" charset="0"/>
              </a:rPr>
              <a:t>Decision Science:</a:t>
            </a:r>
            <a:br>
              <a:rPr lang="en-US" sz="4000" b="1" noProof="0" dirty="0">
                <a:latin typeface="Arial" panose="020B0604020202020204" pitchFamily="34" charset="0"/>
                <a:ea typeface="Meiryo UI" panose="020B0604030504040204" pitchFamily="50" charset="-128"/>
                <a:cs typeface="Arial" panose="020B0604020202020204" pitchFamily="34" charset="0"/>
              </a:rPr>
            </a:br>
            <a:r>
              <a:rPr lang="en-US" sz="3200" noProof="0" dirty="0">
                <a:latin typeface="Arial" panose="020B0604020202020204" pitchFamily="34" charset="0"/>
                <a:ea typeface="Meiryo UI" panose="020B0604030504040204" pitchFamily="50" charset="-128"/>
                <a:cs typeface="Arial" panose="020B0604020202020204" pitchFamily="34" charset="0"/>
              </a:rPr>
              <a:t>Policy Design and Clinical Decision-Making Through Health Economics</a:t>
            </a:r>
            <a:endParaRPr lang="en-US" sz="1200"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5" name="Rectangle 4">
            <a:extLst>
              <a:ext uri="{FF2B5EF4-FFF2-40B4-BE49-F238E27FC236}">
                <a16:creationId xmlns:a16="http://schemas.microsoft.com/office/drawing/2014/main" id="{F9085391-A357-8ED8-F15D-CEA05582359D}"/>
              </a:ext>
            </a:extLst>
          </p:cNvPr>
          <p:cNvSpPr/>
          <p:nvPr/>
        </p:nvSpPr>
        <p:spPr>
          <a:xfrm>
            <a:off x="2806147" y="6163733"/>
            <a:ext cx="8894421" cy="47344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2400" noProof="0" dirty="0">
                <a:solidFill>
                  <a:schemeClr val="bg1"/>
                </a:solidFill>
                <a:latin typeface="Arial" panose="020B0604020202020204" pitchFamily="34" charset="0"/>
                <a:ea typeface="Meiryo UI" panose="020B0604030504040204" pitchFamily="50" charset="-128"/>
                <a:cs typeface="Arial" panose="020B0604020202020204" pitchFamily="34" charset="0"/>
              </a:rPr>
              <a:t>April 2025 Boston Japanese Researchers Forum</a:t>
            </a:r>
          </a:p>
        </p:txBody>
      </p:sp>
    </p:spTree>
    <p:extLst>
      <p:ext uri="{BB962C8B-B14F-4D97-AF65-F5344CB8AC3E}">
        <p14:creationId xmlns:p14="http://schemas.microsoft.com/office/powerpoint/2010/main" val="2945390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E1E27-99C9-1FD0-8715-CE5F939CF124}"/>
              </a:ext>
            </a:extLst>
          </p:cNvPr>
          <p:cNvSpPr>
            <a:spLocks noGrp="1"/>
          </p:cNvSpPr>
          <p:nvPr>
            <p:ph type="title"/>
          </p:nvPr>
        </p:nvSpPr>
        <p:spPr/>
        <p:txBody>
          <a:bodyPr/>
          <a:lstStyle/>
          <a:p>
            <a:r>
              <a:rPr lang="en-US" noProof="0" dirty="0"/>
              <a:t>Preface</a:t>
            </a:r>
          </a:p>
        </p:txBody>
      </p:sp>
      <p:sp>
        <p:nvSpPr>
          <p:cNvPr id="4" name="Slide Number Placeholder 3">
            <a:extLst>
              <a:ext uri="{FF2B5EF4-FFF2-40B4-BE49-F238E27FC236}">
                <a16:creationId xmlns:a16="http://schemas.microsoft.com/office/drawing/2014/main" id="{21F2E736-CB30-5B67-3E0D-45CDFB76EFA2}"/>
              </a:ext>
            </a:extLst>
          </p:cNvPr>
          <p:cNvSpPr>
            <a:spLocks noGrp="1"/>
          </p:cNvSpPr>
          <p:nvPr>
            <p:ph type="sldNum" sz="quarter" idx="4"/>
          </p:nvPr>
        </p:nvSpPr>
        <p:spPr/>
        <p:txBody>
          <a:bodyPr/>
          <a:lstStyle/>
          <a:p>
            <a:fld id="{B5CEABB6-07DC-46E8-9B57-56EC44A396E5}" type="slidenum">
              <a:rPr lang="en-US" noProof="0" smtClean="0"/>
              <a:pPr/>
              <a:t>2</a:t>
            </a:fld>
            <a:endParaRPr lang="en-US" noProof="0" dirty="0"/>
          </a:p>
        </p:txBody>
      </p:sp>
      <p:sp>
        <p:nvSpPr>
          <p:cNvPr id="5" name="Table Placeholder 4">
            <a:extLst>
              <a:ext uri="{FF2B5EF4-FFF2-40B4-BE49-F238E27FC236}">
                <a16:creationId xmlns:a16="http://schemas.microsoft.com/office/drawing/2014/main" id="{A5A45340-25A8-C918-5E2B-798653AAB3F1}"/>
              </a:ext>
            </a:extLst>
          </p:cNvPr>
          <p:cNvSpPr>
            <a:spLocks noGrp="1"/>
          </p:cNvSpPr>
          <p:nvPr>
            <p:ph type="tbl" sz="quarter" idx="11"/>
          </p:nvPr>
        </p:nvSpPr>
        <p:spPr/>
        <p:txBody>
          <a:bodyPr/>
          <a:lstStyle/>
          <a:p>
            <a:r>
              <a:rPr lang="en-US" noProof="0" dirty="0"/>
              <a:t>If you were to fly to Japan today, which flight would you choose?</a:t>
            </a:r>
          </a:p>
        </p:txBody>
      </p:sp>
      <p:pic>
        <p:nvPicPr>
          <p:cNvPr id="7" name="Picture 6">
            <a:extLst>
              <a:ext uri="{FF2B5EF4-FFF2-40B4-BE49-F238E27FC236}">
                <a16:creationId xmlns:a16="http://schemas.microsoft.com/office/drawing/2014/main" id="{1695FF58-20E9-B133-E2F8-13CC9A5AE36F}"/>
              </a:ext>
            </a:extLst>
          </p:cNvPr>
          <p:cNvPicPr>
            <a:picLocks noChangeAspect="1"/>
          </p:cNvPicPr>
          <p:nvPr/>
        </p:nvPicPr>
        <p:blipFill>
          <a:blip r:embed="rId3"/>
          <a:stretch>
            <a:fillRect/>
          </a:stretch>
        </p:blipFill>
        <p:spPr>
          <a:xfrm>
            <a:off x="1384010" y="1614992"/>
            <a:ext cx="9423980" cy="4928497"/>
          </a:xfrm>
          <a:prstGeom prst="rect">
            <a:avLst/>
          </a:prstGeom>
        </p:spPr>
      </p:pic>
    </p:spTree>
    <p:extLst>
      <p:ext uri="{BB962C8B-B14F-4D97-AF65-F5344CB8AC3E}">
        <p14:creationId xmlns:p14="http://schemas.microsoft.com/office/powerpoint/2010/main" val="3205745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4062E-A2E8-090A-999C-1BE3BD6C5056}"/>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C7A7045E-B1ED-3833-3095-9C3303AA48AF}"/>
              </a:ext>
            </a:extLst>
          </p:cNvPr>
          <p:cNvPicPr>
            <a:picLocks noChangeAspect="1"/>
          </p:cNvPicPr>
          <p:nvPr/>
        </p:nvPicPr>
        <p:blipFill>
          <a:blip r:embed="rId3"/>
          <a:stretch>
            <a:fillRect/>
          </a:stretch>
        </p:blipFill>
        <p:spPr>
          <a:xfrm>
            <a:off x="1384010" y="1614992"/>
            <a:ext cx="9423980" cy="4928497"/>
          </a:xfrm>
          <a:prstGeom prst="rect">
            <a:avLst/>
          </a:prstGeom>
        </p:spPr>
      </p:pic>
      <p:sp>
        <p:nvSpPr>
          <p:cNvPr id="2" name="Title 1">
            <a:extLst>
              <a:ext uri="{FF2B5EF4-FFF2-40B4-BE49-F238E27FC236}">
                <a16:creationId xmlns:a16="http://schemas.microsoft.com/office/drawing/2014/main" id="{4A79D46F-36B8-1090-1229-40F1665AE119}"/>
              </a:ext>
            </a:extLst>
          </p:cNvPr>
          <p:cNvSpPr>
            <a:spLocks noGrp="1"/>
          </p:cNvSpPr>
          <p:nvPr>
            <p:ph type="title"/>
          </p:nvPr>
        </p:nvSpPr>
        <p:spPr/>
        <p:txBody>
          <a:bodyPr/>
          <a:lstStyle/>
          <a:p>
            <a:r>
              <a:rPr lang="en-US" noProof="0" dirty="0"/>
              <a:t>Preface</a:t>
            </a:r>
          </a:p>
        </p:txBody>
      </p:sp>
      <p:sp>
        <p:nvSpPr>
          <p:cNvPr id="4" name="Slide Number Placeholder 3">
            <a:extLst>
              <a:ext uri="{FF2B5EF4-FFF2-40B4-BE49-F238E27FC236}">
                <a16:creationId xmlns:a16="http://schemas.microsoft.com/office/drawing/2014/main" id="{EA0A3759-D176-5E46-1496-A6BA18992715}"/>
              </a:ext>
            </a:extLst>
          </p:cNvPr>
          <p:cNvSpPr>
            <a:spLocks noGrp="1"/>
          </p:cNvSpPr>
          <p:nvPr>
            <p:ph type="sldNum" sz="quarter" idx="4"/>
          </p:nvPr>
        </p:nvSpPr>
        <p:spPr/>
        <p:txBody>
          <a:bodyPr/>
          <a:lstStyle/>
          <a:p>
            <a:fld id="{B5CEABB6-07DC-46E8-9B57-56EC44A396E5}" type="slidenum">
              <a:rPr lang="en-US" noProof="0" smtClean="0"/>
              <a:pPr/>
              <a:t>3</a:t>
            </a:fld>
            <a:endParaRPr lang="en-US" noProof="0" dirty="0"/>
          </a:p>
        </p:txBody>
      </p:sp>
      <p:sp>
        <p:nvSpPr>
          <p:cNvPr id="5" name="Table Placeholder 4">
            <a:extLst>
              <a:ext uri="{FF2B5EF4-FFF2-40B4-BE49-F238E27FC236}">
                <a16:creationId xmlns:a16="http://schemas.microsoft.com/office/drawing/2014/main" id="{0D26E3CF-9C3F-8088-E8C1-EE3CCE832438}"/>
              </a:ext>
            </a:extLst>
          </p:cNvPr>
          <p:cNvSpPr>
            <a:spLocks noGrp="1"/>
          </p:cNvSpPr>
          <p:nvPr>
            <p:ph type="tbl" sz="quarter" idx="11"/>
          </p:nvPr>
        </p:nvSpPr>
        <p:spPr/>
        <p:txBody>
          <a:bodyPr/>
          <a:lstStyle/>
          <a:p>
            <a:r>
              <a:rPr lang="en-US" noProof="0" dirty="0"/>
              <a:t>What do you consider when choosing a flight?</a:t>
            </a:r>
          </a:p>
        </p:txBody>
      </p:sp>
      <p:sp>
        <p:nvSpPr>
          <p:cNvPr id="3" name="Speech Bubble: Rectangle 2">
            <a:extLst>
              <a:ext uri="{FF2B5EF4-FFF2-40B4-BE49-F238E27FC236}">
                <a16:creationId xmlns:a16="http://schemas.microsoft.com/office/drawing/2014/main" id="{C60AA262-6C00-59FD-8153-C892021E8DE9}"/>
              </a:ext>
            </a:extLst>
          </p:cNvPr>
          <p:cNvSpPr/>
          <p:nvPr/>
        </p:nvSpPr>
        <p:spPr>
          <a:xfrm>
            <a:off x="1469803" y="3703761"/>
            <a:ext cx="1306536" cy="562707"/>
          </a:xfrm>
          <a:prstGeom prst="wedgeRectCallout">
            <a:avLst>
              <a:gd name="adj1" fmla="val 30653"/>
              <a:gd name="adj2" fmla="val 78572"/>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Departure time</a:t>
            </a:r>
          </a:p>
        </p:txBody>
      </p:sp>
      <p:sp>
        <p:nvSpPr>
          <p:cNvPr id="6" name="Speech Bubble: Rectangle 5">
            <a:extLst>
              <a:ext uri="{FF2B5EF4-FFF2-40B4-BE49-F238E27FC236}">
                <a16:creationId xmlns:a16="http://schemas.microsoft.com/office/drawing/2014/main" id="{BC1C0F7A-A543-4764-6391-CE613CA32E69}"/>
              </a:ext>
            </a:extLst>
          </p:cNvPr>
          <p:cNvSpPr/>
          <p:nvPr/>
        </p:nvSpPr>
        <p:spPr>
          <a:xfrm>
            <a:off x="4687420" y="3422406"/>
            <a:ext cx="1269443" cy="562707"/>
          </a:xfrm>
          <a:prstGeom prst="wedgeRectCallout">
            <a:avLst>
              <a:gd name="adj1" fmla="val -17724"/>
              <a:gd name="adj2" fmla="val 121429"/>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Duration</a:t>
            </a:r>
          </a:p>
        </p:txBody>
      </p:sp>
      <p:sp>
        <p:nvSpPr>
          <p:cNvPr id="8" name="Speech Bubble: Rectangle 7">
            <a:extLst>
              <a:ext uri="{FF2B5EF4-FFF2-40B4-BE49-F238E27FC236}">
                <a16:creationId xmlns:a16="http://schemas.microsoft.com/office/drawing/2014/main" id="{C48927F6-8F1A-C21A-C944-E24FD3E0BE49}"/>
              </a:ext>
            </a:extLst>
          </p:cNvPr>
          <p:cNvSpPr/>
          <p:nvPr/>
        </p:nvSpPr>
        <p:spPr>
          <a:xfrm>
            <a:off x="3950468" y="4842270"/>
            <a:ext cx="974690" cy="562707"/>
          </a:xfrm>
          <a:prstGeom prst="wedgeRectCallout">
            <a:avLst>
              <a:gd name="adj1" fmla="val 97826"/>
              <a:gd name="adj2" fmla="val -45201"/>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Destination</a:t>
            </a:r>
          </a:p>
        </p:txBody>
      </p:sp>
      <p:sp>
        <p:nvSpPr>
          <p:cNvPr id="9" name="Speech Bubble: Rectangle 8">
            <a:extLst>
              <a:ext uri="{FF2B5EF4-FFF2-40B4-BE49-F238E27FC236}">
                <a16:creationId xmlns:a16="http://schemas.microsoft.com/office/drawing/2014/main" id="{7F953C68-6AD8-BE54-3B4F-9D1E7F3A32BA}"/>
              </a:ext>
            </a:extLst>
          </p:cNvPr>
          <p:cNvSpPr/>
          <p:nvPr/>
        </p:nvSpPr>
        <p:spPr>
          <a:xfrm>
            <a:off x="6144912" y="3703759"/>
            <a:ext cx="1198630" cy="562707"/>
          </a:xfrm>
          <a:prstGeom prst="wedgeRectCallout">
            <a:avLst>
              <a:gd name="adj1" fmla="val -12016"/>
              <a:gd name="adj2" fmla="val 122005"/>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Layover time</a:t>
            </a:r>
          </a:p>
        </p:txBody>
      </p:sp>
      <p:sp>
        <p:nvSpPr>
          <p:cNvPr id="10" name="Speech Bubble: Rectangle 9">
            <a:extLst>
              <a:ext uri="{FF2B5EF4-FFF2-40B4-BE49-F238E27FC236}">
                <a16:creationId xmlns:a16="http://schemas.microsoft.com/office/drawing/2014/main" id="{6637B420-BB87-5896-6853-6126B95566D4}"/>
              </a:ext>
            </a:extLst>
          </p:cNvPr>
          <p:cNvSpPr/>
          <p:nvPr/>
        </p:nvSpPr>
        <p:spPr>
          <a:xfrm>
            <a:off x="7444328" y="3454577"/>
            <a:ext cx="1738666" cy="511552"/>
          </a:xfrm>
          <a:prstGeom prst="wedgeRectCallout">
            <a:avLst>
              <a:gd name="adj1" fmla="val -31054"/>
              <a:gd name="adj2" fmla="val 133929"/>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Environmental impact</a:t>
            </a:r>
          </a:p>
        </p:txBody>
      </p:sp>
      <p:sp>
        <p:nvSpPr>
          <p:cNvPr id="11" name="Speech Bubble: Rectangle 10">
            <a:extLst>
              <a:ext uri="{FF2B5EF4-FFF2-40B4-BE49-F238E27FC236}">
                <a16:creationId xmlns:a16="http://schemas.microsoft.com/office/drawing/2014/main" id="{C2CF9272-D868-3462-CB7D-7661002D74A3}"/>
              </a:ext>
            </a:extLst>
          </p:cNvPr>
          <p:cNvSpPr/>
          <p:nvPr/>
        </p:nvSpPr>
        <p:spPr>
          <a:xfrm>
            <a:off x="9305088" y="3710353"/>
            <a:ext cx="836094" cy="562707"/>
          </a:xfrm>
          <a:prstGeom prst="wedgeRectCallout">
            <a:avLst>
              <a:gd name="adj1" fmla="val 15390"/>
              <a:gd name="adj2" fmla="val 93620"/>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Cost</a:t>
            </a:r>
          </a:p>
        </p:txBody>
      </p:sp>
      <p:sp>
        <p:nvSpPr>
          <p:cNvPr id="12" name="Speech Bubble: Rectangle 11">
            <a:extLst>
              <a:ext uri="{FF2B5EF4-FFF2-40B4-BE49-F238E27FC236}">
                <a16:creationId xmlns:a16="http://schemas.microsoft.com/office/drawing/2014/main" id="{4191361F-A8B6-BC28-D85C-5DEFBAB959F9}"/>
              </a:ext>
            </a:extLst>
          </p:cNvPr>
          <p:cNvSpPr/>
          <p:nvPr/>
        </p:nvSpPr>
        <p:spPr>
          <a:xfrm>
            <a:off x="344558" y="4266468"/>
            <a:ext cx="904597" cy="562707"/>
          </a:xfrm>
          <a:prstGeom prst="wedgeRectCallout">
            <a:avLst>
              <a:gd name="adj1" fmla="val 106792"/>
              <a:gd name="adj2" fmla="val 19643"/>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Brand</a:t>
            </a:r>
          </a:p>
        </p:txBody>
      </p:sp>
      <p:sp>
        <p:nvSpPr>
          <p:cNvPr id="13" name="Speech Bubble: Rectangle 12">
            <a:extLst>
              <a:ext uri="{FF2B5EF4-FFF2-40B4-BE49-F238E27FC236}">
                <a16:creationId xmlns:a16="http://schemas.microsoft.com/office/drawing/2014/main" id="{079A46BE-DF14-56D1-4CB0-5E9940F9F0DC}"/>
              </a:ext>
            </a:extLst>
          </p:cNvPr>
          <p:cNvSpPr/>
          <p:nvPr/>
        </p:nvSpPr>
        <p:spPr>
          <a:xfrm>
            <a:off x="2943624" y="3703760"/>
            <a:ext cx="1187760" cy="562707"/>
          </a:xfrm>
          <a:prstGeom prst="wedgeRectCallout">
            <a:avLst>
              <a:gd name="adj1" fmla="val -3187"/>
              <a:gd name="adj2" fmla="val 78572"/>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Arrival time</a:t>
            </a:r>
          </a:p>
        </p:txBody>
      </p:sp>
    </p:spTree>
    <p:extLst>
      <p:ext uri="{BB962C8B-B14F-4D97-AF65-F5344CB8AC3E}">
        <p14:creationId xmlns:p14="http://schemas.microsoft.com/office/powerpoint/2010/main" val="3004702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D7646-255B-9914-BD72-83821AB8539F}"/>
              </a:ext>
            </a:extLst>
          </p:cNvPr>
          <p:cNvSpPr>
            <a:spLocks noGrp="1"/>
          </p:cNvSpPr>
          <p:nvPr>
            <p:ph type="title"/>
          </p:nvPr>
        </p:nvSpPr>
        <p:spPr>
          <a:xfrm>
            <a:off x="467139" y="589724"/>
            <a:ext cx="11221278" cy="362776"/>
          </a:xfrm>
        </p:spPr>
        <p:txBody>
          <a:bodyPr/>
          <a:lstStyle/>
          <a:p>
            <a:r>
              <a:rPr lang="en-US" noProof="0" dirty="0"/>
              <a:t>What do we consider when making decisions?</a:t>
            </a:r>
          </a:p>
        </p:txBody>
      </p:sp>
      <p:sp>
        <p:nvSpPr>
          <p:cNvPr id="3" name="Table Placeholder 2">
            <a:extLst>
              <a:ext uri="{FF2B5EF4-FFF2-40B4-BE49-F238E27FC236}">
                <a16:creationId xmlns:a16="http://schemas.microsoft.com/office/drawing/2014/main" id="{075791E2-FE7B-BBBF-768D-829E4D16FDAE}"/>
              </a:ext>
            </a:extLst>
          </p:cNvPr>
          <p:cNvSpPr>
            <a:spLocks noGrp="1"/>
          </p:cNvSpPr>
          <p:nvPr>
            <p:ph type="tbl" sz="quarter" idx="10"/>
          </p:nvPr>
        </p:nvSpPr>
        <p:spPr/>
        <p:txBody>
          <a:bodyPr/>
          <a:lstStyle/>
          <a:p>
            <a:endParaRPr lang="en-US" sz="2800" noProof="0" dirty="0"/>
          </a:p>
          <a:p>
            <a:r>
              <a:rPr lang="en-US" sz="2800" noProof="0" dirty="0"/>
              <a:t>Expected benefits</a:t>
            </a:r>
          </a:p>
          <a:p>
            <a:pPr lvl="1">
              <a:lnSpc>
                <a:spcPct val="100000"/>
              </a:lnSpc>
            </a:pPr>
            <a:r>
              <a:rPr lang="en-US" noProof="0" dirty="0"/>
              <a:t>convenience, comfort, in-flight services, etc.</a:t>
            </a:r>
            <a:endParaRPr lang="en-US" sz="2800" noProof="0" dirty="0"/>
          </a:p>
          <a:p>
            <a:r>
              <a:rPr lang="en-US" sz="2800" noProof="0" dirty="0"/>
              <a:t>Expected downsides</a:t>
            </a:r>
          </a:p>
          <a:p>
            <a:pPr lvl="1">
              <a:lnSpc>
                <a:spcPct val="100000"/>
              </a:lnSpc>
            </a:pPr>
            <a:r>
              <a:rPr lang="en-US" noProof="0" dirty="0"/>
              <a:t>cost, travel time, number of layovers, etc.</a:t>
            </a:r>
            <a:endParaRPr lang="en-US" sz="2800" noProof="0" dirty="0"/>
          </a:p>
          <a:p>
            <a:r>
              <a:rPr lang="en-US" sz="2800" noProof="0" dirty="0"/>
              <a:t>Degree of uncertainty</a:t>
            </a:r>
          </a:p>
          <a:p>
            <a:pPr lvl="1">
              <a:lnSpc>
                <a:spcPct val="100000"/>
              </a:lnSpc>
            </a:pPr>
            <a:r>
              <a:rPr lang="en-US" noProof="0" dirty="0"/>
              <a:t>delays, missed connections, cancellations, etc.</a:t>
            </a:r>
            <a:endParaRPr lang="en-US" sz="2800" noProof="0" dirty="0"/>
          </a:p>
        </p:txBody>
      </p:sp>
      <p:sp>
        <p:nvSpPr>
          <p:cNvPr id="4" name="Slide Number Placeholder 3">
            <a:extLst>
              <a:ext uri="{FF2B5EF4-FFF2-40B4-BE49-F238E27FC236}">
                <a16:creationId xmlns:a16="http://schemas.microsoft.com/office/drawing/2014/main" id="{9E080ED2-AE7F-E7B4-B277-7FF95780B0FC}"/>
              </a:ext>
            </a:extLst>
          </p:cNvPr>
          <p:cNvSpPr>
            <a:spLocks noGrp="1"/>
          </p:cNvSpPr>
          <p:nvPr>
            <p:ph type="sldNum" sz="quarter" idx="4"/>
          </p:nvPr>
        </p:nvSpPr>
        <p:spPr/>
        <p:txBody>
          <a:bodyPr/>
          <a:lstStyle/>
          <a:p>
            <a:fld id="{B5CEABB6-07DC-46E8-9B57-56EC44A396E5}" type="slidenum">
              <a:rPr lang="en-US" noProof="0" smtClean="0"/>
              <a:pPr/>
              <a:t>4</a:t>
            </a:fld>
            <a:endParaRPr lang="en-US" noProof="0" dirty="0"/>
          </a:p>
        </p:txBody>
      </p:sp>
      <p:sp>
        <p:nvSpPr>
          <p:cNvPr id="5" name="Table Placeholder 4">
            <a:extLst>
              <a:ext uri="{FF2B5EF4-FFF2-40B4-BE49-F238E27FC236}">
                <a16:creationId xmlns:a16="http://schemas.microsoft.com/office/drawing/2014/main" id="{00BE120F-8577-E7E6-F104-4B64D2D6CE2E}"/>
              </a:ext>
            </a:extLst>
          </p:cNvPr>
          <p:cNvSpPr>
            <a:spLocks noGrp="1"/>
          </p:cNvSpPr>
          <p:nvPr>
            <p:ph type="tbl" sz="quarter" idx="11"/>
          </p:nvPr>
        </p:nvSpPr>
        <p:spPr/>
        <p:txBody>
          <a:bodyPr/>
          <a:lstStyle/>
          <a:p>
            <a:pPr>
              <a:lnSpc>
                <a:spcPct val="100000"/>
              </a:lnSpc>
              <a:spcBef>
                <a:spcPts val="0"/>
              </a:spcBef>
            </a:pPr>
            <a:r>
              <a:rPr lang="en-US" noProof="0" dirty="0"/>
              <a:t>We often consider benefits, downsides, and uncertainty unconsciously.</a:t>
            </a:r>
          </a:p>
          <a:p>
            <a:pPr>
              <a:lnSpc>
                <a:spcPct val="100000"/>
              </a:lnSpc>
              <a:spcBef>
                <a:spcPts val="0"/>
              </a:spcBef>
            </a:pPr>
            <a:r>
              <a:rPr lang="en-US" noProof="0" dirty="0"/>
              <a:t>There is, in fact, an academic field that analyzes decision-making scientifically by explicitly accounting for these elements.</a:t>
            </a:r>
          </a:p>
        </p:txBody>
      </p:sp>
    </p:spTree>
    <p:extLst>
      <p:ext uri="{BB962C8B-B14F-4D97-AF65-F5344CB8AC3E}">
        <p14:creationId xmlns:p14="http://schemas.microsoft.com/office/powerpoint/2010/main" val="1806327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46A5B-301C-EE63-589D-1AC4EBA1CF45}"/>
              </a:ext>
            </a:extLst>
          </p:cNvPr>
          <p:cNvSpPr>
            <a:spLocks noGrp="1"/>
          </p:cNvSpPr>
          <p:nvPr>
            <p:ph type="title"/>
          </p:nvPr>
        </p:nvSpPr>
        <p:spPr/>
        <p:txBody>
          <a:bodyPr/>
          <a:lstStyle/>
          <a:p>
            <a:r>
              <a:rPr lang="en-US" noProof="0" dirty="0"/>
              <a:t>Purpose of This Talk</a:t>
            </a:r>
          </a:p>
        </p:txBody>
      </p:sp>
      <p:sp>
        <p:nvSpPr>
          <p:cNvPr id="3" name="Table Placeholder 2">
            <a:extLst>
              <a:ext uri="{FF2B5EF4-FFF2-40B4-BE49-F238E27FC236}">
                <a16:creationId xmlns:a16="http://schemas.microsoft.com/office/drawing/2014/main" id="{851997D4-EB27-3B85-4241-5C39F598B5AB}"/>
              </a:ext>
            </a:extLst>
          </p:cNvPr>
          <p:cNvSpPr>
            <a:spLocks noGrp="1"/>
          </p:cNvSpPr>
          <p:nvPr>
            <p:ph type="tbl" sz="quarter" idx="10"/>
          </p:nvPr>
        </p:nvSpPr>
        <p:spPr/>
        <p:txBody>
          <a:bodyPr/>
          <a:lstStyle/>
          <a:p>
            <a:pPr>
              <a:lnSpc>
                <a:spcPct val="100000"/>
              </a:lnSpc>
            </a:pPr>
            <a:r>
              <a:rPr lang="en-US" sz="2800" noProof="0" dirty="0"/>
              <a:t>Introduce the basic concepts and framework of Decision Science.</a:t>
            </a:r>
          </a:p>
          <a:p>
            <a:pPr>
              <a:lnSpc>
                <a:spcPct val="100000"/>
              </a:lnSpc>
            </a:pPr>
            <a:endParaRPr lang="en-US" sz="2800" noProof="0" dirty="0"/>
          </a:p>
          <a:p>
            <a:pPr>
              <a:lnSpc>
                <a:spcPct val="100000"/>
              </a:lnSpc>
            </a:pPr>
            <a:r>
              <a:rPr lang="en-US" sz="2800" noProof="0" dirty="0"/>
              <a:t>Demonstrate how effects, costs, and uncertainty are incorporated into scientific decision analysis using concrete examples.</a:t>
            </a:r>
          </a:p>
          <a:p>
            <a:pPr>
              <a:lnSpc>
                <a:spcPct val="100000"/>
              </a:lnSpc>
            </a:pPr>
            <a:endParaRPr lang="en-US" sz="2800" noProof="0" dirty="0"/>
          </a:p>
          <a:p>
            <a:pPr>
              <a:lnSpc>
                <a:spcPct val="100000"/>
              </a:lnSpc>
            </a:pPr>
            <a:r>
              <a:rPr lang="en-US" sz="2800" noProof="0" dirty="0"/>
              <a:t>Provide participants with a perspective for structuring decisions in their own research and professional practice, leading to new insights and ideas.</a:t>
            </a:r>
          </a:p>
        </p:txBody>
      </p:sp>
      <p:sp>
        <p:nvSpPr>
          <p:cNvPr id="4" name="Slide Number Placeholder 3">
            <a:extLst>
              <a:ext uri="{FF2B5EF4-FFF2-40B4-BE49-F238E27FC236}">
                <a16:creationId xmlns:a16="http://schemas.microsoft.com/office/drawing/2014/main" id="{E0A5B02F-9CA3-0887-AC22-6C38638DCBA8}"/>
              </a:ext>
            </a:extLst>
          </p:cNvPr>
          <p:cNvSpPr>
            <a:spLocks noGrp="1"/>
          </p:cNvSpPr>
          <p:nvPr>
            <p:ph type="sldNum" sz="quarter" idx="4"/>
          </p:nvPr>
        </p:nvSpPr>
        <p:spPr/>
        <p:txBody>
          <a:bodyPr/>
          <a:lstStyle/>
          <a:p>
            <a:fld id="{B5CEABB6-07DC-46E8-9B57-56EC44A396E5}" type="slidenum">
              <a:rPr lang="en-US" noProof="0" smtClean="0"/>
              <a:pPr/>
              <a:t>5</a:t>
            </a:fld>
            <a:endParaRPr lang="en-US" noProof="0" dirty="0"/>
          </a:p>
        </p:txBody>
      </p:sp>
      <p:sp>
        <p:nvSpPr>
          <p:cNvPr id="5" name="Table Placeholder 4">
            <a:extLst>
              <a:ext uri="{FF2B5EF4-FFF2-40B4-BE49-F238E27FC236}">
                <a16:creationId xmlns:a16="http://schemas.microsoft.com/office/drawing/2014/main" id="{E357CB82-471D-266E-B30C-435F624E186F}"/>
              </a:ext>
            </a:extLst>
          </p:cNvPr>
          <p:cNvSpPr>
            <a:spLocks noGrp="1"/>
          </p:cNvSpPr>
          <p:nvPr>
            <p:ph type="tbl" sz="quarter" idx="11"/>
          </p:nvPr>
        </p:nvSpPr>
        <p:spPr/>
        <p:txBody>
          <a:bodyPr/>
          <a:lstStyle/>
          <a:p>
            <a:endParaRPr lang="en-US" noProof="0" dirty="0"/>
          </a:p>
        </p:txBody>
      </p:sp>
    </p:spTree>
    <p:extLst>
      <p:ext uri="{BB962C8B-B14F-4D97-AF65-F5344CB8AC3E}">
        <p14:creationId xmlns:p14="http://schemas.microsoft.com/office/powerpoint/2010/main" val="3493793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45B58-CBA0-683B-3483-0D260908D155}"/>
              </a:ext>
            </a:extLst>
          </p:cNvPr>
          <p:cNvSpPr>
            <a:spLocks noGrp="1"/>
          </p:cNvSpPr>
          <p:nvPr>
            <p:ph type="title"/>
          </p:nvPr>
        </p:nvSpPr>
        <p:spPr>
          <a:xfrm>
            <a:off x="467139" y="589724"/>
            <a:ext cx="11221278" cy="362776"/>
          </a:xfrm>
        </p:spPr>
        <p:txBody>
          <a:bodyPr/>
          <a:lstStyle/>
          <a:p>
            <a:r>
              <a:rPr lang="en-US" noProof="0" dirty="0"/>
              <a:t>Agenda</a:t>
            </a:r>
          </a:p>
        </p:txBody>
      </p:sp>
      <p:sp>
        <p:nvSpPr>
          <p:cNvPr id="4" name="Slide Number Placeholder 3">
            <a:extLst>
              <a:ext uri="{FF2B5EF4-FFF2-40B4-BE49-F238E27FC236}">
                <a16:creationId xmlns:a16="http://schemas.microsoft.com/office/drawing/2014/main" id="{14F24589-153D-4571-B22D-21EC9937519C}"/>
              </a:ext>
            </a:extLst>
          </p:cNvPr>
          <p:cNvSpPr>
            <a:spLocks noGrp="1"/>
          </p:cNvSpPr>
          <p:nvPr>
            <p:ph type="sldNum" sz="quarter" idx="4"/>
          </p:nvPr>
        </p:nvSpPr>
        <p:spPr/>
        <p:txBody>
          <a:bodyPr/>
          <a:lstStyle/>
          <a:p>
            <a:fld id="{B5CEABB6-07DC-46E8-9B57-56EC44A396E5}" type="slidenum">
              <a:rPr lang="en-US" noProof="0" smtClean="0"/>
              <a:pPr/>
              <a:t>6</a:t>
            </a:fld>
            <a:endParaRPr lang="en-US" noProof="0" dirty="0"/>
          </a:p>
        </p:txBody>
      </p:sp>
      <p:sp>
        <p:nvSpPr>
          <p:cNvPr id="5" name="Table Placeholder 4">
            <a:extLst>
              <a:ext uri="{FF2B5EF4-FFF2-40B4-BE49-F238E27FC236}">
                <a16:creationId xmlns:a16="http://schemas.microsoft.com/office/drawing/2014/main" id="{9A88C35A-D415-BCD5-44B9-FB204DCBE218}"/>
              </a:ext>
            </a:extLst>
          </p:cNvPr>
          <p:cNvSpPr>
            <a:spLocks noGrp="1"/>
          </p:cNvSpPr>
          <p:nvPr>
            <p:ph type="tbl" sz="quarter" idx="11"/>
          </p:nvPr>
        </p:nvSpPr>
        <p:spPr/>
        <p:txBody>
          <a:bodyPr/>
          <a:lstStyle/>
          <a:p>
            <a:endParaRPr lang="en-US" noProof="0" dirty="0"/>
          </a:p>
        </p:txBody>
      </p:sp>
      <p:sp>
        <p:nvSpPr>
          <p:cNvPr id="6" name="Rectangle 5">
            <a:extLst>
              <a:ext uri="{FF2B5EF4-FFF2-40B4-BE49-F238E27FC236}">
                <a16:creationId xmlns:a16="http://schemas.microsoft.com/office/drawing/2014/main" id="{5CDB5598-0159-A688-0E67-5570D6B55E8A}"/>
              </a:ext>
            </a:extLst>
          </p:cNvPr>
          <p:cNvSpPr/>
          <p:nvPr/>
        </p:nvSpPr>
        <p:spPr>
          <a:xfrm>
            <a:off x="467139" y="2064970"/>
            <a:ext cx="11221278" cy="735496"/>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eiryo UI" panose="020B0604030504040204" pitchFamily="50" charset="-128"/>
                <a:cs typeface="Arial" panose="020B0604020202020204" pitchFamily="34" charset="0"/>
              </a:rPr>
              <a:t>1</a:t>
            </a:r>
            <a:r>
              <a:rPr lang="en-US" sz="2400" b="1" noProof="0" dirty="0">
                <a:latin typeface="Arial" panose="020B0604020202020204" pitchFamily="34" charset="0"/>
                <a:ea typeface="Meiryo UI" panose="020B0604030504040204" pitchFamily="50" charset="-128"/>
                <a:cs typeface="Arial" panose="020B0604020202020204" pitchFamily="34" charset="0"/>
              </a:rPr>
              <a:t>. What is Decision Science, and how do we analyze decisions? </a:t>
            </a:r>
          </a:p>
        </p:txBody>
      </p:sp>
      <p:sp>
        <p:nvSpPr>
          <p:cNvPr id="7" name="Rectangle 6">
            <a:extLst>
              <a:ext uri="{FF2B5EF4-FFF2-40B4-BE49-F238E27FC236}">
                <a16:creationId xmlns:a16="http://schemas.microsoft.com/office/drawing/2014/main" id="{1D30FC8F-584D-2C92-769A-EE9034D424FC}"/>
              </a:ext>
            </a:extLst>
          </p:cNvPr>
          <p:cNvSpPr/>
          <p:nvPr/>
        </p:nvSpPr>
        <p:spPr>
          <a:xfrm>
            <a:off x="467139" y="3506988"/>
            <a:ext cx="11221278" cy="735496"/>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eiryo UI" panose="020B0604030504040204" pitchFamily="50" charset="-128"/>
                <a:cs typeface="Arial" panose="020B0604020202020204" pitchFamily="34" charset="0"/>
              </a:rPr>
              <a:t>2</a:t>
            </a:r>
            <a:r>
              <a:rPr lang="en-US" sz="2400" b="1" noProof="0" dirty="0">
                <a:latin typeface="Arial" panose="020B0604020202020204" pitchFamily="34" charset="0"/>
                <a:ea typeface="Meiryo UI" panose="020B0604030504040204" pitchFamily="50" charset="-128"/>
                <a:cs typeface="Arial" panose="020B0604020202020204" pitchFamily="34" charset="0"/>
              </a:rPr>
              <a:t>. Experiencing Decision Science in practice </a:t>
            </a:r>
          </a:p>
        </p:txBody>
      </p:sp>
      <p:sp>
        <p:nvSpPr>
          <p:cNvPr id="8" name="Rectangle 7">
            <a:extLst>
              <a:ext uri="{FF2B5EF4-FFF2-40B4-BE49-F238E27FC236}">
                <a16:creationId xmlns:a16="http://schemas.microsoft.com/office/drawing/2014/main" id="{688CEFA3-C06B-BD4E-B24C-4FF5FEED8B13}"/>
              </a:ext>
            </a:extLst>
          </p:cNvPr>
          <p:cNvSpPr/>
          <p:nvPr/>
        </p:nvSpPr>
        <p:spPr>
          <a:xfrm>
            <a:off x="467139" y="4949006"/>
            <a:ext cx="11221278" cy="735496"/>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eiryo UI" panose="020B0604030504040204" pitchFamily="50" charset="-128"/>
                <a:cs typeface="Arial" panose="020B0604020202020204" pitchFamily="34" charset="0"/>
              </a:rPr>
              <a:t>3</a:t>
            </a:r>
            <a:r>
              <a:rPr lang="en-US" sz="2400" b="1" noProof="0" dirty="0">
                <a:latin typeface="Arial" panose="020B0604020202020204" pitchFamily="34" charset="0"/>
                <a:ea typeface="Meiryo UI" panose="020B0604030504040204" pitchFamily="50" charset="-128"/>
                <a:cs typeface="Arial" panose="020B0604020202020204" pitchFamily="34" charset="0"/>
              </a:rPr>
              <a:t>. Use cases of Decision Science</a:t>
            </a:r>
          </a:p>
        </p:txBody>
      </p:sp>
    </p:spTree>
    <p:extLst>
      <p:ext uri="{BB962C8B-B14F-4D97-AF65-F5344CB8AC3E}">
        <p14:creationId xmlns:p14="http://schemas.microsoft.com/office/powerpoint/2010/main" val="3450247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FB5D3-655A-E7DC-E192-FA0E5717E3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410E10-44AD-1278-0E4F-F6617AE8701E}"/>
              </a:ext>
            </a:extLst>
          </p:cNvPr>
          <p:cNvSpPr>
            <a:spLocks noGrp="1"/>
          </p:cNvSpPr>
          <p:nvPr>
            <p:ph type="title"/>
          </p:nvPr>
        </p:nvSpPr>
        <p:spPr>
          <a:xfrm>
            <a:off x="467139" y="589724"/>
            <a:ext cx="11221278" cy="362776"/>
          </a:xfrm>
        </p:spPr>
        <p:txBody>
          <a:bodyPr/>
          <a:lstStyle/>
          <a:p>
            <a:r>
              <a:rPr lang="en-US" noProof="0" dirty="0"/>
              <a:t>Agenda</a:t>
            </a:r>
          </a:p>
        </p:txBody>
      </p:sp>
      <p:sp>
        <p:nvSpPr>
          <p:cNvPr id="4" name="Slide Number Placeholder 3">
            <a:extLst>
              <a:ext uri="{FF2B5EF4-FFF2-40B4-BE49-F238E27FC236}">
                <a16:creationId xmlns:a16="http://schemas.microsoft.com/office/drawing/2014/main" id="{0E2108C9-C0F4-3572-5845-528A8EFEF093}"/>
              </a:ext>
            </a:extLst>
          </p:cNvPr>
          <p:cNvSpPr>
            <a:spLocks noGrp="1"/>
          </p:cNvSpPr>
          <p:nvPr>
            <p:ph type="sldNum" sz="quarter" idx="4"/>
          </p:nvPr>
        </p:nvSpPr>
        <p:spPr/>
        <p:txBody>
          <a:bodyPr/>
          <a:lstStyle/>
          <a:p>
            <a:fld id="{B5CEABB6-07DC-46E8-9B57-56EC44A396E5}" type="slidenum">
              <a:rPr lang="en-US" noProof="0" smtClean="0"/>
              <a:pPr/>
              <a:t>7</a:t>
            </a:fld>
            <a:endParaRPr lang="en-US" noProof="0" dirty="0"/>
          </a:p>
        </p:txBody>
      </p:sp>
      <p:sp>
        <p:nvSpPr>
          <p:cNvPr id="5" name="Table Placeholder 4">
            <a:extLst>
              <a:ext uri="{FF2B5EF4-FFF2-40B4-BE49-F238E27FC236}">
                <a16:creationId xmlns:a16="http://schemas.microsoft.com/office/drawing/2014/main" id="{18B251CB-D93D-C8C3-1F1D-D518A1AA503B}"/>
              </a:ext>
            </a:extLst>
          </p:cNvPr>
          <p:cNvSpPr>
            <a:spLocks noGrp="1"/>
          </p:cNvSpPr>
          <p:nvPr>
            <p:ph type="tbl" sz="quarter" idx="11"/>
          </p:nvPr>
        </p:nvSpPr>
        <p:spPr/>
        <p:txBody>
          <a:bodyPr/>
          <a:lstStyle/>
          <a:p>
            <a:endParaRPr lang="en-US" noProof="0" dirty="0"/>
          </a:p>
        </p:txBody>
      </p:sp>
      <p:sp>
        <p:nvSpPr>
          <p:cNvPr id="6" name="Rectangle 5">
            <a:extLst>
              <a:ext uri="{FF2B5EF4-FFF2-40B4-BE49-F238E27FC236}">
                <a16:creationId xmlns:a16="http://schemas.microsoft.com/office/drawing/2014/main" id="{10F5BC2A-1C1F-E3CE-15D0-4CCF5841A5E2}"/>
              </a:ext>
            </a:extLst>
          </p:cNvPr>
          <p:cNvSpPr/>
          <p:nvPr/>
        </p:nvSpPr>
        <p:spPr>
          <a:xfrm>
            <a:off x="467139" y="2064970"/>
            <a:ext cx="11221278" cy="735496"/>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0" dirty="0">
                <a:latin typeface="Arial" panose="020B0604020202020204" pitchFamily="34" charset="0"/>
                <a:ea typeface="Meiryo UI" panose="020B0604030504040204" pitchFamily="50" charset="-128"/>
                <a:cs typeface="Arial" panose="020B0604020202020204" pitchFamily="34" charset="0"/>
              </a:rPr>
              <a:t>1. What is Decision Science, and how do we analyze decisions? </a:t>
            </a:r>
          </a:p>
        </p:txBody>
      </p:sp>
      <p:sp>
        <p:nvSpPr>
          <p:cNvPr id="7" name="Rectangle 6">
            <a:extLst>
              <a:ext uri="{FF2B5EF4-FFF2-40B4-BE49-F238E27FC236}">
                <a16:creationId xmlns:a16="http://schemas.microsoft.com/office/drawing/2014/main" id="{41F64DB7-9938-AE49-9FE8-0636E1BC2E81}"/>
              </a:ext>
            </a:extLst>
          </p:cNvPr>
          <p:cNvSpPr/>
          <p:nvPr/>
        </p:nvSpPr>
        <p:spPr>
          <a:xfrm>
            <a:off x="467139" y="3506988"/>
            <a:ext cx="11221278" cy="73549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eiryo UI" panose="020B0604030504040204" pitchFamily="50" charset="-128"/>
                <a:cs typeface="Arial" panose="020B0604020202020204" pitchFamily="34" charset="0"/>
              </a:rPr>
              <a:t>2</a:t>
            </a:r>
            <a:r>
              <a:rPr lang="en-US" sz="2400" b="1" noProof="0" dirty="0">
                <a:latin typeface="Arial" panose="020B0604020202020204" pitchFamily="34" charset="0"/>
                <a:ea typeface="Meiryo UI" panose="020B0604030504040204" pitchFamily="50" charset="-128"/>
                <a:cs typeface="Arial" panose="020B0604020202020204" pitchFamily="34" charset="0"/>
              </a:rPr>
              <a:t>. Experiencing Decision Science in practice </a:t>
            </a:r>
          </a:p>
        </p:txBody>
      </p:sp>
      <p:sp>
        <p:nvSpPr>
          <p:cNvPr id="8" name="Rectangle 7">
            <a:extLst>
              <a:ext uri="{FF2B5EF4-FFF2-40B4-BE49-F238E27FC236}">
                <a16:creationId xmlns:a16="http://schemas.microsoft.com/office/drawing/2014/main" id="{6C067DA9-8BFC-B8CB-EFA3-48CBCAAF4AE9}"/>
              </a:ext>
            </a:extLst>
          </p:cNvPr>
          <p:cNvSpPr/>
          <p:nvPr/>
        </p:nvSpPr>
        <p:spPr>
          <a:xfrm>
            <a:off x="467139" y="4949006"/>
            <a:ext cx="11221278" cy="73549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eiryo UI" panose="020B0604030504040204" pitchFamily="50" charset="-128"/>
                <a:cs typeface="Arial" panose="020B0604020202020204" pitchFamily="34" charset="0"/>
              </a:rPr>
              <a:t>3</a:t>
            </a:r>
            <a:r>
              <a:rPr lang="en-US" sz="2400" b="1" noProof="0" dirty="0">
                <a:latin typeface="Arial" panose="020B0604020202020204" pitchFamily="34" charset="0"/>
                <a:ea typeface="Meiryo UI" panose="020B0604030504040204" pitchFamily="50" charset="-128"/>
                <a:cs typeface="Arial" panose="020B0604020202020204" pitchFamily="34" charset="0"/>
              </a:rPr>
              <a:t>. Use cases of Decision Science</a:t>
            </a:r>
          </a:p>
        </p:txBody>
      </p:sp>
    </p:spTree>
    <p:extLst>
      <p:ext uri="{BB962C8B-B14F-4D97-AF65-F5344CB8AC3E}">
        <p14:creationId xmlns:p14="http://schemas.microsoft.com/office/powerpoint/2010/main" val="2921508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B6426-4DC7-C421-AA59-776F608847B0}"/>
              </a:ext>
            </a:extLst>
          </p:cNvPr>
          <p:cNvSpPr>
            <a:spLocks noGrp="1"/>
          </p:cNvSpPr>
          <p:nvPr>
            <p:ph type="title"/>
          </p:nvPr>
        </p:nvSpPr>
        <p:spPr/>
        <p:txBody>
          <a:bodyPr/>
          <a:lstStyle/>
          <a:p>
            <a:r>
              <a:rPr lang="en-US" noProof="0" dirty="0"/>
              <a:t>What Is Decision Science?</a:t>
            </a:r>
          </a:p>
        </p:txBody>
      </p:sp>
      <p:sp>
        <p:nvSpPr>
          <p:cNvPr id="3" name="Table Placeholder 2">
            <a:extLst>
              <a:ext uri="{FF2B5EF4-FFF2-40B4-BE49-F238E27FC236}">
                <a16:creationId xmlns:a16="http://schemas.microsoft.com/office/drawing/2014/main" id="{B605A180-FC2C-8EB1-9955-75F8E781704D}"/>
              </a:ext>
            </a:extLst>
          </p:cNvPr>
          <p:cNvSpPr>
            <a:spLocks noGrp="1"/>
          </p:cNvSpPr>
          <p:nvPr>
            <p:ph type="tbl" sz="quarter" idx="10"/>
          </p:nvPr>
        </p:nvSpPr>
        <p:spPr/>
        <p:txBody>
          <a:bodyPr/>
          <a:lstStyle/>
          <a:p>
            <a:pPr>
              <a:lnSpc>
                <a:spcPct val="100000"/>
              </a:lnSpc>
            </a:pPr>
            <a:r>
              <a:rPr lang="en-US" sz="2800" noProof="0" dirty="0"/>
              <a:t>Integrates methods from economics, statistics, psychology, and behavioral science.</a:t>
            </a:r>
          </a:p>
          <a:p>
            <a:pPr>
              <a:lnSpc>
                <a:spcPct val="100000"/>
              </a:lnSpc>
            </a:pPr>
            <a:r>
              <a:rPr lang="en-US" sz="2800" noProof="0" dirty="0"/>
              <a:t>Aims to identify optimal choices under limited resources and uncertainty.</a:t>
            </a:r>
          </a:p>
          <a:p>
            <a:pPr>
              <a:lnSpc>
                <a:spcPct val="100000"/>
              </a:lnSpc>
            </a:pPr>
            <a:r>
              <a:rPr lang="en-US" sz="2800" noProof="0" dirty="0"/>
              <a:t>Widely applied in healthcare, public policy, and business.</a:t>
            </a:r>
          </a:p>
          <a:p>
            <a:pPr>
              <a:lnSpc>
                <a:spcPct val="100000"/>
              </a:lnSpc>
            </a:pPr>
            <a:r>
              <a:rPr lang="en-US" sz="2800" noProof="0" dirty="0"/>
              <a:t>Enhances transparency and supports consensus-building in decision processes.</a:t>
            </a:r>
          </a:p>
          <a:p>
            <a:pPr>
              <a:lnSpc>
                <a:spcPct val="100000"/>
              </a:lnSpc>
            </a:pPr>
            <a:endParaRPr lang="en-US" sz="2800" noProof="0" dirty="0"/>
          </a:p>
        </p:txBody>
      </p:sp>
      <p:sp>
        <p:nvSpPr>
          <p:cNvPr id="4" name="Slide Number Placeholder 3">
            <a:extLst>
              <a:ext uri="{FF2B5EF4-FFF2-40B4-BE49-F238E27FC236}">
                <a16:creationId xmlns:a16="http://schemas.microsoft.com/office/drawing/2014/main" id="{65C1CA99-940A-57C1-9DFF-6CF7DC9B90C4}"/>
              </a:ext>
            </a:extLst>
          </p:cNvPr>
          <p:cNvSpPr>
            <a:spLocks noGrp="1"/>
          </p:cNvSpPr>
          <p:nvPr>
            <p:ph type="sldNum" sz="quarter" idx="4"/>
          </p:nvPr>
        </p:nvSpPr>
        <p:spPr/>
        <p:txBody>
          <a:bodyPr/>
          <a:lstStyle/>
          <a:p>
            <a:fld id="{B5CEABB6-07DC-46E8-9B57-56EC44A396E5}" type="slidenum">
              <a:rPr lang="en-US" noProof="0" smtClean="0"/>
              <a:pPr/>
              <a:t>8</a:t>
            </a:fld>
            <a:endParaRPr lang="en-US" noProof="0" dirty="0"/>
          </a:p>
        </p:txBody>
      </p:sp>
      <p:sp>
        <p:nvSpPr>
          <p:cNvPr id="5" name="Table Placeholder 4">
            <a:extLst>
              <a:ext uri="{FF2B5EF4-FFF2-40B4-BE49-F238E27FC236}">
                <a16:creationId xmlns:a16="http://schemas.microsoft.com/office/drawing/2014/main" id="{BDB76AA7-75F1-7B82-6668-DA67432D7AF2}"/>
              </a:ext>
            </a:extLst>
          </p:cNvPr>
          <p:cNvSpPr>
            <a:spLocks noGrp="1"/>
          </p:cNvSpPr>
          <p:nvPr>
            <p:ph type="tbl" sz="quarter" idx="11"/>
          </p:nvPr>
        </p:nvSpPr>
        <p:spPr/>
        <p:txBody>
          <a:bodyPr/>
          <a:lstStyle/>
          <a:p>
            <a:r>
              <a:rPr lang="en-US" noProof="0" dirty="0"/>
              <a:t>An interdisciplinary approach that integrates effects, costs, and uncertainty to support optimal decision-making.</a:t>
            </a:r>
          </a:p>
        </p:txBody>
      </p:sp>
      <p:grpSp>
        <p:nvGrpSpPr>
          <p:cNvPr id="10" name="Group 9">
            <a:extLst>
              <a:ext uri="{FF2B5EF4-FFF2-40B4-BE49-F238E27FC236}">
                <a16:creationId xmlns:a16="http://schemas.microsoft.com/office/drawing/2014/main" id="{C817F1EE-2368-5599-F5C1-FF3A3902E548}"/>
              </a:ext>
            </a:extLst>
          </p:cNvPr>
          <p:cNvGrpSpPr/>
          <p:nvPr/>
        </p:nvGrpSpPr>
        <p:grpSpPr>
          <a:xfrm>
            <a:off x="467139" y="108959"/>
            <a:ext cx="4197304" cy="307297"/>
            <a:chOff x="562270" y="127168"/>
            <a:chExt cx="4197304" cy="307297"/>
          </a:xfrm>
        </p:grpSpPr>
        <p:sp>
          <p:nvSpPr>
            <p:cNvPr id="11" name="Arrow: Pentagon 10">
              <a:extLst>
                <a:ext uri="{FF2B5EF4-FFF2-40B4-BE49-F238E27FC236}">
                  <a16:creationId xmlns:a16="http://schemas.microsoft.com/office/drawing/2014/main" id="{19DC3F8B-1A9F-700B-5818-9981EB725302}"/>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2" name="Arrow: Pentagon 11">
              <a:extLst>
                <a:ext uri="{FF2B5EF4-FFF2-40B4-BE49-F238E27FC236}">
                  <a16:creationId xmlns:a16="http://schemas.microsoft.com/office/drawing/2014/main" id="{790EC47A-F4D7-DB9E-B74C-A5E9FAF06AD6}"/>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3" name="Arrow: Pentagon 12">
              <a:extLst>
                <a:ext uri="{FF2B5EF4-FFF2-40B4-BE49-F238E27FC236}">
                  <a16:creationId xmlns:a16="http://schemas.microsoft.com/office/drawing/2014/main" id="{A9266467-ADE3-8026-4A4F-A934BD7381BE}"/>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4063284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174C5-3842-69B7-5B33-DDC5A2CABD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CAE6B0-CDAF-5700-7C49-87E6B9EB0A3E}"/>
              </a:ext>
            </a:extLst>
          </p:cNvPr>
          <p:cNvSpPr>
            <a:spLocks noGrp="1"/>
          </p:cNvSpPr>
          <p:nvPr>
            <p:ph type="title"/>
          </p:nvPr>
        </p:nvSpPr>
        <p:spPr/>
        <p:txBody>
          <a:bodyPr/>
          <a:lstStyle/>
          <a:p>
            <a:r>
              <a:rPr lang="en-US" noProof="0" dirty="0"/>
              <a:t>Analytical Process</a:t>
            </a:r>
          </a:p>
        </p:txBody>
      </p:sp>
      <p:sp>
        <p:nvSpPr>
          <p:cNvPr id="3" name="Table Placeholder 2">
            <a:extLst>
              <a:ext uri="{FF2B5EF4-FFF2-40B4-BE49-F238E27FC236}">
                <a16:creationId xmlns:a16="http://schemas.microsoft.com/office/drawing/2014/main" id="{596E18B5-A2B9-C5AD-8D33-DF81BF2BFF0C}"/>
              </a:ext>
            </a:extLst>
          </p:cNvPr>
          <p:cNvSpPr>
            <a:spLocks noGrp="1"/>
          </p:cNvSpPr>
          <p:nvPr>
            <p:ph type="tbl" sz="quarter" idx="10"/>
          </p:nvPr>
        </p:nvSpPr>
        <p:spPr>
          <a:xfrm>
            <a:off x="4733365" y="1938131"/>
            <a:ext cx="6955051" cy="4622672"/>
          </a:xfrm>
        </p:spPr>
        <p:txBody>
          <a:bodyPr/>
          <a:lstStyle/>
          <a:p>
            <a:endParaRPr lang="en-US" sz="2800" noProof="0" dirty="0"/>
          </a:p>
        </p:txBody>
      </p:sp>
      <p:sp>
        <p:nvSpPr>
          <p:cNvPr id="4" name="Slide Number Placeholder 3">
            <a:extLst>
              <a:ext uri="{FF2B5EF4-FFF2-40B4-BE49-F238E27FC236}">
                <a16:creationId xmlns:a16="http://schemas.microsoft.com/office/drawing/2014/main" id="{5FACC626-247E-56FD-9A7D-C87CD9E3813E}"/>
              </a:ext>
            </a:extLst>
          </p:cNvPr>
          <p:cNvSpPr>
            <a:spLocks noGrp="1"/>
          </p:cNvSpPr>
          <p:nvPr>
            <p:ph type="sldNum" sz="quarter" idx="4"/>
          </p:nvPr>
        </p:nvSpPr>
        <p:spPr/>
        <p:txBody>
          <a:bodyPr/>
          <a:lstStyle/>
          <a:p>
            <a:fld id="{B5CEABB6-07DC-46E8-9B57-56EC44A396E5}" type="slidenum">
              <a:rPr lang="en-US" noProof="0" smtClean="0"/>
              <a:pPr/>
              <a:t>9</a:t>
            </a:fld>
            <a:endParaRPr lang="en-US" noProof="0" dirty="0"/>
          </a:p>
        </p:txBody>
      </p:sp>
      <p:sp>
        <p:nvSpPr>
          <p:cNvPr id="5" name="Table Placeholder 4">
            <a:extLst>
              <a:ext uri="{FF2B5EF4-FFF2-40B4-BE49-F238E27FC236}">
                <a16:creationId xmlns:a16="http://schemas.microsoft.com/office/drawing/2014/main" id="{9E9AEE1D-E81E-C69E-C8B4-353EDB7949C7}"/>
              </a:ext>
            </a:extLst>
          </p:cNvPr>
          <p:cNvSpPr>
            <a:spLocks noGrp="1"/>
          </p:cNvSpPr>
          <p:nvPr>
            <p:ph type="tbl" sz="quarter" idx="11"/>
          </p:nvPr>
        </p:nvSpPr>
        <p:spPr/>
        <p:txBody>
          <a:bodyPr/>
          <a:lstStyle/>
          <a:p>
            <a:pPr>
              <a:lnSpc>
                <a:spcPct val="100000"/>
              </a:lnSpc>
              <a:spcBef>
                <a:spcPts val="0"/>
              </a:spcBef>
            </a:pPr>
            <a:r>
              <a:rPr lang="en-US" dirty="0"/>
              <a:t>I</a:t>
            </a:r>
            <a:r>
              <a:rPr lang="en-US" noProof="0" dirty="0"/>
              <a:t> introduce an example using eight core steps. </a:t>
            </a:r>
          </a:p>
          <a:p>
            <a:pPr>
              <a:lnSpc>
                <a:spcPct val="100000"/>
              </a:lnSpc>
              <a:spcBef>
                <a:spcPts val="0"/>
              </a:spcBef>
            </a:pPr>
            <a:r>
              <a:rPr lang="en-US" noProof="0" dirty="0"/>
              <a:t>(note: in practice, steps may not be strictly sequential)</a:t>
            </a:r>
          </a:p>
        </p:txBody>
      </p:sp>
      <p:sp>
        <p:nvSpPr>
          <p:cNvPr id="10" name="Rectangle 9">
            <a:extLst>
              <a:ext uri="{FF2B5EF4-FFF2-40B4-BE49-F238E27FC236}">
                <a16:creationId xmlns:a16="http://schemas.microsoft.com/office/drawing/2014/main" id="{6E007C2D-689D-1293-C02F-B83D28CBAF09}"/>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Define the problem and objectives</a:t>
            </a:r>
          </a:p>
        </p:txBody>
      </p:sp>
      <p:sp>
        <p:nvSpPr>
          <p:cNvPr id="11" name="Rectangle 10">
            <a:extLst>
              <a:ext uri="{FF2B5EF4-FFF2-40B4-BE49-F238E27FC236}">
                <a16:creationId xmlns:a16="http://schemas.microsoft.com/office/drawing/2014/main" id="{2D3B59EA-1761-4306-1AFF-DC3385A5B5CE}"/>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Design simulation model</a:t>
            </a:r>
          </a:p>
        </p:txBody>
      </p:sp>
      <p:sp>
        <p:nvSpPr>
          <p:cNvPr id="12" name="Oval 11">
            <a:extLst>
              <a:ext uri="{FF2B5EF4-FFF2-40B4-BE49-F238E27FC236}">
                <a16:creationId xmlns:a16="http://schemas.microsoft.com/office/drawing/2014/main" id="{9965FB82-4860-E53F-7AEC-1587074E758D}"/>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1</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13" name="Rectangle 12">
            <a:extLst>
              <a:ext uri="{FF2B5EF4-FFF2-40B4-BE49-F238E27FC236}">
                <a16:creationId xmlns:a16="http://schemas.microsoft.com/office/drawing/2014/main" id="{38D14422-6B1E-9A71-9851-278DB9C32558}"/>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Select simulation model</a:t>
            </a:r>
          </a:p>
        </p:txBody>
      </p:sp>
      <p:sp>
        <p:nvSpPr>
          <p:cNvPr id="14" name="Rectangle 13">
            <a:extLst>
              <a:ext uri="{FF2B5EF4-FFF2-40B4-BE49-F238E27FC236}">
                <a16:creationId xmlns:a16="http://schemas.microsoft.com/office/drawing/2014/main" id="{F9F41A87-CCF7-5A58-962B-83CB47A8B622}"/>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Define outcomes</a:t>
            </a:r>
          </a:p>
        </p:txBody>
      </p:sp>
      <p:sp>
        <p:nvSpPr>
          <p:cNvPr id="15" name="Rectangle 14">
            <a:extLst>
              <a:ext uri="{FF2B5EF4-FFF2-40B4-BE49-F238E27FC236}">
                <a16:creationId xmlns:a16="http://schemas.microsoft.com/office/drawing/2014/main" id="{69FFD6EF-E4A5-8220-C47D-3D47571588AA}"/>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Select model inputs</a:t>
            </a:r>
          </a:p>
        </p:txBody>
      </p:sp>
      <p:sp>
        <p:nvSpPr>
          <p:cNvPr id="16" name="Rectangle 15">
            <a:extLst>
              <a:ext uri="{FF2B5EF4-FFF2-40B4-BE49-F238E27FC236}">
                <a16:creationId xmlns:a16="http://schemas.microsoft.com/office/drawing/2014/main" id="{6439201D-C0BB-3A45-D9E7-AB3E632B9998}"/>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Simulate multiple decision options</a:t>
            </a:r>
          </a:p>
        </p:txBody>
      </p:sp>
      <p:sp>
        <p:nvSpPr>
          <p:cNvPr id="17" name="Rectangle 16">
            <a:extLst>
              <a:ext uri="{FF2B5EF4-FFF2-40B4-BE49-F238E27FC236}">
                <a16:creationId xmlns:a16="http://schemas.microsoft.com/office/drawing/2014/main" id="{5D3B5101-8E30-1AF5-CEA0-3F279F428B38}"/>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Sensitivity and scenario analyses</a:t>
            </a:r>
          </a:p>
        </p:txBody>
      </p:sp>
      <p:sp>
        <p:nvSpPr>
          <p:cNvPr id="18" name="Rectangle 17">
            <a:extLst>
              <a:ext uri="{FF2B5EF4-FFF2-40B4-BE49-F238E27FC236}">
                <a16:creationId xmlns:a16="http://schemas.microsoft.com/office/drawing/2014/main" id="{C589E384-F982-EFED-DCA5-6F35BB3DE396}"/>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Evaluate results</a:t>
            </a:r>
          </a:p>
        </p:txBody>
      </p:sp>
      <p:sp>
        <p:nvSpPr>
          <p:cNvPr id="19" name="Isosceles Triangle 18">
            <a:extLst>
              <a:ext uri="{FF2B5EF4-FFF2-40B4-BE49-F238E27FC236}">
                <a16:creationId xmlns:a16="http://schemas.microsoft.com/office/drawing/2014/main" id="{284E9807-CFDC-B2D8-5F08-E543A9A87236}"/>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0" name="Isosceles Triangle 19">
            <a:extLst>
              <a:ext uri="{FF2B5EF4-FFF2-40B4-BE49-F238E27FC236}">
                <a16:creationId xmlns:a16="http://schemas.microsoft.com/office/drawing/2014/main" id="{40C702E8-328A-EDCC-B066-5DDB3F3F27E5}"/>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1" name="Isosceles Triangle 20">
            <a:extLst>
              <a:ext uri="{FF2B5EF4-FFF2-40B4-BE49-F238E27FC236}">
                <a16:creationId xmlns:a16="http://schemas.microsoft.com/office/drawing/2014/main" id="{1778EACA-A019-7E1D-57B3-CA3C572CCA3B}"/>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2" name="Isosceles Triangle 21">
            <a:extLst>
              <a:ext uri="{FF2B5EF4-FFF2-40B4-BE49-F238E27FC236}">
                <a16:creationId xmlns:a16="http://schemas.microsoft.com/office/drawing/2014/main" id="{28639879-D0B7-3778-4FCF-F61DFBFE6C65}"/>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3" name="Isosceles Triangle 22">
            <a:extLst>
              <a:ext uri="{FF2B5EF4-FFF2-40B4-BE49-F238E27FC236}">
                <a16:creationId xmlns:a16="http://schemas.microsoft.com/office/drawing/2014/main" id="{8B27AD48-15E2-3349-91EA-7893AF3293A9}"/>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4" name="Isosceles Triangle 23">
            <a:extLst>
              <a:ext uri="{FF2B5EF4-FFF2-40B4-BE49-F238E27FC236}">
                <a16:creationId xmlns:a16="http://schemas.microsoft.com/office/drawing/2014/main" id="{9F6E6ECC-B68D-8994-F8BD-333DAEF368FD}"/>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5" name="Isosceles Triangle 24">
            <a:extLst>
              <a:ext uri="{FF2B5EF4-FFF2-40B4-BE49-F238E27FC236}">
                <a16:creationId xmlns:a16="http://schemas.microsoft.com/office/drawing/2014/main" id="{7CCD8BB4-86B8-2068-367E-7BA77D2600E6}"/>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6" name="Oval 25">
            <a:extLst>
              <a:ext uri="{FF2B5EF4-FFF2-40B4-BE49-F238E27FC236}">
                <a16:creationId xmlns:a16="http://schemas.microsoft.com/office/drawing/2014/main" id="{1D6B684D-4370-4C75-C8A5-208F6F19B997}"/>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2</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27" name="Oval 26">
            <a:extLst>
              <a:ext uri="{FF2B5EF4-FFF2-40B4-BE49-F238E27FC236}">
                <a16:creationId xmlns:a16="http://schemas.microsoft.com/office/drawing/2014/main" id="{A375CE8F-778E-44E6-8502-916DE8CB80EB}"/>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3</a:t>
            </a:r>
          </a:p>
        </p:txBody>
      </p:sp>
      <p:sp>
        <p:nvSpPr>
          <p:cNvPr id="28" name="Oval 27">
            <a:extLst>
              <a:ext uri="{FF2B5EF4-FFF2-40B4-BE49-F238E27FC236}">
                <a16:creationId xmlns:a16="http://schemas.microsoft.com/office/drawing/2014/main" id="{C73FE321-BA77-5BC5-DB56-52FE0B646CBF}"/>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4</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30" name="Oval 29">
            <a:extLst>
              <a:ext uri="{FF2B5EF4-FFF2-40B4-BE49-F238E27FC236}">
                <a16:creationId xmlns:a16="http://schemas.microsoft.com/office/drawing/2014/main" id="{94FF0B25-A8A2-4130-7223-59C14F1867CC}"/>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5</a:t>
            </a:r>
          </a:p>
        </p:txBody>
      </p:sp>
      <p:sp>
        <p:nvSpPr>
          <p:cNvPr id="31" name="Oval 30">
            <a:extLst>
              <a:ext uri="{FF2B5EF4-FFF2-40B4-BE49-F238E27FC236}">
                <a16:creationId xmlns:a16="http://schemas.microsoft.com/office/drawing/2014/main" id="{150A0FD9-756B-B922-BCF1-1B49ABC767EB}"/>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6</a:t>
            </a:r>
          </a:p>
        </p:txBody>
      </p:sp>
      <p:sp>
        <p:nvSpPr>
          <p:cNvPr id="32" name="Oval 31">
            <a:extLst>
              <a:ext uri="{FF2B5EF4-FFF2-40B4-BE49-F238E27FC236}">
                <a16:creationId xmlns:a16="http://schemas.microsoft.com/office/drawing/2014/main" id="{572AE56C-5D7A-45DE-95B2-274AF5B4CC99}"/>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7</a:t>
            </a:r>
          </a:p>
        </p:txBody>
      </p:sp>
      <p:sp>
        <p:nvSpPr>
          <p:cNvPr id="33" name="Oval 32">
            <a:extLst>
              <a:ext uri="{FF2B5EF4-FFF2-40B4-BE49-F238E27FC236}">
                <a16:creationId xmlns:a16="http://schemas.microsoft.com/office/drawing/2014/main" id="{9D92D08B-4FE8-07F0-F6F4-73D854EAC786}"/>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8</a:t>
            </a:r>
          </a:p>
        </p:txBody>
      </p:sp>
      <p:grpSp>
        <p:nvGrpSpPr>
          <p:cNvPr id="37" name="Group 36">
            <a:extLst>
              <a:ext uri="{FF2B5EF4-FFF2-40B4-BE49-F238E27FC236}">
                <a16:creationId xmlns:a16="http://schemas.microsoft.com/office/drawing/2014/main" id="{3251FBAE-87D2-033D-8661-12A6D88EC9D8}"/>
              </a:ext>
            </a:extLst>
          </p:cNvPr>
          <p:cNvGrpSpPr/>
          <p:nvPr/>
        </p:nvGrpSpPr>
        <p:grpSpPr>
          <a:xfrm>
            <a:off x="467139" y="108959"/>
            <a:ext cx="4197304" cy="307297"/>
            <a:chOff x="562270" y="127168"/>
            <a:chExt cx="4197304" cy="307297"/>
          </a:xfrm>
        </p:grpSpPr>
        <p:sp>
          <p:nvSpPr>
            <p:cNvPr id="38" name="Arrow: Pentagon 37">
              <a:extLst>
                <a:ext uri="{FF2B5EF4-FFF2-40B4-BE49-F238E27FC236}">
                  <a16:creationId xmlns:a16="http://schemas.microsoft.com/office/drawing/2014/main" id="{1E18867C-A12A-54DA-975E-3BB69D79AEB4}"/>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39" name="Arrow: Pentagon 38">
              <a:extLst>
                <a:ext uri="{FF2B5EF4-FFF2-40B4-BE49-F238E27FC236}">
                  <a16:creationId xmlns:a16="http://schemas.microsoft.com/office/drawing/2014/main" id="{5DCC69B4-2388-1CF7-59CE-C1A929792F7A}"/>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40" name="Arrow: Pentagon 39">
              <a:extLst>
                <a:ext uri="{FF2B5EF4-FFF2-40B4-BE49-F238E27FC236}">
                  <a16:creationId xmlns:a16="http://schemas.microsoft.com/office/drawing/2014/main" id="{124085F2-4992-A286-3A88-63B0B4B60FBC}"/>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713006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F07E559-6487-90EA-A725-D890326C2CBC}"/>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3506B9D2-56E0-9BDD-F2CA-2C1909D5F7BF}"/>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Define the problem and objectives</a:t>
            </a:r>
          </a:p>
        </p:txBody>
      </p:sp>
      <p:sp>
        <p:nvSpPr>
          <p:cNvPr id="2" name="Title 1">
            <a:extLst>
              <a:ext uri="{FF2B5EF4-FFF2-40B4-BE49-F238E27FC236}">
                <a16:creationId xmlns:a16="http://schemas.microsoft.com/office/drawing/2014/main" id="{D351F4AB-1C4C-06C5-743D-E59B62E10C45}"/>
              </a:ext>
            </a:extLst>
          </p:cNvPr>
          <p:cNvSpPr>
            <a:spLocks noGrp="1"/>
          </p:cNvSpPr>
          <p:nvPr>
            <p:ph type="title"/>
          </p:nvPr>
        </p:nvSpPr>
        <p:spPr/>
        <p:txBody>
          <a:bodyPr/>
          <a:lstStyle/>
          <a:p>
            <a:r>
              <a:rPr lang="en-US" noProof="0" dirty="0"/>
              <a:t>Step① Defining the Problem and Objectives</a:t>
            </a:r>
          </a:p>
        </p:txBody>
      </p:sp>
      <p:sp>
        <p:nvSpPr>
          <p:cNvPr id="3" name="Table Placeholder 2">
            <a:extLst>
              <a:ext uri="{FF2B5EF4-FFF2-40B4-BE49-F238E27FC236}">
                <a16:creationId xmlns:a16="http://schemas.microsoft.com/office/drawing/2014/main" id="{AD362C7F-5E7D-93F4-8765-F844F7D6B59C}"/>
              </a:ext>
            </a:extLst>
          </p:cNvPr>
          <p:cNvSpPr>
            <a:spLocks noGrp="1"/>
          </p:cNvSpPr>
          <p:nvPr>
            <p:ph type="tbl" sz="quarter" idx="10"/>
          </p:nvPr>
        </p:nvSpPr>
        <p:spPr>
          <a:xfrm>
            <a:off x="4815839" y="1938130"/>
            <a:ext cx="6909021" cy="4692045"/>
          </a:xfrm>
        </p:spPr>
        <p:txBody>
          <a:bodyPr/>
          <a:lstStyle/>
          <a:p>
            <a:r>
              <a:rPr lang="en-US" noProof="0" dirty="0"/>
              <a:t>Decision problems arise when trade-offs exist among options.</a:t>
            </a:r>
          </a:p>
          <a:p>
            <a:pPr lvl="1"/>
            <a:r>
              <a:rPr lang="en-US" sz="2000" noProof="0" dirty="0"/>
              <a:t>If one option clearly dominates in both benefits and downsides, analysis is unnecessary.</a:t>
            </a:r>
          </a:p>
          <a:p>
            <a:pPr lvl="1"/>
            <a:endParaRPr lang="en-US" noProof="0" dirty="0"/>
          </a:p>
          <a:p>
            <a:r>
              <a:rPr lang="en-US" noProof="0" dirty="0"/>
              <a:t>Clarify the objective</a:t>
            </a:r>
          </a:p>
          <a:p>
            <a:pPr lvl="1"/>
            <a:r>
              <a:rPr lang="en-US" sz="2000" noProof="0" dirty="0"/>
              <a:t>Maximize benefits?</a:t>
            </a:r>
          </a:p>
          <a:p>
            <a:pPr lvl="1"/>
            <a:r>
              <a:rPr lang="en-US" sz="2000" noProof="0" dirty="0"/>
              <a:t>Minimize downsides?</a:t>
            </a:r>
          </a:p>
          <a:p>
            <a:pPr lvl="1"/>
            <a:r>
              <a:rPr lang="en-US" sz="2000" noProof="0" dirty="0"/>
              <a:t>Maximize benefits relative to downsides?</a:t>
            </a:r>
          </a:p>
        </p:txBody>
      </p:sp>
      <p:sp>
        <p:nvSpPr>
          <p:cNvPr id="4" name="Slide Number Placeholder 3">
            <a:extLst>
              <a:ext uri="{FF2B5EF4-FFF2-40B4-BE49-F238E27FC236}">
                <a16:creationId xmlns:a16="http://schemas.microsoft.com/office/drawing/2014/main" id="{F015596A-379C-67C1-A0F5-99DF03082263}"/>
              </a:ext>
            </a:extLst>
          </p:cNvPr>
          <p:cNvSpPr>
            <a:spLocks noGrp="1"/>
          </p:cNvSpPr>
          <p:nvPr>
            <p:ph type="sldNum" sz="quarter" idx="4"/>
          </p:nvPr>
        </p:nvSpPr>
        <p:spPr/>
        <p:txBody>
          <a:bodyPr/>
          <a:lstStyle/>
          <a:p>
            <a:fld id="{B5CEABB6-07DC-46E8-9B57-56EC44A396E5}" type="slidenum">
              <a:rPr lang="en-US" noProof="0" smtClean="0"/>
              <a:pPr/>
              <a:t>10</a:t>
            </a:fld>
            <a:endParaRPr lang="en-US" noProof="0" dirty="0"/>
          </a:p>
        </p:txBody>
      </p:sp>
      <p:sp>
        <p:nvSpPr>
          <p:cNvPr id="5" name="Table Placeholder 4">
            <a:extLst>
              <a:ext uri="{FF2B5EF4-FFF2-40B4-BE49-F238E27FC236}">
                <a16:creationId xmlns:a16="http://schemas.microsoft.com/office/drawing/2014/main" id="{86B09111-ADF8-C3C7-1A7F-CC38B22F4146}"/>
              </a:ext>
            </a:extLst>
          </p:cNvPr>
          <p:cNvSpPr>
            <a:spLocks noGrp="1"/>
          </p:cNvSpPr>
          <p:nvPr>
            <p:ph type="tbl" sz="quarter" idx="11"/>
          </p:nvPr>
        </p:nvSpPr>
        <p:spPr/>
        <p:txBody>
          <a:bodyPr/>
          <a:lstStyle/>
          <a:p>
            <a:r>
              <a:rPr lang="en-US" noProof="0" dirty="0"/>
              <a:t>Explicitly identify the value to be optimized when benefits and downsides are in tension.</a:t>
            </a:r>
          </a:p>
        </p:txBody>
      </p:sp>
      <p:sp>
        <p:nvSpPr>
          <p:cNvPr id="40" name="Rectangle 39">
            <a:extLst>
              <a:ext uri="{FF2B5EF4-FFF2-40B4-BE49-F238E27FC236}">
                <a16:creationId xmlns:a16="http://schemas.microsoft.com/office/drawing/2014/main" id="{BC1A9F81-D811-37D8-4A3E-E37B7B243A89}"/>
              </a:ext>
            </a:extLst>
          </p:cNvPr>
          <p:cNvSpPr/>
          <p:nvPr/>
        </p:nvSpPr>
        <p:spPr>
          <a:xfrm>
            <a:off x="4694922" y="1938130"/>
            <a:ext cx="120917" cy="469204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34" name="Straight Connector 33">
            <a:extLst>
              <a:ext uri="{FF2B5EF4-FFF2-40B4-BE49-F238E27FC236}">
                <a16:creationId xmlns:a16="http://schemas.microsoft.com/office/drawing/2014/main" id="{C9E451A2-FBDC-7625-BC6B-613FC7A3B745}"/>
              </a:ext>
            </a:extLst>
          </p:cNvPr>
          <p:cNvCxnSpPr>
            <a:cxnSpLocks/>
            <a:stCxn id="38" idx="3"/>
            <a:endCxn id="40" idx="1"/>
          </p:cNvCxnSpPr>
          <p:nvPr/>
        </p:nvCxnSpPr>
        <p:spPr>
          <a:xfrm>
            <a:off x="3989294" y="2161372"/>
            <a:ext cx="705628" cy="2122781"/>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1F330CB7-476B-3CFA-840A-FDFD711B4C41}"/>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Design simulation model</a:t>
            </a:r>
          </a:p>
        </p:txBody>
      </p:sp>
      <p:sp>
        <p:nvSpPr>
          <p:cNvPr id="42" name="Rectangle 41">
            <a:extLst>
              <a:ext uri="{FF2B5EF4-FFF2-40B4-BE49-F238E27FC236}">
                <a16:creationId xmlns:a16="http://schemas.microsoft.com/office/drawing/2014/main" id="{6A36B519-BEB0-236D-8B7C-BFBCF1DF082E}"/>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Select simulation model</a:t>
            </a:r>
          </a:p>
        </p:txBody>
      </p:sp>
      <p:sp>
        <p:nvSpPr>
          <p:cNvPr id="43" name="Rectangle 42">
            <a:extLst>
              <a:ext uri="{FF2B5EF4-FFF2-40B4-BE49-F238E27FC236}">
                <a16:creationId xmlns:a16="http://schemas.microsoft.com/office/drawing/2014/main" id="{FBFFB104-2061-825D-6ED7-DD4011C5DB79}"/>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Define outcomes</a:t>
            </a:r>
          </a:p>
        </p:txBody>
      </p:sp>
      <p:sp>
        <p:nvSpPr>
          <p:cNvPr id="44" name="Rectangle 43">
            <a:extLst>
              <a:ext uri="{FF2B5EF4-FFF2-40B4-BE49-F238E27FC236}">
                <a16:creationId xmlns:a16="http://schemas.microsoft.com/office/drawing/2014/main" id="{AA408D1F-A11A-3A49-CE0C-DA713394245A}"/>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Select model inputs</a:t>
            </a:r>
          </a:p>
        </p:txBody>
      </p:sp>
      <p:sp>
        <p:nvSpPr>
          <p:cNvPr id="45" name="Rectangle 44">
            <a:extLst>
              <a:ext uri="{FF2B5EF4-FFF2-40B4-BE49-F238E27FC236}">
                <a16:creationId xmlns:a16="http://schemas.microsoft.com/office/drawing/2014/main" id="{B6F3D746-9376-70D9-0D95-70D3D42C351E}"/>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Simulate multiple decision options</a:t>
            </a:r>
          </a:p>
        </p:txBody>
      </p:sp>
      <p:sp>
        <p:nvSpPr>
          <p:cNvPr id="46" name="Rectangle 45">
            <a:extLst>
              <a:ext uri="{FF2B5EF4-FFF2-40B4-BE49-F238E27FC236}">
                <a16:creationId xmlns:a16="http://schemas.microsoft.com/office/drawing/2014/main" id="{AD9F53E7-705E-C7DC-2494-D478B3C5A028}"/>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Sensitivity and scenario analyses</a:t>
            </a:r>
          </a:p>
        </p:txBody>
      </p:sp>
      <p:sp>
        <p:nvSpPr>
          <p:cNvPr id="47" name="Rectangle 46">
            <a:extLst>
              <a:ext uri="{FF2B5EF4-FFF2-40B4-BE49-F238E27FC236}">
                <a16:creationId xmlns:a16="http://schemas.microsoft.com/office/drawing/2014/main" id="{0970A9C0-7DE8-B7B0-149D-DAF9D05713DE}"/>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Evaluate results</a:t>
            </a:r>
          </a:p>
        </p:txBody>
      </p:sp>
      <p:sp>
        <p:nvSpPr>
          <p:cNvPr id="48" name="Isosceles Triangle 47">
            <a:extLst>
              <a:ext uri="{FF2B5EF4-FFF2-40B4-BE49-F238E27FC236}">
                <a16:creationId xmlns:a16="http://schemas.microsoft.com/office/drawing/2014/main" id="{FBF79A98-D4D0-F79B-A0FD-A7E6BBB74C19}"/>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49" name="Isosceles Triangle 48">
            <a:extLst>
              <a:ext uri="{FF2B5EF4-FFF2-40B4-BE49-F238E27FC236}">
                <a16:creationId xmlns:a16="http://schemas.microsoft.com/office/drawing/2014/main" id="{4541DCB1-F6B9-0DEF-C149-8E714401FD65}"/>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0" name="Isosceles Triangle 49">
            <a:extLst>
              <a:ext uri="{FF2B5EF4-FFF2-40B4-BE49-F238E27FC236}">
                <a16:creationId xmlns:a16="http://schemas.microsoft.com/office/drawing/2014/main" id="{3B6748EE-4ECB-1E2A-B8CE-4EAA279CC546}"/>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1" name="Isosceles Triangle 50">
            <a:extLst>
              <a:ext uri="{FF2B5EF4-FFF2-40B4-BE49-F238E27FC236}">
                <a16:creationId xmlns:a16="http://schemas.microsoft.com/office/drawing/2014/main" id="{E1B9DD8A-FFB7-C2CA-9706-E33B1E3BE6AF}"/>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2" name="Isosceles Triangle 51">
            <a:extLst>
              <a:ext uri="{FF2B5EF4-FFF2-40B4-BE49-F238E27FC236}">
                <a16:creationId xmlns:a16="http://schemas.microsoft.com/office/drawing/2014/main" id="{2C6BDFA6-C9D7-D9C4-E643-C551803A72F1}"/>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3" name="Isosceles Triangle 52">
            <a:extLst>
              <a:ext uri="{FF2B5EF4-FFF2-40B4-BE49-F238E27FC236}">
                <a16:creationId xmlns:a16="http://schemas.microsoft.com/office/drawing/2014/main" id="{B330E026-CF49-B664-1C02-C8189D4CC21B}"/>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4" name="Isosceles Triangle 53">
            <a:extLst>
              <a:ext uri="{FF2B5EF4-FFF2-40B4-BE49-F238E27FC236}">
                <a16:creationId xmlns:a16="http://schemas.microsoft.com/office/drawing/2014/main" id="{8EF665FF-2F29-2E06-8DD7-F79F248472E1}"/>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3" name="Oval 62">
            <a:extLst>
              <a:ext uri="{FF2B5EF4-FFF2-40B4-BE49-F238E27FC236}">
                <a16:creationId xmlns:a16="http://schemas.microsoft.com/office/drawing/2014/main" id="{6453F178-72CA-20E8-A9DB-22D015F937BA}"/>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ea typeface="Meiryo UI" panose="020B0604030504040204" pitchFamily="50" charset="-128"/>
                <a:cs typeface="Arial" panose="020B0604020202020204" pitchFamily="34" charset="0"/>
              </a:rPr>
              <a:t>1</a:t>
            </a:r>
            <a:endParaRPr lang="en-US" b="1"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64" name="Oval 63">
            <a:extLst>
              <a:ext uri="{FF2B5EF4-FFF2-40B4-BE49-F238E27FC236}">
                <a16:creationId xmlns:a16="http://schemas.microsoft.com/office/drawing/2014/main" id="{1DB68240-A633-AA9B-9A46-39778C367607}"/>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2</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65" name="Oval 64">
            <a:extLst>
              <a:ext uri="{FF2B5EF4-FFF2-40B4-BE49-F238E27FC236}">
                <a16:creationId xmlns:a16="http://schemas.microsoft.com/office/drawing/2014/main" id="{967CDF73-70E5-FF90-AEFB-B4B2EE0DD6AC}"/>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3</a:t>
            </a:r>
          </a:p>
        </p:txBody>
      </p:sp>
      <p:sp>
        <p:nvSpPr>
          <p:cNvPr id="66" name="Oval 65">
            <a:extLst>
              <a:ext uri="{FF2B5EF4-FFF2-40B4-BE49-F238E27FC236}">
                <a16:creationId xmlns:a16="http://schemas.microsoft.com/office/drawing/2014/main" id="{0448FD86-D473-F750-2E63-D27A1F808D9A}"/>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4</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67" name="Oval 66">
            <a:extLst>
              <a:ext uri="{FF2B5EF4-FFF2-40B4-BE49-F238E27FC236}">
                <a16:creationId xmlns:a16="http://schemas.microsoft.com/office/drawing/2014/main" id="{5DD863F4-5265-A292-FDDD-819EB5413EDE}"/>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5</a:t>
            </a:r>
          </a:p>
        </p:txBody>
      </p:sp>
      <p:sp>
        <p:nvSpPr>
          <p:cNvPr id="68" name="Oval 67">
            <a:extLst>
              <a:ext uri="{FF2B5EF4-FFF2-40B4-BE49-F238E27FC236}">
                <a16:creationId xmlns:a16="http://schemas.microsoft.com/office/drawing/2014/main" id="{5A361159-FC69-B356-2497-649368F02280}"/>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6</a:t>
            </a:r>
          </a:p>
        </p:txBody>
      </p:sp>
      <p:sp>
        <p:nvSpPr>
          <p:cNvPr id="69" name="Oval 68">
            <a:extLst>
              <a:ext uri="{FF2B5EF4-FFF2-40B4-BE49-F238E27FC236}">
                <a16:creationId xmlns:a16="http://schemas.microsoft.com/office/drawing/2014/main" id="{C22F65B0-AFB0-477F-83D6-72ADC8C64520}"/>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7</a:t>
            </a:r>
          </a:p>
        </p:txBody>
      </p:sp>
      <p:sp>
        <p:nvSpPr>
          <p:cNvPr id="70" name="Oval 69">
            <a:extLst>
              <a:ext uri="{FF2B5EF4-FFF2-40B4-BE49-F238E27FC236}">
                <a16:creationId xmlns:a16="http://schemas.microsoft.com/office/drawing/2014/main" id="{A7797F57-A52A-3295-8CA0-D20913868628}"/>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8</a:t>
            </a:r>
          </a:p>
        </p:txBody>
      </p:sp>
      <p:grpSp>
        <p:nvGrpSpPr>
          <p:cNvPr id="71" name="Group 70">
            <a:extLst>
              <a:ext uri="{FF2B5EF4-FFF2-40B4-BE49-F238E27FC236}">
                <a16:creationId xmlns:a16="http://schemas.microsoft.com/office/drawing/2014/main" id="{E5D4A630-5115-C4BB-CA0B-4016035FBC4C}"/>
              </a:ext>
            </a:extLst>
          </p:cNvPr>
          <p:cNvGrpSpPr/>
          <p:nvPr/>
        </p:nvGrpSpPr>
        <p:grpSpPr>
          <a:xfrm>
            <a:off x="467139" y="108959"/>
            <a:ext cx="4197304" cy="307297"/>
            <a:chOff x="562270" y="127168"/>
            <a:chExt cx="4197304" cy="307297"/>
          </a:xfrm>
        </p:grpSpPr>
        <p:sp>
          <p:nvSpPr>
            <p:cNvPr id="72" name="Arrow: Pentagon 71">
              <a:extLst>
                <a:ext uri="{FF2B5EF4-FFF2-40B4-BE49-F238E27FC236}">
                  <a16:creationId xmlns:a16="http://schemas.microsoft.com/office/drawing/2014/main" id="{D38A1293-6319-0562-9A4A-16F8276E006E}"/>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73" name="Arrow: Pentagon 72">
              <a:extLst>
                <a:ext uri="{FF2B5EF4-FFF2-40B4-BE49-F238E27FC236}">
                  <a16:creationId xmlns:a16="http://schemas.microsoft.com/office/drawing/2014/main" id="{96332FC0-3FC4-96B9-C3D2-696D9E64640D}"/>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74" name="Arrow: Pentagon 73">
              <a:extLst>
                <a:ext uri="{FF2B5EF4-FFF2-40B4-BE49-F238E27FC236}">
                  <a16:creationId xmlns:a16="http://schemas.microsoft.com/office/drawing/2014/main" id="{E33D0EF8-5E58-D1B9-0F86-A2F393A3DA27}"/>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2074105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5A08C-DBD3-EDC7-9879-9CC6935352BE}"/>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DCAAE0D1-E3A7-5634-7A22-3E9B42CE3AE6}"/>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Define the problem and objectives</a:t>
            </a:r>
          </a:p>
        </p:txBody>
      </p:sp>
      <p:sp>
        <p:nvSpPr>
          <p:cNvPr id="2" name="Title 1">
            <a:extLst>
              <a:ext uri="{FF2B5EF4-FFF2-40B4-BE49-F238E27FC236}">
                <a16:creationId xmlns:a16="http://schemas.microsoft.com/office/drawing/2014/main" id="{F3A198DA-6FDB-124B-3071-BEFC207B9CF5}"/>
              </a:ext>
            </a:extLst>
          </p:cNvPr>
          <p:cNvSpPr>
            <a:spLocks noGrp="1"/>
          </p:cNvSpPr>
          <p:nvPr>
            <p:ph type="title"/>
          </p:nvPr>
        </p:nvSpPr>
        <p:spPr/>
        <p:txBody>
          <a:bodyPr/>
          <a:lstStyle/>
          <a:p>
            <a:r>
              <a:rPr lang="en-US" noProof="0" dirty="0"/>
              <a:t>Step① Defining the Problem and Objectives</a:t>
            </a:r>
          </a:p>
        </p:txBody>
      </p:sp>
      <p:sp>
        <p:nvSpPr>
          <p:cNvPr id="3" name="Table Placeholder 2">
            <a:extLst>
              <a:ext uri="{FF2B5EF4-FFF2-40B4-BE49-F238E27FC236}">
                <a16:creationId xmlns:a16="http://schemas.microsoft.com/office/drawing/2014/main" id="{4B69B52F-6C64-6F33-6CDD-03000C8D01C7}"/>
              </a:ext>
            </a:extLst>
          </p:cNvPr>
          <p:cNvSpPr>
            <a:spLocks noGrp="1"/>
          </p:cNvSpPr>
          <p:nvPr>
            <p:ph type="tbl" sz="quarter" idx="10"/>
          </p:nvPr>
        </p:nvSpPr>
        <p:spPr>
          <a:xfrm>
            <a:off x="4815839" y="1938130"/>
            <a:ext cx="6909021" cy="4692045"/>
          </a:xfrm>
        </p:spPr>
        <p:txBody>
          <a:bodyPr/>
          <a:lstStyle/>
          <a:p>
            <a:r>
              <a:rPr lang="en-US" noProof="0" dirty="0"/>
              <a:t>Decision problems arise when trade-offs exist among options.</a:t>
            </a:r>
          </a:p>
          <a:p>
            <a:pPr lvl="1"/>
            <a:r>
              <a:rPr lang="en-US" sz="2000" noProof="0" dirty="0"/>
              <a:t>New drug (high efficacy, high cost) vs. existing drug (lower efficacy, lower cost)</a:t>
            </a:r>
          </a:p>
          <a:p>
            <a:pPr lvl="1"/>
            <a:r>
              <a:rPr lang="en-US" sz="2000" noProof="0" dirty="0"/>
              <a:t>Early cancer surgery (curative potential, high invasiveness) vs. watchful waiting</a:t>
            </a:r>
          </a:p>
          <a:p>
            <a:pPr lvl="1"/>
            <a:r>
              <a:rPr lang="en-US" sz="2000" noProof="0" dirty="0"/>
              <a:t>Additional pediatric vaccination (prevention, side effects) vs. no vaccination</a:t>
            </a:r>
            <a:endParaRPr lang="en-US" noProof="0" dirty="0"/>
          </a:p>
          <a:p>
            <a:r>
              <a:rPr lang="en-US" noProof="0" dirty="0"/>
              <a:t>Clarify the objective</a:t>
            </a:r>
          </a:p>
          <a:p>
            <a:pPr lvl="1"/>
            <a:r>
              <a:rPr lang="en-US" sz="2000" noProof="0" dirty="0"/>
              <a:t>Maximize benefits? - Extend life expectancy; improve quality of life (QoL)</a:t>
            </a:r>
          </a:p>
          <a:p>
            <a:pPr lvl="1"/>
            <a:r>
              <a:rPr lang="en-US" sz="2000" noProof="0" dirty="0"/>
              <a:t>Minimize downsides? - Reduce the number of infections; contain costs</a:t>
            </a:r>
          </a:p>
          <a:p>
            <a:pPr lvl="1"/>
            <a:r>
              <a:rPr lang="en-US" sz="2000" noProof="0" dirty="0"/>
              <a:t>Maximize benefits relative to downsides? - Achieve the greatest gain in life expectancy per dollar spent</a:t>
            </a:r>
          </a:p>
        </p:txBody>
      </p:sp>
      <p:sp>
        <p:nvSpPr>
          <p:cNvPr id="4" name="Slide Number Placeholder 3">
            <a:extLst>
              <a:ext uri="{FF2B5EF4-FFF2-40B4-BE49-F238E27FC236}">
                <a16:creationId xmlns:a16="http://schemas.microsoft.com/office/drawing/2014/main" id="{6C834143-A81E-E565-24FF-10E29C146CC6}"/>
              </a:ext>
            </a:extLst>
          </p:cNvPr>
          <p:cNvSpPr>
            <a:spLocks noGrp="1"/>
          </p:cNvSpPr>
          <p:nvPr>
            <p:ph type="sldNum" sz="quarter" idx="4"/>
          </p:nvPr>
        </p:nvSpPr>
        <p:spPr/>
        <p:txBody>
          <a:bodyPr/>
          <a:lstStyle/>
          <a:p>
            <a:fld id="{B5CEABB6-07DC-46E8-9B57-56EC44A396E5}" type="slidenum">
              <a:rPr lang="en-US" noProof="0" smtClean="0"/>
              <a:pPr/>
              <a:t>11</a:t>
            </a:fld>
            <a:endParaRPr lang="en-US" noProof="0" dirty="0"/>
          </a:p>
        </p:txBody>
      </p:sp>
      <p:sp>
        <p:nvSpPr>
          <p:cNvPr id="5" name="Table Placeholder 4">
            <a:extLst>
              <a:ext uri="{FF2B5EF4-FFF2-40B4-BE49-F238E27FC236}">
                <a16:creationId xmlns:a16="http://schemas.microsoft.com/office/drawing/2014/main" id="{196AB48A-4882-7384-F0F7-BE229416CFFE}"/>
              </a:ext>
            </a:extLst>
          </p:cNvPr>
          <p:cNvSpPr>
            <a:spLocks noGrp="1"/>
          </p:cNvSpPr>
          <p:nvPr>
            <p:ph type="tbl" sz="quarter" idx="11"/>
          </p:nvPr>
        </p:nvSpPr>
        <p:spPr/>
        <p:txBody>
          <a:bodyPr/>
          <a:lstStyle/>
          <a:p>
            <a:r>
              <a:rPr lang="en-US" noProof="0" dirty="0"/>
              <a:t>Explicitly identify the value to be optimized when benefits and downsides are in tension.</a:t>
            </a:r>
          </a:p>
        </p:txBody>
      </p:sp>
      <p:sp>
        <p:nvSpPr>
          <p:cNvPr id="40" name="Rectangle 39">
            <a:extLst>
              <a:ext uri="{FF2B5EF4-FFF2-40B4-BE49-F238E27FC236}">
                <a16:creationId xmlns:a16="http://schemas.microsoft.com/office/drawing/2014/main" id="{BF281611-5448-5E73-4A32-16D0CD0FEBB9}"/>
              </a:ext>
            </a:extLst>
          </p:cNvPr>
          <p:cNvSpPr/>
          <p:nvPr/>
        </p:nvSpPr>
        <p:spPr>
          <a:xfrm>
            <a:off x="4694922" y="1938130"/>
            <a:ext cx="120917" cy="469204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34" name="Straight Connector 33">
            <a:extLst>
              <a:ext uri="{FF2B5EF4-FFF2-40B4-BE49-F238E27FC236}">
                <a16:creationId xmlns:a16="http://schemas.microsoft.com/office/drawing/2014/main" id="{EF093EAC-9CD5-7E06-1B29-BE2887C2432D}"/>
              </a:ext>
            </a:extLst>
          </p:cNvPr>
          <p:cNvCxnSpPr>
            <a:cxnSpLocks/>
            <a:stCxn id="38" idx="3"/>
            <a:endCxn id="40" idx="1"/>
          </p:cNvCxnSpPr>
          <p:nvPr/>
        </p:nvCxnSpPr>
        <p:spPr>
          <a:xfrm>
            <a:off x="3989294" y="2161372"/>
            <a:ext cx="705628" cy="2122781"/>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BDA42971-D2DD-0625-DE78-1BF7EDF06385}"/>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Design simulation model</a:t>
            </a:r>
          </a:p>
        </p:txBody>
      </p:sp>
      <p:sp>
        <p:nvSpPr>
          <p:cNvPr id="42" name="Rectangle 41">
            <a:extLst>
              <a:ext uri="{FF2B5EF4-FFF2-40B4-BE49-F238E27FC236}">
                <a16:creationId xmlns:a16="http://schemas.microsoft.com/office/drawing/2014/main" id="{0558485C-5151-02B1-10E9-D84391112D35}"/>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Select simulation model</a:t>
            </a:r>
          </a:p>
        </p:txBody>
      </p:sp>
      <p:sp>
        <p:nvSpPr>
          <p:cNvPr id="43" name="Rectangle 42">
            <a:extLst>
              <a:ext uri="{FF2B5EF4-FFF2-40B4-BE49-F238E27FC236}">
                <a16:creationId xmlns:a16="http://schemas.microsoft.com/office/drawing/2014/main" id="{AC041033-BF42-BE4B-7347-BF34CF466FC7}"/>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Define outcomes</a:t>
            </a:r>
          </a:p>
        </p:txBody>
      </p:sp>
      <p:sp>
        <p:nvSpPr>
          <p:cNvPr id="44" name="Rectangle 43">
            <a:extLst>
              <a:ext uri="{FF2B5EF4-FFF2-40B4-BE49-F238E27FC236}">
                <a16:creationId xmlns:a16="http://schemas.microsoft.com/office/drawing/2014/main" id="{4269B5F4-6768-049D-CC5F-7C83EB232014}"/>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Select model inputs</a:t>
            </a:r>
          </a:p>
        </p:txBody>
      </p:sp>
      <p:sp>
        <p:nvSpPr>
          <p:cNvPr id="45" name="Rectangle 44">
            <a:extLst>
              <a:ext uri="{FF2B5EF4-FFF2-40B4-BE49-F238E27FC236}">
                <a16:creationId xmlns:a16="http://schemas.microsoft.com/office/drawing/2014/main" id="{D8F011FD-9631-3748-B6D3-E5D60B3477C7}"/>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Simulate multiple decision options</a:t>
            </a:r>
          </a:p>
        </p:txBody>
      </p:sp>
      <p:sp>
        <p:nvSpPr>
          <p:cNvPr id="46" name="Rectangle 45">
            <a:extLst>
              <a:ext uri="{FF2B5EF4-FFF2-40B4-BE49-F238E27FC236}">
                <a16:creationId xmlns:a16="http://schemas.microsoft.com/office/drawing/2014/main" id="{F5CD8987-D055-7B50-9B4D-4FE9884AEAA6}"/>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Sensitivity and scenario analyses</a:t>
            </a:r>
          </a:p>
        </p:txBody>
      </p:sp>
      <p:sp>
        <p:nvSpPr>
          <p:cNvPr id="47" name="Rectangle 46">
            <a:extLst>
              <a:ext uri="{FF2B5EF4-FFF2-40B4-BE49-F238E27FC236}">
                <a16:creationId xmlns:a16="http://schemas.microsoft.com/office/drawing/2014/main" id="{50046513-1107-015B-1728-FB92EBF4A953}"/>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Evaluate results</a:t>
            </a:r>
          </a:p>
        </p:txBody>
      </p:sp>
      <p:sp>
        <p:nvSpPr>
          <p:cNvPr id="48" name="Isosceles Triangle 47">
            <a:extLst>
              <a:ext uri="{FF2B5EF4-FFF2-40B4-BE49-F238E27FC236}">
                <a16:creationId xmlns:a16="http://schemas.microsoft.com/office/drawing/2014/main" id="{003AFC9D-6263-4FB4-F84E-17746DEB2B7D}"/>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49" name="Isosceles Triangle 48">
            <a:extLst>
              <a:ext uri="{FF2B5EF4-FFF2-40B4-BE49-F238E27FC236}">
                <a16:creationId xmlns:a16="http://schemas.microsoft.com/office/drawing/2014/main" id="{3D140482-B339-1A8C-3E2E-6B728E1DA789}"/>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0" name="Isosceles Triangle 49">
            <a:extLst>
              <a:ext uri="{FF2B5EF4-FFF2-40B4-BE49-F238E27FC236}">
                <a16:creationId xmlns:a16="http://schemas.microsoft.com/office/drawing/2014/main" id="{076C9864-4577-4559-CD48-2F68DB1277C9}"/>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1" name="Isosceles Triangle 50">
            <a:extLst>
              <a:ext uri="{FF2B5EF4-FFF2-40B4-BE49-F238E27FC236}">
                <a16:creationId xmlns:a16="http://schemas.microsoft.com/office/drawing/2014/main" id="{292B37C8-67F3-CEE3-59D6-07D45BACC480}"/>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2" name="Isosceles Triangle 51">
            <a:extLst>
              <a:ext uri="{FF2B5EF4-FFF2-40B4-BE49-F238E27FC236}">
                <a16:creationId xmlns:a16="http://schemas.microsoft.com/office/drawing/2014/main" id="{ACE28650-5423-BE54-968E-1AA0E8C72DF6}"/>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3" name="Isosceles Triangle 52">
            <a:extLst>
              <a:ext uri="{FF2B5EF4-FFF2-40B4-BE49-F238E27FC236}">
                <a16:creationId xmlns:a16="http://schemas.microsoft.com/office/drawing/2014/main" id="{B97DD491-2EF4-BCCE-37EF-CC2837F7CC18}"/>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4" name="Isosceles Triangle 53">
            <a:extLst>
              <a:ext uri="{FF2B5EF4-FFF2-40B4-BE49-F238E27FC236}">
                <a16:creationId xmlns:a16="http://schemas.microsoft.com/office/drawing/2014/main" id="{0F877FE6-2EDE-C1CF-DA87-C52492E55750}"/>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 name="Oval 5">
            <a:extLst>
              <a:ext uri="{FF2B5EF4-FFF2-40B4-BE49-F238E27FC236}">
                <a16:creationId xmlns:a16="http://schemas.microsoft.com/office/drawing/2014/main" id="{74D4273B-B22E-89C2-9A8B-EE30876356FF}"/>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ea typeface="Meiryo UI" panose="020B0604030504040204" pitchFamily="50" charset="-128"/>
                <a:cs typeface="Arial" panose="020B0604020202020204" pitchFamily="34" charset="0"/>
              </a:rPr>
              <a:t>1</a:t>
            </a:r>
            <a:endParaRPr lang="en-US" b="1"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7" name="Oval 6">
            <a:extLst>
              <a:ext uri="{FF2B5EF4-FFF2-40B4-BE49-F238E27FC236}">
                <a16:creationId xmlns:a16="http://schemas.microsoft.com/office/drawing/2014/main" id="{A47D34EE-D943-AE33-BBA3-F0428963AEA4}"/>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2</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8" name="Oval 7">
            <a:extLst>
              <a:ext uri="{FF2B5EF4-FFF2-40B4-BE49-F238E27FC236}">
                <a16:creationId xmlns:a16="http://schemas.microsoft.com/office/drawing/2014/main" id="{3C46B18B-BF4F-8B27-A397-8111857C530A}"/>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3</a:t>
            </a:r>
          </a:p>
        </p:txBody>
      </p:sp>
      <p:sp>
        <p:nvSpPr>
          <p:cNvPr id="9" name="Oval 8">
            <a:extLst>
              <a:ext uri="{FF2B5EF4-FFF2-40B4-BE49-F238E27FC236}">
                <a16:creationId xmlns:a16="http://schemas.microsoft.com/office/drawing/2014/main" id="{F1E3762F-BDD5-DBBA-0901-7D02DD8E723F}"/>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4</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10" name="Oval 9">
            <a:extLst>
              <a:ext uri="{FF2B5EF4-FFF2-40B4-BE49-F238E27FC236}">
                <a16:creationId xmlns:a16="http://schemas.microsoft.com/office/drawing/2014/main" id="{3C8A8527-24E9-9F40-F310-92A80998B4BA}"/>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5</a:t>
            </a:r>
          </a:p>
        </p:txBody>
      </p:sp>
      <p:sp>
        <p:nvSpPr>
          <p:cNvPr id="11" name="Oval 10">
            <a:extLst>
              <a:ext uri="{FF2B5EF4-FFF2-40B4-BE49-F238E27FC236}">
                <a16:creationId xmlns:a16="http://schemas.microsoft.com/office/drawing/2014/main" id="{B5DF663B-D277-A324-95DC-F82ACFD0DDD2}"/>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6</a:t>
            </a:r>
          </a:p>
        </p:txBody>
      </p:sp>
      <p:sp>
        <p:nvSpPr>
          <p:cNvPr id="12" name="Oval 11">
            <a:extLst>
              <a:ext uri="{FF2B5EF4-FFF2-40B4-BE49-F238E27FC236}">
                <a16:creationId xmlns:a16="http://schemas.microsoft.com/office/drawing/2014/main" id="{27C75A18-BA27-6EAB-4BB9-B2B651F7885D}"/>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7</a:t>
            </a:r>
          </a:p>
        </p:txBody>
      </p:sp>
      <p:sp>
        <p:nvSpPr>
          <p:cNvPr id="13" name="Oval 12">
            <a:extLst>
              <a:ext uri="{FF2B5EF4-FFF2-40B4-BE49-F238E27FC236}">
                <a16:creationId xmlns:a16="http://schemas.microsoft.com/office/drawing/2014/main" id="{0D5A3C92-2339-D72A-8046-9D9B953E94F2}"/>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8</a:t>
            </a:r>
          </a:p>
        </p:txBody>
      </p:sp>
      <p:grpSp>
        <p:nvGrpSpPr>
          <p:cNvPr id="14" name="Group 13">
            <a:extLst>
              <a:ext uri="{FF2B5EF4-FFF2-40B4-BE49-F238E27FC236}">
                <a16:creationId xmlns:a16="http://schemas.microsoft.com/office/drawing/2014/main" id="{1DFBBBEA-1693-E85A-42AC-E4D6B1E095A2}"/>
              </a:ext>
            </a:extLst>
          </p:cNvPr>
          <p:cNvGrpSpPr/>
          <p:nvPr/>
        </p:nvGrpSpPr>
        <p:grpSpPr>
          <a:xfrm>
            <a:off x="467139" y="108959"/>
            <a:ext cx="4197304" cy="307297"/>
            <a:chOff x="562270" y="127168"/>
            <a:chExt cx="4197304" cy="307297"/>
          </a:xfrm>
        </p:grpSpPr>
        <p:sp>
          <p:nvSpPr>
            <p:cNvPr id="15" name="Arrow: Pentagon 14">
              <a:extLst>
                <a:ext uri="{FF2B5EF4-FFF2-40B4-BE49-F238E27FC236}">
                  <a16:creationId xmlns:a16="http://schemas.microsoft.com/office/drawing/2014/main" id="{C012F163-0196-F3DC-CE91-20A028AB1A63}"/>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6" name="Arrow: Pentagon 15">
              <a:extLst>
                <a:ext uri="{FF2B5EF4-FFF2-40B4-BE49-F238E27FC236}">
                  <a16:creationId xmlns:a16="http://schemas.microsoft.com/office/drawing/2014/main" id="{8CABF988-64C1-BA2B-D908-C3AC91C97E23}"/>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7" name="Arrow: Pentagon 16">
              <a:extLst>
                <a:ext uri="{FF2B5EF4-FFF2-40B4-BE49-F238E27FC236}">
                  <a16:creationId xmlns:a16="http://schemas.microsoft.com/office/drawing/2014/main" id="{BD7705ED-6DB6-A3BD-5E80-3F2294BE1A43}"/>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1590590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2F8E987-1D5B-3C89-E039-D8D8FCAA5122}"/>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E677BDB4-22F4-A919-7C62-94F343B4EDCB}"/>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Define the problem and objectives</a:t>
            </a:r>
          </a:p>
        </p:txBody>
      </p:sp>
      <p:sp>
        <p:nvSpPr>
          <p:cNvPr id="39" name="Rectangle 38">
            <a:extLst>
              <a:ext uri="{FF2B5EF4-FFF2-40B4-BE49-F238E27FC236}">
                <a16:creationId xmlns:a16="http://schemas.microsoft.com/office/drawing/2014/main" id="{8993F0CE-FC8C-7AB1-BE8D-D3F49ABEB1D2}"/>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Design simulation model</a:t>
            </a:r>
          </a:p>
        </p:txBody>
      </p:sp>
      <p:sp>
        <p:nvSpPr>
          <p:cNvPr id="42" name="Rectangle 41">
            <a:extLst>
              <a:ext uri="{FF2B5EF4-FFF2-40B4-BE49-F238E27FC236}">
                <a16:creationId xmlns:a16="http://schemas.microsoft.com/office/drawing/2014/main" id="{7C9BF560-B256-EFF7-991F-7EFFD931ADB0}"/>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Select simulation model</a:t>
            </a:r>
          </a:p>
        </p:txBody>
      </p:sp>
      <p:sp>
        <p:nvSpPr>
          <p:cNvPr id="43" name="Rectangle 42">
            <a:extLst>
              <a:ext uri="{FF2B5EF4-FFF2-40B4-BE49-F238E27FC236}">
                <a16:creationId xmlns:a16="http://schemas.microsoft.com/office/drawing/2014/main" id="{292F24F0-8255-08B1-A264-21B38EB5598A}"/>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Define outcomes</a:t>
            </a:r>
          </a:p>
        </p:txBody>
      </p:sp>
      <p:sp>
        <p:nvSpPr>
          <p:cNvPr id="44" name="Rectangle 43">
            <a:extLst>
              <a:ext uri="{FF2B5EF4-FFF2-40B4-BE49-F238E27FC236}">
                <a16:creationId xmlns:a16="http://schemas.microsoft.com/office/drawing/2014/main" id="{FF7925C6-D844-712B-FD6D-1923F3223862}"/>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Select model inputs</a:t>
            </a:r>
          </a:p>
        </p:txBody>
      </p:sp>
      <p:sp>
        <p:nvSpPr>
          <p:cNvPr id="45" name="Rectangle 44">
            <a:extLst>
              <a:ext uri="{FF2B5EF4-FFF2-40B4-BE49-F238E27FC236}">
                <a16:creationId xmlns:a16="http://schemas.microsoft.com/office/drawing/2014/main" id="{8432496B-DEE6-5D2A-4958-FA4BF3E5175D}"/>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Simulate multiple decision options</a:t>
            </a:r>
          </a:p>
        </p:txBody>
      </p:sp>
      <p:sp>
        <p:nvSpPr>
          <p:cNvPr id="46" name="Rectangle 45">
            <a:extLst>
              <a:ext uri="{FF2B5EF4-FFF2-40B4-BE49-F238E27FC236}">
                <a16:creationId xmlns:a16="http://schemas.microsoft.com/office/drawing/2014/main" id="{C692D5CA-CE1D-B537-C0D1-DBB77BA57D77}"/>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Sensitivity and scenario analyses</a:t>
            </a:r>
          </a:p>
        </p:txBody>
      </p:sp>
      <p:sp>
        <p:nvSpPr>
          <p:cNvPr id="47" name="Rectangle 46">
            <a:extLst>
              <a:ext uri="{FF2B5EF4-FFF2-40B4-BE49-F238E27FC236}">
                <a16:creationId xmlns:a16="http://schemas.microsoft.com/office/drawing/2014/main" id="{AB718457-D8C4-C774-4CC1-36280393C931}"/>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Evaluate results</a:t>
            </a:r>
          </a:p>
        </p:txBody>
      </p:sp>
      <p:sp>
        <p:nvSpPr>
          <p:cNvPr id="48" name="Isosceles Triangle 47">
            <a:extLst>
              <a:ext uri="{FF2B5EF4-FFF2-40B4-BE49-F238E27FC236}">
                <a16:creationId xmlns:a16="http://schemas.microsoft.com/office/drawing/2014/main" id="{ABC33CA3-9B7D-0494-8787-DD96D4DC16E5}"/>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49" name="Isosceles Triangle 48">
            <a:extLst>
              <a:ext uri="{FF2B5EF4-FFF2-40B4-BE49-F238E27FC236}">
                <a16:creationId xmlns:a16="http://schemas.microsoft.com/office/drawing/2014/main" id="{DB62CD07-D691-D0D2-D77E-1E97BD7147B5}"/>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0" name="Isosceles Triangle 49">
            <a:extLst>
              <a:ext uri="{FF2B5EF4-FFF2-40B4-BE49-F238E27FC236}">
                <a16:creationId xmlns:a16="http://schemas.microsoft.com/office/drawing/2014/main" id="{8B4516F0-24ED-38BF-57CF-7BAA94BB2D9E}"/>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1" name="Isosceles Triangle 50">
            <a:extLst>
              <a:ext uri="{FF2B5EF4-FFF2-40B4-BE49-F238E27FC236}">
                <a16:creationId xmlns:a16="http://schemas.microsoft.com/office/drawing/2014/main" id="{7DB99FE1-44CB-3E61-2E40-7EE51AC0DB58}"/>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2" name="Isosceles Triangle 51">
            <a:extLst>
              <a:ext uri="{FF2B5EF4-FFF2-40B4-BE49-F238E27FC236}">
                <a16:creationId xmlns:a16="http://schemas.microsoft.com/office/drawing/2014/main" id="{EB29FF0D-C8F5-0AFF-DCB5-880F5D97192D}"/>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3" name="Isosceles Triangle 52">
            <a:extLst>
              <a:ext uri="{FF2B5EF4-FFF2-40B4-BE49-F238E27FC236}">
                <a16:creationId xmlns:a16="http://schemas.microsoft.com/office/drawing/2014/main" id="{8F7F56F4-637A-8E15-50C6-27F2D929974A}"/>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4" name="Isosceles Triangle 53">
            <a:extLst>
              <a:ext uri="{FF2B5EF4-FFF2-40B4-BE49-F238E27FC236}">
                <a16:creationId xmlns:a16="http://schemas.microsoft.com/office/drawing/2014/main" id="{94C903A5-3438-8EFD-E84C-295F58657281}"/>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 name="Title 1">
            <a:extLst>
              <a:ext uri="{FF2B5EF4-FFF2-40B4-BE49-F238E27FC236}">
                <a16:creationId xmlns:a16="http://schemas.microsoft.com/office/drawing/2014/main" id="{736F51C4-E879-E519-2CB1-975170C4505C}"/>
              </a:ext>
            </a:extLst>
          </p:cNvPr>
          <p:cNvSpPr>
            <a:spLocks noGrp="1"/>
          </p:cNvSpPr>
          <p:nvPr>
            <p:ph type="title"/>
          </p:nvPr>
        </p:nvSpPr>
        <p:spPr/>
        <p:txBody>
          <a:bodyPr/>
          <a:lstStyle/>
          <a:p>
            <a:r>
              <a:rPr lang="en-US" noProof="0" dirty="0"/>
              <a:t>Step② Defining Outcomes</a:t>
            </a:r>
          </a:p>
        </p:txBody>
      </p:sp>
      <p:sp>
        <p:nvSpPr>
          <p:cNvPr id="3" name="Table Placeholder 2">
            <a:extLst>
              <a:ext uri="{FF2B5EF4-FFF2-40B4-BE49-F238E27FC236}">
                <a16:creationId xmlns:a16="http://schemas.microsoft.com/office/drawing/2014/main" id="{82F7BB4F-B956-4E93-2A63-F74D14950D98}"/>
              </a:ext>
            </a:extLst>
          </p:cNvPr>
          <p:cNvSpPr>
            <a:spLocks noGrp="1"/>
          </p:cNvSpPr>
          <p:nvPr>
            <p:ph type="tbl" sz="quarter" idx="10"/>
          </p:nvPr>
        </p:nvSpPr>
        <p:spPr>
          <a:xfrm>
            <a:off x="4815839" y="1938130"/>
            <a:ext cx="6909021" cy="4692045"/>
          </a:xfrm>
        </p:spPr>
        <p:txBody>
          <a:bodyPr/>
          <a:lstStyle/>
          <a:p>
            <a:r>
              <a:rPr lang="en-US" sz="2000" noProof="0" dirty="0"/>
              <a:t>Quantifying effects</a:t>
            </a:r>
          </a:p>
          <a:p>
            <a:pPr lvl="1"/>
            <a:r>
              <a:rPr lang="en-US" sz="1800" noProof="0" dirty="0"/>
              <a:t>Binary outcomes: alive/dead, cured/not cured</a:t>
            </a:r>
          </a:p>
          <a:p>
            <a:pPr lvl="1"/>
            <a:r>
              <a:rPr lang="en-US" sz="1800" noProof="0" dirty="0"/>
              <a:t>Continuous outcomes: survival years, quality of life (QoL), satisfaction</a:t>
            </a:r>
          </a:p>
          <a:p>
            <a:pPr lvl="1"/>
            <a:r>
              <a:rPr lang="en-US" sz="1800" b="1" noProof="0" dirty="0"/>
              <a:t>Multidimensional outcomes: incorporating both quality and quantity</a:t>
            </a:r>
          </a:p>
          <a:p>
            <a:r>
              <a:rPr lang="en-US" sz="2000" noProof="0" dirty="0"/>
              <a:t>Quantifying costs</a:t>
            </a:r>
          </a:p>
          <a:p>
            <a:pPr lvl="1"/>
            <a:r>
              <a:rPr lang="en-US" sz="1800" noProof="0" dirty="0"/>
              <a:t>Perspective matters:</a:t>
            </a:r>
          </a:p>
          <a:p>
            <a:pPr lvl="2"/>
            <a:r>
              <a:rPr lang="en-US" sz="1800" noProof="0" dirty="0"/>
              <a:t>Decision-maker (e.g., provider, insurer)</a:t>
            </a:r>
          </a:p>
          <a:p>
            <a:pPr lvl="2"/>
            <a:r>
              <a:rPr lang="en-US" sz="1800" noProof="0" dirty="0"/>
              <a:t>Affected individuals (patients, families)</a:t>
            </a:r>
          </a:p>
          <a:p>
            <a:pPr lvl="2"/>
            <a:r>
              <a:rPr lang="en-US" sz="1800" noProof="0" dirty="0"/>
              <a:t>Society as a whole</a:t>
            </a:r>
          </a:p>
          <a:p>
            <a:pPr lvl="1"/>
            <a:r>
              <a:rPr lang="en-US" sz="1800" noProof="0" dirty="0"/>
              <a:t>Types of costs:</a:t>
            </a:r>
          </a:p>
          <a:p>
            <a:pPr lvl="2"/>
            <a:r>
              <a:rPr lang="en-US" sz="1800" noProof="0" dirty="0"/>
              <a:t>Direct: medical care, medications, transportation</a:t>
            </a:r>
          </a:p>
          <a:p>
            <a:pPr lvl="2"/>
            <a:r>
              <a:rPr lang="en-US" sz="1800" noProof="0" dirty="0"/>
              <a:t>Indirect: productivity loss, caregiving burden</a:t>
            </a:r>
          </a:p>
          <a:p>
            <a:pPr lvl="2"/>
            <a:r>
              <a:rPr lang="en-US" sz="1800" noProof="0" dirty="0"/>
              <a:t>Intangible: time, psychological burden, opportunity cost</a:t>
            </a:r>
          </a:p>
          <a:p>
            <a:pPr lvl="2"/>
            <a:endParaRPr lang="en-US" noProof="0" dirty="0"/>
          </a:p>
        </p:txBody>
      </p:sp>
      <p:sp>
        <p:nvSpPr>
          <p:cNvPr id="4" name="Slide Number Placeholder 3">
            <a:extLst>
              <a:ext uri="{FF2B5EF4-FFF2-40B4-BE49-F238E27FC236}">
                <a16:creationId xmlns:a16="http://schemas.microsoft.com/office/drawing/2014/main" id="{B9DF17E4-4555-C085-5E39-A4FC2F558EC1}"/>
              </a:ext>
            </a:extLst>
          </p:cNvPr>
          <p:cNvSpPr>
            <a:spLocks noGrp="1"/>
          </p:cNvSpPr>
          <p:nvPr>
            <p:ph type="sldNum" sz="quarter" idx="4"/>
          </p:nvPr>
        </p:nvSpPr>
        <p:spPr/>
        <p:txBody>
          <a:bodyPr/>
          <a:lstStyle/>
          <a:p>
            <a:fld id="{B5CEABB6-07DC-46E8-9B57-56EC44A396E5}" type="slidenum">
              <a:rPr lang="en-US" noProof="0" smtClean="0"/>
              <a:pPr/>
              <a:t>12</a:t>
            </a:fld>
            <a:endParaRPr lang="en-US" noProof="0" dirty="0"/>
          </a:p>
        </p:txBody>
      </p:sp>
      <p:sp>
        <p:nvSpPr>
          <p:cNvPr id="5" name="Table Placeholder 4">
            <a:extLst>
              <a:ext uri="{FF2B5EF4-FFF2-40B4-BE49-F238E27FC236}">
                <a16:creationId xmlns:a16="http://schemas.microsoft.com/office/drawing/2014/main" id="{640A8C39-9020-3F80-8914-DF3E1EF99EF4}"/>
              </a:ext>
            </a:extLst>
          </p:cNvPr>
          <p:cNvSpPr>
            <a:spLocks noGrp="1"/>
          </p:cNvSpPr>
          <p:nvPr>
            <p:ph type="tbl" sz="quarter" idx="11"/>
          </p:nvPr>
        </p:nvSpPr>
        <p:spPr/>
        <p:txBody>
          <a:bodyPr/>
          <a:lstStyle/>
          <a:p>
            <a:r>
              <a:rPr lang="en-US" noProof="0" dirty="0"/>
              <a:t>Define benefits (effects) and downsides (costs) according to the decision objective.</a:t>
            </a:r>
          </a:p>
        </p:txBody>
      </p:sp>
      <p:sp>
        <p:nvSpPr>
          <p:cNvPr id="40" name="Rectangle 39">
            <a:extLst>
              <a:ext uri="{FF2B5EF4-FFF2-40B4-BE49-F238E27FC236}">
                <a16:creationId xmlns:a16="http://schemas.microsoft.com/office/drawing/2014/main" id="{9095717E-4868-C124-9AE5-50C091CC58A9}"/>
              </a:ext>
            </a:extLst>
          </p:cNvPr>
          <p:cNvSpPr/>
          <p:nvPr/>
        </p:nvSpPr>
        <p:spPr>
          <a:xfrm>
            <a:off x="4694922" y="1938130"/>
            <a:ext cx="120917" cy="469204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34" name="Straight Connector 33">
            <a:extLst>
              <a:ext uri="{FF2B5EF4-FFF2-40B4-BE49-F238E27FC236}">
                <a16:creationId xmlns:a16="http://schemas.microsoft.com/office/drawing/2014/main" id="{2995A19B-4E92-79EE-313C-02C2E8411DF2}"/>
              </a:ext>
            </a:extLst>
          </p:cNvPr>
          <p:cNvCxnSpPr>
            <a:cxnSpLocks/>
            <a:stCxn id="43" idx="3"/>
            <a:endCxn id="40" idx="1"/>
          </p:cNvCxnSpPr>
          <p:nvPr/>
        </p:nvCxnSpPr>
        <p:spPr>
          <a:xfrm>
            <a:off x="3989294" y="2767882"/>
            <a:ext cx="705628" cy="1516271"/>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BB6E587F-FFEF-4EC2-0640-996A6B95A274}"/>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1</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64" name="Oval 63">
            <a:extLst>
              <a:ext uri="{FF2B5EF4-FFF2-40B4-BE49-F238E27FC236}">
                <a16:creationId xmlns:a16="http://schemas.microsoft.com/office/drawing/2014/main" id="{11CE6690-EB7D-7672-6BDE-239AEE55628A}"/>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ea typeface="Meiryo UI" panose="020B0604030504040204" pitchFamily="50" charset="-128"/>
                <a:cs typeface="Arial" panose="020B0604020202020204" pitchFamily="34" charset="0"/>
              </a:rPr>
              <a:t>2</a:t>
            </a:r>
            <a:endParaRPr lang="en-US" b="1"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65" name="Oval 64">
            <a:extLst>
              <a:ext uri="{FF2B5EF4-FFF2-40B4-BE49-F238E27FC236}">
                <a16:creationId xmlns:a16="http://schemas.microsoft.com/office/drawing/2014/main" id="{A85D9D26-5771-7D1D-1E49-8BD26391359B}"/>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3</a:t>
            </a:r>
          </a:p>
        </p:txBody>
      </p:sp>
      <p:sp>
        <p:nvSpPr>
          <p:cNvPr id="66" name="Oval 65">
            <a:extLst>
              <a:ext uri="{FF2B5EF4-FFF2-40B4-BE49-F238E27FC236}">
                <a16:creationId xmlns:a16="http://schemas.microsoft.com/office/drawing/2014/main" id="{BDBA26B1-C7C7-AB84-E8EF-4C686174FD39}"/>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4</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67" name="Oval 66">
            <a:extLst>
              <a:ext uri="{FF2B5EF4-FFF2-40B4-BE49-F238E27FC236}">
                <a16:creationId xmlns:a16="http://schemas.microsoft.com/office/drawing/2014/main" id="{3CE850FD-CA07-79F6-E46A-A853C2296EF0}"/>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5</a:t>
            </a:r>
          </a:p>
        </p:txBody>
      </p:sp>
      <p:sp>
        <p:nvSpPr>
          <p:cNvPr id="68" name="Oval 67">
            <a:extLst>
              <a:ext uri="{FF2B5EF4-FFF2-40B4-BE49-F238E27FC236}">
                <a16:creationId xmlns:a16="http://schemas.microsoft.com/office/drawing/2014/main" id="{1370DDFC-3D51-14D8-B93F-2ADC523C4CA2}"/>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6</a:t>
            </a:r>
          </a:p>
        </p:txBody>
      </p:sp>
      <p:sp>
        <p:nvSpPr>
          <p:cNvPr id="69" name="Oval 68">
            <a:extLst>
              <a:ext uri="{FF2B5EF4-FFF2-40B4-BE49-F238E27FC236}">
                <a16:creationId xmlns:a16="http://schemas.microsoft.com/office/drawing/2014/main" id="{B1D266E7-745C-BA47-4BE3-4F0BFC132BC4}"/>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7</a:t>
            </a:r>
          </a:p>
        </p:txBody>
      </p:sp>
      <p:sp>
        <p:nvSpPr>
          <p:cNvPr id="70" name="Oval 69">
            <a:extLst>
              <a:ext uri="{FF2B5EF4-FFF2-40B4-BE49-F238E27FC236}">
                <a16:creationId xmlns:a16="http://schemas.microsoft.com/office/drawing/2014/main" id="{FD7682C0-6BAA-B32E-1E5E-9BEFBAEA4D2A}"/>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8</a:t>
            </a:r>
          </a:p>
        </p:txBody>
      </p:sp>
      <p:grpSp>
        <p:nvGrpSpPr>
          <p:cNvPr id="71" name="Group 70">
            <a:extLst>
              <a:ext uri="{FF2B5EF4-FFF2-40B4-BE49-F238E27FC236}">
                <a16:creationId xmlns:a16="http://schemas.microsoft.com/office/drawing/2014/main" id="{19E019CB-5B3B-4CD7-FD78-F83A1546AD58}"/>
              </a:ext>
            </a:extLst>
          </p:cNvPr>
          <p:cNvGrpSpPr/>
          <p:nvPr/>
        </p:nvGrpSpPr>
        <p:grpSpPr>
          <a:xfrm>
            <a:off x="467139" y="108959"/>
            <a:ext cx="4197304" cy="307297"/>
            <a:chOff x="562270" y="127168"/>
            <a:chExt cx="4197304" cy="307297"/>
          </a:xfrm>
        </p:grpSpPr>
        <p:sp>
          <p:nvSpPr>
            <p:cNvPr id="72" name="Arrow: Pentagon 71">
              <a:extLst>
                <a:ext uri="{FF2B5EF4-FFF2-40B4-BE49-F238E27FC236}">
                  <a16:creationId xmlns:a16="http://schemas.microsoft.com/office/drawing/2014/main" id="{DFD61742-5C1E-9FFD-2DAF-D8F3C0B81DD9}"/>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73" name="Arrow: Pentagon 72">
              <a:extLst>
                <a:ext uri="{FF2B5EF4-FFF2-40B4-BE49-F238E27FC236}">
                  <a16:creationId xmlns:a16="http://schemas.microsoft.com/office/drawing/2014/main" id="{FD6BCD28-23BB-9F45-E90C-15B713CFDC3B}"/>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74" name="Arrow: Pentagon 73">
              <a:extLst>
                <a:ext uri="{FF2B5EF4-FFF2-40B4-BE49-F238E27FC236}">
                  <a16:creationId xmlns:a16="http://schemas.microsoft.com/office/drawing/2014/main" id="{01D13DF6-7169-5BF5-92C9-5F61B6D665D7}"/>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12999464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CD09596-CB0A-143C-E83C-8B6015D68392}"/>
            </a:ext>
          </a:extLst>
        </p:cNvPr>
        <p:cNvGrpSpPr/>
        <p:nvPr/>
      </p:nvGrpSpPr>
      <p:grpSpPr>
        <a:xfrm>
          <a:off x="0" y="0"/>
          <a:ext cx="0" cy="0"/>
          <a:chOff x="0" y="0"/>
          <a:chExt cx="0" cy="0"/>
        </a:xfrm>
      </p:grpSpPr>
      <p:sp>
        <p:nvSpPr>
          <p:cNvPr id="46" name="Rectangle 45">
            <a:extLst>
              <a:ext uri="{FF2B5EF4-FFF2-40B4-BE49-F238E27FC236}">
                <a16:creationId xmlns:a16="http://schemas.microsoft.com/office/drawing/2014/main" id="{D9D2C7E5-AC29-702C-23C4-4B2932684DD4}"/>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Define the problem and objectives</a:t>
            </a:r>
          </a:p>
        </p:txBody>
      </p:sp>
      <p:sp>
        <p:nvSpPr>
          <p:cNvPr id="47" name="Rectangle 46">
            <a:extLst>
              <a:ext uri="{FF2B5EF4-FFF2-40B4-BE49-F238E27FC236}">
                <a16:creationId xmlns:a16="http://schemas.microsoft.com/office/drawing/2014/main" id="{F9CDA890-7E22-E6E6-5CB2-BA0BC758AEE1}"/>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Design simulation model</a:t>
            </a:r>
          </a:p>
        </p:txBody>
      </p:sp>
      <p:sp>
        <p:nvSpPr>
          <p:cNvPr id="49" name="Rectangle 48">
            <a:extLst>
              <a:ext uri="{FF2B5EF4-FFF2-40B4-BE49-F238E27FC236}">
                <a16:creationId xmlns:a16="http://schemas.microsoft.com/office/drawing/2014/main" id="{40375EE4-387C-EB88-4B3A-5D34D09E2C56}"/>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Select simulation model</a:t>
            </a:r>
          </a:p>
        </p:txBody>
      </p:sp>
      <p:sp>
        <p:nvSpPr>
          <p:cNvPr id="50" name="Rectangle 49">
            <a:extLst>
              <a:ext uri="{FF2B5EF4-FFF2-40B4-BE49-F238E27FC236}">
                <a16:creationId xmlns:a16="http://schemas.microsoft.com/office/drawing/2014/main" id="{95508BD5-220E-ABD2-E0B3-4953B2903667}"/>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Define outcomes</a:t>
            </a:r>
          </a:p>
        </p:txBody>
      </p:sp>
      <p:sp>
        <p:nvSpPr>
          <p:cNvPr id="51" name="Rectangle 50">
            <a:extLst>
              <a:ext uri="{FF2B5EF4-FFF2-40B4-BE49-F238E27FC236}">
                <a16:creationId xmlns:a16="http://schemas.microsoft.com/office/drawing/2014/main" id="{CCFB0DCD-3BBA-6A04-6E41-D15EB2F043A9}"/>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Select model inputs</a:t>
            </a:r>
          </a:p>
        </p:txBody>
      </p:sp>
      <p:sp>
        <p:nvSpPr>
          <p:cNvPr id="52" name="Rectangle 51">
            <a:extLst>
              <a:ext uri="{FF2B5EF4-FFF2-40B4-BE49-F238E27FC236}">
                <a16:creationId xmlns:a16="http://schemas.microsoft.com/office/drawing/2014/main" id="{381E95FF-8B8F-6DA0-CC66-5C91768A3708}"/>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Simulate multiple decision options</a:t>
            </a:r>
          </a:p>
        </p:txBody>
      </p:sp>
      <p:sp>
        <p:nvSpPr>
          <p:cNvPr id="53" name="Rectangle 52">
            <a:extLst>
              <a:ext uri="{FF2B5EF4-FFF2-40B4-BE49-F238E27FC236}">
                <a16:creationId xmlns:a16="http://schemas.microsoft.com/office/drawing/2014/main" id="{1D460210-778D-EB46-F841-FD7B08DD41D6}"/>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Sensitivity and scenario analyses</a:t>
            </a:r>
          </a:p>
        </p:txBody>
      </p:sp>
      <p:sp>
        <p:nvSpPr>
          <p:cNvPr id="54" name="Rectangle 53">
            <a:extLst>
              <a:ext uri="{FF2B5EF4-FFF2-40B4-BE49-F238E27FC236}">
                <a16:creationId xmlns:a16="http://schemas.microsoft.com/office/drawing/2014/main" id="{EB097D99-0C2D-0D0A-D26C-8F435C83C8E2}"/>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Evaluate results</a:t>
            </a:r>
          </a:p>
        </p:txBody>
      </p:sp>
      <p:sp>
        <p:nvSpPr>
          <p:cNvPr id="56" name="Isosceles Triangle 55">
            <a:extLst>
              <a:ext uri="{FF2B5EF4-FFF2-40B4-BE49-F238E27FC236}">
                <a16:creationId xmlns:a16="http://schemas.microsoft.com/office/drawing/2014/main" id="{CA85D0F4-5F0C-39C4-B7C7-1FC9034081BB}"/>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7" name="Isosceles Triangle 56">
            <a:extLst>
              <a:ext uri="{FF2B5EF4-FFF2-40B4-BE49-F238E27FC236}">
                <a16:creationId xmlns:a16="http://schemas.microsoft.com/office/drawing/2014/main" id="{5ADE47AB-22E1-F190-D77C-A86EE32CF8CB}"/>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8" name="Isosceles Triangle 57">
            <a:extLst>
              <a:ext uri="{FF2B5EF4-FFF2-40B4-BE49-F238E27FC236}">
                <a16:creationId xmlns:a16="http://schemas.microsoft.com/office/drawing/2014/main" id="{87A8C3FA-27EC-E198-843A-C8C0E1C53A90}"/>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9" name="Isosceles Triangle 58">
            <a:extLst>
              <a:ext uri="{FF2B5EF4-FFF2-40B4-BE49-F238E27FC236}">
                <a16:creationId xmlns:a16="http://schemas.microsoft.com/office/drawing/2014/main" id="{027BB27B-1336-8EEE-008B-BC7E29F4D1DF}"/>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0" name="Isosceles Triangle 59">
            <a:extLst>
              <a:ext uri="{FF2B5EF4-FFF2-40B4-BE49-F238E27FC236}">
                <a16:creationId xmlns:a16="http://schemas.microsoft.com/office/drawing/2014/main" id="{D88DF2DC-BC26-4CB4-67F8-4B271CFE62C3}"/>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1" name="Isosceles Triangle 60">
            <a:extLst>
              <a:ext uri="{FF2B5EF4-FFF2-40B4-BE49-F238E27FC236}">
                <a16:creationId xmlns:a16="http://schemas.microsoft.com/office/drawing/2014/main" id="{EFC97239-E3D6-FAA0-9D6A-5DA9AC87CE66}"/>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3" name="Isosceles Triangle 62">
            <a:extLst>
              <a:ext uri="{FF2B5EF4-FFF2-40B4-BE49-F238E27FC236}">
                <a16:creationId xmlns:a16="http://schemas.microsoft.com/office/drawing/2014/main" id="{B03BF2BD-3692-9C7A-03AD-2D4A0347AB87}"/>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5" name="Freeform: Shape 54">
            <a:extLst>
              <a:ext uri="{FF2B5EF4-FFF2-40B4-BE49-F238E27FC236}">
                <a16:creationId xmlns:a16="http://schemas.microsoft.com/office/drawing/2014/main" id="{F49857F9-A80B-4F5C-3F78-84CFF871D5D5}"/>
              </a:ext>
            </a:extLst>
          </p:cNvPr>
          <p:cNvSpPr/>
          <p:nvPr/>
        </p:nvSpPr>
        <p:spPr>
          <a:xfrm>
            <a:off x="6102588" y="5164718"/>
            <a:ext cx="1974387" cy="1188000"/>
          </a:xfrm>
          <a:custGeom>
            <a:avLst/>
            <a:gdLst>
              <a:gd name="connsiteX0" fmla="*/ 0 w 1794897"/>
              <a:gd name="connsiteY0" fmla="*/ 0 h 1080000"/>
              <a:gd name="connsiteX1" fmla="*/ 359047 w 1794897"/>
              <a:gd name="connsiteY1" fmla="*/ 0 h 1080000"/>
              <a:gd name="connsiteX2" fmla="*/ 359047 w 1794897"/>
              <a:gd name="connsiteY2" fmla="*/ 216000 h 1080000"/>
              <a:gd name="connsiteX3" fmla="*/ 1079046 w 1794897"/>
              <a:gd name="connsiteY3" fmla="*/ 216000 h 1080000"/>
              <a:gd name="connsiteX4" fmla="*/ 1079046 w 1794897"/>
              <a:gd name="connsiteY4" fmla="*/ 540000 h 1080000"/>
              <a:gd name="connsiteX5" fmla="*/ 1794897 w 1794897"/>
              <a:gd name="connsiteY5" fmla="*/ 540000 h 1080000"/>
              <a:gd name="connsiteX6" fmla="*/ 1794897 w 1794897"/>
              <a:gd name="connsiteY6" fmla="*/ 1080000 h 1080000"/>
              <a:gd name="connsiteX7" fmla="*/ 1079046 w 1794897"/>
              <a:gd name="connsiteY7" fmla="*/ 1080000 h 1080000"/>
              <a:gd name="connsiteX8" fmla="*/ 1074897 w 1794897"/>
              <a:gd name="connsiteY8" fmla="*/ 1080000 h 1080000"/>
              <a:gd name="connsiteX9" fmla="*/ 359047 w 1794897"/>
              <a:gd name="connsiteY9" fmla="*/ 1080000 h 1080000"/>
              <a:gd name="connsiteX10" fmla="*/ 359046 w 1794897"/>
              <a:gd name="connsiteY10" fmla="*/ 1080000 h 1080000"/>
              <a:gd name="connsiteX11" fmla="*/ 0 w 1794897"/>
              <a:gd name="connsiteY11" fmla="*/ 1080000 h 10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94897" h="1080000">
                <a:moveTo>
                  <a:pt x="0" y="0"/>
                </a:moveTo>
                <a:lnTo>
                  <a:pt x="359047" y="0"/>
                </a:lnTo>
                <a:lnTo>
                  <a:pt x="359047" y="216000"/>
                </a:lnTo>
                <a:lnTo>
                  <a:pt x="1079046" y="216000"/>
                </a:lnTo>
                <a:lnTo>
                  <a:pt x="1079046" y="540000"/>
                </a:lnTo>
                <a:lnTo>
                  <a:pt x="1794897" y="540000"/>
                </a:lnTo>
                <a:lnTo>
                  <a:pt x="1794897" y="1080000"/>
                </a:lnTo>
                <a:lnTo>
                  <a:pt x="1079046" y="1080000"/>
                </a:lnTo>
                <a:lnTo>
                  <a:pt x="1074897" y="1080000"/>
                </a:lnTo>
                <a:lnTo>
                  <a:pt x="359047" y="1080000"/>
                </a:lnTo>
                <a:lnTo>
                  <a:pt x="359046" y="1080000"/>
                </a:lnTo>
                <a:lnTo>
                  <a:pt x="0" y="1080000"/>
                </a:lnTo>
                <a:close/>
              </a:path>
            </a:pathLst>
          </a:cu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 name="Title 1">
            <a:extLst>
              <a:ext uri="{FF2B5EF4-FFF2-40B4-BE49-F238E27FC236}">
                <a16:creationId xmlns:a16="http://schemas.microsoft.com/office/drawing/2014/main" id="{676FD918-65B0-A258-EDFD-F7F1283ECFFA}"/>
              </a:ext>
            </a:extLst>
          </p:cNvPr>
          <p:cNvSpPr>
            <a:spLocks noGrp="1"/>
          </p:cNvSpPr>
          <p:nvPr>
            <p:ph type="title"/>
          </p:nvPr>
        </p:nvSpPr>
        <p:spPr/>
        <p:txBody>
          <a:bodyPr/>
          <a:lstStyle/>
          <a:p>
            <a:r>
              <a:rPr lang="en-US" noProof="0" dirty="0"/>
              <a:t>Step② Defining Outcomes</a:t>
            </a:r>
          </a:p>
        </p:txBody>
      </p:sp>
      <p:sp>
        <p:nvSpPr>
          <p:cNvPr id="3" name="Table Placeholder 2">
            <a:extLst>
              <a:ext uri="{FF2B5EF4-FFF2-40B4-BE49-F238E27FC236}">
                <a16:creationId xmlns:a16="http://schemas.microsoft.com/office/drawing/2014/main" id="{EB7B5EB3-6D95-BFC7-B348-7C6C8597FBB3}"/>
              </a:ext>
            </a:extLst>
          </p:cNvPr>
          <p:cNvSpPr>
            <a:spLocks noGrp="1"/>
          </p:cNvSpPr>
          <p:nvPr>
            <p:ph type="tbl" sz="quarter" idx="10"/>
          </p:nvPr>
        </p:nvSpPr>
        <p:spPr>
          <a:xfrm>
            <a:off x="4815839" y="1938130"/>
            <a:ext cx="6909021" cy="4692045"/>
          </a:xfrm>
        </p:spPr>
        <p:txBody>
          <a:bodyPr/>
          <a:lstStyle/>
          <a:p>
            <a:pPr>
              <a:spcBef>
                <a:spcPts val="0"/>
              </a:spcBef>
            </a:pPr>
            <a:r>
              <a:rPr lang="en-US" sz="2000" noProof="0" dirty="0"/>
              <a:t>Multidimensional outcome measure: considering both “quality” and “quantity”</a:t>
            </a:r>
          </a:p>
          <a:p>
            <a:pPr lvl="1">
              <a:lnSpc>
                <a:spcPct val="100000"/>
              </a:lnSpc>
              <a:spcBef>
                <a:spcPts val="0"/>
              </a:spcBef>
            </a:pPr>
            <a:r>
              <a:rPr lang="en-US" sz="1800" noProof="0" dirty="0"/>
              <a:t>Quality (“utility”) = QoL</a:t>
            </a:r>
          </a:p>
          <a:p>
            <a:pPr lvl="2">
              <a:lnSpc>
                <a:spcPct val="100000"/>
              </a:lnSpc>
              <a:spcBef>
                <a:spcPts val="0"/>
              </a:spcBef>
            </a:pPr>
            <a:r>
              <a:rPr lang="en-US" sz="1600" noProof="0" dirty="0"/>
              <a:t>Measured on a scale from 0 = death to 1 = perfect health.</a:t>
            </a:r>
          </a:p>
          <a:p>
            <a:pPr lvl="2">
              <a:lnSpc>
                <a:spcPct val="100000"/>
              </a:lnSpc>
              <a:spcBef>
                <a:spcPts val="0"/>
              </a:spcBef>
            </a:pPr>
            <a:r>
              <a:rPr lang="en-US" sz="1600" noProof="0" dirty="0"/>
              <a:t>Not based on objective symptom severity, but on the individual’s subjective perception.</a:t>
            </a:r>
          </a:p>
          <a:p>
            <a:pPr lvl="2">
              <a:lnSpc>
                <a:spcPct val="100000"/>
              </a:lnSpc>
              <a:spcBef>
                <a:spcPts val="0"/>
              </a:spcBef>
            </a:pPr>
            <a:r>
              <a:rPr lang="en-US" sz="1600" noProof="0" dirty="0"/>
              <a:t>Utility is measured through questionnaires or experimental methods.</a:t>
            </a:r>
          </a:p>
          <a:p>
            <a:pPr lvl="1">
              <a:lnSpc>
                <a:spcPct val="100000"/>
              </a:lnSpc>
              <a:spcBef>
                <a:spcPts val="0"/>
              </a:spcBef>
            </a:pPr>
            <a:r>
              <a:rPr lang="en-US" sz="1800" noProof="0" dirty="0"/>
              <a:t>Quantity = survival years</a:t>
            </a:r>
          </a:p>
          <a:p>
            <a:pPr lvl="1">
              <a:lnSpc>
                <a:spcPct val="100000"/>
              </a:lnSpc>
              <a:spcBef>
                <a:spcPts val="0"/>
              </a:spcBef>
            </a:pPr>
            <a:r>
              <a:rPr lang="en-US" sz="1800" noProof="0" dirty="0"/>
              <a:t>Quality × Quantity = QALYs (Quality-Adjusted Life Years)</a:t>
            </a:r>
          </a:p>
          <a:p>
            <a:pPr lvl="2">
              <a:lnSpc>
                <a:spcPct val="100000"/>
              </a:lnSpc>
              <a:spcBef>
                <a:spcPts val="0"/>
              </a:spcBef>
            </a:pPr>
            <a:r>
              <a:rPr lang="en-US" sz="1600" noProof="0" dirty="0"/>
              <a:t>A numerical representation of how long and how well a person lives</a:t>
            </a:r>
          </a:p>
        </p:txBody>
      </p:sp>
      <p:sp>
        <p:nvSpPr>
          <p:cNvPr id="4" name="Slide Number Placeholder 3">
            <a:extLst>
              <a:ext uri="{FF2B5EF4-FFF2-40B4-BE49-F238E27FC236}">
                <a16:creationId xmlns:a16="http://schemas.microsoft.com/office/drawing/2014/main" id="{3A17E797-10C8-6E2C-D5DE-78FC648FE717}"/>
              </a:ext>
            </a:extLst>
          </p:cNvPr>
          <p:cNvSpPr>
            <a:spLocks noGrp="1"/>
          </p:cNvSpPr>
          <p:nvPr>
            <p:ph type="sldNum" sz="quarter" idx="4"/>
          </p:nvPr>
        </p:nvSpPr>
        <p:spPr/>
        <p:txBody>
          <a:bodyPr/>
          <a:lstStyle/>
          <a:p>
            <a:fld id="{B5CEABB6-07DC-46E8-9B57-56EC44A396E5}" type="slidenum">
              <a:rPr lang="en-US" noProof="0" smtClean="0"/>
              <a:pPr/>
              <a:t>13</a:t>
            </a:fld>
            <a:endParaRPr lang="en-US" noProof="0" dirty="0"/>
          </a:p>
        </p:txBody>
      </p:sp>
      <p:sp>
        <p:nvSpPr>
          <p:cNvPr id="5" name="Table Placeholder 4">
            <a:extLst>
              <a:ext uri="{FF2B5EF4-FFF2-40B4-BE49-F238E27FC236}">
                <a16:creationId xmlns:a16="http://schemas.microsoft.com/office/drawing/2014/main" id="{994125AF-FD84-6635-AA0B-0277CF95B3C3}"/>
              </a:ext>
            </a:extLst>
          </p:cNvPr>
          <p:cNvSpPr>
            <a:spLocks noGrp="1"/>
          </p:cNvSpPr>
          <p:nvPr>
            <p:ph type="tbl" sz="quarter" idx="11"/>
          </p:nvPr>
        </p:nvSpPr>
        <p:spPr/>
        <p:txBody>
          <a:bodyPr/>
          <a:lstStyle/>
          <a:p>
            <a:r>
              <a:rPr lang="en-US" noProof="0" dirty="0"/>
              <a:t>In health economics, QALYs (Quality-Adjusted Life Years)—defined as </a:t>
            </a:r>
            <a:r>
              <a:rPr lang="en-US" i="1" noProof="0" dirty="0"/>
              <a:t>QoL × survival years</a:t>
            </a:r>
            <a:r>
              <a:rPr lang="en-US" noProof="0" dirty="0"/>
              <a:t>—are commonly used.</a:t>
            </a:r>
          </a:p>
        </p:txBody>
      </p:sp>
      <p:sp>
        <p:nvSpPr>
          <p:cNvPr id="40" name="Rectangle 39">
            <a:extLst>
              <a:ext uri="{FF2B5EF4-FFF2-40B4-BE49-F238E27FC236}">
                <a16:creationId xmlns:a16="http://schemas.microsoft.com/office/drawing/2014/main" id="{13DFE67A-2ACC-42BB-B83B-3147DE94C3EE}"/>
              </a:ext>
            </a:extLst>
          </p:cNvPr>
          <p:cNvSpPr/>
          <p:nvPr/>
        </p:nvSpPr>
        <p:spPr>
          <a:xfrm>
            <a:off x="4694922" y="1938130"/>
            <a:ext cx="120917" cy="469204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34" name="Straight Connector 33">
            <a:extLst>
              <a:ext uri="{FF2B5EF4-FFF2-40B4-BE49-F238E27FC236}">
                <a16:creationId xmlns:a16="http://schemas.microsoft.com/office/drawing/2014/main" id="{5413EA07-AC9F-7A50-C3A3-0B9165F3D8AC}"/>
              </a:ext>
            </a:extLst>
          </p:cNvPr>
          <p:cNvCxnSpPr>
            <a:cxnSpLocks/>
            <a:stCxn id="50" idx="3"/>
            <a:endCxn id="40" idx="1"/>
          </p:cNvCxnSpPr>
          <p:nvPr/>
        </p:nvCxnSpPr>
        <p:spPr>
          <a:xfrm>
            <a:off x="3989294" y="2767882"/>
            <a:ext cx="705628" cy="1516271"/>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71A2D0ED-36A6-E9C3-E8B3-FD8F54707243}"/>
              </a:ext>
            </a:extLst>
          </p:cNvPr>
          <p:cNvGrpSpPr/>
          <p:nvPr/>
        </p:nvGrpSpPr>
        <p:grpSpPr>
          <a:xfrm>
            <a:off x="5839371" y="5074351"/>
            <a:ext cx="2412053" cy="1598303"/>
            <a:chOff x="8657895" y="2511220"/>
            <a:chExt cx="1993431" cy="1091662"/>
          </a:xfrm>
        </p:grpSpPr>
        <p:sp>
          <p:nvSpPr>
            <p:cNvPr id="43" name="Rectangle 42">
              <a:extLst>
                <a:ext uri="{FF2B5EF4-FFF2-40B4-BE49-F238E27FC236}">
                  <a16:creationId xmlns:a16="http://schemas.microsoft.com/office/drawing/2014/main" id="{E939C7CB-95C9-749E-8369-3371FAC78D5C}"/>
                </a:ext>
              </a:extLst>
            </p:cNvPr>
            <p:cNvSpPr/>
            <p:nvPr/>
          </p:nvSpPr>
          <p:spPr>
            <a:xfrm>
              <a:off x="9065486" y="3436938"/>
              <a:ext cx="1225938" cy="1423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latin typeface="Arial" panose="020B0604020202020204" pitchFamily="34" charset="0"/>
                  <a:ea typeface="Meiryo UI" panose="020B0604030504040204" pitchFamily="50" charset="-128"/>
                  <a:cs typeface="Arial" panose="020B0604020202020204" pitchFamily="34" charset="0"/>
                </a:rPr>
                <a:t>Survival years</a:t>
              </a:r>
            </a:p>
          </p:txBody>
        </p:sp>
        <p:cxnSp>
          <p:nvCxnSpPr>
            <p:cNvPr id="36" name="Straight Arrow Connector 35">
              <a:extLst>
                <a:ext uri="{FF2B5EF4-FFF2-40B4-BE49-F238E27FC236}">
                  <a16:creationId xmlns:a16="http://schemas.microsoft.com/office/drawing/2014/main" id="{7C7B0379-F725-72AA-7DF9-471CE61A20F1}"/>
                </a:ext>
              </a:extLst>
            </p:cNvPr>
            <p:cNvCxnSpPr>
              <a:cxnSpLocks/>
              <a:stCxn id="55" idx="11"/>
            </p:cNvCxnSpPr>
            <p:nvPr/>
          </p:nvCxnSpPr>
          <p:spPr>
            <a:xfrm flipV="1">
              <a:off x="8875432" y="2511220"/>
              <a:ext cx="0" cy="8731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3F26CA1F-1213-47ED-9087-60A4C80AE2D6}"/>
                </a:ext>
              </a:extLst>
            </p:cNvPr>
            <p:cNvSpPr/>
            <p:nvPr/>
          </p:nvSpPr>
          <p:spPr>
            <a:xfrm>
              <a:off x="8657895" y="2616277"/>
              <a:ext cx="176493" cy="7193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QoL</a:t>
              </a:r>
            </a:p>
          </p:txBody>
        </p:sp>
        <p:sp>
          <p:nvSpPr>
            <p:cNvPr id="42" name="Rectangle 41">
              <a:extLst>
                <a:ext uri="{FF2B5EF4-FFF2-40B4-BE49-F238E27FC236}">
                  <a16:creationId xmlns:a16="http://schemas.microsoft.com/office/drawing/2014/main" id="{74DA81A6-6840-81AD-D0EF-4CB47F51AFE3}"/>
                </a:ext>
              </a:extLst>
            </p:cNvPr>
            <p:cNvSpPr/>
            <p:nvPr/>
          </p:nvSpPr>
          <p:spPr>
            <a:xfrm>
              <a:off x="10432425" y="3413375"/>
              <a:ext cx="197803" cy="1895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5</a:t>
              </a:r>
            </a:p>
          </p:txBody>
        </p:sp>
        <p:cxnSp>
          <p:nvCxnSpPr>
            <p:cNvPr id="37" name="Straight Arrow Connector 36">
              <a:extLst>
                <a:ext uri="{FF2B5EF4-FFF2-40B4-BE49-F238E27FC236}">
                  <a16:creationId xmlns:a16="http://schemas.microsoft.com/office/drawing/2014/main" id="{CDB36EA5-B1D5-47AB-8242-C0FA7FF44188}"/>
                </a:ext>
              </a:extLst>
            </p:cNvPr>
            <p:cNvCxnSpPr>
              <a:cxnSpLocks/>
              <a:stCxn id="55" idx="11"/>
            </p:cNvCxnSpPr>
            <p:nvPr/>
          </p:nvCxnSpPr>
          <p:spPr>
            <a:xfrm>
              <a:off x="8875432" y="3384362"/>
              <a:ext cx="1775894" cy="66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5" name="Rectangle 44">
            <a:extLst>
              <a:ext uri="{FF2B5EF4-FFF2-40B4-BE49-F238E27FC236}">
                <a16:creationId xmlns:a16="http://schemas.microsoft.com/office/drawing/2014/main" id="{072EA959-1D3D-B733-057D-573E76764684}"/>
              </a:ext>
            </a:extLst>
          </p:cNvPr>
          <p:cNvSpPr/>
          <p:nvPr/>
        </p:nvSpPr>
        <p:spPr>
          <a:xfrm>
            <a:off x="5833140" y="5081297"/>
            <a:ext cx="239341" cy="2774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1</a:t>
            </a:r>
          </a:p>
        </p:txBody>
      </p:sp>
      <p:sp>
        <p:nvSpPr>
          <p:cNvPr id="62" name="Rectangle 61">
            <a:extLst>
              <a:ext uri="{FF2B5EF4-FFF2-40B4-BE49-F238E27FC236}">
                <a16:creationId xmlns:a16="http://schemas.microsoft.com/office/drawing/2014/main" id="{3710D2B0-2056-EA55-50CA-74414B899F4A}"/>
              </a:ext>
            </a:extLst>
          </p:cNvPr>
          <p:cNvSpPr/>
          <p:nvPr/>
        </p:nvSpPr>
        <p:spPr>
          <a:xfrm>
            <a:off x="8527311" y="5362058"/>
            <a:ext cx="3318466" cy="9248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1×1yr＋0.8×2yrs＋0.5×2yrs</a:t>
            </a:r>
          </a:p>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＝1＋1.6＋1</a:t>
            </a:r>
          </a:p>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＝3.6QALYs</a:t>
            </a:r>
          </a:p>
        </p:txBody>
      </p:sp>
      <p:cxnSp>
        <p:nvCxnSpPr>
          <p:cNvPr id="64" name="Straight Connector 63">
            <a:extLst>
              <a:ext uri="{FF2B5EF4-FFF2-40B4-BE49-F238E27FC236}">
                <a16:creationId xmlns:a16="http://schemas.microsoft.com/office/drawing/2014/main" id="{F89A0970-FD01-755B-E42C-40DA3704C5C1}"/>
              </a:ext>
            </a:extLst>
          </p:cNvPr>
          <p:cNvCxnSpPr>
            <a:cxnSpLocks/>
            <a:endCxn id="62" idx="1"/>
          </p:cNvCxnSpPr>
          <p:nvPr/>
        </p:nvCxnSpPr>
        <p:spPr>
          <a:xfrm flipV="1">
            <a:off x="7848657" y="5824464"/>
            <a:ext cx="678654" cy="1559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Oval 72">
            <a:extLst>
              <a:ext uri="{FF2B5EF4-FFF2-40B4-BE49-F238E27FC236}">
                <a16:creationId xmlns:a16="http://schemas.microsoft.com/office/drawing/2014/main" id="{92CDC3DD-6A62-C37C-3280-69FE300FE287}"/>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1</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74" name="Oval 73">
            <a:extLst>
              <a:ext uri="{FF2B5EF4-FFF2-40B4-BE49-F238E27FC236}">
                <a16:creationId xmlns:a16="http://schemas.microsoft.com/office/drawing/2014/main" id="{8CEC2EED-64DE-EFCB-7DD5-8768C2974B67}"/>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ea typeface="Meiryo UI" panose="020B0604030504040204" pitchFamily="50" charset="-128"/>
                <a:cs typeface="Arial" panose="020B0604020202020204" pitchFamily="34" charset="0"/>
              </a:rPr>
              <a:t>2</a:t>
            </a:r>
            <a:endParaRPr lang="en-US" b="1"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75" name="Oval 74">
            <a:extLst>
              <a:ext uri="{FF2B5EF4-FFF2-40B4-BE49-F238E27FC236}">
                <a16:creationId xmlns:a16="http://schemas.microsoft.com/office/drawing/2014/main" id="{8A1C067A-D16F-6162-59A7-F06B1956FFFB}"/>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3</a:t>
            </a:r>
          </a:p>
        </p:txBody>
      </p:sp>
      <p:sp>
        <p:nvSpPr>
          <p:cNvPr id="76" name="Oval 75">
            <a:extLst>
              <a:ext uri="{FF2B5EF4-FFF2-40B4-BE49-F238E27FC236}">
                <a16:creationId xmlns:a16="http://schemas.microsoft.com/office/drawing/2014/main" id="{840F9E3A-8304-898F-98E7-AE298A891853}"/>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4</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77" name="Oval 76">
            <a:extLst>
              <a:ext uri="{FF2B5EF4-FFF2-40B4-BE49-F238E27FC236}">
                <a16:creationId xmlns:a16="http://schemas.microsoft.com/office/drawing/2014/main" id="{2C6D6163-BCC6-4A22-0BB7-2746C68DCE76}"/>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5</a:t>
            </a:r>
          </a:p>
        </p:txBody>
      </p:sp>
      <p:sp>
        <p:nvSpPr>
          <p:cNvPr id="78" name="Oval 77">
            <a:extLst>
              <a:ext uri="{FF2B5EF4-FFF2-40B4-BE49-F238E27FC236}">
                <a16:creationId xmlns:a16="http://schemas.microsoft.com/office/drawing/2014/main" id="{429E83CE-AE0E-4F52-564C-7BF91499A276}"/>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6</a:t>
            </a:r>
          </a:p>
        </p:txBody>
      </p:sp>
      <p:sp>
        <p:nvSpPr>
          <p:cNvPr id="79" name="Oval 78">
            <a:extLst>
              <a:ext uri="{FF2B5EF4-FFF2-40B4-BE49-F238E27FC236}">
                <a16:creationId xmlns:a16="http://schemas.microsoft.com/office/drawing/2014/main" id="{A3E51306-EA74-ED7D-528C-4949F1DF4AF5}"/>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7</a:t>
            </a:r>
          </a:p>
        </p:txBody>
      </p:sp>
      <p:sp>
        <p:nvSpPr>
          <p:cNvPr id="80" name="Oval 79">
            <a:extLst>
              <a:ext uri="{FF2B5EF4-FFF2-40B4-BE49-F238E27FC236}">
                <a16:creationId xmlns:a16="http://schemas.microsoft.com/office/drawing/2014/main" id="{22F088EE-D38B-20C4-8426-EADC2F6CEF36}"/>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8</a:t>
            </a:r>
          </a:p>
        </p:txBody>
      </p:sp>
      <p:grpSp>
        <p:nvGrpSpPr>
          <p:cNvPr id="81" name="Group 80">
            <a:extLst>
              <a:ext uri="{FF2B5EF4-FFF2-40B4-BE49-F238E27FC236}">
                <a16:creationId xmlns:a16="http://schemas.microsoft.com/office/drawing/2014/main" id="{6136B9F5-A7FA-8E7B-5B01-6F9507D2C3ED}"/>
              </a:ext>
            </a:extLst>
          </p:cNvPr>
          <p:cNvGrpSpPr/>
          <p:nvPr/>
        </p:nvGrpSpPr>
        <p:grpSpPr>
          <a:xfrm>
            <a:off x="467139" y="108959"/>
            <a:ext cx="4197304" cy="307297"/>
            <a:chOff x="562270" y="127168"/>
            <a:chExt cx="4197304" cy="307297"/>
          </a:xfrm>
        </p:grpSpPr>
        <p:sp>
          <p:nvSpPr>
            <p:cNvPr id="82" name="Arrow: Pentagon 81">
              <a:extLst>
                <a:ext uri="{FF2B5EF4-FFF2-40B4-BE49-F238E27FC236}">
                  <a16:creationId xmlns:a16="http://schemas.microsoft.com/office/drawing/2014/main" id="{77270875-7022-30C1-815B-64F25C877827}"/>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83" name="Arrow: Pentagon 82">
              <a:extLst>
                <a:ext uri="{FF2B5EF4-FFF2-40B4-BE49-F238E27FC236}">
                  <a16:creationId xmlns:a16="http://schemas.microsoft.com/office/drawing/2014/main" id="{D01B3242-C012-C929-A80E-C66C934C2920}"/>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84" name="Arrow: Pentagon 83">
              <a:extLst>
                <a:ext uri="{FF2B5EF4-FFF2-40B4-BE49-F238E27FC236}">
                  <a16:creationId xmlns:a16="http://schemas.microsoft.com/office/drawing/2014/main" id="{8ABD40B5-4D25-9DCF-90BF-E666569861BA}"/>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1013302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CDDC4-2895-A24C-ECD0-E4D615E7DAF9}"/>
            </a:ext>
          </a:extLst>
        </p:cNvPr>
        <p:cNvGrpSpPr/>
        <p:nvPr/>
      </p:nvGrpSpPr>
      <p:grpSpPr>
        <a:xfrm>
          <a:off x="0" y="0"/>
          <a:ext cx="0" cy="0"/>
          <a:chOff x="0" y="0"/>
          <a:chExt cx="0" cy="0"/>
        </a:xfrm>
      </p:grpSpPr>
      <p:sp>
        <p:nvSpPr>
          <p:cNvPr id="46" name="Rectangle 45">
            <a:extLst>
              <a:ext uri="{FF2B5EF4-FFF2-40B4-BE49-F238E27FC236}">
                <a16:creationId xmlns:a16="http://schemas.microsoft.com/office/drawing/2014/main" id="{8C37BCE7-FAE6-C621-8425-14B21E61639B}"/>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Define the problem and objectives</a:t>
            </a:r>
          </a:p>
        </p:txBody>
      </p:sp>
      <p:sp>
        <p:nvSpPr>
          <p:cNvPr id="47" name="Rectangle 46">
            <a:extLst>
              <a:ext uri="{FF2B5EF4-FFF2-40B4-BE49-F238E27FC236}">
                <a16:creationId xmlns:a16="http://schemas.microsoft.com/office/drawing/2014/main" id="{A76DE510-041D-88DA-4D0F-736C018C74C4}"/>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Design simulation model</a:t>
            </a:r>
          </a:p>
        </p:txBody>
      </p:sp>
      <p:sp>
        <p:nvSpPr>
          <p:cNvPr id="49" name="Rectangle 48">
            <a:extLst>
              <a:ext uri="{FF2B5EF4-FFF2-40B4-BE49-F238E27FC236}">
                <a16:creationId xmlns:a16="http://schemas.microsoft.com/office/drawing/2014/main" id="{372F1626-65A5-9946-A2E6-71B64E3FC3A8}"/>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Select simulation model</a:t>
            </a:r>
          </a:p>
        </p:txBody>
      </p:sp>
      <p:sp>
        <p:nvSpPr>
          <p:cNvPr id="50" name="Rectangle 49">
            <a:extLst>
              <a:ext uri="{FF2B5EF4-FFF2-40B4-BE49-F238E27FC236}">
                <a16:creationId xmlns:a16="http://schemas.microsoft.com/office/drawing/2014/main" id="{D5F983A2-E952-73E9-25FE-4B03193A8F67}"/>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Define outcomes</a:t>
            </a:r>
          </a:p>
        </p:txBody>
      </p:sp>
      <p:sp>
        <p:nvSpPr>
          <p:cNvPr id="51" name="Rectangle 50">
            <a:extLst>
              <a:ext uri="{FF2B5EF4-FFF2-40B4-BE49-F238E27FC236}">
                <a16:creationId xmlns:a16="http://schemas.microsoft.com/office/drawing/2014/main" id="{1CB6D1D0-87D9-BD90-918A-DCEDD984DBE3}"/>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Select model inputs</a:t>
            </a:r>
          </a:p>
        </p:txBody>
      </p:sp>
      <p:sp>
        <p:nvSpPr>
          <p:cNvPr id="52" name="Rectangle 51">
            <a:extLst>
              <a:ext uri="{FF2B5EF4-FFF2-40B4-BE49-F238E27FC236}">
                <a16:creationId xmlns:a16="http://schemas.microsoft.com/office/drawing/2014/main" id="{88706041-FE58-33D2-8B14-E7EB41F97373}"/>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Simulate multiple decision options</a:t>
            </a:r>
          </a:p>
        </p:txBody>
      </p:sp>
      <p:sp>
        <p:nvSpPr>
          <p:cNvPr id="53" name="Rectangle 52">
            <a:extLst>
              <a:ext uri="{FF2B5EF4-FFF2-40B4-BE49-F238E27FC236}">
                <a16:creationId xmlns:a16="http://schemas.microsoft.com/office/drawing/2014/main" id="{2D97F29D-0E90-CCBA-754E-F4E7A75F5BC4}"/>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Sensitivity and scenario analyses</a:t>
            </a:r>
          </a:p>
        </p:txBody>
      </p:sp>
      <p:sp>
        <p:nvSpPr>
          <p:cNvPr id="54" name="Rectangle 53">
            <a:extLst>
              <a:ext uri="{FF2B5EF4-FFF2-40B4-BE49-F238E27FC236}">
                <a16:creationId xmlns:a16="http://schemas.microsoft.com/office/drawing/2014/main" id="{2CF9A237-D952-79A3-CC9D-D5E76580DB7C}"/>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Evaluate results</a:t>
            </a:r>
          </a:p>
        </p:txBody>
      </p:sp>
      <p:sp>
        <p:nvSpPr>
          <p:cNvPr id="56" name="Isosceles Triangle 55">
            <a:extLst>
              <a:ext uri="{FF2B5EF4-FFF2-40B4-BE49-F238E27FC236}">
                <a16:creationId xmlns:a16="http://schemas.microsoft.com/office/drawing/2014/main" id="{7CDEFBC3-9C52-F591-2989-ED9E489EBDB5}"/>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7" name="Isosceles Triangle 56">
            <a:extLst>
              <a:ext uri="{FF2B5EF4-FFF2-40B4-BE49-F238E27FC236}">
                <a16:creationId xmlns:a16="http://schemas.microsoft.com/office/drawing/2014/main" id="{11C8A95F-FE0D-D7F4-FF59-3BC33076CB36}"/>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8" name="Isosceles Triangle 57">
            <a:extLst>
              <a:ext uri="{FF2B5EF4-FFF2-40B4-BE49-F238E27FC236}">
                <a16:creationId xmlns:a16="http://schemas.microsoft.com/office/drawing/2014/main" id="{184AA425-545F-91BA-D9BA-FD96A5F1FD25}"/>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9" name="Isosceles Triangle 58">
            <a:extLst>
              <a:ext uri="{FF2B5EF4-FFF2-40B4-BE49-F238E27FC236}">
                <a16:creationId xmlns:a16="http://schemas.microsoft.com/office/drawing/2014/main" id="{28146322-F168-3D80-DC27-DFD8AEB3E394}"/>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0" name="Isosceles Triangle 59">
            <a:extLst>
              <a:ext uri="{FF2B5EF4-FFF2-40B4-BE49-F238E27FC236}">
                <a16:creationId xmlns:a16="http://schemas.microsoft.com/office/drawing/2014/main" id="{1B2509D1-34D4-CC44-DBB7-F59AE1AABE8A}"/>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1" name="Isosceles Triangle 60">
            <a:extLst>
              <a:ext uri="{FF2B5EF4-FFF2-40B4-BE49-F238E27FC236}">
                <a16:creationId xmlns:a16="http://schemas.microsoft.com/office/drawing/2014/main" id="{B8260C5D-7021-F5DE-A600-BCA26D37C696}"/>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3" name="Isosceles Triangle 62">
            <a:extLst>
              <a:ext uri="{FF2B5EF4-FFF2-40B4-BE49-F238E27FC236}">
                <a16:creationId xmlns:a16="http://schemas.microsoft.com/office/drawing/2014/main" id="{94811659-9282-9745-77DB-831E36AE9A07}"/>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5" name="Freeform: Shape 54">
            <a:extLst>
              <a:ext uri="{FF2B5EF4-FFF2-40B4-BE49-F238E27FC236}">
                <a16:creationId xmlns:a16="http://schemas.microsoft.com/office/drawing/2014/main" id="{70089B09-D02A-DAE7-2818-F6B100A2E6F8}"/>
              </a:ext>
            </a:extLst>
          </p:cNvPr>
          <p:cNvSpPr/>
          <p:nvPr/>
        </p:nvSpPr>
        <p:spPr>
          <a:xfrm>
            <a:off x="6102588" y="5164718"/>
            <a:ext cx="1974387" cy="1188000"/>
          </a:xfrm>
          <a:custGeom>
            <a:avLst/>
            <a:gdLst>
              <a:gd name="connsiteX0" fmla="*/ 0 w 1794897"/>
              <a:gd name="connsiteY0" fmla="*/ 0 h 1080000"/>
              <a:gd name="connsiteX1" fmla="*/ 359047 w 1794897"/>
              <a:gd name="connsiteY1" fmla="*/ 0 h 1080000"/>
              <a:gd name="connsiteX2" fmla="*/ 359047 w 1794897"/>
              <a:gd name="connsiteY2" fmla="*/ 216000 h 1080000"/>
              <a:gd name="connsiteX3" fmla="*/ 1079046 w 1794897"/>
              <a:gd name="connsiteY3" fmla="*/ 216000 h 1080000"/>
              <a:gd name="connsiteX4" fmla="*/ 1079046 w 1794897"/>
              <a:gd name="connsiteY4" fmla="*/ 540000 h 1080000"/>
              <a:gd name="connsiteX5" fmla="*/ 1794897 w 1794897"/>
              <a:gd name="connsiteY5" fmla="*/ 540000 h 1080000"/>
              <a:gd name="connsiteX6" fmla="*/ 1794897 w 1794897"/>
              <a:gd name="connsiteY6" fmla="*/ 1080000 h 1080000"/>
              <a:gd name="connsiteX7" fmla="*/ 1079046 w 1794897"/>
              <a:gd name="connsiteY7" fmla="*/ 1080000 h 1080000"/>
              <a:gd name="connsiteX8" fmla="*/ 1074897 w 1794897"/>
              <a:gd name="connsiteY8" fmla="*/ 1080000 h 1080000"/>
              <a:gd name="connsiteX9" fmla="*/ 359047 w 1794897"/>
              <a:gd name="connsiteY9" fmla="*/ 1080000 h 1080000"/>
              <a:gd name="connsiteX10" fmla="*/ 359046 w 1794897"/>
              <a:gd name="connsiteY10" fmla="*/ 1080000 h 1080000"/>
              <a:gd name="connsiteX11" fmla="*/ 0 w 1794897"/>
              <a:gd name="connsiteY11" fmla="*/ 1080000 h 10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94897" h="1080000">
                <a:moveTo>
                  <a:pt x="0" y="0"/>
                </a:moveTo>
                <a:lnTo>
                  <a:pt x="359047" y="0"/>
                </a:lnTo>
                <a:lnTo>
                  <a:pt x="359047" y="216000"/>
                </a:lnTo>
                <a:lnTo>
                  <a:pt x="1079046" y="216000"/>
                </a:lnTo>
                <a:lnTo>
                  <a:pt x="1079046" y="540000"/>
                </a:lnTo>
                <a:lnTo>
                  <a:pt x="1794897" y="540000"/>
                </a:lnTo>
                <a:lnTo>
                  <a:pt x="1794897" y="1080000"/>
                </a:lnTo>
                <a:lnTo>
                  <a:pt x="1079046" y="1080000"/>
                </a:lnTo>
                <a:lnTo>
                  <a:pt x="1074897" y="1080000"/>
                </a:lnTo>
                <a:lnTo>
                  <a:pt x="359047" y="1080000"/>
                </a:lnTo>
                <a:lnTo>
                  <a:pt x="359046" y="1080000"/>
                </a:lnTo>
                <a:lnTo>
                  <a:pt x="0" y="1080000"/>
                </a:lnTo>
                <a:close/>
              </a:path>
            </a:pathLst>
          </a:cu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 name="Title 1">
            <a:extLst>
              <a:ext uri="{FF2B5EF4-FFF2-40B4-BE49-F238E27FC236}">
                <a16:creationId xmlns:a16="http://schemas.microsoft.com/office/drawing/2014/main" id="{7F722913-EE92-4BF2-5DC4-6E40FBCE81D2}"/>
              </a:ext>
            </a:extLst>
          </p:cNvPr>
          <p:cNvSpPr>
            <a:spLocks noGrp="1"/>
          </p:cNvSpPr>
          <p:nvPr>
            <p:ph type="title"/>
          </p:nvPr>
        </p:nvSpPr>
        <p:spPr/>
        <p:txBody>
          <a:bodyPr/>
          <a:lstStyle/>
          <a:p>
            <a:r>
              <a:rPr lang="en-US" noProof="0" dirty="0"/>
              <a:t>Step② Defining Outcomes</a:t>
            </a:r>
          </a:p>
        </p:txBody>
      </p:sp>
      <p:sp>
        <p:nvSpPr>
          <p:cNvPr id="3" name="Table Placeholder 2">
            <a:extLst>
              <a:ext uri="{FF2B5EF4-FFF2-40B4-BE49-F238E27FC236}">
                <a16:creationId xmlns:a16="http://schemas.microsoft.com/office/drawing/2014/main" id="{79C1E3FC-8572-D017-67D4-62C3C9E8A1AF}"/>
              </a:ext>
            </a:extLst>
          </p:cNvPr>
          <p:cNvSpPr>
            <a:spLocks noGrp="1"/>
          </p:cNvSpPr>
          <p:nvPr>
            <p:ph type="tbl" sz="quarter" idx="10"/>
          </p:nvPr>
        </p:nvSpPr>
        <p:spPr>
          <a:xfrm>
            <a:off x="4815839" y="1938130"/>
            <a:ext cx="6909021" cy="4692045"/>
          </a:xfrm>
        </p:spPr>
        <p:txBody>
          <a:bodyPr/>
          <a:lstStyle/>
          <a:p>
            <a:pPr>
              <a:spcBef>
                <a:spcPts val="0"/>
              </a:spcBef>
            </a:pPr>
            <a:r>
              <a:rPr lang="en-US" sz="2000" noProof="0" dirty="0"/>
              <a:t>Outcome measures that consider both “quality” and “quantity”</a:t>
            </a:r>
          </a:p>
          <a:p>
            <a:pPr lvl="1">
              <a:spcBef>
                <a:spcPts val="0"/>
              </a:spcBef>
            </a:pPr>
            <a:r>
              <a:rPr lang="en-US" sz="1800" noProof="0" dirty="0"/>
              <a:t>Quality (“utility”) = QoL</a:t>
            </a:r>
          </a:p>
          <a:p>
            <a:pPr lvl="2">
              <a:lnSpc>
                <a:spcPct val="100000"/>
              </a:lnSpc>
              <a:spcBef>
                <a:spcPts val="0"/>
              </a:spcBef>
            </a:pPr>
            <a:r>
              <a:rPr lang="en-US" sz="1600" noProof="0" dirty="0"/>
              <a:t>Measured on a scale from 0 = death to 1 = perfect health.</a:t>
            </a:r>
          </a:p>
          <a:p>
            <a:pPr lvl="2">
              <a:lnSpc>
                <a:spcPct val="100000"/>
              </a:lnSpc>
              <a:spcBef>
                <a:spcPts val="0"/>
              </a:spcBef>
            </a:pPr>
            <a:r>
              <a:rPr lang="en-US" sz="1600" noProof="0" dirty="0"/>
              <a:t>Not based on objective symptom severity, but on the individual’s subjective perception.</a:t>
            </a:r>
          </a:p>
          <a:p>
            <a:pPr lvl="2">
              <a:lnSpc>
                <a:spcPct val="100000"/>
              </a:lnSpc>
              <a:spcBef>
                <a:spcPts val="0"/>
              </a:spcBef>
            </a:pPr>
            <a:r>
              <a:rPr lang="en-US" sz="1600" noProof="0" dirty="0"/>
              <a:t>Utility is measured through questionnaires or experimental methods.</a:t>
            </a:r>
          </a:p>
          <a:p>
            <a:pPr lvl="1">
              <a:lnSpc>
                <a:spcPct val="100000"/>
              </a:lnSpc>
              <a:spcBef>
                <a:spcPts val="0"/>
              </a:spcBef>
            </a:pPr>
            <a:r>
              <a:rPr lang="en-US" sz="1800" noProof="0" dirty="0"/>
              <a:t>Quantity = survival years</a:t>
            </a:r>
          </a:p>
          <a:p>
            <a:pPr lvl="1">
              <a:lnSpc>
                <a:spcPct val="100000"/>
              </a:lnSpc>
              <a:spcBef>
                <a:spcPts val="0"/>
              </a:spcBef>
            </a:pPr>
            <a:r>
              <a:rPr lang="en-US" sz="1800" noProof="0" dirty="0"/>
              <a:t>Quality × Quantity = QALYs (Quality-Adjusted Life Years)</a:t>
            </a:r>
          </a:p>
          <a:p>
            <a:pPr lvl="2">
              <a:lnSpc>
                <a:spcPct val="100000"/>
              </a:lnSpc>
              <a:spcBef>
                <a:spcPts val="0"/>
              </a:spcBef>
            </a:pPr>
            <a:r>
              <a:rPr lang="en-US" sz="1600" noProof="0" dirty="0"/>
              <a:t>A numerical representation of how long and how well a person lives</a:t>
            </a:r>
          </a:p>
        </p:txBody>
      </p:sp>
      <p:sp>
        <p:nvSpPr>
          <p:cNvPr id="4" name="Slide Number Placeholder 3">
            <a:extLst>
              <a:ext uri="{FF2B5EF4-FFF2-40B4-BE49-F238E27FC236}">
                <a16:creationId xmlns:a16="http://schemas.microsoft.com/office/drawing/2014/main" id="{ACCF6154-0054-2BC7-5EB5-02C6D7A111D0}"/>
              </a:ext>
            </a:extLst>
          </p:cNvPr>
          <p:cNvSpPr>
            <a:spLocks noGrp="1"/>
          </p:cNvSpPr>
          <p:nvPr>
            <p:ph type="sldNum" sz="quarter" idx="4"/>
          </p:nvPr>
        </p:nvSpPr>
        <p:spPr/>
        <p:txBody>
          <a:bodyPr/>
          <a:lstStyle/>
          <a:p>
            <a:fld id="{B5CEABB6-07DC-46E8-9B57-56EC44A396E5}" type="slidenum">
              <a:rPr lang="en-US" noProof="0" smtClean="0"/>
              <a:pPr/>
              <a:t>14</a:t>
            </a:fld>
            <a:endParaRPr lang="en-US" noProof="0" dirty="0"/>
          </a:p>
        </p:txBody>
      </p:sp>
      <p:sp>
        <p:nvSpPr>
          <p:cNvPr id="5" name="Table Placeholder 4">
            <a:extLst>
              <a:ext uri="{FF2B5EF4-FFF2-40B4-BE49-F238E27FC236}">
                <a16:creationId xmlns:a16="http://schemas.microsoft.com/office/drawing/2014/main" id="{8C6C045F-4D0B-6492-B0FF-C716D99C7149}"/>
              </a:ext>
            </a:extLst>
          </p:cNvPr>
          <p:cNvSpPr>
            <a:spLocks noGrp="1"/>
          </p:cNvSpPr>
          <p:nvPr>
            <p:ph type="tbl" sz="quarter" idx="11"/>
          </p:nvPr>
        </p:nvSpPr>
        <p:spPr>
          <a:xfrm>
            <a:off x="467139" y="1081582"/>
            <a:ext cx="11221278" cy="735496"/>
          </a:xfrm>
        </p:spPr>
        <p:txBody>
          <a:bodyPr/>
          <a:lstStyle/>
          <a:p>
            <a:r>
              <a:rPr lang="en-US" noProof="0" dirty="0"/>
              <a:t>Define benefits (effects) and costs based on the decision objective. In health economics, effects are often measured using QALYs (QoL × survival years).</a:t>
            </a:r>
          </a:p>
        </p:txBody>
      </p:sp>
      <p:sp>
        <p:nvSpPr>
          <p:cNvPr id="40" name="Rectangle 39">
            <a:extLst>
              <a:ext uri="{FF2B5EF4-FFF2-40B4-BE49-F238E27FC236}">
                <a16:creationId xmlns:a16="http://schemas.microsoft.com/office/drawing/2014/main" id="{1D6CBF43-354A-9D23-4C92-350B868B6282}"/>
              </a:ext>
            </a:extLst>
          </p:cNvPr>
          <p:cNvSpPr/>
          <p:nvPr/>
        </p:nvSpPr>
        <p:spPr>
          <a:xfrm>
            <a:off x="4694922" y="1938130"/>
            <a:ext cx="120917" cy="469204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34" name="Straight Connector 33">
            <a:extLst>
              <a:ext uri="{FF2B5EF4-FFF2-40B4-BE49-F238E27FC236}">
                <a16:creationId xmlns:a16="http://schemas.microsoft.com/office/drawing/2014/main" id="{0CF322CE-0298-3848-2B0F-65C01C56DDA4}"/>
              </a:ext>
            </a:extLst>
          </p:cNvPr>
          <p:cNvCxnSpPr>
            <a:cxnSpLocks/>
            <a:stCxn id="50" idx="3"/>
            <a:endCxn id="40" idx="1"/>
          </p:cNvCxnSpPr>
          <p:nvPr/>
        </p:nvCxnSpPr>
        <p:spPr>
          <a:xfrm>
            <a:off x="3989294" y="2767882"/>
            <a:ext cx="705628" cy="1516271"/>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FE19DC4E-AEE1-F482-8400-E0926194712B}"/>
              </a:ext>
            </a:extLst>
          </p:cNvPr>
          <p:cNvGrpSpPr/>
          <p:nvPr/>
        </p:nvGrpSpPr>
        <p:grpSpPr>
          <a:xfrm>
            <a:off x="5839371" y="5074351"/>
            <a:ext cx="2412053" cy="1598303"/>
            <a:chOff x="8657895" y="2511220"/>
            <a:chExt cx="1993431" cy="1091662"/>
          </a:xfrm>
        </p:grpSpPr>
        <p:sp>
          <p:nvSpPr>
            <p:cNvPr id="43" name="Rectangle 42">
              <a:extLst>
                <a:ext uri="{FF2B5EF4-FFF2-40B4-BE49-F238E27FC236}">
                  <a16:creationId xmlns:a16="http://schemas.microsoft.com/office/drawing/2014/main" id="{F44368A7-3301-8FF9-D1C5-CB809B848EE0}"/>
                </a:ext>
              </a:extLst>
            </p:cNvPr>
            <p:cNvSpPr/>
            <p:nvPr/>
          </p:nvSpPr>
          <p:spPr>
            <a:xfrm>
              <a:off x="9065486" y="3436938"/>
              <a:ext cx="1225938" cy="1423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latin typeface="Arial" panose="020B0604020202020204" pitchFamily="34" charset="0"/>
                  <a:ea typeface="Meiryo UI" panose="020B0604030504040204" pitchFamily="50" charset="-128"/>
                  <a:cs typeface="Arial" panose="020B0604020202020204" pitchFamily="34" charset="0"/>
                </a:rPr>
                <a:t>Survival years</a:t>
              </a:r>
            </a:p>
          </p:txBody>
        </p:sp>
        <p:cxnSp>
          <p:nvCxnSpPr>
            <p:cNvPr id="36" name="Straight Arrow Connector 35">
              <a:extLst>
                <a:ext uri="{FF2B5EF4-FFF2-40B4-BE49-F238E27FC236}">
                  <a16:creationId xmlns:a16="http://schemas.microsoft.com/office/drawing/2014/main" id="{784CDCE3-D02C-9170-34B6-C9D51662FB1C}"/>
                </a:ext>
              </a:extLst>
            </p:cNvPr>
            <p:cNvCxnSpPr>
              <a:cxnSpLocks/>
              <a:stCxn id="55" idx="11"/>
            </p:cNvCxnSpPr>
            <p:nvPr/>
          </p:nvCxnSpPr>
          <p:spPr>
            <a:xfrm flipV="1">
              <a:off x="8875432" y="2511220"/>
              <a:ext cx="0" cy="8731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C18556D1-B26B-FB4B-7382-43ED4FBDA03C}"/>
                </a:ext>
              </a:extLst>
            </p:cNvPr>
            <p:cNvSpPr/>
            <p:nvPr/>
          </p:nvSpPr>
          <p:spPr>
            <a:xfrm>
              <a:off x="8657895" y="2616277"/>
              <a:ext cx="176493" cy="7193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QoL</a:t>
              </a:r>
            </a:p>
          </p:txBody>
        </p:sp>
        <p:sp>
          <p:nvSpPr>
            <p:cNvPr id="42" name="Rectangle 41">
              <a:extLst>
                <a:ext uri="{FF2B5EF4-FFF2-40B4-BE49-F238E27FC236}">
                  <a16:creationId xmlns:a16="http://schemas.microsoft.com/office/drawing/2014/main" id="{5D43FE90-1E5F-6E32-5D31-15F48E8E7F26}"/>
                </a:ext>
              </a:extLst>
            </p:cNvPr>
            <p:cNvSpPr/>
            <p:nvPr/>
          </p:nvSpPr>
          <p:spPr>
            <a:xfrm>
              <a:off x="10432425" y="3413375"/>
              <a:ext cx="197803" cy="1895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5</a:t>
              </a:r>
            </a:p>
          </p:txBody>
        </p:sp>
        <p:cxnSp>
          <p:nvCxnSpPr>
            <p:cNvPr id="37" name="Straight Arrow Connector 36">
              <a:extLst>
                <a:ext uri="{FF2B5EF4-FFF2-40B4-BE49-F238E27FC236}">
                  <a16:creationId xmlns:a16="http://schemas.microsoft.com/office/drawing/2014/main" id="{4EA304C8-442D-E414-BC29-928850F585EC}"/>
                </a:ext>
              </a:extLst>
            </p:cNvPr>
            <p:cNvCxnSpPr>
              <a:cxnSpLocks/>
              <a:stCxn id="55" idx="11"/>
            </p:cNvCxnSpPr>
            <p:nvPr/>
          </p:nvCxnSpPr>
          <p:spPr>
            <a:xfrm>
              <a:off x="8875432" y="3384362"/>
              <a:ext cx="1775894" cy="66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5" name="Rectangle 44">
            <a:extLst>
              <a:ext uri="{FF2B5EF4-FFF2-40B4-BE49-F238E27FC236}">
                <a16:creationId xmlns:a16="http://schemas.microsoft.com/office/drawing/2014/main" id="{65704E31-4FA1-9820-066E-151498E09DD6}"/>
              </a:ext>
            </a:extLst>
          </p:cNvPr>
          <p:cNvSpPr/>
          <p:nvPr/>
        </p:nvSpPr>
        <p:spPr>
          <a:xfrm>
            <a:off x="5833140" y="5081297"/>
            <a:ext cx="239341" cy="2774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1</a:t>
            </a:r>
          </a:p>
        </p:txBody>
      </p:sp>
      <p:sp>
        <p:nvSpPr>
          <p:cNvPr id="62" name="Rectangle 61">
            <a:extLst>
              <a:ext uri="{FF2B5EF4-FFF2-40B4-BE49-F238E27FC236}">
                <a16:creationId xmlns:a16="http://schemas.microsoft.com/office/drawing/2014/main" id="{9E74BA30-4A7D-A018-F34A-0E53232A4622}"/>
              </a:ext>
            </a:extLst>
          </p:cNvPr>
          <p:cNvSpPr/>
          <p:nvPr/>
        </p:nvSpPr>
        <p:spPr>
          <a:xfrm>
            <a:off x="8527311" y="5362058"/>
            <a:ext cx="3318466" cy="9248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1×1yr＋0.8×2yrs＋0.5×2yrs</a:t>
            </a:r>
          </a:p>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＝1＋1.6＋1</a:t>
            </a:r>
          </a:p>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＝3.6QALYs</a:t>
            </a:r>
          </a:p>
        </p:txBody>
      </p:sp>
      <p:cxnSp>
        <p:nvCxnSpPr>
          <p:cNvPr id="64" name="Straight Connector 63">
            <a:extLst>
              <a:ext uri="{FF2B5EF4-FFF2-40B4-BE49-F238E27FC236}">
                <a16:creationId xmlns:a16="http://schemas.microsoft.com/office/drawing/2014/main" id="{F145A031-2D52-3688-A8A2-BDE2BC26D9A3}"/>
              </a:ext>
            </a:extLst>
          </p:cNvPr>
          <p:cNvCxnSpPr>
            <a:cxnSpLocks/>
            <a:endCxn id="62" idx="1"/>
          </p:cNvCxnSpPr>
          <p:nvPr/>
        </p:nvCxnSpPr>
        <p:spPr>
          <a:xfrm flipV="1">
            <a:off x="7848657" y="5824464"/>
            <a:ext cx="678654" cy="1559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789EE738-E58B-A650-DCCF-654635F03C84}"/>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1</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7" name="Oval 6">
            <a:extLst>
              <a:ext uri="{FF2B5EF4-FFF2-40B4-BE49-F238E27FC236}">
                <a16:creationId xmlns:a16="http://schemas.microsoft.com/office/drawing/2014/main" id="{4CAAD622-9907-53FC-5E0E-4DA6DD2C3810}"/>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ea typeface="Meiryo UI" panose="020B0604030504040204" pitchFamily="50" charset="-128"/>
                <a:cs typeface="Arial" panose="020B0604020202020204" pitchFamily="34" charset="0"/>
              </a:rPr>
              <a:t>2</a:t>
            </a:r>
            <a:endParaRPr lang="en-US" b="1"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8" name="Oval 7">
            <a:extLst>
              <a:ext uri="{FF2B5EF4-FFF2-40B4-BE49-F238E27FC236}">
                <a16:creationId xmlns:a16="http://schemas.microsoft.com/office/drawing/2014/main" id="{FE81A763-3885-16D5-BC5A-AAD39555C035}"/>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3</a:t>
            </a:r>
          </a:p>
        </p:txBody>
      </p:sp>
      <p:sp>
        <p:nvSpPr>
          <p:cNvPr id="9" name="Oval 8">
            <a:extLst>
              <a:ext uri="{FF2B5EF4-FFF2-40B4-BE49-F238E27FC236}">
                <a16:creationId xmlns:a16="http://schemas.microsoft.com/office/drawing/2014/main" id="{226CE5EF-06FA-9C25-1930-C747D9670079}"/>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4</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10" name="Oval 9">
            <a:extLst>
              <a:ext uri="{FF2B5EF4-FFF2-40B4-BE49-F238E27FC236}">
                <a16:creationId xmlns:a16="http://schemas.microsoft.com/office/drawing/2014/main" id="{0068D5B4-D8DC-FAF3-A4FB-70F53187DC46}"/>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5</a:t>
            </a:r>
          </a:p>
        </p:txBody>
      </p:sp>
      <p:sp>
        <p:nvSpPr>
          <p:cNvPr id="11" name="Oval 10">
            <a:extLst>
              <a:ext uri="{FF2B5EF4-FFF2-40B4-BE49-F238E27FC236}">
                <a16:creationId xmlns:a16="http://schemas.microsoft.com/office/drawing/2014/main" id="{07EA3A7B-9FCE-30E0-4906-F2E4BDA737F4}"/>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6</a:t>
            </a:r>
          </a:p>
        </p:txBody>
      </p:sp>
      <p:sp>
        <p:nvSpPr>
          <p:cNvPr id="12" name="Oval 11">
            <a:extLst>
              <a:ext uri="{FF2B5EF4-FFF2-40B4-BE49-F238E27FC236}">
                <a16:creationId xmlns:a16="http://schemas.microsoft.com/office/drawing/2014/main" id="{3C384BFC-C440-5A9D-AF42-6B6B2EEFF025}"/>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7</a:t>
            </a:r>
          </a:p>
        </p:txBody>
      </p:sp>
      <p:sp>
        <p:nvSpPr>
          <p:cNvPr id="13" name="Oval 12">
            <a:extLst>
              <a:ext uri="{FF2B5EF4-FFF2-40B4-BE49-F238E27FC236}">
                <a16:creationId xmlns:a16="http://schemas.microsoft.com/office/drawing/2014/main" id="{551D1878-DC98-3948-6B60-E642AF5DA16B}"/>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8</a:t>
            </a:r>
          </a:p>
        </p:txBody>
      </p:sp>
      <p:grpSp>
        <p:nvGrpSpPr>
          <p:cNvPr id="14" name="Group 13">
            <a:extLst>
              <a:ext uri="{FF2B5EF4-FFF2-40B4-BE49-F238E27FC236}">
                <a16:creationId xmlns:a16="http://schemas.microsoft.com/office/drawing/2014/main" id="{75FB0BCD-2CD0-5897-0E28-B3D40DB9F371}"/>
              </a:ext>
            </a:extLst>
          </p:cNvPr>
          <p:cNvGrpSpPr/>
          <p:nvPr/>
        </p:nvGrpSpPr>
        <p:grpSpPr>
          <a:xfrm>
            <a:off x="467139" y="108959"/>
            <a:ext cx="4197304" cy="307297"/>
            <a:chOff x="562270" y="127168"/>
            <a:chExt cx="4197304" cy="307297"/>
          </a:xfrm>
        </p:grpSpPr>
        <p:sp>
          <p:nvSpPr>
            <p:cNvPr id="15" name="Arrow: Pentagon 14">
              <a:extLst>
                <a:ext uri="{FF2B5EF4-FFF2-40B4-BE49-F238E27FC236}">
                  <a16:creationId xmlns:a16="http://schemas.microsoft.com/office/drawing/2014/main" id="{FD7A2C56-7699-BD02-7D96-BD4B837B51A6}"/>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6" name="Arrow: Pentagon 15">
              <a:extLst>
                <a:ext uri="{FF2B5EF4-FFF2-40B4-BE49-F238E27FC236}">
                  <a16:creationId xmlns:a16="http://schemas.microsoft.com/office/drawing/2014/main" id="{F20E8C35-1179-2C52-9F4D-6FEF9C8436D8}"/>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7" name="Arrow: Pentagon 16">
              <a:extLst>
                <a:ext uri="{FF2B5EF4-FFF2-40B4-BE49-F238E27FC236}">
                  <a16:creationId xmlns:a16="http://schemas.microsoft.com/office/drawing/2014/main" id="{4FB8023C-DD39-A0EB-AEA1-E6A08E41DD83}"/>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3785388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96B4C-BC28-7337-94AB-D43CCE16BA68}"/>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206F7DD3-32AD-C837-C040-D4D96D847DB8}"/>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Define the problem and objectives</a:t>
            </a:r>
          </a:p>
        </p:txBody>
      </p:sp>
      <p:sp>
        <p:nvSpPr>
          <p:cNvPr id="55" name="Rectangle 54">
            <a:extLst>
              <a:ext uri="{FF2B5EF4-FFF2-40B4-BE49-F238E27FC236}">
                <a16:creationId xmlns:a16="http://schemas.microsoft.com/office/drawing/2014/main" id="{35461EFD-A8FD-1369-9878-8518BCFE9826}"/>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Design simulation model</a:t>
            </a:r>
          </a:p>
        </p:txBody>
      </p:sp>
      <p:sp>
        <p:nvSpPr>
          <p:cNvPr id="57" name="Rectangle 56">
            <a:extLst>
              <a:ext uri="{FF2B5EF4-FFF2-40B4-BE49-F238E27FC236}">
                <a16:creationId xmlns:a16="http://schemas.microsoft.com/office/drawing/2014/main" id="{8B0F0AD5-80B6-A013-ADEC-5B9D18813611}"/>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Select simulation model</a:t>
            </a:r>
          </a:p>
        </p:txBody>
      </p:sp>
      <p:sp>
        <p:nvSpPr>
          <p:cNvPr id="61" name="Rectangle 60">
            <a:extLst>
              <a:ext uri="{FF2B5EF4-FFF2-40B4-BE49-F238E27FC236}">
                <a16:creationId xmlns:a16="http://schemas.microsoft.com/office/drawing/2014/main" id="{49C422A6-B7FA-8BF8-0953-3C9EF9056274}"/>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Define outcomes</a:t>
            </a:r>
          </a:p>
        </p:txBody>
      </p:sp>
      <p:sp>
        <p:nvSpPr>
          <p:cNvPr id="69" name="Rectangle 68">
            <a:extLst>
              <a:ext uri="{FF2B5EF4-FFF2-40B4-BE49-F238E27FC236}">
                <a16:creationId xmlns:a16="http://schemas.microsoft.com/office/drawing/2014/main" id="{2DF2CE6F-0B4A-8E22-F96D-C27F339616A6}"/>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Select model inputs</a:t>
            </a:r>
          </a:p>
        </p:txBody>
      </p:sp>
      <p:sp>
        <p:nvSpPr>
          <p:cNvPr id="74" name="Rectangle 73">
            <a:extLst>
              <a:ext uri="{FF2B5EF4-FFF2-40B4-BE49-F238E27FC236}">
                <a16:creationId xmlns:a16="http://schemas.microsoft.com/office/drawing/2014/main" id="{734D222D-3CE7-329F-96A7-7992AA0145F6}"/>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Simulate multiple decision options</a:t>
            </a:r>
          </a:p>
        </p:txBody>
      </p:sp>
      <p:sp>
        <p:nvSpPr>
          <p:cNvPr id="75" name="Rectangle 74">
            <a:extLst>
              <a:ext uri="{FF2B5EF4-FFF2-40B4-BE49-F238E27FC236}">
                <a16:creationId xmlns:a16="http://schemas.microsoft.com/office/drawing/2014/main" id="{BED3887B-8AA6-430F-1247-4B6D9835A30D}"/>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Sensitivity and scenario analyses</a:t>
            </a:r>
          </a:p>
        </p:txBody>
      </p:sp>
      <p:sp>
        <p:nvSpPr>
          <p:cNvPr id="76" name="Rectangle 75">
            <a:extLst>
              <a:ext uri="{FF2B5EF4-FFF2-40B4-BE49-F238E27FC236}">
                <a16:creationId xmlns:a16="http://schemas.microsoft.com/office/drawing/2014/main" id="{B1BCDC28-6F63-A142-3D1E-8C39CFDE6710}"/>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Evaluate results</a:t>
            </a:r>
          </a:p>
        </p:txBody>
      </p:sp>
      <p:sp>
        <p:nvSpPr>
          <p:cNvPr id="77" name="Isosceles Triangle 76">
            <a:extLst>
              <a:ext uri="{FF2B5EF4-FFF2-40B4-BE49-F238E27FC236}">
                <a16:creationId xmlns:a16="http://schemas.microsoft.com/office/drawing/2014/main" id="{57A0B435-8BAC-F4FC-D08A-7E1DF1DCF13B}"/>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78" name="Isosceles Triangle 77">
            <a:extLst>
              <a:ext uri="{FF2B5EF4-FFF2-40B4-BE49-F238E27FC236}">
                <a16:creationId xmlns:a16="http://schemas.microsoft.com/office/drawing/2014/main" id="{117835DB-DD36-C36D-D2BC-AD6FD05B9652}"/>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79" name="Isosceles Triangle 78">
            <a:extLst>
              <a:ext uri="{FF2B5EF4-FFF2-40B4-BE49-F238E27FC236}">
                <a16:creationId xmlns:a16="http://schemas.microsoft.com/office/drawing/2014/main" id="{49786D83-08FB-A25E-38F2-86C08975CD4C}"/>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80" name="Isosceles Triangle 79">
            <a:extLst>
              <a:ext uri="{FF2B5EF4-FFF2-40B4-BE49-F238E27FC236}">
                <a16:creationId xmlns:a16="http://schemas.microsoft.com/office/drawing/2014/main" id="{F97728A4-956C-647B-85A4-8AAFF3D40141}"/>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81" name="Isosceles Triangle 80">
            <a:extLst>
              <a:ext uri="{FF2B5EF4-FFF2-40B4-BE49-F238E27FC236}">
                <a16:creationId xmlns:a16="http://schemas.microsoft.com/office/drawing/2014/main" id="{B0899287-14C5-FAF2-297C-2693BF0F814D}"/>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82" name="Isosceles Triangle 81">
            <a:extLst>
              <a:ext uri="{FF2B5EF4-FFF2-40B4-BE49-F238E27FC236}">
                <a16:creationId xmlns:a16="http://schemas.microsoft.com/office/drawing/2014/main" id="{FBDF90CE-CCBD-4B30-468A-A8C759D66C03}"/>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83" name="Isosceles Triangle 82">
            <a:extLst>
              <a:ext uri="{FF2B5EF4-FFF2-40B4-BE49-F238E27FC236}">
                <a16:creationId xmlns:a16="http://schemas.microsoft.com/office/drawing/2014/main" id="{46C5982C-DFBB-B26D-DAB1-4DDDFC32BD55}"/>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0" name="Rectangle 49">
            <a:extLst>
              <a:ext uri="{FF2B5EF4-FFF2-40B4-BE49-F238E27FC236}">
                <a16:creationId xmlns:a16="http://schemas.microsoft.com/office/drawing/2014/main" id="{606A49CF-01B3-9BC0-42F2-A3A610AE9C92}"/>
              </a:ext>
            </a:extLst>
          </p:cNvPr>
          <p:cNvSpPr/>
          <p:nvPr/>
        </p:nvSpPr>
        <p:spPr>
          <a:xfrm>
            <a:off x="11529519" y="3719203"/>
            <a:ext cx="390684" cy="12847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Complexity</a:t>
            </a:r>
          </a:p>
        </p:txBody>
      </p:sp>
      <p:sp>
        <p:nvSpPr>
          <p:cNvPr id="2" name="Title 1">
            <a:extLst>
              <a:ext uri="{FF2B5EF4-FFF2-40B4-BE49-F238E27FC236}">
                <a16:creationId xmlns:a16="http://schemas.microsoft.com/office/drawing/2014/main" id="{1A966D92-E2E9-F90D-EE7B-85B09D2328D2}"/>
              </a:ext>
            </a:extLst>
          </p:cNvPr>
          <p:cNvSpPr>
            <a:spLocks noGrp="1"/>
          </p:cNvSpPr>
          <p:nvPr>
            <p:ph type="title"/>
          </p:nvPr>
        </p:nvSpPr>
        <p:spPr/>
        <p:txBody>
          <a:bodyPr/>
          <a:lstStyle/>
          <a:p>
            <a:r>
              <a:rPr lang="en-US" noProof="0" dirty="0"/>
              <a:t>Step③ Selecting a Simulation Model</a:t>
            </a:r>
          </a:p>
        </p:txBody>
      </p:sp>
      <p:sp>
        <p:nvSpPr>
          <p:cNvPr id="4" name="Slide Number Placeholder 3">
            <a:extLst>
              <a:ext uri="{FF2B5EF4-FFF2-40B4-BE49-F238E27FC236}">
                <a16:creationId xmlns:a16="http://schemas.microsoft.com/office/drawing/2014/main" id="{56D82E96-43AF-1861-1BE8-D1494F64C87E}"/>
              </a:ext>
            </a:extLst>
          </p:cNvPr>
          <p:cNvSpPr>
            <a:spLocks noGrp="1"/>
          </p:cNvSpPr>
          <p:nvPr>
            <p:ph type="sldNum" sz="quarter" idx="4"/>
          </p:nvPr>
        </p:nvSpPr>
        <p:spPr/>
        <p:txBody>
          <a:bodyPr/>
          <a:lstStyle/>
          <a:p>
            <a:fld id="{B5CEABB6-07DC-46E8-9B57-56EC44A396E5}" type="slidenum">
              <a:rPr lang="en-US" noProof="0" smtClean="0"/>
              <a:pPr/>
              <a:t>15</a:t>
            </a:fld>
            <a:endParaRPr lang="en-US" noProof="0" dirty="0"/>
          </a:p>
        </p:txBody>
      </p:sp>
      <p:sp>
        <p:nvSpPr>
          <p:cNvPr id="5" name="Table Placeholder 4">
            <a:extLst>
              <a:ext uri="{FF2B5EF4-FFF2-40B4-BE49-F238E27FC236}">
                <a16:creationId xmlns:a16="http://schemas.microsoft.com/office/drawing/2014/main" id="{04522603-93C4-5658-186D-B11BDF9C2A1E}"/>
              </a:ext>
            </a:extLst>
          </p:cNvPr>
          <p:cNvSpPr>
            <a:spLocks noGrp="1"/>
          </p:cNvSpPr>
          <p:nvPr>
            <p:ph type="tbl" sz="quarter" idx="11"/>
          </p:nvPr>
        </p:nvSpPr>
        <p:spPr/>
        <p:txBody>
          <a:bodyPr/>
          <a:lstStyle/>
          <a:p>
            <a:r>
              <a:rPr lang="en-US" noProof="0" dirty="0"/>
              <a:t>Choose the model that best fits the decision problem.</a:t>
            </a:r>
          </a:p>
        </p:txBody>
      </p:sp>
      <p:sp>
        <p:nvSpPr>
          <p:cNvPr id="40" name="Rectangle 39">
            <a:extLst>
              <a:ext uri="{FF2B5EF4-FFF2-40B4-BE49-F238E27FC236}">
                <a16:creationId xmlns:a16="http://schemas.microsoft.com/office/drawing/2014/main" id="{BBF17A21-7B36-D776-072C-7FA049A6341A}"/>
              </a:ext>
            </a:extLst>
          </p:cNvPr>
          <p:cNvSpPr/>
          <p:nvPr/>
        </p:nvSpPr>
        <p:spPr>
          <a:xfrm>
            <a:off x="4694922" y="1938130"/>
            <a:ext cx="120917" cy="469204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34" name="Straight Connector 33">
            <a:extLst>
              <a:ext uri="{FF2B5EF4-FFF2-40B4-BE49-F238E27FC236}">
                <a16:creationId xmlns:a16="http://schemas.microsoft.com/office/drawing/2014/main" id="{224FF065-D576-CBF2-8D49-4F85BD40226D}"/>
              </a:ext>
            </a:extLst>
          </p:cNvPr>
          <p:cNvCxnSpPr>
            <a:cxnSpLocks/>
            <a:stCxn id="57" idx="3"/>
            <a:endCxn id="40" idx="1"/>
          </p:cNvCxnSpPr>
          <p:nvPr/>
        </p:nvCxnSpPr>
        <p:spPr>
          <a:xfrm>
            <a:off x="3989294" y="3374392"/>
            <a:ext cx="705628" cy="909761"/>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D3F8B82B-6149-D7EF-5862-B80EFAA63218}"/>
              </a:ext>
            </a:extLst>
          </p:cNvPr>
          <p:cNvSpPr/>
          <p:nvPr/>
        </p:nvSpPr>
        <p:spPr>
          <a:xfrm>
            <a:off x="4881092" y="2269648"/>
            <a:ext cx="1909196"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Decision Tree Analysis</a:t>
            </a:r>
            <a:r>
              <a:rPr lang="en-US" sz="1400"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5" name="Rectangle 34">
            <a:extLst>
              <a:ext uri="{FF2B5EF4-FFF2-40B4-BE49-F238E27FC236}">
                <a16:creationId xmlns:a16="http://schemas.microsoft.com/office/drawing/2014/main" id="{E224FA53-59B5-CA97-A18C-7021A7D4F887}"/>
              </a:ext>
            </a:extLst>
          </p:cNvPr>
          <p:cNvSpPr/>
          <p:nvPr/>
        </p:nvSpPr>
        <p:spPr>
          <a:xfrm>
            <a:off x="4881092" y="3170623"/>
            <a:ext cx="1909196"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Markov model</a:t>
            </a:r>
            <a:endParaRPr lang="en-US" sz="14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6" name="Rectangle 35">
            <a:extLst>
              <a:ext uri="{FF2B5EF4-FFF2-40B4-BE49-F238E27FC236}">
                <a16:creationId xmlns:a16="http://schemas.microsoft.com/office/drawing/2014/main" id="{157A1DC1-7B94-7A0A-B325-E7A69B30208A}"/>
              </a:ext>
            </a:extLst>
          </p:cNvPr>
          <p:cNvSpPr/>
          <p:nvPr/>
        </p:nvSpPr>
        <p:spPr>
          <a:xfrm>
            <a:off x="4881092" y="4071599"/>
            <a:ext cx="1909196"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Microsimulation</a:t>
            </a:r>
          </a:p>
        </p:txBody>
      </p:sp>
      <p:sp>
        <p:nvSpPr>
          <p:cNvPr id="38" name="Rectangle 37">
            <a:extLst>
              <a:ext uri="{FF2B5EF4-FFF2-40B4-BE49-F238E27FC236}">
                <a16:creationId xmlns:a16="http://schemas.microsoft.com/office/drawing/2014/main" id="{C8F7E176-9C19-283C-BBE1-DAECE0276B9D}"/>
              </a:ext>
            </a:extLst>
          </p:cNvPr>
          <p:cNvSpPr/>
          <p:nvPr/>
        </p:nvSpPr>
        <p:spPr>
          <a:xfrm>
            <a:off x="4881092" y="5873552"/>
            <a:ext cx="1909196"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Agent-based model</a:t>
            </a:r>
            <a:endParaRPr lang="en-US" sz="14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9" name="Rectangle 38">
            <a:extLst>
              <a:ext uri="{FF2B5EF4-FFF2-40B4-BE49-F238E27FC236}">
                <a16:creationId xmlns:a16="http://schemas.microsoft.com/office/drawing/2014/main" id="{1D641C14-E49E-4425-B43A-A24848C31ED8}"/>
              </a:ext>
            </a:extLst>
          </p:cNvPr>
          <p:cNvSpPr/>
          <p:nvPr/>
        </p:nvSpPr>
        <p:spPr>
          <a:xfrm>
            <a:off x="6855540" y="2269648"/>
            <a:ext cx="2196135"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Visualizes choices and outcomes as branches.</a:t>
            </a:r>
          </a:p>
        </p:txBody>
      </p:sp>
      <p:sp>
        <p:nvSpPr>
          <p:cNvPr id="41" name="Rectangle 40">
            <a:extLst>
              <a:ext uri="{FF2B5EF4-FFF2-40B4-BE49-F238E27FC236}">
                <a16:creationId xmlns:a16="http://schemas.microsoft.com/office/drawing/2014/main" id="{AC12D85A-0E5E-76BF-8B91-CD3A68BC068C}"/>
              </a:ext>
            </a:extLst>
          </p:cNvPr>
          <p:cNvSpPr/>
          <p:nvPr/>
        </p:nvSpPr>
        <p:spPr>
          <a:xfrm>
            <a:off x="9116927" y="2269648"/>
            <a:ext cx="2196135"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indent="-90488">
              <a:buFont typeface="Arial" panose="020B0604020202020204" pitchFamily="34" charset="0"/>
              <a:buChar char="•"/>
            </a:pP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Limited ability to model time-varying events</a:t>
            </a:r>
          </a:p>
        </p:txBody>
      </p:sp>
      <p:cxnSp>
        <p:nvCxnSpPr>
          <p:cNvPr id="43" name="Straight Connector 42">
            <a:extLst>
              <a:ext uri="{FF2B5EF4-FFF2-40B4-BE49-F238E27FC236}">
                <a16:creationId xmlns:a16="http://schemas.microsoft.com/office/drawing/2014/main" id="{854731AF-8E08-6810-DEE8-AC8C2E99D98F}"/>
              </a:ext>
            </a:extLst>
          </p:cNvPr>
          <p:cNvCxnSpPr>
            <a:cxnSpLocks/>
          </p:cNvCxnSpPr>
          <p:nvPr/>
        </p:nvCxnSpPr>
        <p:spPr>
          <a:xfrm>
            <a:off x="4881092" y="2178208"/>
            <a:ext cx="19091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350CF32E-6B09-A3A1-38D5-63C895DBD94D}"/>
              </a:ext>
            </a:extLst>
          </p:cNvPr>
          <p:cNvSpPr/>
          <p:nvPr/>
        </p:nvSpPr>
        <p:spPr>
          <a:xfrm>
            <a:off x="4881092" y="1828801"/>
            <a:ext cx="1909196" cy="3036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Model</a:t>
            </a:r>
          </a:p>
        </p:txBody>
      </p:sp>
      <p:sp>
        <p:nvSpPr>
          <p:cNvPr id="45" name="Rectangle 44">
            <a:extLst>
              <a:ext uri="{FF2B5EF4-FFF2-40B4-BE49-F238E27FC236}">
                <a16:creationId xmlns:a16="http://schemas.microsoft.com/office/drawing/2014/main" id="{C2A043D2-49E9-7A5B-5D1C-12E6FADBDF3D}"/>
              </a:ext>
            </a:extLst>
          </p:cNvPr>
          <p:cNvSpPr/>
          <p:nvPr/>
        </p:nvSpPr>
        <p:spPr>
          <a:xfrm>
            <a:off x="4881092" y="6630175"/>
            <a:ext cx="6597628" cy="2268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sz="1200" noProof="0" dirty="0">
                <a:solidFill>
                  <a:schemeClr val="tx1"/>
                </a:solidFill>
                <a:latin typeface="Arial" panose="020B0604020202020204" pitchFamily="34" charset="0"/>
                <a:ea typeface="Meiryo UI" panose="020B0604030504040204" pitchFamily="50" charset="-128"/>
                <a:cs typeface="Arial" panose="020B0604020202020204" pitchFamily="34" charset="0"/>
              </a:rPr>
              <a:t>*:Different from machine-learning methods that identify predictors influencing the outcome variable.</a:t>
            </a:r>
          </a:p>
        </p:txBody>
      </p:sp>
      <p:cxnSp>
        <p:nvCxnSpPr>
          <p:cNvPr id="46" name="Straight Connector 45">
            <a:extLst>
              <a:ext uri="{FF2B5EF4-FFF2-40B4-BE49-F238E27FC236}">
                <a16:creationId xmlns:a16="http://schemas.microsoft.com/office/drawing/2014/main" id="{641EE46A-51AF-366C-64FA-F1F43BA066D6}"/>
              </a:ext>
            </a:extLst>
          </p:cNvPr>
          <p:cNvCxnSpPr/>
          <p:nvPr/>
        </p:nvCxnSpPr>
        <p:spPr>
          <a:xfrm>
            <a:off x="6855540" y="2178208"/>
            <a:ext cx="21961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EED4B3BB-B32C-E07A-5765-48373BD89D1E}"/>
              </a:ext>
            </a:extLst>
          </p:cNvPr>
          <p:cNvSpPr/>
          <p:nvPr/>
        </p:nvSpPr>
        <p:spPr>
          <a:xfrm>
            <a:off x="6855540" y="1828801"/>
            <a:ext cx="2196135" cy="3036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Outline</a:t>
            </a:r>
          </a:p>
        </p:txBody>
      </p:sp>
      <p:cxnSp>
        <p:nvCxnSpPr>
          <p:cNvPr id="49" name="Straight Arrow Connector 48">
            <a:extLst>
              <a:ext uri="{FF2B5EF4-FFF2-40B4-BE49-F238E27FC236}">
                <a16:creationId xmlns:a16="http://schemas.microsoft.com/office/drawing/2014/main" id="{682F058B-41C6-2848-6C82-EBC3F5E3A67A}"/>
              </a:ext>
            </a:extLst>
          </p:cNvPr>
          <p:cNvCxnSpPr>
            <a:cxnSpLocks/>
            <a:stCxn id="51" idx="4"/>
            <a:endCxn id="52" idx="0"/>
          </p:cNvCxnSpPr>
          <p:nvPr/>
        </p:nvCxnSpPr>
        <p:spPr>
          <a:xfrm>
            <a:off x="11501431" y="2654588"/>
            <a:ext cx="0" cy="357776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5FEACE9-DD23-DDBD-F893-3D7187951315}"/>
              </a:ext>
            </a:extLst>
          </p:cNvPr>
          <p:cNvCxnSpPr/>
          <p:nvPr/>
        </p:nvCxnSpPr>
        <p:spPr>
          <a:xfrm>
            <a:off x="9116927" y="2178208"/>
            <a:ext cx="21961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AF11B49F-679C-245B-A951-2F59D950C98D}"/>
              </a:ext>
            </a:extLst>
          </p:cNvPr>
          <p:cNvSpPr/>
          <p:nvPr/>
        </p:nvSpPr>
        <p:spPr>
          <a:xfrm>
            <a:off x="9116927" y="1828801"/>
            <a:ext cx="2196135" cy="3036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Characteristics</a:t>
            </a:r>
          </a:p>
        </p:txBody>
      </p:sp>
      <p:sp>
        <p:nvSpPr>
          <p:cNvPr id="60" name="Rectangle 59">
            <a:extLst>
              <a:ext uri="{FF2B5EF4-FFF2-40B4-BE49-F238E27FC236}">
                <a16:creationId xmlns:a16="http://schemas.microsoft.com/office/drawing/2014/main" id="{19D38219-D1D2-5C69-0695-ED9BF47D4AC0}"/>
              </a:ext>
            </a:extLst>
          </p:cNvPr>
          <p:cNvSpPr/>
          <p:nvPr/>
        </p:nvSpPr>
        <p:spPr>
          <a:xfrm>
            <a:off x="6855540" y="3170624"/>
            <a:ext cx="2196135"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Represents disease progression and state transitions over time.</a:t>
            </a:r>
          </a:p>
        </p:txBody>
      </p:sp>
      <p:sp>
        <p:nvSpPr>
          <p:cNvPr id="62" name="Rectangle 61">
            <a:extLst>
              <a:ext uri="{FF2B5EF4-FFF2-40B4-BE49-F238E27FC236}">
                <a16:creationId xmlns:a16="http://schemas.microsoft.com/office/drawing/2014/main" id="{70CE96F2-ABA4-D1D5-6AEE-EA25A15A036B}"/>
              </a:ext>
            </a:extLst>
          </p:cNvPr>
          <p:cNvSpPr/>
          <p:nvPr/>
        </p:nvSpPr>
        <p:spPr>
          <a:xfrm>
            <a:off x="9116927" y="3157306"/>
            <a:ext cx="2196135"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indent="-90488">
              <a:buFont typeface="Arial" panose="020B0604020202020204" pitchFamily="34" charset="0"/>
              <a:buChar char="•"/>
            </a:pP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Suitable for long-term processes; population level</a:t>
            </a:r>
          </a:p>
        </p:txBody>
      </p:sp>
      <p:sp>
        <p:nvSpPr>
          <p:cNvPr id="63" name="Rectangle 62">
            <a:extLst>
              <a:ext uri="{FF2B5EF4-FFF2-40B4-BE49-F238E27FC236}">
                <a16:creationId xmlns:a16="http://schemas.microsoft.com/office/drawing/2014/main" id="{7B566519-A180-B523-2059-9AC5CDA898FB}"/>
              </a:ext>
            </a:extLst>
          </p:cNvPr>
          <p:cNvSpPr/>
          <p:nvPr/>
        </p:nvSpPr>
        <p:spPr>
          <a:xfrm>
            <a:off x="6855540" y="4086103"/>
            <a:ext cx="2196135"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Predicts outcomes accounting for individual characteristics.</a:t>
            </a:r>
          </a:p>
        </p:txBody>
      </p:sp>
      <p:sp>
        <p:nvSpPr>
          <p:cNvPr id="64" name="Rectangle 63">
            <a:extLst>
              <a:ext uri="{FF2B5EF4-FFF2-40B4-BE49-F238E27FC236}">
                <a16:creationId xmlns:a16="http://schemas.microsoft.com/office/drawing/2014/main" id="{4B69DF4E-16E4-EB50-C872-BA8FA6D86191}"/>
              </a:ext>
            </a:extLst>
          </p:cNvPr>
          <p:cNvSpPr/>
          <p:nvPr/>
        </p:nvSpPr>
        <p:spPr>
          <a:xfrm>
            <a:off x="9116927" y="4072785"/>
            <a:ext cx="2196135"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indent="-90488">
              <a:buFont typeface="Arial" panose="020B0604020202020204" pitchFamily="34" charset="0"/>
              <a:buChar char="•"/>
            </a:pP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Individual level</a:t>
            </a:r>
          </a:p>
        </p:txBody>
      </p:sp>
      <p:sp>
        <p:nvSpPr>
          <p:cNvPr id="65" name="Rectangle 64">
            <a:extLst>
              <a:ext uri="{FF2B5EF4-FFF2-40B4-BE49-F238E27FC236}">
                <a16:creationId xmlns:a16="http://schemas.microsoft.com/office/drawing/2014/main" id="{657B5B83-74EF-C294-15F0-51CADB53CED4}"/>
              </a:ext>
            </a:extLst>
          </p:cNvPr>
          <p:cNvSpPr/>
          <p:nvPr/>
        </p:nvSpPr>
        <p:spPr>
          <a:xfrm>
            <a:off x="6855540" y="4981675"/>
            <a:ext cx="2196135"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Simulates the timing of individual events.</a:t>
            </a:r>
          </a:p>
        </p:txBody>
      </p:sp>
      <p:sp>
        <p:nvSpPr>
          <p:cNvPr id="66" name="Rectangle 65">
            <a:extLst>
              <a:ext uri="{FF2B5EF4-FFF2-40B4-BE49-F238E27FC236}">
                <a16:creationId xmlns:a16="http://schemas.microsoft.com/office/drawing/2014/main" id="{C4425871-4A13-E618-04D9-99BD3E90E731}"/>
              </a:ext>
            </a:extLst>
          </p:cNvPr>
          <p:cNvSpPr/>
          <p:nvPr/>
        </p:nvSpPr>
        <p:spPr>
          <a:xfrm>
            <a:off x="9116927" y="4968357"/>
            <a:ext cx="2196135"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indent="-90488">
              <a:buFont typeface="Arial" panose="020B0604020202020204" pitchFamily="34" charset="0"/>
              <a:buChar char="•"/>
            </a:pP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Focuses on process flows; individual level</a:t>
            </a:r>
          </a:p>
        </p:txBody>
      </p:sp>
      <p:sp>
        <p:nvSpPr>
          <p:cNvPr id="67" name="Rectangle 66">
            <a:extLst>
              <a:ext uri="{FF2B5EF4-FFF2-40B4-BE49-F238E27FC236}">
                <a16:creationId xmlns:a16="http://schemas.microsoft.com/office/drawing/2014/main" id="{20796F8D-79F3-A258-2C64-BBA37CCDA00E}"/>
              </a:ext>
            </a:extLst>
          </p:cNvPr>
          <p:cNvSpPr/>
          <p:nvPr/>
        </p:nvSpPr>
        <p:spPr>
          <a:xfrm>
            <a:off x="6855540" y="5873552"/>
            <a:ext cx="2196135"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Simulates interactions among individuals following rules.</a:t>
            </a:r>
          </a:p>
        </p:txBody>
      </p:sp>
      <p:sp>
        <p:nvSpPr>
          <p:cNvPr id="68" name="Rectangle 67">
            <a:extLst>
              <a:ext uri="{FF2B5EF4-FFF2-40B4-BE49-F238E27FC236}">
                <a16:creationId xmlns:a16="http://schemas.microsoft.com/office/drawing/2014/main" id="{3DF14669-BE8A-91E5-2C3D-3893573C9042}"/>
              </a:ext>
            </a:extLst>
          </p:cNvPr>
          <p:cNvSpPr/>
          <p:nvPr/>
        </p:nvSpPr>
        <p:spPr>
          <a:xfrm>
            <a:off x="9116927" y="5860234"/>
            <a:ext cx="2196135"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indent="-90488">
              <a:buFont typeface="Arial" panose="020B0604020202020204" pitchFamily="34" charset="0"/>
              <a:buChar char="•"/>
            </a:pP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Individual level</a:t>
            </a:r>
          </a:p>
        </p:txBody>
      </p:sp>
      <p:cxnSp>
        <p:nvCxnSpPr>
          <p:cNvPr id="70" name="Straight Connector 69">
            <a:extLst>
              <a:ext uri="{FF2B5EF4-FFF2-40B4-BE49-F238E27FC236}">
                <a16:creationId xmlns:a16="http://schemas.microsoft.com/office/drawing/2014/main" id="{C862B0BE-FCB5-0F72-2369-8D9AC1B91309}"/>
              </a:ext>
            </a:extLst>
          </p:cNvPr>
          <p:cNvCxnSpPr/>
          <p:nvPr/>
        </p:nvCxnSpPr>
        <p:spPr>
          <a:xfrm>
            <a:off x="4881092" y="3086646"/>
            <a:ext cx="6260134"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601ABAB-EB17-E760-98A4-C29BEDC65CEE}"/>
              </a:ext>
            </a:extLst>
          </p:cNvPr>
          <p:cNvCxnSpPr/>
          <p:nvPr/>
        </p:nvCxnSpPr>
        <p:spPr>
          <a:xfrm>
            <a:off x="4881092" y="3987622"/>
            <a:ext cx="6260134"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0D3D23A9-A814-C3DF-3C87-05061A5860A0}"/>
              </a:ext>
            </a:extLst>
          </p:cNvPr>
          <p:cNvCxnSpPr/>
          <p:nvPr/>
        </p:nvCxnSpPr>
        <p:spPr>
          <a:xfrm>
            <a:off x="4881092" y="4888598"/>
            <a:ext cx="6260134"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9BE6745-F00D-3897-22EC-7F7C3FDFE316}"/>
              </a:ext>
            </a:extLst>
          </p:cNvPr>
          <p:cNvCxnSpPr/>
          <p:nvPr/>
        </p:nvCxnSpPr>
        <p:spPr>
          <a:xfrm>
            <a:off x="4881092" y="5789573"/>
            <a:ext cx="6260134"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285B549F-206F-1C52-A4D9-14F2B4D6AF47}"/>
              </a:ext>
            </a:extLst>
          </p:cNvPr>
          <p:cNvSpPr/>
          <p:nvPr/>
        </p:nvSpPr>
        <p:spPr>
          <a:xfrm>
            <a:off x="4881092" y="4972575"/>
            <a:ext cx="1909196"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Discrete Event</a:t>
            </a:r>
          </a:p>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Simulation</a:t>
            </a:r>
          </a:p>
        </p:txBody>
      </p:sp>
      <p:sp>
        <p:nvSpPr>
          <p:cNvPr id="51" name="Oval 50">
            <a:extLst>
              <a:ext uri="{FF2B5EF4-FFF2-40B4-BE49-F238E27FC236}">
                <a16:creationId xmlns:a16="http://schemas.microsoft.com/office/drawing/2014/main" id="{151FDAE5-64DD-A1E9-F4AE-4C11BCA297E9}"/>
              </a:ext>
            </a:extLst>
          </p:cNvPr>
          <p:cNvSpPr/>
          <p:nvPr/>
        </p:nvSpPr>
        <p:spPr>
          <a:xfrm>
            <a:off x="11010202" y="2291812"/>
            <a:ext cx="982458" cy="36277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Low</a:t>
            </a:r>
          </a:p>
        </p:txBody>
      </p:sp>
      <p:sp>
        <p:nvSpPr>
          <p:cNvPr id="52" name="Oval 51">
            <a:extLst>
              <a:ext uri="{FF2B5EF4-FFF2-40B4-BE49-F238E27FC236}">
                <a16:creationId xmlns:a16="http://schemas.microsoft.com/office/drawing/2014/main" id="{9200AD3B-A5A6-E571-52FD-8C0AE40F25DF}"/>
              </a:ext>
            </a:extLst>
          </p:cNvPr>
          <p:cNvSpPr/>
          <p:nvPr/>
        </p:nvSpPr>
        <p:spPr>
          <a:xfrm>
            <a:off x="11010202" y="6232354"/>
            <a:ext cx="982458" cy="36277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High</a:t>
            </a:r>
          </a:p>
        </p:txBody>
      </p:sp>
      <p:sp>
        <p:nvSpPr>
          <p:cNvPr id="92" name="Oval 91">
            <a:extLst>
              <a:ext uri="{FF2B5EF4-FFF2-40B4-BE49-F238E27FC236}">
                <a16:creationId xmlns:a16="http://schemas.microsoft.com/office/drawing/2014/main" id="{5CED40DB-3B2A-8B67-4C20-A72BC5EC6DD9}"/>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1</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93" name="Oval 92">
            <a:extLst>
              <a:ext uri="{FF2B5EF4-FFF2-40B4-BE49-F238E27FC236}">
                <a16:creationId xmlns:a16="http://schemas.microsoft.com/office/drawing/2014/main" id="{503D5774-182D-3337-A540-6748BBD3AB2C}"/>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2</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94" name="Oval 93">
            <a:extLst>
              <a:ext uri="{FF2B5EF4-FFF2-40B4-BE49-F238E27FC236}">
                <a16:creationId xmlns:a16="http://schemas.microsoft.com/office/drawing/2014/main" id="{8BA5AAFD-82CD-295B-5374-3522D77D21FF}"/>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bg1"/>
                </a:solidFill>
                <a:latin typeface="Arial" panose="020B0604020202020204" pitchFamily="34" charset="0"/>
                <a:ea typeface="Meiryo UI" panose="020B0604030504040204" pitchFamily="50" charset="-128"/>
                <a:cs typeface="Arial" panose="020B0604020202020204" pitchFamily="34" charset="0"/>
              </a:rPr>
              <a:t>3</a:t>
            </a:r>
          </a:p>
        </p:txBody>
      </p:sp>
      <p:sp>
        <p:nvSpPr>
          <p:cNvPr id="95" name="Oval 94">
            <a:extLst>
              <a:ext uri="{FF2B5EF4-FFF2-40B4-BE49-F238E27FC236}">
                <a16:creationId xmlns:a16="http://schemas.microsoft.com/office/drawing/2014/main" id="{1F685E73-4D8C-907F-BC6D-6E948F3D1566}"/>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4</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96" name="Oval 95">
            <a:extLst>
              <a:ext uri="{FF2B5EF4-FFF2-40B4-BE49-F238E27FC236}">
                <a16:creationId xmlns:a16="http://schemas.microsoft.com/office/drawing/2014/main" id="{F8A70E23-45F0-AFB0-BEA3-709C2DA90F13}"/>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5</a:t>
            </a:r>
          </a:p>
        </p:txBody>
      </p:sp>
      <p:sp>
        <p:nvSpPr>
          <p:cNvPr id="97" name="Oval 96">
            <a:extLst>
              <a:ext uri="{FF2B5EF4-FFF2-40B4-BE49-F238E27FC236}">
                <a16:creationId xmlns:a16="http://schemas.microsoft.com/office/drawing/2014/main" id="{520F3B53-0042-60BA-693D-63A4C945D748}"/>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6</a:t>
            </a:r>
          </a:p>
        </p:txBody>
      </p:sp>
      <p:sp>
        <p:nvSpPr>
          <p:cNvPr id="98" name="Oval 97">
            <a:extLst>
              <a:ext uri="{FF2B5EF4-FFF2-40B4-BE49-F238E27FC236}">
                <a16:creationId xmlns:a16="http://schemas.microsoft.com/office/drawing/2014/main" id="{2D5685FE-F347-4EB6-FAD1-3CF57BA558B7}"/>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7</a:t>
            </a:r>
          </a:p>
        </p:txBody>
      </p:sp>
      <p:sp>
        <p:nvSpPr>
          <p:cNvPr id="99" name="Oval 98">
            <a:extLst>
              <a:ext uri="{FF2B5EF4-FFF2-40B4-BE49-F238E27FC236}">
                <a16:creationId xmlns:a16="http://schemas.microsoft.com/office/drawing/2014/main" id="{5B4EF75E-FBC4-E9E5-777C-FFB7A220081B}"/>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8</a:t>
            </a:r>
          </a:p>
        </p:txBody>
      </p:sp>
      <p:grpSp>
        <p:nvGrpSpPr>
          <p:cNvPr id="100" name="Group 99">
            <a:extLst>
              <a:ext uri="{FF2B5EF4-FFF2-40B4-BE49-F238E27FC236}">
                <a16:creationId xmlns:a16="http://schemas.microsoft.com/office/drawing/2014/main" id="{1F8735D4-8C72-CF64-C1F7-FDA98D99323E}"/>
              </a:ext>
            </a:extLst>
          </p:cNvPr>
          <p:cNvGrpSpPr/>
          <p:nvPr/>
        </p:nvGrpSpPr>
        <p:grpSpPr>
          <a:xfrm>
            <a:off x="467139" y="108959"/>
            <a:ext cx="4197304" cy="307297"/>
            <a:chOff x="562270" y="127168"/>
            <a:chExt cx="4197304" cy="307297"/>
          </a:xfrm>
        </p:grpSpPr>
        <p:sp>
          <p:nvSpPr>
            <p:cNvPr id="101" name="Arrow: Pentagon 100">
              <a:extLst>
                <a:ext uri="{FF2B5EF4-FFF2-40B4-BE49-F238E27FC236}">
                  <a16:creationId xmlns:a16="http://schemas.microsoft.com/office/drawing/2014/main" id="{61CDDC4C-3046-8C09-520C-E0B287D6911E}"/>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02" name="Arrow: Pentagon 101">
              <a:extLst>
                <a:ext uri="{FF2B5EF4-FFF2-40B4-BE49-F238E27FC236}">
                  <a16:creationId xmlns:a16="http://schemas.microsoft.com/office/drawing/2014/main" id="{273CC927-C061-AD03-D890-4232FA98B0A6}"/>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03" name="Arrow: Pentagon 102">
              <a:extLst>
                <a:ext uri="{FF2B5EF4-FFF2-40B4-BE49-F238E27FC236}">
                  <a16:creationId xmlns:a16="http://schemas.microsoft.com/office/drawing/2014/main" id="{2A0AAF7E-B8E0-C0AE-756D-0C87FDE24E64}"/>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2046792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14CAB-2225-2299-C8DF-7EB843110EAB}"/>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51582AE0-10A6-86DB-3F3D-B8DEA6720C5B}"/>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Define the problem and objectives</a:t>
            </a:r>
          </a:p>
        </p:txBody>
      </p:sp>
      <p:sp>
        <p:nvSpPr>
          <p:cNvPr id="39" name="Rectangle 38">
            <a:extLst>
              <a:ext uri="{FF2B5EF4-FFF2-40B4-BE49-F238E27FC236}">
                <a16:creationId xmlns:a16="http://schemas.microsoft.com/office/drawing/2014/main" id="{531BD3C8-9895-9B3E-11A4-94FAED91A785}"/>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Design simulation model</a:t>
            </a:r>
          </a:p>
        </p:txBody>
      </p:sp>
      <p:sp>
        <p:nvSpPr>
          <p:cNvPr id="42" name="Rectangle 41">
            <a:extLst>
              <a:ext uri="{FF2B5EF4-FFF2-40B4-BE49-F238E27FC236}">
                <a16:creationId xmlns:a16="http://schemas.microsoft.com/office/drawing/2014/main" id="{1B1BCBDA-81C6-C47F-4E01-43042EA7342E}"/>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Select simulation model</a:t>
            </a:r>
          </a:p>
        </p:txBody>
      </p:sp>
      <p:sp>
        <p:nvSpPr>
          <p:cNvPr id="43" name="Rectangle 42">
            <a:extLst>
              <a:ext uri="{FF2B5EF4-FFF2-40B4-BE49-F238E27FC236}">
                <a16:creationId xmlns:a16="http://schemas.microsoft.com/office/drawing/2014/main" id="{4EAA1A60-0D6D-285A-75E1-944369D30D94}"/>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Define outcomes</a:t>
            </a:r>
          </a:p>
        </p:txBody>
      </p:sp>
      <p:sp>
        <p:nvSpPr>
          <p:cNvPr id="44" name="Rectangle 43">
            <a:extLst>
              <a:ext uri="{FF2B5EF4-FFF2-40B4-BE49-F238E27FC236}">
                <a16:creationId xmlns:a16="http://schemas.microsoft.com/office/drawing/2014/main" id="{8B1F2EDD-D883-D490-034E-CD821CA4E9B5}"/>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Select model inputs</a:t>
            </a:r>
          </a:p>
        </p:txBody>
      </p:sp>
      <p:sp>
        <p:nvSpPr>
          <p:cNvPr id="45" name="Rectangle 44">
            <a:extLst>
              <a:ext uri="{FF2B5EF4-FFF2-40B4-BE49-F238E27FC236}">
                <a16:creationId xmlns:a16="http://schemas.microsoft.com/office/drawing/2014/main" id="{C4F010F4-101C-19CF-95F1-9BDCE4ABCF3E}"/>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Simulate multiple decision options</a:t>
            </a:r>
          </a:p>
        </p:txBody>
      </p:sp>
      <p:sp>
        <p:nvSpPr>
          <p:cNvPr id="46" name="Rectangle 45">
            <a:extLst>
              <a:ext uri="{FF2B5EF4-FFF2-40B4-BE49-F238E27FC236}">
                <a16:creationId xmlns:a16="http://schemas.microsoft.com/office/drawing/2014/main" id="{745EAC78-ACB9-35F9-E8EA-3A26E3A39E6D}"/>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Sensitivity and scenario analyses</a:t>
            </a:r>
          </a:p>
        </p:txBody>
      </p:sp>
      <p:sp>
        <p:nvSpPr>
          <p:cNvPr id="47" name="Rectangle 46">
            <a:extLst>
              <a:ext uri="{FF2B5EF4-FFF2-40B4-BE49-F238E27FC236}">
                <a16:creationId xmlns:a16="http://schemas.microsoft.com/office/drawing/2014/main" id="{84F2D71D-6453-1DDB-1984-F9D9B14C5964}"/>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Evaluate results</a:t>
            </a:r>
          </a:p>
        </p:txBody>
      </p:sp>
      <p:sp>
        <p:nvSpPr>
          <p:cNvPr id="48" name="Isosceles Triangle 47">
            <a:extLst>
              <a:ext uri="{FF2B5EF4-FFF2-40B4-BE49-F238E27FC236}">
                <a16:creationId xmlns:a16="http://schemas.microsoft.com/office/drawing/2014/main" id="{99199144-5300-4804-D928-66838A34C2D8}"/>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49" name="Isosceles Triangle 48">
            <a:extLst>
              <a:ext uri="{FF2B5EF4-FFF2-40B4-BE49-F238E27FC236}">
                <a16:creationId xmlns:a16="http://schemas.microsoft.com/office/drawing/2014/main" id="{20BA0D88-91A1-D845-DD8E-1B346982E5C3}"/>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0" name="Isosceles Triangle 49">
            <a:extLst>
              <a:ext uri="{FF2B5EF4-FFF2-40B4-BE49-F238E27FC236}">
                <a16:creationId xmlns:a16="http://schemas.microsoft.com/office/drawing/2014/main" id="{50DE6F9E-57E1-DFEC-612A-63CD18BE1667}"/>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1" name="Isosceles Triangle 50">
            <a:extLst>
              <a:ext uri="{FF2B5EF4-FFF2-40B4-BE49-F238E27FC236}">
                <a16:creationId xmlns:a16="http://schemas.microsoft.com/office/drawing/2014/main" id="{B72B5E03-FFE6-0A18-6865-5B78BBF03AC8}"/>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2" name="Isosceles Triangle 51">
            <a:extLst>
              <a:ext uri="{FF2B5EF4-FFF2-40B4-BE49-F238E27FC236}">
                <a16:creationId xmlns:a16="http://schemas.microsoft.com/office/drawing/2014/main" id="{F3280437-FCEC-300A-6910-F999A990EA69}"/>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3" name="Isosceles Triangle 52">
            <a:extLst>
              <a:ext uri="{FF2B5EF4-FFF2-40B4-BE49-F238E27FC236}">
                <a16:creationId xmlns:a16="http://schemas.microsoft.com/office/drawing/2014/main" id="{E3DC84C6-EC68-A06A-D0EA-8F0B370F9E64}"/>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4" name="Isosceles Triangle 53">
            <a:extLst>
              <a:ext uri="{FF2B5EF4-FFF2-40B4-BE49-F238E27FC236}">
                <a16:creationId xmlns:a16="http://schemas.microsoft.com/office/drawing/2014/main" id="{EB10EB78-E35A-BBF6-B001-095CF92AF668}"/>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 name="Title 1">
            <a:extLst>
              <a:ext uri="{FF2B5EF4-FFF2-40B4-BE49-F238E27FC236}">
                <a16:creationId xmlns:a16="http://schemas.microsoft.com/office/drawing/2014/main" id="{35C7A9BF-57A2-8E6D-D2ED-89D218034CA4}"/>
              </a:ext>
            </a:extLst>
          </p:cNvPr>
          <p:cNvSpPr>
            <a:spLocks noGrp="1"/>
          </p:cNvSpPr>
          <p:nvPr>
            <p:ph type="title"/>
          </p:nvPr>
        </p:nvSpPr>
        <p:spPr/>
        <p:txBody>
          <a:bodyPr/>
          <a:lstStyle/>
          <a:p>
            <a:r>
              <a:rPr lang="en-US" noProof="0" dirty="0"/>
              <a:t>Step④ Designing the Simulation Model</a:t>
            </a:r>
          </a:p>
        </p:txBody>
      </p:sp>
      <p:sp>
        <p:nvSpPr>
          <p:cNvPr id="3" name="Table Placeholder 2">
            <a:extLst>
              <a:ext uri="{FF2B5EF4-FFF2-40B4-BE49-F238E27FC236}">
                <a16:creationId xmlns:a16="http://schemas.microsoft.com/office/drawing/2014/main" id="{D66DC0B9-A851-FEB1-AEFD-F7FF312F4A36}"/>
              </a:ext>
            </a:extLst>
          </p:cNvPr>
          <p:cNvSpPr>
            <a:spLocks noGrp="1"/>
          </p:cNvSpPr>
          <p:nvPr>
            <p:ph type="tbl" sz="quarter" idx="10"/>
          </p:nvPr>
        </p:nvSpPr>
        <p:spPr>
          <a:xfrm>
            <a:off x="4815839" y="1938130"/>
            <a:ext cx="6909021" cy="4692045"/>
          </a:xfrm>
        </p:spPr>
        <p:txBody>
          <a:bodyPr/>
          <a:lstStyle/>
          <a:p>
            <a:r>
              <a:rPr lang="en-US" noProof="0" dirty="0"/>
              <a:t>Structure the problem:</a:t>
            </a:r>
          </a:p>
          <a:p>
            <a:pPr lvl="1"/>
            <a:r>
              <a:rPr lang="en-US" noProof="0" dirty="0"/>
              <a:t>Decision timing</a:t>
            </a:r>
          </a:p>
          <a:p>
            <a:pPr lvl="1"/>
            <a:r>
              <a:rPr lang="en-US" noProof="0" dirty="0"/>
              <a:t>Causal relationships</a:t>
            </a:r>
          </a:p>
          <a:p>
            <a:pPr lvl="1"/>
            <a:r>
              <a:rPr lang="en-US" noProof="0" dirty="0"/>
              <a:t>Temporal relationships</a:t>
            </a:r>
          </a:p>
          <a:p>
            <a:pPr lvl="1"/>
            <a:endParaRPr lang="en-US" noProof="0" dirty="0"/>
          </a:p>
          <a:p>
            <a:r>
              <a:rPr lang="en-US" noProof="0" dirty="0"/>
              <a:t>Results depend heavily on model design</a:t>
            </a:r>
          </a:p>
          <a:p>
            <a:pPr lvl="1"/>
            <a:r>
              <a:rPr lang="en-US" noProof="0" dirty="0"/>
              <a:t>Different decision-makers may conceptualize the same problem differently.</a:t>
            </a:r>
          </a:p>
          <a:p>
            <a:pPr lvl="1">
              <a:buFont typeface="Wingdings" panose="05000000000000000000" pitchFamily="2" charset="2"/>
              <a:buChar char="Ø"/>
            </a:pPr>
            <a:r>
              <a:rPr lang="en-US" noProof="0" dirty="0"/>
              <a:t>Align implicit knowledge between decision-makers and modelers.</a:t>
            </a:r>
          </a:p>
        </p:txBody>
      </p:sp>
      <p:sp>
        <p:nvSpPr>
          <p:cNvPr id="4" name="Slide Number Placeholder 3">
            <a:extLst>
              <a:ext uri="{FF2B5EF4-FFF2-40B4-BE49-F238E27FC236}">
                <a16:creationId xmlns:a16="http://schemas.microsoft.com/office/drawing/2014/main" id="{DFA77219-9D60-68AA-1589-4EA696B5C9EB}"/>
              </a:ext>
            </a:extLst>
          </p:cNvPr>
          <p:cNvSpPr>
            <a:spLocks noGrp="1"/>
          </p:cNvSpPr>
          <p:nvPr>
            <p:ph type="sldNum" sz="quarter" idx="4"/>
          </p:nvPr>
        </p:nvSpPr>
        <p:spPr/>
        <p:txBody>
          <a:bodyPr/>
          <a:lstStyle/>
          <a:p>
            <a:fld id="{B5CEABB6-07DC-46E8-9B57-56EC44A396E5}" type="slidenum">
              <a:rPr lang="en-US" noProof="0" smtClean="0"/>
              <a:pPr/>
              <a:t>16</a:t>
            </a:fld>
            <a:endParaRPr lang="en-US" noProof="0" dirty="0"/>
          </a:p>
        </p:txBody>
      </p:sp>
      <p:sp>
        <p:nvSpPr>
          <p:cNvPr id="5" name="Table Placeholder 4">
            <a:extLst>
              <a:ext uri="{FF2B5EF4-FFF2-40B4-BE49-F238E27FC236}">
                <a16:creationId xmlns:a16="http://schemas.microsoft.com/office/drawing/2014/main" id="{E065B1C3-CC79-A51E-C4AC-5F5E450102AC}"/>
              </a:ext>
            </a:extLst>
          </p:cNvPr>
          <p:cNvSpPr>
            <a:spLocks noGrp="1"/>
          </p:cNvSpPr>
          <p:nvPr>
            <p:ph type="tbl" sz="quarter" idx="11"/>
          </p:nvPr>
        </p:nvSpPr>
        <p:spPr/>
        <p:txBody>
          <a:bodyPr/>
          <a:lstStyle/>
          <a:p>
            <a:r>
              <a:rPr lang="en-US" noProof="0" dirty="0"/>
              <a:t>Structure the overall problem you are facing.</a:t>
            </a:r>
          </a:p>
        </p:txBody>
      </p:sp>
      <p:sp>
        <p:nvSpPr>
          <p:cNvPr id="40" name="Rectangle 39">
            <a:extLst>
              <a:ext uri="{FF2B5EF4-FFF2-40B4-BE49-F238E27FC236}">
                <a16:creationId xmlns:a16="http://schemas.microsoft.com/office/drawing/2014/main" id="{54C38536-998B-5DF8-FA97-341BCC41760C}"/>
              </a:ext>
            </a:extLst>
          </p:cNvPr>
          <p:cNvSpPr/>
          <p:nvPr/>
        </p:nvSpPr>
        <p:spPr>
          <a:xfrm>
            <a:off x="4694922" y="1938130"/>
            <a:ext cx="120917" cy="469204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34" name="Straight Connector 33">
            <a:extLst>
              <a:ext uri="{FF2B5EF4-FFF2-40B4-BE49-F238E27FC236}">
                <a16:creationId xmlns:a16="http://schemas.microsoft.com/office/drawing/2014/main" id="{4B6ED7A8-0152-73EB-E137-57947849CF83}"/>
              </a:ext>
            </a:extLst>
          </p:cNvPr>
          <p:cNvCxnSpPr>
            <a:cxnSpLocks/>
            <a:stCxn id="39" idx="3"/>
            <a:endCxn id="40" idx="1"/>
          </p:cNvCxnSpPr>
          <p:nvPr/>
        </p:nvCxnSpPr>
        <p:spPr>
          <a:xfrm>
            <a:off x="3989294" y="3980902"/>
            <a:ext cx="705628" cy="303251"/>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7FFA2912-7795-864A-F4AE-AC45361CC339}"/>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1</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64" name="Oval 63">
            <a:extLst>
              <a:ext uri="{FF2B5EF4-FFF2-40B4-BE49-F238E27FC236}">
                <a16:creationId xmlns:a16="http://schemas.microsoft.com/office/drawing/2014/main" id="{AB8873C4-75D5-57BA-FFAA-A1421727D3E6}"/>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2</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65" name="Oval 64">
            <a:extLst>
              <a:ext uri="{FF2B5EF4-FFF2-40B4-BE49-F238E27FC236}">
                <a16:creationId xmlns:a16="http://schemas.microsoft.com/office/drawing/2014/main" id="{44727E1A-EB73-2D11-B4EB-83B0C91DEEE6}"/>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3</a:t>
            </a:r>
          </a:p>
        </p:txBody>
      </p:sp>
      <p:sp>
        <p:nvSpPr>
          <p:cNvPr id="66" name="Oval 65">
            <a:extLst>
              <a:ext uri="{FF2B5EF4-FFF2-40B4-BE49-F238E27FC236}">
                <a16:creationId xmlns:a16="http://schemas.microsoft.com/office/drawing/2014/main" id="{EEA12D2D-9F94-B4D5-BF25-64CE234B4ED2}"/>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ea typeface="Meiryo UI" panose="020B0604030504040204" pitchFamily="50" charset="-128"/>
                <a:cs typeface="Arial" panose="020B0604020202020204" pitchFamily="34" charset="0"/>
              </a:rPr>
              <a:t>4</a:t>
            </a:r>
            <a:endParaRPr lang="en-US" b="1"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67" name="Oval 66">
            <a:extLst>
              <a:ext uri="{FF2B5EF4-FFF2-40B4-BE49-F238E27FC236}">
                <a16:creationId xmlns:a16="http://schemas.microsoft.com/office/drawing/2014/main" id="{B1C7016D-0B26-AE9C-E89E-A2C2050291A2}"/>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5</a:t>
            </a:r>
          </a:p>
        </p:txBody>
      </p:sp>
      <p:sp>
        <p:nvSpPr>
          <p:cNvPr id="68" name="Oval 67">
            <a:extLst>
              <a:ext uri="{FF2B5EF4-FFF2-40B4-BE49-F238E27FC236}">
                <a16:creationId xmlns:a16="http://schemas.microsoft.com/office/drawing/2014/main" id="{4039A4A4-44BF-7D80-55F7-8CD4716AA575}"/>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6</a:t>
            </a:r>
          </a:p>
        </p:txBody>
      </p:sp>
      <p:sp>
        <p:nvSpPr>
          <p:cNvPr id="69" name="Oval 68">
            <a:extLst>
              <a:ext uri="{FF2B5EF4-FFF2-40B4-BE49-F238E27FC236}">
                <a16:creationId xmlns:a16="http://schemas.microsoft.com/office/drawing/2014/main" id="{99BF3E05-E5D3-665C-DCDE-7CA96EB4E350}"/>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7</a:t>
            </a:r>
          </a:p>
        </p:txBody>
      </p:sp>
      <p:sp>
        <p:nvSpPr>
          <p:cNvPr id="70" name="Oval 69">
            <a:extLst>
              <a:ext uri="{FF2B5EF4-FFF2-40B4-BE49-F238E27FC236}">
                <a16:creationId xmlns:a16="http://schemas.microsoft.com/office/drawing/2014/main" id="{29FBA4FE-5C88-5A8B-541C-43A0173700EE}"/>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8</a:t>
            </a:r>
          </a:p>
        </p:txBody>
      </p:sp>
      <p:grpSp>
        <p:nvGrpSpPr>
          <p:cNvPr id="71" name="Group 70">
            <a:extLst>
              <a:ext uri="{FF2B5EF4-FFF2-40B4-BE49-F238E27FC236}">
                <a16:creationId xmlns:a16="http://schemas.microsoft.com/office/drawing/2014/main" id="{B8B5AD45-6346-AA2E-2FFE-F034793D42D9}"/>
              </a:ext>
            </a:extLst>
          </p:cNvPr>
          <p:cNvGrpSpPr/>
          <p:nvPr/>
        </p:nvGrpSpPr>
        <p:grpSpPr>
          <a:xfrm>
            <a:off x="467139" y="108959"/>
            <a:ext cx="4197304" cy="307297"/>
            <a:chOff x="562270" y="127168"/>
            <a:chExt cx="4197304" cy="307297"/>
          </a:xfrm>
        </p:grpSpPr>
        <p:sp>
          <p:nvSpPr>
            <p:cNvPr id="72" name="Arrow: Pentagon 71">
              <a:extLst>
                <a:ext uri="{FF2B5EF4-FFF2-40B4-BE49-F238E27FC236}">
                  <a16:creationId xmlns:a16="http://schemas.microsoft.com/office/drawing/2014/main" id="{3C275732-26C0-BA02-A6A1-077F3CAC6AA6}"/>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73" name="Arrow: Pentagon 72">
              <a:extLst>
                <a:ext uri="{FF2B5EF4-FFF2-40B4-BE49-F238E27FC236}">
                  <a16:creationId xmlns:a16="http://schemas.microsoft.com/office/drawing/2014/main" id="{8C8FC96F-9909-D3C3-F925-F2EB9B4C3541}"/>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74" name="Arrow: Pentagon 73">
              <a:extLst>
                <a:ext uri="{FF2B5EF4-FFF2-40B4-BE49-F238E27FC236}">
                  <a16:creationId xmlns:a16="http://schemas.microsoft.com/office/drawing/2014/main" id="{872EE4CB-3019-8A9A-B5B4-5DDB3D7DF82A}"/>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2573651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24917-6B0C-71D9-98FD-25149958BA8D}"/>
            </a:ext>
          </a:extLst>
        </p:cNvPr>
        <p:cNvGrpSpPr/>
        <p:nvPr/>
      </p:nvGrpSpPr>
      <p:grpSpPr>
        <a:xfrm>
          <a:off x="0" y="0"/>
          <a:ext cx="0" cy="0"/>
          <a:chOff x="0" y="0"/>
          <a:chExt cx="0" cy="0"/>
        </a:xfrm>
      </p:grpSpPr>
      <p:sp>
        <p:nvSpPr>
          <p:cNvPr id="120" name="Rectangle 119">
            <a:extLst>
              <a:ext uri="{FF2B5EF4-FFF2-40B4-BE49-F238E27FC236}">
                <a16:creationId xmlns:a16="http://schemas.microsoft.com/office/drawing/2014/main" id="{1595B9DA-0D65-2345-77EC-FFC51E59B30E}"/>
              </a:ext>
            </a:extLst>
          </p:cNvPr>
          <p:cNvSpPr/>
          <p:nvPr/>
        </p:nvSpPr>
        <p:spPr>
          <a:xfrm>
            <a:off x="5828392" y="3543465"/>
            <a:ext cx="1025236"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Test</a:t>
            </a:r>
          </a:p>
        </p:txBody>
      </p:sp>
      <p:sp>
        <p:nvSpPr>
          <p:cNvPr id="121" name="Rectangle 120">
            <a:extLst>
              <a:ext uri="{FF2B5EF4-FFF2-40B4-BE49-F238E27FC236}">
                <a16:creationId xmlns:a16="http://schemas.microsoft.com/office/drawing/2014/main" id="{7AC6F216-EA8F-437C-DA58-F2F5A29E7FBD}"/>
              </a:ext>
            </a:extLst>
          </p:cNvPr>
          <p:cNvSpPr/>
          <p:nvPr/>
        </p:nvSpPr>
        <p:spPr>
          <a:xfrm>
            <a:off x="5854690" y="5909167"/>
            <a:ext cx="2961063" cy="300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No or unrelated treatment</a:t>
            </a:r>
          </a:p>
        </p:txBody>
      </p:sp>
      <p:sp>
        <p:nvSpPr>
          <p:cNvPr id="68" name="Rectangle 67">
            <a:extLst>
              <a:ext uri="{FF2B5EF4-FFF2-40B4-BE49-F238E27FC236}">
                <a16:creationId xmlns:a16="http://schemas.microsoft.com/office/drawing/2014/main" id="{9D65F819-055E-1293-07B6-62CA379A15A3}"/>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Define the problem and objectives</a:t>
            </a:r>
          </a:p>
        </p:txBody>
      </p:sp>
      <p:sp>
        <p:nvSpPr>
          <p:cNvPr id="69" name="Rectangle 68">
            <a:extLst>
              <a:ext uri="{FF2B5EF4-FFF2-40B4-BE49-F238E27FC236}">
                <a16:creationId xmlns:a16="http://schemas.microsoft.com/office/drawing/2014/main" id="{62F45535-A75D-FB45-87F0-0AB9E375A222}"/>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Design simulation model</a:t>
            </a:r>
          </a:p>
        </p:txBody>
      </p:sp>
      <p:sp>
        <p:nvSpPr>
          <p:cNvPr id="71" name="Rectangle 70">
            <a:extLst>
              <a:ext uri="{FF2B5EF4-FFF2-40B4-BE49-F238E27FC236}">
                <a16:creationId xmlns:a16="http://schemas.microsoft.com/office/drawing/2014/main" id="{4019B6A0-4307-53E4-9841-AE8D4E6E3C4A}"/>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Select simulation model</a:t>
            </a:r>
          </a:p>
        </p:txBody>
      </p:sp>
      <p:sp>
        <p:nvSpPr>
          <p:cNvPr id="72" name="Rectangle 71">
            <a:extLst>
              <a:ext uri="{FF2B5EF4-FFF2-40B4-BE49-F238E27FC236}">
                <a16:creationId xmlns:a16="http://schemas.microsoft.com/office/drawing/2014/main" id="{3030B24B-27A5-8DB9-4272-F32E73D9B58D}"/>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Define outcomes</a:t>
            </a:r>
          </a:p>
        </p:txBody>
      </p:sp>
      <p:sp>
        <p:nvSpPr>
          <p:cNvPr id="73" name="Rectangle 72">
            <a:extLst>
              <a:ext uri="{FF2B5EF4-FFF2-40B4-BE49-F238E27FC236}">
                <a16:creationId xmlns:a16="http://schemas.microsoft.com/office/drawing/2014/main" id="{84EE807C-CE2F-3848-3D71-3F2C3DADD95C}"/>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Select model inputs</a:t>
            </a:r>
          </a:p>
        </p:txBody>
      </p:sp>
      <p:sp>
        <p:nvSpPr>
          <p:cNvPr id="74" name="Rectangle 73">
            <a:extLst>
              <a:ext uri="{FF2B5EF4-FFF2-40B4-BE49-F238E27FC236}">
                <a16:creationId xmlns:a16="http://schemas.microsoft.com/office/drawing/2014/main" id="{291EAC8C-6228-55AF-0489-DA84F8D77459}"/>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Simulate multiple decision options</a:t>
            </a:r>
          </a:p>
        </p:txBody>
      </p:sp>
      <p:sp>
        <p:nvSpPr>
          <p:cNvPr id="76" name="Rectangle 75">
            <a:extLst>
              <a:ext uri="{FF2B5EF4-FFF2-40B4-BE49-F238E27FC236}">
                <a16:creationId xmlns:a16="http://schemas.microsoft.com/office/drawing/2014/main" id="{1DF77E3C-B370-7B42-8899-5D81AD19F404}"/>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Sensitivity and scenario analyses</a:t>
            </a:r>
          </a:p>
        </p:txBody>
      </p:sp>
      <p:sp>
        <p:nvSpPr>
          <p:cNvPr id="77" name="Rectangle 76">
            <a:extLst>
              <a:ext uri="{FF2B5EF4-FFF2-40B4-BE49-F238E27FC236}">
                <a16:creationId xmlns:a16="http://schemas.microsoft.com/office/drawing/2014/main" id="{0D0071B8-93F6-B0E5-AFC5-28B7FE4C8279}"/>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Evaluate results</a:t>
            </a:r>
          </a:p>
        </p:txBody>
      </p:sp>
      <p:sp>
        <p:nvSpPr>
          <p:cNvPr id="78" name="Isosceles Triangle 77">
            <a:extLst>
              <a:ext uri="{FF2B5EF4-FFF2-40B4-BE49-F238E27FC236}">
                <a16:creationId xmlns:a16="http://schemas.microsoft.com/office/drawing/2014/main" id="{F070FA6A-569F-6EE4-70E0-F9501022092F}"/>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80" name="Isosceles Triangle 79">
            <a:extLst>
              <a:ext uri="{FF2B5EF4-FFF2-40B4-BE49-F238E27FC236}">
                <a16:creationId xmlns:a16="http://schemas.microsoft.com/office/drawing/2014/main" id="{837310AB-79CF-4EAD-6E82-1B4E45BC792E}"/>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81" name="Isosceles Triangle 80">
            <a:extLst>
              <a:ext uri="{FF2B5EF4-FFF2-40B4-BE49-F238E27FC236}">
                <a16:creationId xmlns:a16="http://schemas.microsoft.com/office/drawing/2014/main" id="{81BBBFAC-07C1-0719-F69F-D46935BB9848}"/>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83" name="Isosceles Triangle 82">
            <a:extLst>
              <a:ext uri="{FF2B5EF4-FFF2-40B4-BE49-F238E27FC236}">
                <a16:creationId xmlns:a16="http://schemas.microsoft.com/office/drawing/2014/main" id="{0AE98A19-9EE3-507F-0B1E-493937E1E194}"/>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84" name="Isosceles Triangle 83">
            <a:extLst>
              <a:ext uri="{FF2B5EF4-FFF2-40B4-BE49-F238E27FC236}">
                <a16:creationId xmlns:a16="http://schemas.microsoft.com/office/drawing/2014/main" id="{90F92568-C154-EC8A-2ED5-92551500F4F0}"/>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85" name="Isosceles Triangle 84">
            <a:extLst>
              <a:ext uri="{FF2B5EF4-FFF2-40B4-BE49-F238E27FC236}">
                <a16:creationId xmlns:a16="http://schemas.microsoft.com/office/drawing/2014/main" id="{F303312C-EA2F-E350-6E28-943CAEA3F59E}"/>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86" name="Isosceles Triangle 85">
            <a:extLst>
              <a:ext uri="{FF2B5EF4-FFF2-40B4-BE49-F238E27FC236}">
                <a16:creationId xmlns:a16="http://schemas.microsoft.com/office/drawing/2014/main" id="{710D448E-2CCA-2EC9-C44F-AE4024E25AC5}"/>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33" name="Rectangle 132">
            <a:extLst>
              <a:ext uri="{FF2B5EF4-FFF2-40B4-BE49-F238E27FC236}">
                <a16:creationId xmlns:a16="http://schemas.microsoft.com/office/drawing/2014/main" id="{6393F1D8-F865-FCCB-496A-EA4AE62DA93B}"/>
              </a:ext>
            </a:extLst>
          </p:cNvPr>
          <p:cNvSpPr/>
          <p:nvPr/>
        </p:nvSpPr>
        <p:spPr>
          <a:xfrm>
            <a:off x="6804991" y="3084491"/>
            <a:ext cx="2271049"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True </a:t>
            </a:r>
            <a:r>
              <a:rPr lang="en-US" noProof="0" dirty="0" err="1">
                <a:solidFill>
                  <a:schemeClr val="tx1"/>
                </a:solidFill>
                <a:latin typeface="Arial" panose="020B0604020202020204" pitchFamily="34" charset="0"/>
                <a:ea typeface="Meiryo UI" panose="020B0604030504040204" pitchFamily="50" charset="-128"/>
                <a:cs typeface="Arial" panose="020B0604020202020204" pitchFamily="34" charset="0"/>
              </a:rPr>
              <a:t>positive→Treat</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 name="Title 1">
            <a:extLst>
              <a:ext uri="{FF2B5EF4-FFF2-40B4-BE49-F238E27FC236}">
                <a16:creationId xmlns:a16="http://schemas.microsoft.com/office/drawing/2014/main" id="{DCEB5CB2-FC6E-A6CA-ECC3-1C94FDA7E063}"/>
              </a:ext>
            </a:extLst>
          </p:cNvPr>
          <p:cNvSpPr>
            <a:spLocks noGrp="1"/>
          </p:cNvSpPr>
          <p:nvPr>
            <p:ph type="title"/>
          </p:nvPr>
        </p:nvSpPr>
        <p:spPr/>
        <p:txBody>
          <a:bodyPr/>
          <a:lstStyle/>
          <a:p>
            <a:r>
              <a:rPr lang="en-US" noProof="0" dirty="0"/>
              <a:t>Step③ Selecting a Simulation Model (Example)</a:t>
            </a:r>
          </a:p>
        </p:txBody>
      </p:sp>
      <p:sp>
        <p:nvSpPr>
          <p:cNvPr id="4" name="Slide Number Placeholder 3">
            <a:extLst>
              <a:ext uri="{FF2B5EF4-FFF2-40B4-BE49-F238E27FC236}">
                <a16:creationId xmlns:a16="http://schemas.microsoft.com/office/drawing/2014/main" id="{1F3ECCD3-AF72-4724-08A0-AA1B35CE7032}"/>
              </a:ext>
            </a:extLst>
          </p:cNvPr>
          <p:cNvSpPr>
            <a:spLocks noGrp="1"/>
          </p:cNvSpPr>
          <p:nvPr>
            <p:ph type="sldNum" sz="quarter" idx="4"/>
          </p:nvPr>
        </p:nvSpPr>
        <p:spPr/>
        <p:txBody>
          <a:bodyPr/>
          <a:lstStyle/>
          <a:p>
            <a:fld id="{B5CEABB6-07DC-46E8-9B57-56EC44A396E5}" type="slidenum">
              <a:rPr lang="en-US" noProof="0" smtClean="0"/>
              <a:pPr/>
              <a:t>17</a:t>
            </a:fld>
            <a:endParaRPr lang="en-US" noProof="0" dirty="0"/>
          </a:p>
        </p:txBody>
      </p:sp>
      <p:sp>
        <p:nvSpPr>
          <p:cNvPr id="5" name="Table Placeholder 4">
            <a:extLst>
              <a:ext uri="{FF2B5EF4-FFF2-40B4-BE49-F238E27FC236}">
                <a16:creationId xmlns:a16="http://schemas.microsoft.com/office/drawing/2014/main" id="{4C0F23C9-1EBA-9DDF-1E37-DDE30C591A11}"/>
              </a:ext>
            </a:extLst>
          </p:cNvPr>
          <p:cNvSpPr>
            <a:spLocks noGrp="1"/>
          </p:cNvSpPr>
          <p:nvPr>
            <p:ph type="tbl" sz="quarter" idx="11"/>
          </p:nvPr>
        </p:nvSpPr>
        <p:spPr/>
        <p:txBody>
          <a:bodyPr/>
          <a:lstStyle/>
          <a:p>
            <a:r>
              <a:rPr lang="en-US" noProof="0" dirty="0"/>
              <a:t>In decision tree analysis:■ represents a decision;● represents a chance event;▲ represents an outcome.</a:t>
            </a:r>
          </a:p>
        </p:txBody>
      </p:sp>
      <p:sp>
        <p:nvSpPr>
          <p:cNvPr id="40" name="Rectangle 39">
            <a:extLst>
              <a:ext uri="{FF2B5EF4-FFF2-40B4-BE49-F238E27FC236}">
                <a16:creationId xmlns:a16="http://schemas.microsoft.com/office/drawing/2014/main" id="{66889E37-D098-5014-BA0C-DD2FDD6017F6}"/>
              </a:ext>
            </a:extLst>
          </p:cNvPr>
          <p:cNvSpPr/>
          <p:nvPr/>
        </p:nvSpPr>
        <p:spPr>
          <a:xfrm>
            <a:off x="4694922" y="1938130"/>
            <a:ext cx="120917" cy="4692045"/>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34" name="Straight Connector 33">
            <a:extLst>
              <a:ext uri="{FF2B5EF4-FFF2-40B4-BE49-F238E27FC236}">
                <a16:creationId xmlns:a16="http://schemas.microsoft.com/office/drawing/2014/main" id="{7BDB1BC3-3FB0-D9F2-6BB5-C657BF264575}"/>
              </a:ext>
            </a:extLst>
          </p:cNvPr>
          <p:cNvCxnSpPr>
            <a:cxnSpLocks/>
            <a:stCxn id="71" idx="3"/>
            <a:endCxn id="40" idx="1"/>
          </p:cNvCxnSpPr>
          <p:nvPr/>
        </p:nvCxnSpPr>
        <p:spPr>
          <a:xfrm>
            <a:off x="3989294" y="3374392"/>
            <a:ext cx="705628" cy="909761"/>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 name="Table Placeholder 2">
            <a:extLst>
              <a:ext uri="{FF2B5EF4-FFF2-40B4-BE49-F238E27FC236}">
                <a16:creationId xmlns:a16="http://schemas.microsoft.com/office/drawing/2014/main" id="{E5D76A66-B615-5583-5C17-6580934580E7}"/>
              </a:ext>
            </a:extLst>
          </p:cNvPr>
          <p:cNvSpPr>
            <a:spLocks noGrp="1"/>
          </p:cNvSpPr>
          <p:nvPr>
            <p:ph type="tbl" sz="quarter" idx="10"/>
          </p:nvPr>
        </p:nvSpPr>
        <p:spPr>
          <a:xfrm>
            <a:off x="4907279" y="1938130"/>
            <a:ext cx="6817581" cy="4692045"/>
          </a:xfrm>
        </p:spPr>
        <p:txBody>
          <a:bodyPr/>
          <a:lstStyle/>
          <a:p>
            <a:pPr marL="0" indent="0">
              <a:buNone/>
            </a:pPr>
            <a:r>
              <a:rPr lang="en-US" sz="2000" noProof="0" dirty="0"/>
              <a:t>Example: Diagnosis and Treatment of Severe Malaria</a:t>
            </a:r>
          </a:p>
        </p:txBody>
      </p:sp>
      <p:sp>
        <p:nvSpPr>
          <p:cNvPr id="42" name="Rectangle 41">
            <a:extLst>
              <a:ext uri="{FF2B5EF4-FFF2-40B4-BE49-F238E27FC236}">
                <a16:creationId xmlns:a16="http://schemas.microsoft.com/office/drawing/2014/main" id="{8A94C792-62D5-C81D-7B47-B0F8A11A3C81}"/>
              </a:ext>
            </a:extLst>
          </p:cNvPr>
          <p:cNvSpPr/>
          <p:nvPr/>
        </p:nvSpPr>
        <p:spPr>
          <a:xfrm>
            <a:off x="5817770" y="4465701"/>
            <a:ext cx="243840" cy="260714"/>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53" name="Connector: Elbow 52">
            <a:extLst>
              <a:ext uri="{FF2B5EF4-FFF2-40B4-BE49-F238E27FC236}">
                <a16:creationId xmlns:a16="http://schemas.microsoft.com/office/drawing/2014/main" id="{0AA4B341-F799-48BC-2BDF-C9CB04D2794B}"/>
              </a:ext>
            </a:extLst>
          </p:cNvPr>
          <p:cNvCxnSpPr>
            <a:cxnSpLocks/>
            <a:stCxn id="42" idx="0"/>
            <a:endCxn id="56" idx="2"/>
          </p:cNvCxnSpPr>
          <p:nvPr/>
        </p:nvCxnSpPr>
        <p:spPr>
          <a:xfrm rot="5400000" flipH="1" flipV="1">
            <a:off x="6046090" y="3796031"/>
            <a:ext cx="563270" cy="776070"/>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4B79B85B-356E-DD33-6A1B-08C87DDAD232}"/>
              </a:ext>
            </a:extLst>
          </p:cNvPr>
          <p:cNvCxnSpPr>
            <a:cxnSpLocks/>
            <a:stCxn id="42" idx="2"/>
            <a:endCxn id="116" idx="0"/>
          </p:cNvCxnSpPr>
          <p:nvPr/>
        </p:nvCxnSpPr>
        <p:spPr>
          <a:xfrm rot="16200000" flipH="1">
            <a:off x="7506405" y="3159700"/>
            <a:ext cx="1549609" cy="4683038"/>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F47B2ABC-588B-42B2-656E-92661A9D762A}"/>
              </a:ext>
            </a:extLst>
          </p:cNvPr>
          <p:cNvSpPr/>
          <p:nvPr/>
        </p:nvSpPr>
        <p:spPr>
          <a:xfrm>
            <a:off x="6715760" y="3765271"/>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61" name="Connector: Elbow 60">
            <a:extLst>
              <a:ext uri="{FF2B5EF4-FFF2-40B4-BE49-F238E27FC236}">
                <a16:creationId xmlns:a16="http://schemas.microsoft.com/office/drawing/2014/main" id="{CB378FAC-CDEC-A12B-34D3-BF8DD5C71486}"/>
              </a:ext>
            </a:extLst>
          </p:cNvPr>
          <p:cNvCxnSpPr>
            <a:cxnSpLocks/>
            <a:stCxn id="56" idx="0"/>
            <a:endCxn id="79" idx="2"/>
          </p:cNvCxnSpPr>
          <p:nvPr/>
        </p:nvCxnSpPr>
        <p:spPr>
          <a:xfrm rot="5400000" flipH="1" flipV="1">
            <a:off x="7731899" y="2515732"/>
            <a:ext cx="370560" cy="2128519"/>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2095A253-83A1-3674-B8CE-8DEBA5A01B65}"/>
              </a:ext>
            </a:extLst>
          </p:cNvPr>
          <p:cNvCxnSpPr>
            <a:cxnSpLocks/>
            <a:stCxn id="56" idx="4"/>
            <a:endCxn id="98" idx="1"/>
          </p:cNvCxnSpPr>
          <p:nvPr/>
        </p:nvCxnSpPr>
        <p:spPr>
          <a:xfrm rot="16200000" flipH="1">
            <a:off x="6814531" y="4077979"/>
            <a:ext cx="1102937" cy="1026159"/>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ECD16420-ECD2-D909-563E-C8AF958AE36C}"/>
              </a:ext>
            </a:extLst>
          </p:cNvPr>
          <p:cNvSpPr/>
          <p:nvPr/>
        </p:nvSpPr>
        <p:spPr>
          <a:xfrm>
            <a:off x="8981439" y="3257551"/>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82" name="Connector: Elbow 81">
            <a:extLst>
              <a:ext uri="{FF2B5EF4-FFF2-40B4-BE49-F238E27FC236}">
                <a16:creationId xmlns:a16="http://schemas.microsoft.com/office/drawing/2014/main" id="{F4F12828-B18F-271A-FBF0-58B4CC29BEA4}"/>
              </a:ext>
            </a:extLst>
          </p:cNvPr>
          <p:cNvCxnSpPr>
            <a:cxnSpLocks/>
            <a:stCxn id="79" idx="0"/>
            <a:endCxn id="87" idx="0"/>
          </p:cNvCxnSpPr>
          <p:nvPr/>
        </p:nvCxnSpPr>
        <p:spPr>
          <a:xfrm rot="5400000" flipH="1" flipV="1">
            <a:off x="9791745" y="2412383"/>
            <a:ext cx="172022" cy="1518315"/>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87" name="Isosceles Triangle 86">
            <a:extLst>
              <a:ext uri="{FF2B5EF4-FFF2-40B4-BE49-F238E27FC236}">
                <a16:creationId xmlns:a16="http://schemas.microsoft.com/office/drawing/2014/main" id="{31B10570-1032-D4B6-5D36-5C4B6EF4B8D0}"/>
              </a:ext>
            </a:extLst>
          </p:cNvPr>
          <p:cNvSpPr/>
          <p:nvPr/>
        </p:nvSpPr>
        <p:spPr>
          <a:xfrm rot="16200000">
            <a:off x="10636914" y="2948369"/>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91" name="Isosceles Triangle 90">
            <a:extLst>
              <a:ext uri="{FF2B5EF4-FFF2-40B4-BE49-F238E27FC236}">
                <a16:creationId xmlns:a16="http://schemas.microsoft.com/office/drawing/2014/main" id="{C9D114FE-8584-FCEF-6F64-AD863FFA60F3}"/>
              </a:ext>
            </a:extLst>
          </p:cNvPr>
          <p:cNvSpPr/>
          <p:nvPr/>
        </p:nvSpPr>
        <p:spPr>
          <a:xfrm rot="16200000">
            <a:off x="10636915" y="3571056"/>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92" name="Connector: Elbow 91">
            <a:extLst>
              <a:ext uri="{FF2B5EF4-FFF2-40B4-BE49-F238E27FC236}">
                <a16:creationId xmlns:a16="http://schemas.microsoft.com/office/drawing/2014/main" id="{9B521883-C5AE-C4DB-436C-811D4B0DD922}"/>
              </a:ext>
            </a:extLst>
          </p:cNvPr>
          <p:cNvCxnSpPr>
            <a:cxnSpLocks/>
            <a:stCxn id="79" idx="4"/>
            <a:endCxn id="91" idx="0"/>
          </p:cNvCxnSpPr>
          <p:nvPr/>
        </p:nvCxnSpPr>
        <p:spPr>
          <a:xfrm rot="16200000" flipH="1">
            <a:off x="9789585" y="2860885"/>
            <a:ext cx="176345" cy="1518316"/>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8" name="Rectangle 97">
            <a:extLst>
              <a:ext uri="{FF2B5EF4-FFF2-40B4-BE49-F238E27FC236}">
                <a16:creationId xmlns:a16="http://schemas.microsoft.com/office/drawing/2014/main" id="{230F63FD-AC50-64B3-521E-9524B241CC52}"/>
              </a:ext>
            </a:extLst>
          </p:cNvPr>
          <p:cNvSpPr/>
          <p:nvPr/>
        </p:nvSpPr>
        <p:spPr>
          <a:xfrm>
            <a:off x="7879079" y="5012171"/>
            <a:ext cx="243840" cy="260714"/>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101" name="Connector: Elbow 100">
            <a:extLst>
              <a:ext uri="{FF2B5EF4-FFF2-40B4-BE49-F238E27FC236}">
                <a16:creationId xmlns:a16="http://schemas.microsoft.com/office/drawing/2014/main" id="{395EE212-27FB-5164-73FE-F55D03A91B53}"/>
              </a:ext>
            </a:extLst>
          </p:cNvPr>
          <p:cNvCxnSpPr>
            <a:cxnSpLocks/>
            <a:stCxn id="98" idx="0"/>
            <a:endCxn id="102" idx="2"/>
          </p:cNvCxnSpPr>
          <p:nvPr/>
        </p:nvCxnSpPr>
        <p:spPr>
          <a:xfrm rot="5400000" flipH="1" flipV="1">
            <a:off x="8369897" y="4400629"/>
            <a:ext cx="242644" cy="980441"/>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02" name="Oval 101">
            <a:extLst>
              <a:ext uri="{FF2B5EF4-FFF2-40B4-BE49-F238E27FC236}">
                <a16:creationId xmlns:a16="http://schemas.microsoft.com/office/drawing/2014/main" id="{163B6BCC-918C-0CD8-0A1C-D823CE5E37D6}"/>
              </a:ext>
            </a:extLst>
          </p:cNvPr>
          <p:cNvSpPr/>
          <p:nvPr/>
        </p:nvSpPr>
        <p:spPr>
          <a:xfrm>
            <a:off x="8981440" y="4632367"/>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103" name="Connector: Elbow 102">
            <a:extLst>
              <a:ext uri="{FF2B5EF4-FFF2-40B4-BE49-F238E27FC236}">
                <a16:creationId xmlns:a16="http://schemas.microsoft.com/office/drawing/2014/main" id="{4ABE4048-FEFC-4519-E3CF-BED161C808DA}"/>
              </a:ext>
            </a:extLst>
          </p:cNvPr>
          <p:cNvCxnSpPr>
            <a:cxnSpLocks/>
            <a:stCxn id="102" idx="0"/>
            <a:endCxn id="104" idx="0"/>
          </p:cNvCxnSpPr>
          <p:nvPr/>
        </p:nvCxnSpPr>
        <p:spPr>
          <a:xfrm rot="5400000" flipH="1" flipV="1">
            <a:off x="9801058" y="3796511"/>
            <a:ext cx="153399" cy="1518314"/>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04" name="Isosceles Triangle 103">
            <a:extLst>
              <a:ext uri="{FF2B5EF4-FFF2-40B4-BE49-F238E27FC236}">
                <a16:creationId xmlns:a16="http://schemas.microsoft.com/office/drawing/2014/main" id="{73F5CD00-3986-FF24-4CF1-34B49E04BF94}"/>
              </a:ext>
            </a:extLst>
          </p:cNvPr>
          <p:cNvSpPr/>
          <p:nvPr/>
        </p:nvSpPr>
        <p:spPr>
          <a:xfrm rot="16200000">
            <a:off x="10636914" y="4341808"/>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05" name="Isosceles Triangle 104">
            <a:extLst>
              <a:ext uri="{FF2B5EF4-FFF2-40B4-BE49-F238E27FC236}">
                <a16:creationId xmlns:a16="http://schemas.microsoft.com/office/drawing/2014/main" id="{CC4D492F-9508-7D20-EC97-1D688D7321F1}"/>
              </a:ext>
            </a:extLst>
          </p:cNvPr>
          <p:cNvSpPr/>
          <p:nvPr/>
        </p:nvSpPr>
        <p:spPr>
          <a:xfrm rot="16200000">
            <a:off x="10636915" y="4964495"/>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106" name="Connector: Elbow 105">
            <a:extLst>
              <a:ext uri="{FF2B5EF4-FFF2-40B4-BE49-F238E27FC236}">
                <a16:creationId xmlns:a16="http://schemas.microsoft.com/office/drawing/2014/main" id="{39205C9F-940D-BBD7-A30C-B3271F031377}"/>
              </a:ext>
            </a:extLst>
          </p:cNvPr>
          <p:cNvCxnSpPr>
            <a:cxnSpLocks/>
            <a:stCxn id="102" idx="4"/>
            <a:endCxn id="105" idx="0"/>
          </p:cNvCxnSpPr>
          <p:nvPr/>
        </p:nvCxnSpPr>
        <p:spPr>
          <a:xfrm rot="16200000" flipH="1">
            <a:off x="9780273" y="4245013"/>
            <a:ext cx="194968" cy="1518315"/>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08" name="Connector: Elbow 107">
            <a:extLst>
              <a:ext uri="{FF2B5EF4-FFF2-40B4-BE49-F238E27FC236}">
                <a16:creationId xmlns:a16="http://schemas.microsoft.com/office/drawing/2014/main" id="{B23554AF-D46C-EB3C-DFC6-306EDDB9716B}"/>
              </a:ext>
            </a:extLst>
          </p:cNvPr>
          <p:cNvCxnSpPr>
            <a:cxnSpLocks/>
            <a:stCxn id="98" idx="2"/>
            <a:endCxn id="112" idx="0"/>
          </p:cNvCxnSpPr>
          <p:nvPr/>
        </p:nvCxnSpPr>
        <p:spPr>
          <a:xfrm rot="16200000" flipH="1">
            <a:off x="9094255" y="4179629"/>
            <a:ext cx="435217" cy="2621728"/>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12" name="Isosceles Triangle 111">
            <a:extLst>
              <a:ext uri="{FF2B5EF4-FFF2-40B4-BE49-F238E27FC236}">
                <a16:creationId xmlns:a16="http://schemas.microsoft.com/office/drawing/2014/main" id="{8CE90594-5676-1854-695A-CC5A2116B05B}"/>
              </a:ext>
            </a:extLst>
          </p:cNvPr>
          <p:cNvSpPr/>
          <p:nvPr/>
        </p:nvSpPr>
        <p:spPr>
          <a:xfrm rot="16200000">
            <a:off x="10622727" y="5570942"/>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16" name="Isosceles Triangle 115">
            <a:extLst>
              <a:ext uri="{FF2B5EF4-FFF2-40B4-BE49-F238E27FC236}">
                <a16:creationId xmlns:a16="http://schemas.microsoft.com/office/drawing/2014/main" id="{776D89FD-AF73-2FDF-6928-3192E0841241}"/>
              </a:ext>
            </a:extLst>
          </p:cNvPr>
          <p:cNvSpPr/>
          <p:nvPr/>
        </p:nvSpPr>
        <p:spPr>
          <a:xfrm rot="16200000">
            <a:off x="10622728" y="6138864"/>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119" name="Straight Connector 118">
            <a:extLst>
              <a:ext uri="{FF2B5EF4-FFF2-40B4-BE49-F238E27FC236}">
                <a16:creationId xmlns:a16="http://schemas.microsoft.com/office/drawing/2014/main" id="{39DBD71B-D5AE-D1A5-8844-33A0017CC9E3}"/>
              </a:ext>
            </a:extLst>
          </p:cNvPr>
          <p:cNvCxnSpPr>
            <a:cxnSpLocks/>
            <a:stCxn id="42" idx="1"/>
          </p:cNvCxnSpPr>
          <p:nvPr/>
        </p:nvCxnSpPr>
        <p:spPr>
          <a:xfrm flipH="1">
            <a:off x="4930031" y="4596058"/>
            <a:ext cx="88773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2" name="Rectangle 121">
            <a:extLst>
              <a:ext uri="{FF2B5EF4-FFF2-40B4-BE49-F238E27FC236}">
                <a16:creationId xmlns:a16="http://schemas.microsoft.com/office/drawing/2014/main" id="{3FA4C0DD-C99B-6A57-DDFA-5FBD95A44446}"/>
              </a:ext>
            </a:extLst>
          </p:cNvPr>
          <p:cNvSpPr/>
          <p:nvPr/>
        </p:nvSpPr>
        <p:spPr>
          <a:xfrm>
            <a:off x="4976716" y="4055804"/>
            <a:ext cx="700250"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Arrival</a:t>
            </a:r>
          </a:p>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at hospital</a:t>
            </a:r>
          </a:p>
        </p:txBody>
      </p:sp>
      <p:sp>
        <p:nvSpPr>
          <p:cNvPr id="144" name="Rectangle 143">
            <a:extLst>
              <a:ext uri="{FF2B5EF4-FFF2-40B4-BE49-F238E27FC236}">
                <a16:creationId xmlns:a16="http://schemas.microsoft.com/office/drawing/2014/main" id="{AC73C7B3-7D77-E80C-DEAB-8B61306C355A}"/>
              </a:ext>
            </a:extLst>
          </p:cNvPr>
          <p:cNvSpPr/>
          <p:nvPr/>
        </p:nvSpPr>
        <p:spPr>
          <a:xfrm>
            <a:off x="9309214" y="2752404"/>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Success</a:t>
            </a:r>
          </a:p>
        </p:txBody>
      </p:sp>
      <p:sp>
        <p:nvSpPr>
          <p:cNvPr id="145" name="Rectangle 144">
            <a:extLst>
              <a:ext uri="{FF2B5EF4-FFF2-40B4-BE49-F238E27FC236}">
                <a16:creationId xmlns:a16="http://schemas.microsoft.com/office/drawing/2014/main" id="{D7803E0E-22D5-441D-345A-7634ED985642}"/>
              </a:ext>
            </a:extLst>
          </p:cNvPr>
          <p:cNvSpPr/>
          <p:nvPr/>
        </p:nvSpPr>
        <p:spPr>
          <a:xfrm>
            <a:off x="9309214" y="3392921"/>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Failure</a:t>
            </a:r>
          </a:p>
        </p:txBody>
      </p:sp>
      <p:sp>
        <p:nvSpPr>
          <p:cNvPr id="146" name="Rectangle 145">
            <a:extLst>
              <a:ext uri="{FF2B5EF4-FFF2-40B4-BE49-F238E27FC236}">
                <a16:creationId xmlns:a16="http://schemas.microsoft.com/office/drawing/2014/main" id="{617775F0-F3DC-617B-FBE9-22040A7B6DA0}"/>
              </a:ext>
            </a:extLst>
          </p:cNvPr>
          <p:cNvSpPr/>
          <p:nvPr/>
        </p:nvSpPr>
        <p:spPr>
          <a:xfrm>
            <a:off x="10967386" y="2933129"/>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Recovery</a:t>
            </a:r>
          </a:p>
        </p:txBody>
      </p:sp>
      <p:sp>
        <p:nvSpPr>
          <p:cNvPr id="147" name="Rectangle 146">
            <a:extLst>
              <a:ext uri="{FF2B5EF4-FFF2-40B4-BE49-F238E27FC236}">
                <a16:creationId xmlns:a16="http://schemas.microsoft.com/office/drawing/2014/main" id="{F44FF6D4-45CE-4E9D-4EFD-4F5748D5FC07}"/>
              </a:ext>
            </a:extLst>
          </p:cNvPr>
          <p:cNvSpPr/>
          <p:nvPr/>
        </p:nvSpPr>
        <p:spPr>
          <a:xfrm>
            <a:off x="10967386" y="3564372"/>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Death</a:t>
            </a:r>
          </a:p>
        </p:txBody>
      </p:sp>
      <p:sp>
        <p:nvSpPr>
          <p:cNvPr id="148" name="Rectangle 147">
            <a:extLst>
              <a:ext uri="{FF2B5EF4-FFF2-40B4-BE49-F238E27FC236}">
                <a16:creationId xmlns:a16="http://schemas.microsoft.com/office/drawing/2014/main" id="{1C90661E-5E89-ADC9-726F-597698DE1E60}"/>
              </a:ext>
            </a:extLst>
          </p:cNvPr>
          <p:cNvSpPr/>
          <p:nvPr/>
        </p:nvSpPr>
        <p:spPr>
          <a:xfrm>
            <a:off x="10967386" y="4326568"/>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Recovery</a:t>
            </a:r>
          </a:p>
        </p:txBody>
      </p:sp>
      <p:sp>
        <p:nvSpPr>
          <p:cNvPr id="149" name="Rectangle 148">
            <a:extLst>
              <a:ext uri="{FF2B5EF4-FFF2-40B4-BE49-F238E27FC236}">
                <a16:creationId xmlns:a16="http://schemas.microsoft.com/office/drawing/2014/main" id="{DC068A3F-7FC4-019A-B4FA-E562BD210B10}"/>
              </a:ext>
            </a:extLst>
          </p:cNvPr>
          <p:cNvSpPr/>
          <p:nvPr/>
        </p:nvSpPr>
        <p:spPr>
          <a:xfrm>
            <a:off x="10967386" y="4957811"/>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Death</a:t>
            </a:r>
          </a:p>
        </p:txBody>
      </p:sp>
      <p:sp>
        <p:nvSpPr>
          <p:cNvPr id="150" name="Rectangle 149">
            <a:extLst>
              <a:ext uri="{FF2B5EF4-FFF2-40B4-BE49-F238E27FC236}">
                <a16:creationId xmlns:a16="http://schemas.microsoft.com/office/drawing/2014/main" id="{33232505-0D64-E596-393B-5AFB2E989376}"/>
              </a:ext>
            </a:extLst>
          </p:cNvPr>
          <p:cNvSpPr/>
          <p:nvPr/>
        </p:nvSpPr>
        <p:spPr>
          <a:xfrm>
            <a:off x="9309214" y="4144078"/>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Success</a:t>
            </a:r>
          </a:p>
        </p:txBody>
      </p:sp>
      <p:sp>
        <p:nvSpPr>
          <p:cNvPr id="151" name="Rectangle 150">
            <a:extLst>
              <a:ext uri="{FF2B5EF4-FFF2-40B4-BE49-F238E27FC236}">
                <a16:creationId xmlns:a16="http://schemas.microsoft.com/office/drawing/2014/main" id="{ECDDD3D0-F68B-2B58-7829-B84260A06D6E}"/>
              </a:ext>
            </a:extLst>
          </p:cNvPr>
          <p:cNvSpPr/>
          <p:nvPr/>
        </p:nvSpPr>
        <p:spPr>
          <a:xfrm>
            <a:off x="9309214" y="4784595"/>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Failure</a:t>
            </a:r>
          </a:p>
        </p:txBody>
      </p:sp>
      <p:sp>
        <p:nvSpPr>
          <p:cNvPr id="152" name="Rectangle 151">
            <a:extLst>
              <a:ext uri="{FF2B5EF4-FFF2-40B4-BE49-F238E27FC236}">
                <a16:creationId xmlns:a16="http://schemas.microsoft.com/office/drawing/2014/main" id="{03B5DA10-714A-2FD3-4EC1-A42DB9F01DBC}"/>
              </a:ext>
            </a:extLst>
          </p:cNvPr>
          <p:cNvSpPr/>
          <p:nvPr/>
        </p:nvSpPr>
        <p:spPr>
          <a:xfrm>
            <a:off x="6804991" y="5272884"/>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False negative</a:t>
            </a:r>
          </a:p>
        </p:txBody>
      </p:sp>
      <p:sp>
        <p:nvSpPr>
          <p:cNvPr id="153" name="Rectangle 152">
            <a:extLst>
              <a:ext uri="{FF2B5EF4-FFF2-40B4-BE49-F238E27FC236}">
                <a16:creationId xmlns:a16="http://schemas.microsoft.com/office/drawing/2014/main" id="{1C965AED-996E-799D-C65E-8B0DD59382DB}"/>
              </a:ext>
            </a:extLst>
          </p:cNvPr>
          <p:cNvSpPr/>
          <p:nvPr/>
        </p:nvSpPr>
        <p:spPr>
          <a:xfrm>
            <a:off x="8069990" y="4187246"/>
            <a:ext cx="875587" cy="5345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Empirical </a:t>
            </a:r>
          </a:p>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treatment</a:t>
            </a:r>
          </a:p>
        </p:txBody>
      </p:sp>
      <p:sp>
        <p:nvSpPr>
          <p:cNvPr id="154" name="Rectangle 153">
            <a:extLst>
              <a:ext uri="{FF2B5EF4-FFF2-40B4-BE49-F238E27FC236}">
                <a16:creationId xmlns:a16="http://schemas.microsoft.com/office/drawing/2014/main" id="{D2D5528F-DA7C-E89D-9A77-7802A6C05AA6}"/>
              </a:ext>
            </a:extLst>
          </p:cNvPr>
          <p:cNvSpPr/>
          <p:nvPr/>
        </p:nvSpPr>
        <p:spPr>
          <a:xfrm>
            <a:off x="8061235" y="5370517"/>
            <a:ext cx="2659201" cy="2697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No or unrelated treatment</a:t>
            </a:r>
          </a:p>
        </p:txBody>
      </p:sp>
      <p:sp>
        <p:nvSpPr>
          <p:cNvPr id="155" name="Rectangle 154">
            <a:extLst>
              <a:ext uri="{FF2B5EF4-FFF2-40B4-BE49-F238E27FC236}">
                <a16:creationId xmlns:a16="http://schemas.microsoft.com/office/drawing/2014/main" id="{8EA9A273-016D-2740-1DCB-D59AB294C4F2}"/>
              </a:ext>
            </a:extLst>
          </p:cNvPr>
          <p:cNvSpPr/>
          <p:nvPr/>
        </p:nvSpPr>
        <p:spPr>
          <a:xfrm>
            <a:off x="10967386" y="5556702"/>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Death</a:t>
            </a:r>
          </a:p>
        </p:txBody>
      </p:sp>
      <p:sp>
        <p:nvSpPr>
          <p:cNvPr id="156" name="Rectangle 155">
            <a:extLst>
              <a:ext uri="{FF2B5EF4-FFF2-40B4-BE49-F238E27FC236}">
                <a16:creationId xmlns:a16="http://schemas.microsoft.com/office/drawing/2014/main" id="{DA02026A-05FB-CE0B-40A4-2E412A0FFDC1}"/>
              </a:ext>
            </a:extLst>
          </p:cNvPr>
          <p:cNvSpPr/>
          <p:nvPr/>
        </p:nvSpPr>
        <p:spPr>
          <a:xfrm>
            <a:off x="10967386" y="6110092"/>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Death</a:t>
            </a:r>
          </a:p>
        </p:txBody>
      </p:sp>
      <p:grpSp>
        <p:nvGrpSpPr>
          <p:cNvPr id="160" name="Group 159">
            <a:extLst>
              <a:ext uri="{FF2B5EF4-FFF2-40B4-BE49-F238E27FC236}">
                <a16:creationId xmlns:a16="http://schemas.microsoft.com/office/drawing/2014/main" id="{03C93579-5124-9799-4D3B-FCFBEDD25072}"/>
              </a:ext>
            </a:extLst>
          </p:cNvPr>
          <p:cNvGrpSpPr/>
          <p:nvPr/>
        </p:nvGrpSpPr>
        <p:grpSpPr>
          <a:xfrm>
            <a:off x="4939205" y="2383088"/>
            <a:ext cx="4372913" cy="292745"/>
            <a:chOff x="4911850" y="6335733"/>
            <a:chExt cx="4372913" cy="292745"/>
          </a:xfrm>
        </p:grpSpPr>
        <p:sp>
          <p:nvSpPr>
            <p:cNvPr id="126" name="Rectangle 125">
              <a:extLst>
                <a:ext uri="{FF2B5EF4-FFF2-40B4-BE49-F238E27FC236}">
                  <a16:creationId xmlns:a16="http://schemas.microsoft.com/office/drawing/2014/main" id="{0DA721CE-DFC1-01C3-3AD2-B9E1D86DBCE3}"/>
                </a:ext>
              </a:extLst>
            </p:cNvPr>
            <p:cNvSpPr/>
            <p:nvPr/>
          </p:nvSpPr>
          <p:spPr>
            <a:xfrm>
              <a:off x="4911850" y="6352525"/>
              <a:ext cx="243840" cy="260714"/>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27" name="Rectangle 126">
              <a:extLst>
                <a:ext uri="{FF2B5EF4-FFF2-40B4-BE49-F238E27FC236}">
                  <a16:creationId xmlns:a16="http://schemas.microsoft.com/office/drawing/2014/main" id="{6121D3DD-59F5-7C6B-37EB-26AAA38D5D44}"/>
                </a:ext>
              </a:extLst>
            </p:cNvPr>
            <p:cNvSpPr/>
            <p:nvPr/>
          </p:nvSpPr>
          <p:spPr>
            <a:xfrm>
              <a:off x="5155690"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Decision</a:t>
              </a:r>
            </a:p>
          </p:txBody>
        </p:sp>
        <p:sp>
          <p:nvSpPr>
            <p:cNvPr id="131" name="Oval 130">
              <a:extLst>
                <a:ext uri="{FF2B5EF4-FFF2-40B4-BE49-F238E27FC236}">
                  <a16:creationId xmlns:a16="http://schemas.microsoft.com/office/drawing/2014/main" id="{50F82730-F343-946D-D5C9-44CC21E60E91}"/>
                </a:ext>
              </a:extLst>
            </p:cNvPr>
            <p:cNvSpPr/>
            <p:nvPr/>
          </p:nvSpPr>
          <p:spPr>
            <a:xfrm>
              <a:off x="6258310" y="6338919"/>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32" name="Rectangle 131">
              <a:extLst>
                <a:ext uri="{FF2B5EF4-FFF2-40B4-BE49-F238E27FC236}">
                  <a16:creationId xmlns:a16="http://schemas.microsoft.com/office/drawing/2014/main" id="{C7D29024-560C-ED61-F7F5-D731552AC57A}"/>
                </a:ext>
              </a:extLst>
            </p:cNvPr>
            <p:cNvSpPr/>
            <p:nvPr/>
          </p:nvSpPr>
          <p:spPr>
            <a:xfrm>
              <a:off x="6541013" y="6335733"/>
              <a:ext cx="1454397"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 Chance event</a:t>
              </a:r>
            </a:p>
          </p:txBody>
        </p:sp>
        <p:sp>
          <p:nvSpPr>
            <p:cNvPr id="158" name="Isosceles Triangle 157">
              <a:extLst>
                <a:ext uri="{FF2B5EF4-FFF2-40B4-BE49-F238E27FC236}">
                  <a16:creationId xmlns:a16="http://schemas.microsoft.com/office/drawing/2014/main" id="{6A036E1D-622E-A288-BA8C-1FCCE2A9F906}"/>
                </a:ext>
              </a:extLst>
            </p:cNvPr>
            <p:cNvSpPr/>
            <p:nvPr/>
          </p:nvSpPr>
          <p:spPr>
            <a:xfrm rot="16200000">
              <a:off x="7912736" y="6354158"/>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59" name="Rectangle 158">
              <a:extLst>
                <a:ext uri="{FF2B5EF4-FFF2-40B4-BE49-F238E27FC236}">
                  <a16:creationId xmlns:a16="http://schemas.microsoft.com/office/drawing/2014/main" id="{01D77B8D-04C5-0BD0-0292-53D7E4421368}"/>
                </a:ext>
              </a:extLst>
            </p:cNvPr>
            <p:cNvSpPr/>
            <p:nvPr/>
          </p:nvSpPr>
          <p:spPr>
            <a:xfrm>
              <a:off x="8192053"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 Outcomes</a:t>
              </a:r>
            </a:p>
          </p:txBody>
        </p:sp>
      </p:grpSp>
      <p:sp>
        <p:nvSpPr>
          <p:cNvPr id="100" name="Oval 99">
            <a:extLst>
              <a:ext uri="{FF2B5EF4-FFF2-40B4-BE49-F238E27FC236}">
                <a16:creationId xmlns:a16="http://schemas.microsoft.com/office/drawing/2014/main" id="{F83B1AEC-B6B6-62A6-61D4-6E02BA04B02C}"/>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1</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107" name="Oval 106">
            <a:extLst>
              <a:ext uri="{FF2B5EF4-FFF2-40B4-BE49-F238E27FC236}">
                <a16:creationId xmlns:a16="http://schemas.microsoft.com/office/drawing/2014/main" id="{7A85664A-D22B-B256-FDB3-4611FC7E8BBA}"/>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2</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109" name="Oval 108">
            <a:extLst>
              <a:ext uri="{FF2B5EF4-FFF2-40B4-BE49-F238E27FC236}">
                <a16:creationId xmlns:a16="http://schemas.microsoft.com/office/drawing/2014/main" id="{783230C3-3FE7-99E4-FCED-CF68801B8EF7}"/>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bg1"/>
                </a:solidFill>
                <a:latin typeface="Arial" panose="020B0604020202020204" pitchFamily="34" charset="0"/>
                <a:ea typeface="Meiryo UI" panose="020B0604030504040204" pitchFamily="50" charset="-128"/>
                <a:cs typeface="Arial" panose="020B0604020202020204" pitchFamily="34" charset="0"/>
              </a:rPr>
              <a:t>3</a:t>
            </a:r>
          </a:p>
        </p:txBody>
      </p:sp>
      <p:sp>
        <p:nvSpPr>
          <p:cNvPr id="110" name="Oval 109">
            <a:extLst>
              <a:ext uri="{FF2B5EF4-FFF2-40B4-BE49-F238E27FC236}">
                <a16:creationId xmlns:a16="http://schemas.microsoft.com/office/drawing/2014/main" id="{8B412F65-1B59-D8D0-5EE4-36A0C1218A01}"/>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4</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111" name="Oval 110">
            <a:extLst>
              <a:ext uri="{FF2B5EF4-FFF2-40B4-BE49-F238E27FC236}">
                <a16:creationId xmlns:a16="http://schemas.microsoft.com/office/drawing/2014/main" id="{76B84BC1-084B-6DBF-BA93-069B021836EB}"/>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5</a:t>
            </a:r>
          </a:p>
        </p:txBody>
      </p:sp>
      <p:sp>
        <p:nvSpPr>
          <p:cNvPr id="113" name="Oval 112">
            <a:extLst>
              <a:ext uri="{FF2B5EF4-FFF2-40B4-BE49-F238E27FC236}">
                <a16:creationId xmlns:a16="http://schemas.microsoft.com/office/drawing/2014/main" id="{217EB534-F7FF-6AF1-8219-07E71C97937C}"/>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6</a:t>
            </a:r>
          </a:p>
        </p:txBody>
      </p:sp>
      <p:sp>
        <p:nvSpPr>
          <p:cNvPr id="114" name="Oval 113">
            <a:extLst>
              <a:ext uri="{FF2B5EF4-FFF2-40B4-BE49-F238E27FC236}">
                <a16:creationId xmlns:a16="http://schemas.microsoft.com/office/drawing/2014/main" id="{B7851A51-FBB2-1208-E1EC-D4D42A495D2F}"/>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7</a:t>
            </a:r>
          </a:p>
        </p:txBody>
      </p:sp>
      <p:sp>
        <p:nvSpPr>
          <p:cNvPr id="115" name="Oval 114">
            <a:extLst>
              <a:ext uri="{FF2B5EF4-FFF2-40B4-BE49-F238E27FC236}">
                <a16:creationId xmlns:a16="http://schemas.microsoft.com/office/drawing/2014/main" id="{79FE90D7-9B43-2A4C-741E-616483ED42D7}"/>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8</a:t>
            </a:r>
          </a:p>
        </p:txBody>
      </p:sp>
      <p:grpSp>
        <p:nvGrpSpPr>
          <p:cNvPr id="117" name="Group 116">
            <a:extLst>
              <a:ext uri="{FF2B5EF4-FFF2-40B4-BE49-F238E27FC236}">
                <a16:creationId xmlns:a16="http://schemas.microsoft.com/office/drawing/2014/main" id="{9B0407ED-00C9-8FE6-0ACA-095C5402A088}"/>
              </a:ext>
            </a:extLst>
          </p:cNvPr>
          <p:cNvGrpSpPr/>
          <p:nvPr/>
        </p:nvGrpSpPr>
        <p:grpSpPr>
          <a:xfrm>
            <a:off x="467139" y="108959"/>
            <a:ext cx="4197304" cy="307297"/>
            <a:chOff x="562270" y="127168"/>
            <a:chExt cx="4197304" cy="307297"/>
          </a:xfrm>
        </p:grpSpPr>
        <p:sp>
          <p:nvSpPr>
            <p:cNvPr id="118" name="Arrow: Pentagon 117">
              <a:extLst>
                <a:ext uri="{FF2B5EF4-FFF2-40B4-BE49-F238E27FC236}">
                  <a16:creationId xmlns:a16="http://schemas.microsoft.com/office/drawing/2014/main" id="{D46E0C44-EB8E-4EC0-B646-54B207FFEF7C}"/>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23" name="Arrow: Pentagon 122">
              <a:extLst>
                <a:ext uri="{FF2B5EF4-FFF2-40B4-BE49-F238E27FC236}">
                  <a16:creationId xmlns:a16="http://schemas.microsoft.com/office/drawing/2014/main" id="{7A2F2451-F7CB-18FE-6FC8-3A498AE66082}"/>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24" name="Arrow: Pentagon 123">
              <a:extLst>
                <a:ext uri="{FF2B5EF4-FFF2-40B4-BE49-F238E27FC236}">
                  <a16:creationId xmlns:a16="http://schemas.microsoft.com/office/drawing/2014/main" id="{5B2F4B15-1A2E-942A-F083-D2C746C9A4EA}"/>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2190881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9D5EA-2263-BC77-5AC7-53BBCE601A3E}"/>
            </a:ext>
          </a:extLst>
        </p:cNvPr>
        <p:cNvGrpSpPr/>
        <p:nvPr/>
      </p:nvGrpSpPr>
      <p:grpSpPr>
        <a:xfrm>
          <a:off x="0" y="0"/>
          <a:ext cx="0" cy="0"/>
          <a:chOff x="0" y="0"/>
          <a:chExt cx="0" cy="0"/>
        </a:xfrm>
      </p:grpSpPr>
      <p:sp>
        <p:nvSpPr>
          <p:cNvPr id="41" name="Rectangle 40">
            <a:extLst>
              <a:ext uri="{FF2B5EF4-FFF2-40B4-BE49-F238E27FC236}">
                <a16:creationId xmlns:a16="http://schemas.microsoft.com/office/drawing/2014/main" id="{FFDBAEE8-85CD-8966-DEB9-4CAD9F8AD95E}"/>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Define the problem and objectives</a:t>
            </a:r>
          </a:p>
        </p:txBody>
      </p:sp>
      <p:sp>
        <p:nvSpPr>
          <p:cNvPr id="42" name="Rectangle 41">
            <a:extLst>
              <a:ext uri="{FF2B5EF4-FFF2-40B4-BE49-F238E27FC236}">
                <a16:creationId xmlns:a16="http://schemas.microsoft.com/office/drawing/2014/main" id="{5A151617-400E-3493-8352-7F25023CD84D}"/>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Design simulation model</a:t>
            </a:r>
          </a:p>
        </p:txBody>
      </p:sp>
      <p:sp>
        <p:nvSpPr>
          <p:cNvPr id="44" name="Rectangle 43">
            <a:extLst>
              <a:ext uri="{FF2B5EF4-FFF2-40B4-BE49-F238E27FC236}">
                <a16:creationId xmlns:a16="http://schemas.microsoft.com/office/drawing/2014/main" id="{AB03C59B-2E9C-6B84-DF95-E70AABE6EB99}"/>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Select simulation model</a:t>
            </a:r>
          </a:p>
        </p:txBody>
      </p:sp>
      <p:sp>
        <p:nvSpPr>
          <p:cNvPr id="45" name="Rectangle 44">
            <a:extLst>
              <a:ext uri="{FF2B5EF4-FFF2-40B4-BE49-F238E27FC236}">
                <a16:creationId xmlns:a16="http://schemas.microsoft.com/office/drawing/2014/main" id="{D7D0FCB0-08E3-B6AE-7643-25C2D6407229}"/>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Define outcomes</a:t>
            </a:r>
          </a:p>
        </p:txBody>
      </p:sp>
      <p:sp>
        <p:nvSpPr>
          <p:cNvPr id="46" name="Rectangle 45">
            <a:extLst>
              <a:ext uri="{FF2B5EF4-FFF2-40B4-BE49-F238E27FC236}">
                <a16:creationId xmlns:a16="http://schemas.microsoft.com/office/drawing/2014/main" id="{9B46A827-872E-8B27-12D2-7C4C354054E1}"/>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Select model inputs</a:t>
            </a:r>
          </a:p>
        </p:txBody>
      </p:sp>
      <p:sp>
        <p:nvSpPr>
          <p:cNvPr id="47" name="Rectangle 46">
            <a:extLst>
              <a:ext uri="{FF2B5EF4-FFF2-40B4-BE49-F238E27FC236}">
                <a16:creationId xmlns:a16="http://schemas.microsoft.com/office/drawing/2014/main" id="{DE28C739-7179-1AA3-A908-D0A95E378109}"/>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Simulate multiple decision options</a:t>
            </a:r>
          </a:p>
        </p:txBody>
      </p:sp>
      <p:sp>
        <p:nvSpPr>
          <p:cNvPr id="48" name="Rectangle 47">
            <a:extLst>
              <a:ext uri="{FF2B5EF4-FFF2-40B4-BE49-F238E27FC236}">
                <a16:creationId xmlns:a16="http://schemas.microsoft.com/office/drawing/2014/main" id="{77485F74-0869-ED5B-B39A-05C738F4E8A4}"/>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Sensitivity and scenario analyses</a:t>
            </a:r>
          </a:p>
        </p:txBody>
      </p:sp>
      <p:sp>
        <p:nvSpPr>
          <p:cNvPr id="49" name="Rectangle 48">
            <a:extLst>
              <a:ext uri="{FF2B5EF4-FFF2-40B4-BE49-F238E27FC236}">
                <a16:creationId xmlns:a16="http://schemas.microsoft.com/office/drawing/2014/main" id="{FEF1A1BA-C02A-87F3-16FB-3F8EC68EA0DA}"/>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Evaluate results</a:t>
            </a:r>
          </a:p>
        </p:txBody>
      </p:sp>
      <p:sp>
        <p:nvSpPr>
          <p:cNvPr id="50" name="Isosceles Triangle 49">
            <a:extLst>
              <a:ext uri="{FF2B5EF4-FFF2-40B4-BE49-F238E27FC236}">
                <a16:creationId xmlns:a16="http://schemas.microsoft.com/office/drawing/2014/main" id="{9C4926F3-762E-46AA-7EFC-EB029976F6D9}"/>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1" name="Isosceles Triangle 50">
            <a:extLst>
              <a:ext uri="{FF2B5EF4-FFF2-40B4-BE49-F238E27FC236}">
                <a16:creationId xmlns:a16="http://schemas.microsoft.com/office/drawing/2014/main" id="{D9CCC118-B6BE-89F9-7681-5156388A3514}"/>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2" name="Isosceles Triangle 51">
            <a:extLst>
              <a:ext uri="{FF2B5EF4-FFF2-40B4-BE49-F238E27FC236}">
                <a16:creationId xmlns:a16="http://schemas.microsoft.com/office/drawing/2014/main" id="{9ED28F2F-62B7-B3B9-067A-13A6A3C0E55A}"/>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3" name="Isosceles Triangle 52">
            <a:extLst>
              <a:ext uri="{FF2B5EF4-FFF2-40B4-BE49-F238E27FC236}">
                <a16:creationId xmlns:a16="http://schemas.microsoft.com/office/drawing/2014/main" id="{F21851B4-8BE0-2614-810C-B6251CBE6892}"/>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4" name="Isosceles Triangle 53">
            <a:extLst>
              <a:ext uri="{FF2B5EF4-FFF2-40B4-BE49-F238E27FC236}">
                <a16:creationId xmlns:a16="http://schemas.microsoft.com/office/drawing/2014/main" id="{21E29270-59CD-00B9-BFAB-8E892A408FB5}"/>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5" name="Isosceles Triangle 54">
            <a:extLst>
              <a:ext uri="{FF2B5EF4-FFF2-40B4-BE49-F238E27FC236}">
                <a16:creationId xmlns:a16="http://schemas.microsoft.com/office/drawing/2014/main" id="{3E2DD489-26DE-4FF2-2627-4E45D814A352}"/>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6" name="Isosceles Triangle 55">
            <a:extLst>
              <a:ext uri="{FF2B5EF4-FFF2-40B4-BE49-F238E27FC236}">
                <a16:creationId xmlns:a16="http://schemas.microsoft.com/office/drawing/2014/main" id="{4AD791D6-7CED-FBCE-91E0-F8E997374AD6}"/>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pic>
        <p:nvPicPr>
          <p:cNvPr id="93" name="Picture 92">
            <a:extLst>
              <a:ext uri="{FF2B5EF4-FFF2-40B4-BE49-F238E27FC236}">
                <a16:creationId xmlns:a16="http://schemas.microsoft.com/office/drawing/2014/main" id="{DFCC5AB0-EC69-C701-CE69-FB72CBCB038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187579" y="2361730"/>
            <a:ext cx="6256980" cy="3517047"/>
          </a:xfrm>
          <a:prstGeom prst="rect">
            <a:avLst/>
          </a:prstGeom>
          <a:ln>
            <a:solidFill>
              <a:schemeClr val="bg1">
                <a:lumMod val="50000"/>
              </a:schemeClr>
            </a:solidFill>
          </a:ln>
        </p:spPr>
      </p:pic>
      <p:sp>
        <p:nvSpPr>
          <p:cNvPr id="2" name="Title 1">
            <a:extLst>
              <a:ext uri="{FF2B5EF4-FFF2-40B4-BE49-F238E27FC236}">
                <a16:creationId xmlns:a16="http://schemas.microsoft.com/office/drawing/2014/main" id="{B5532203-7A7A-C3FE-EF19-044D9369237D}"/>
              </a:ext>
            </a:extLst>
          </p:cNvPr>
          <p:cNvSpPr>
            <a:spLocks noGrp="1"/>
          </p:cNvSpPr>
          <p:nvPr>
            <p:ph type="title"/>
          </p:nvPr>
        </p:nvSpPr>
        <p:spPr/>
        <p:txBody>
          <a:bodyPr/>
          <a:lstStyle/>
          <a:p>
            <a:r>
              <a:rPr lang="en-US" noProof="0" dirty="0"/>
              <a:t>Step④ Designing the Simulation Model (Example)</a:t>
            </a:r>
          </a:p>
        </p:txBody>
      </p:sp>
      <p:sp>
        <p:nvSpPr>
          <p:cNvPr id="4" name="Slide Number Placeholder 3">
            <a:extLst>
              <a:ext uri="{FF2B5EF4-FFF2-40B4-BE49-F238E27FC236}">
                <a16:creationId xmlns:a16="http://schemas.microsoft.com/office/drawing/2014/main" id="{9F4AD497-EA7A-95AE-6437-30CE401E6FFE}"/>
              </a:ext>
            </a:extLst>
          </p:cNvPr>
          <p:cNvSpPr>
            <a:spLocks noGrp="1"/>
          </p:cNvSpPr>
          <p:nvPr>
            <p:ph type="sldNum" sz="quarter" idx="4"/>
          </p:nvPr>
        </p:nvSpPr>
        <p:spPr/>
        <p:txBody>
          <a:bodyPr/>
          <a:lstStyle/>
          <a:p>
            <a:fld id="{B5CEABB6-07DC-46E8-9B57-56EC44A396E5}" type="slidenum">
              <a:rPr lang="en-US" noProof="0" smtClean="0"/>
              <a:pPr/>
              <a:t>18</a:t>
            </a:fld>
            <a:endParaRPr lang="en-US" noProof="0" dirty="0"/>
          </a:p>
        </p:txBody>
      </p:sp>
      <p:sp>
        <p:nvSpPr>
          <p:cNvPr id="5" name="Table Placeholder 4">
            <a:extLst>
              <a:ext uri="{FF2B5EF4-FFF2-40B4-BE49-F238E27FC236}">
                <a16:creationId xmlns:a16="http://schemas.microsoft.com/office/drawing/2014/main" id="{8E0C644E-D438-2CB6-F437-361C1DA19674}"/>
              </a:ext>
            </a:extLst>
          </p:cNvPr>
          <p:cNvSpPr>
            <a:spLocks noGrp="1"/>
          </p:cNvSpPr>
          <p:nvPr>
            <p:ph type="tbl" sz="quarter" idx="11"/>
          </p:nvPr>
        </p:nvSpPr>
        <p:spPr/>
        <p:txBody>
          <a:bodyPr/>
          <a:lstStyle/>
          <a:p>
            <a:r>
              <a:rPr lang="en-US" noProof="0" dirty="0"/>
              <a:t>The structure of a model may differ depending on the decision-maker.</a:t>
            </a:r>
          </a:p>
        </p:txBody>
      </p:sp>
      <p:sp>
        <p:nvSpPr>
          <p:cNvPr id="37" name="Rectangle 36">
            <a:extLst>
              <a:ext uri="{FF2B5EF4-FFF2-40B4-BE49-F238E27FC236}">
                <a16:creationId xmlns:a16="http://schemas.microsoft.com/office/drawing/2014/main" id="{0E655098-15ED-630E-2872-9A0522DE8E92}"/>
              </a:ext>
            </a:extLst>
          </p:cNvPr>
          <p:cNvSpPr/>
          <p:nvPr/>
        </p:nvSpPr>
        <p:spPr>
          <a:xfrm>
            <a:off x="4694922" y="1938130"/>
            <a:ext cx="120917" cy="4692045"/>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8" name="Table Placeholder 2">
            <a:extLst>
              <a:ext uri="{FF2B5EF4-FFF2-40B4-BE49-F238E27FC236}">
                <a16:creationId xmlns:a16="http://schemas.microsoft.com/office/drawing/2014/main" id="{E0BE3220-D382-0709-A035-496851E294C5}"/>
              </a:ext>
            </a:extLst>
          </p:cNvPr>
          <p:cNvSpPr txBox="1">
            <a:spLocks/>
          </p:cNvSpPr>
          <p:nvPr/>
        </p:nvSpPr>
        <p:spPr>
          <a:xfrm>
            <a:off x="4907279" y="1938130"/>
            <a:ext cx="6817581" cy="4692045"/>
          </a:xfrm>
          <a:prstGeom prst="rect">
            <a:avLst/>
          </a:prstGeom>
        </p:spPr>
        <p:txBody>
          <a:bodyPr vert="horz" lIns="0" tIns="0" rIns="0" bIns="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noProof="0" dirty="0">
                <a:latin typeface="Arial" panose="020B0604020202020204" pitchFamily="34" charset="0"/>
                <a:cs typeface="Arial" panose="020B0604020202020204" pitchFamily="34" charset="0"/>
              </a:rPr>
              <a:t>Example: Diagnosis and Treatment of Severe Malaria</a:t>
            </a:r>
          </a:p>
        </p:txBody>
      </p:sp>
      <p:cxnSp>
        <p:nvCxnSpPr>
          <p:cNvPr id="34" name="Straight Connector 33">
            <a:extLst>
              <a:ext uri="{FF2B5EF4-FFF2-40B4-BE49-F238E27FC236}">
                <a16:creationId xmlns:a16="http://schemas.microsoft.com/office/drawing/2014/main" id="{E33F4808-D958-F705-6091-EA5DF0C547BD}"/>
              </a:ext>
            </a:extLst>
          </p:cNvPr>
          <p:cNvCxnSpPr>
            <a:cxnSpLocks/>
            <a:stCxn id="42" idx="3"/>
            <a:endCxn id="37" idx="1"/>
          </p:cNvCxnSpPr>
          <p:nvPr/>
        </p:nvCxnSpPr>
        <p:spPr>
          <a:xfrm>
            <a:off x="3989294" y="3980902"/>
            <a:ext cx="705628" cy="303251"/>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86" name="Rectangle: Rounded Corners 85">
            <a:extLst>
              <a:ext uri="{FF2B5EF4-FFF2-40B4-BE49-F238E27FC236}">
                <a16:creationId xmlns:a16="http://schemas.microsoft.com/office/drawing/2014/main" id="{02E70D8D-7B2B-6854-3DAC-63C155C897A5}"/>
              </a:ext>
            </a:extLst>
          </p:cNvPr>
          <p:cNvSpPr/>
          <p:nvPr/>
        </p:nvSpPr>
        <p:spPr>
          <a:xfrm>
            <a:off x="7774398" y="3838226"/>
            <a:ext cx="1381326" cy="1009750"/>
          </a:xfrm>
          <a:prstGeom prst="roundRect">
            <a:avLst/>
          </a:prstGeom>
          <a:solidFill>
            <a:srgbClr val="D6DCE5">
              <a:alpha val="30196"/>
            </a:srgbClr>
          </a:solidFill>
          <a:ln w="5715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88" name="Straight Connector 87">
            <a:extLst>
              <a:ext uri="{FF2B5EF4-FFF2-40B4-BE49-F238E27FC236}">
                <a16:creationId xmlns:a16="http://schemas.microsoft.com/office/drawing/2014/main" id="{3B2B0E4B-604E-B248-88B2-7347E539E091}"/>
              </a:ext>
            </a:extLst>
          </p:cNvPr>
          <p:cNvCxnSpPr>
            <a:cxnSpLocks/>
            <a:stCxn id="86" idx="2"/>
            <a:endCxn id="102" idx="0"/>
          </p:cNvCxnSpPr>
          <p:nvPr/>
        </p:nvCxnSpPr>
        <p:spPr>
          <a:xfrm>
            <a:off x="8465061" y="4847976"/>
            <a:ext cx="9776" cy="1134277"/>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02" name="Rectangle 101">
            <a:extLst>
              <a:ext uri="{FF2B5EF4-FFF2-40B4-BE49-F238E27FC236}">
                <a16:creationId xmlns:a16="http://schemas.microsoft.com/office/drawing/2014/main" id="{D5D002BD-4B6E-3E65-5255-066D2DDECA60}"/>
              </a:ext>
            </a:extLst>
          </p:cNvPr>
          <p:cNvSpPr/>
          <p:nvPr/>
        </p:nvSpPr>
        <p:spPr>
          <a:xfrm>
            <a:off x="5609224" y="5982253"/>
            <a:ext cx="5731226" cy="77665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“empirical treatment” could instead be “second diagnostic test”, depending on how the decision-maker frames the problem.</a:t>
            </a:r>
          </a:p>
        </p:txBody>
      </p:sp>
      <p:sp>
        <p:nvSpPr>
          <p:cNvPr id="69" name="Oval 68">
            <a:extLst>
              <a:ext uri="{FF2B5EF4-FFF2-40B4-BE49-F238E27FC236}">
                <a16:creationId xmlns:a16="http://schemas.microsoft.com/office/drawing/2014/main" id="{5997E384-42DA-21E6-AA00-F15AD3EC568C}"/>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1</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70" name="Oval 69">
            <a:extLst>
              <a:ext uri="{FF2B5EF4-FFF2-40B4-BE49-F238E27FC236}">
                <a16:creationId xmlns:a16="http://schemas.microsoft.com/office/drawing/2014/main" id="{A05346AD-0C77-564D-532C-688D0DFD07D6}"/>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2</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71" name="Oval 70">
            <a:extLst>
              <a:ext uri="{FF2B5EF4-FFF2-40B4-BE49-F238E27FC236}">
                <a16:creationId xmlns:a16="http://schemas.microsoft.com/office/drawing/2014/main" id="{2BE0CF5A-FB8E-7FC0-C44A-2409F34831C4}"/>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3</a:t>
            </a:r>
          </a:p>
        </p:txBody>
      </p:sp>
      <p:sp>
        <p:nvSpPr>
          <p:cNvPr id="72" name="Oval 71">
            <a:extLst>
              <a:ext uri="{FF2B5EF4-FFF2-40B4-BE49-F238E27FC236}">
                <a16:creationId xmlns:a16="http://schemas.microsoft.com/office/drawing/2014/main" id="{9E950271-655E-0DC2-2357-B161A5269BE8}"/>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ea typeface="Meiryo UI" panose="020B0604030504040204" pitchFamily="50" charset="-128"/>
                <a:cs typeface="Arial" panose="020B0604020202020204" pitchFamily="34" charset="0"/>
              </a:rPr>
              <a:t>4</a:t>
            </a:r>
            <a:endParaRPr lang="en-US" b="1"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73" name="Oval 72">
            <a:extLst>
              <a:ext uri="{FF2B5EF4-FFF2-40B4-BE49-F238E27FC236}">
                <a16:creationId xmlns:a16="http://schemas.microsoft.com/office/drawing/2014/main" id="{C8589BA6-24C4-2C33-C445-8D1500941418}"/>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5</a:t>
            </a:r>
          </a:p>
        </p:txBody>
      </p:sp>
      <p:sp>
        <p:nvSpPr>
          <p:cNvPr id="74" name="Oval 73">
            <a:extLst>
              <a:ext uri="{FF2B5EF4-FFF2-40B4-BE49-F238E27FC236}">
                <a16:creationId xmlns:a16="http://schemas.microsoft.com/office/drawing/2014/main" id="{BCBF58D8-DC72-9A94-BD4A-922D77AE6DD8}"/>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6</a:t>
            </a:r>
          </a:p>
        </p:txBody>
      </p:sp>
      <p:sp>
        <p:nvSpPr>
          <p:cNvPr id="75" name="Oval 74">
            <a:extLst>
              <a:ext uri="{FF2B5EF4-FFF2-40B4-BE49-F238E27FC236}">
                <a16:creationId xmlns:a16="http://schemas.microsoft.com/office/drawing/2014/main" id="{95AC410D-D453-64D1-19EC-51D9622E7F06}"/>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7</a:t>
            </a:r>
          </a:p>
        </p:txBody>
      </p:sp>
      <p:sp>
        <p:nvSpPr>
          <p:cNvPr id="76" name="Oval 75">
            <a:extLst>
              <a:ext uri="{FF2B5EF4-FFF2-40B4-BE49-F238E27FC236}">
                <a16:creationId xmlns:a16="http://schemas.microsoft.com/office/drawing/2014/main" id="{FD227234-668F-7FF4-096A-8FE5A1CC4387}"/>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8</a:t>
            </a:r>
          </a:p>
        </p:txBody>
      </p:sp>
      <p:grpSp>
        <p:nvGrpSpPr>
          <p:cNvPr id="77" name="Group 76">
            <a:extLst>
              <a:ext uri="{FF2B5EF4-FFF2-40B4-BE49-F238E27FC236}">
                <a16:creationId xmlns:a16="http://schemas.microsoft.com/office/drawing/2014/main" id="{F9C4E757-1E91-E546-0ACE-518909CC669F}"/>
              </a:ext>
            </a:extLst>
          </p:cNvPr>
          <p:cNvGrpSpPr/>
          <p:nvPr/>
        </p:nvGrpSpPr>
        <p:grpSpPr>
          <a:xfrm>
            <a:off x="467139" y="108959"/>
            <a:ext cx="4197304" cy="307297"/>
            <a:chOff x="562270" y="127168"/>
            <a:chExt cx="4197304" cy="307297"/>
          </a:xfrm>
        </p:grpSpPr>
        <p:sp>
          <p:nvSpPr>
            <p:cNvPr id="78" name="Arrow: Pentagon 77">
              <a:extLst>
                <a:ext uri="{FF2B5EF4-FFF2-40B4-BE49-F238E27FC236}">
                  <a16:creationId xmlns:a16="http://schemas.microsoft.com/office/drawing/2014/main" id="{77989FE0-10B6-2A20-F0AF-0607F95385EC}"/>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79" name="Arrow: Pentagon 78">
              <a:extLst>
                <a:ext uri="{FF2B5EF4-FFF2-40B4-BE49-F238E27FC236}">
                  <a16:creationId xmlns:a16="http://schemas.microsoft.com/office/drawing/2014/main" id="{D90C0074-B7F6-31B9-A1B6-51ABC339EE0A}"/>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80" name="Arrow: Pentagon 79">
              <a:extLst>
                <a:ext uri="{FF2B5EF4-FFF2-40B4-BE49-F238E27FC236}">
                  <a16:creationId xmlns:a16="http://schemas.microsoft.com/office/drawing/2014/main" id="{010CA741-50C1-E027-CC4E-ADFB479BF745}"/>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42815456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62869-27CC-945A-223D-F4B13D92AAFD}"/>
            </a:ext>
          </a:extLst>
        </p:cNvPr>
        <p:cNvGrpSpPr/>
        <p:nvPr/>
      </p:nvGrpSpPr>
      <p:grpSpPr>
        <a:xfrm>
          <a:off x="0" y="0"/>
          <a:ext cx="0" cy="0"/>
          <a:chOff x="0" y="0"/>
          <a:chExt cx="0" cy="0"/>
        </a:xfrm>
      </p:grpSpPr>
      <p:sp>
        <p:nvSpPr>
          <p:cNvPr id="65" name="Rectangle 64">
            <a:extLst>
              <a:ext uri="{FF2B5EF4-FFF2-40B4-BE49-F238E27FC236}">
                <a16:creationId xmlns:a16="http://schemas.microsoft.com/office/drawing/2014/main" id="{D6DF8CCD-D823-5ACD-8737-E8DB2A1772E1}"/>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Define the problem and objectives</a:t>
            </a:r>
          </a:p>
        </p:txBody>
      </p:sp>
      <p:sp>
        <p:nvSpPr>
          <p:cNvPr id="66" name="Rectangle 65">
            <a:extLst>
              <a:ext uri="{FF2B5EF4-FFF2-40B4-BE49-F238E27FC236}">
                <a16:creationId xmlns:a16="http://schemas.microsoft.com/office/drawing/2014/main" id="{5E0301F3-B789-87A3-29CB-6A311AA7BC3E}"/>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Design simulation model</a:t>
            </a:r>
          </a:p>
        </p:txBody>
      </p:sp>
      <p:sp>
        <p:nvSpPr>
          <p:cNvPr id="69" name="Rectangle 68">
            <a:extLst>
              <a:ext uri="{FF2B5EF4-FFF2-40B4-BE49-F238E27FC236}">
                <a16:creationId xmlns:a16="http://schemas.microsoft.com/office/drawing/2014/main" id="{6D81BBDB-FCE8-D0EA-6E19-B279FDEACA4F}"/>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Select simulation model</a:t>
            </a:r>
          </a:p>
        </p:txBody>
      </p:sp>
      <p:sp>
        <p:nvSpPr>
          <p:cNvPr id="70" name="Rectangle 69">
            <a:extLst>
              <a:ext uri="{FF2B5EF4-FFF2-40B4-BE49-F238E27FC236}">
                <a16:creationId xmlns:a16="http://schemas.microsoft.com/office/drawing/2014/main" id="{DE07EEFA-B24E-7B76-FA20-D40BB99FDB33}"/>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Define outcomes</a:t>
            </a:r>
          </a:p>
        </p:txBody>
      </p:sp>
      <p:sp>
        <p:nvSpPr>
          <p:cNvPr id="71" name="Rectangle 70">
            <a:extLst>
              <a:ext uri="{FF2B5EF4-FFF2-40B4-BE49-F238E27FC236}">
                <a16:creationId xmlns:a16="http://schemas.microsoft.com/office/drawing/2014/main" id="{C3D8CB48-CDA8-BEB0-D028-5D959D254C59}"/>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Select model inputs</a:t>
            </a:r>
          </a:p>
        </p:txBody>
      </p:sp>
      <p:sp>
        <p:nvSpPr>
          <p:cNvPr id="72" name="Rectangle 71">
            <a:extLst>
              <a:ext uri="{FF2B5EF4-FFF2-40B4-BE49-F238E27FC236}">
                <a16:creationId xmlns:a16="http://schemas.microsoft.com/office/drawing/2014/main" id="{0E3A16E0-660D-45E1-23A9-C789FA3088AF}"/>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Simulate multiple decision options</a:t>
            </a:r>
          </a:p>
        </p:txBody>
      </p:sp>
      <p:sp>
        <p:nvSpPr>
          <p:cNvPr id="74" name="Rectangle 73">
            <a:extLst>
              <a:ext uri="{FF2B5EF4-FFF2-40B4-BE49-F238E27FC236}">
                <a16:creationId xmlns:a16="http://schemas.microsoft.com/office/drawing/2014/main" id="{6937BEA4-5576-5A80-B052-08C4EF80EF80}"/>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Sensitivity and scenario analyses</a:t>
            </a:r>
          </a:p>
        </p:txBody>
      </p:sp>
      <p:sp>
        <p:nvSpPr>
          <p:cNvPr id="75" name="Rectangle 74">
            <a:extLst>
              <a:ext uri="{FF2B5EF4-FFF2-40B4-BE49-F238E27FC236}">
                <a16:creationId xmlns:a16="http://schemas.microsoft.com/office/drawing/2014/main" id="{3C674213-DC7A-7C6F-447C-A62D415CAEC9}"/>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Evaluate results</a:t>
            </a:r>
          </a:p>
        </p:txBody>
      </p:sp>
      <p:sp>
        <p:nvSpPr>
          <p:cNvPr id="76" name="Isosceles Triangle 75">
            <a:extLst>
              <a:ext uri="{FF2B5EF4-FFF2-40B4-BE49-F238E27FC236}">
                <a16:creationId xmlns:a16="http://schemas.microsoft.com/office/drawing/2014/main" id="{76B24B77-7545-9673-E351-48A6AC620FC2}"/>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77" name="Isosceles Triangle 76">
            <a:extLst>
              <a:ext uri="{FF2B5EF4-FFF2-40B4-BE49-F238E27FC236}">
                <a16:creationId xmlns:a16="http://schemas.microsoft.com/office/drawing/2014/main" id="{53FD1BC0-2F6D-71B2-8B29-5EDA107BD5CA}"/>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78" name="Isosceles Triangle 77">
            <a:extLst>
              <a:ext uri="{FF2B5EF4-FFF2-40B4-BE49-F238E27FC236}">
                <a16:creationId xmlns:a16="http://schemas.microsoft.com/office/drawing/2014/main" id="{BF390C41-C012-2B54-7B92-50ECB864D66C}"/>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79" name="Isosceles Triangle 78">
            <a:extLst>
              <a:ext uri="{FF2B5EF4-FFF2-40B4-BE49-F238E27FC236}">
                <a16:creationId xmlns:a16="http://schemas.microsoft.com/office/drawing/2014/main" id="{A7A2C18C-C5EE-BE4A-1412-B51F43630F22}"/>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80" name="Isosceles Triangle 79">
            <a:extLst>
              <a:ext uri="{FF2B5EF4-FFF2-40B4-BE49-F238E27FC236}">
                <a16:creationId xmlns:a16="http://schemas.microsoft.com/office/drawing/2014/main" id="{3408B25C-4AB7-FCCB-E594-066F17D81A3B}"/>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81" name="Isosceles Triangle 80">
            <a:extLst>
              <a:ext uri="{FF2B5EF4-FFF2-40B4-BE49-F238E27FC236}">
                <a16:creationId xmlns:a16="http://schemas.microsoft.com/office/drawing/2014/main" id="{99D32C61-FFF0-06DA-0158-7869763DD0B5}"/>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82" name="Isosceles Triangle 81">
            <a:extLst>
              <a:ext uri="{FF2B5EF4-FFF2-40B4-BE49-F238E27FC236}">
                <a16:creationId xmlns:a16="http://schemas.microsoft.com/office/drawing/2014/main" id="{69ED2665-4A65-A53C-2B5A-7BE662C7B7E9}"/>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76" name="Rectangle 175">
            <a:extLst>
              <a:ext uri="{FF2B5EF4-FFF2-40B4-BE49-F238E27FC236}">
                <a16:creationId xmlns:a16="http://schemas.microsoft.com/office/drawing/2014/main" id="{4C528E11-7EF6-11B2-FBDE-8E61B17DF7FF}"/>
              </a:ext>
            </a:extLst>
          </p:cNvPr>
          <p:cNvSpPr/>
          <p:nvPr/>
        </p:nvSpPr>
        <p:spPr>
          <a:xfrm>
            <a:off x="5104267" y="3591534"/>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Start</a:t>
            </a:r>
          </a:p>
        </p:txBody>
      </p:sp>
      <p:sp>
        <p:nvSpPr>
          <p:cNvPr id="2" name="Title 1">
            <a:extLst>
              <a:ext uri="{FF2B5EF4-FFF2-40B4-BE49-F238E27FC236}">
                <a16:creationId xmlns:a16="http://schemas.microsoft.com/office/drawing/2014/main" id="{2E9CE7EC-18BA-5CBE-6B98-2EC623C174A1}"/>
              </a:ext>
            </a:extLst>
          </p:cNvPr>
          <p:cNvSpPr>
            <a:spLocks noGrp="1"/>
          </p:cNvSpPr>
          <p:nvPr>
            <p:ph type="title"/>
          </p:nvPr>
        </p:nvSpPr>
        <p:spPr/>
        <p:txBody>
          <a:bodyPr/>
          <a:lstStyle/>
          <a:p>
            <a:r>
              <a:rPr lang="en-US" noProof="0" dirty="0"/>
              <a:t>Step③ Selecting a Simulation Model (Example)</a:t>
            </a:r>
          </a:p>
        </p:txBody>
      </p:sp>
      <p:sp>
        <p:nvSpPr>
          <p:cNvPr id="4" name="Slide Number Placeholder 3">
            <a:extLst>
              <a:ext uri="{FF2B5EF4-FFF2-40B4-BE49-F238E27FC236}">
                <a16:creationId xmlns:a16="http://schemas.microsoft.com/office/drawing/2014/main" id="{E05D5BAD-C1B1-43DF-E788-62ECD528B7B8}"/>
              </a:ext>
            </a:extLst>
          </p:cNvPr>
          <p:cNvSpPr>
            <a:spLocks noGrp="1"/>
          </p:cNvSpPr>
          <p:nvPr>
            <p:ph type="sldNum" sz="quarter" idx="4"/>
          </p:nvPr>
        </p:nvSpPr>
        <p:spPr/>
        <p:txBody>
          <a:bodyPr/>
          <a:lstStyle/>
          <a:p>
            <a:fld id="{B5CEABB6-07DC-46E8-9B57-56EC44A396E5}" type="slidenum">
              <a:rPr lang="en-US" noProof="0" smtClean="0"/>
              <a:pPr/>
              <a:t>19</a:t>
            </a:fld>
            <a:endParaRPr lang="en-US" noProof="0" dirty="0"/>
          </a:p>
        </p:txBody>
      </p:sp>
      <p:sp>
        <p:nvSpPr>
          <p:cNvPr id="5" name="Table Placeholder 4">
            <a:extLst>
              <a:ext uri="{FF2B5EF4-FFF2-40B4-BE49-F238E27FC236}">
                <a16:creationId xmlns:a16="http://schemas.microsoft.com/office/drawing/2014/main" id="{88D7967C-F5DE-97FB-7557-080D5EBE27A4}"/>
              </a:ext>
            </a:extLst>
          </p:cNvPr>
          <p:cNvSpPr>
            <a:spLocks noGrp="1"/>
          </p:cNvSpPr>
          <p:nvPr>
            <p:ph type="tbl" sz="quarter" idx="11"/>
          </p:nvPr>
        </p:nvSpPr>
        <p:spPr/>
        <p:txBody>
          <a:bodyPr/>
          <a:lstStyle/>
          <a:p>
            <a:r>
              <a:rPr lang="en-US" noProof="0" dirty="0"/>
              <a:t>In a Markov model, the modeled population transitions between health states over time according to state-specific transition probabilities.</a:t>
            </a:r>
          </a:p>
        </p:txBody>
      </p:sp>
      <p:sp>
        <p:nvSpPr>
          <p:cNvPr id="40" name="Rectangle 39">
            <a:extLst>
              <a:ext uri="{FF2B5EF4-FFF2-40B4-BE49-F238E27FC236}">
                <a16:creationId xmlns:a16="http://schemas.microsoft.com/office/drawing/2014/main" id="{94BD6F07-4283-E99E-3A60-1F699D328497}"/>
              </a:ext>
            </a:extLst>
          </p:cNvPr>
          <p:cNvSpPr/>
          <p:nvPr/>
        </p:nvSpPr>
        <p:spPr>
          <a:xfrm>
            <a:off x="4694922" y="1938130"/>
            <a:ext cx="120917" cy="4692045"/>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34" name="Straight Connector 33">
            <a:extLst>
              <a:ext uri="{FF2B5EF4-FFF2-40B4-BE49-F238E27FC236}">
                <a16:creationId xmlns:a16="http://schemas.microsoft.com/office/drawing/2014/main" id="{28455F67-4784-86BF-0551-7D2E3457F90E}"/>
              </a:ext>
            </a:extLst>
          </p:cNvPr>
          <p:cNvCxnSpPr>
            <a:cxnSpLocks/>
            <a:stCxn id="69" idx="3"/>
            <a:endCxn id="40" idx="1"/>
          </p:cNvCxnSpPr>
          <p:nvPr/>
        </p:nvCxnSpPr>
        <p:spPr>
          <a:xfrm>
            <a:off x="3989294" y="3374392"/>
            <a:ext cx="705628" cy="909761"/>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 name="Table Placeholder 2">
            <a:extLst>
              <a:ext uri="{FF2B5EF4-FFF2-40B4-BE49-F238E27FC236}">
                <a16:creationId xmlns:a16="http://schemas.microsoft.com/office/drawing/2014/main" id="{84612F93-C282-CCB8-4778-85AA3A3A3408}"/>
              </a:ext>
            </a:extLst>
          </p:cNvPr>
          <p:cNvSpPr>
            <a:spLocks noGrp="1"/>
          </p:cNvSpPr>
          <p:nvPr>
            <p:ph type="tbl" sz="quarter" idx="10"/>
          </p:nvPr>
        </p:nvSpPr>
        <p:spPr>
          <a:xfrm>
            <a:off x="4907279" y="1938130"/>
            <a:ext cx="6817581" cy="4692045"/>
          </a:xfrm>
        </p:spPr>
        <p:txBody>
          <a:bodyPr/>
          <a:lstStyle/>
          <a:p>
            <a:pPr marL="0" indent="0">
              <a:buNone/>
            </a:pPr>
            <a:r>
              <a:rPr lang="en-US" sz="2000" noProof="0" dirty="0"/>
              <a:t>Example: Syphilis disease progression </a:t>
            </a:r>
            <a:r>
              <a:rPr lang="en-US" sz="1800" noProof="0" dirty="0"/>
              <a:t>(Lee et al. 2023)</a:t>
            </a:r>
            <a:endParaRPr lang="en-US" sz="2000" noProof="0" dirty="0"/>
          </a:p>
        </p:txBody>
      </p:sp>
      <p:sp>
        <p:nvSpPr>
          <p:cNvPr id="127" name="Rectangle 126">
            <a:extLst>
              <a:ext uri="{FF2B5EF4-FFF2-40B4-BE49-F238E27FC236}">
                <a16:creationId xmlns:a16="http://schemas.microsoft.com/office/drawing/2014/main" id="{19BCAF89-74E1-AABD-85A3-7DB64841DAC5}"/>
              </a:ext>
            </a:extLst>
          </p:cNvPr>
          <p:cNvSpPr/>
          <p:nvPr/>
        </p:nvSpPr>
        <p:spPr>
          <a:xfrm>
            <a:off x="5491476" y="2282806"/>
            <a:ext cx="1201981"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 Progression</a:t>
            </a:r>
          </a:p>
        </p:txBody>
      </p:sp>
      <p:sp>
        <p:nvSpPr>
          <p:cNvPr id="132" name="Rectangle 131">
            <a:extLst>
              <a:ext uri="{FF2B5EF4-FFF2-40B4-BE49-F238E27FC236}">
                <a16:creationId xmlns:a16="http://schemas.microsoft.com/office/drawing/2014/main" id="{28C73C2F-F65C-2ACD-524C-2FFC9F6A03CA}"/>
              </a:ext>
            </a:extLst>
          </p:cNvPr>
          <p:cNvSpPr/>
          <p:nvPr/>
        </p:nvSpPr>
        <p:spPr>
          <a:xfrm>
            <a:off x="7252946" y="2273360"/>
            <a:ext cx="2342321"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 With testing &amp; treatment</a:t>
            </a:r>
          </a:p>
        </p:txBody>
      </p:sp>
      <p:sp>
        <p:nvSpPr>
          <p:cNvPr id="29" name="Oval 28">
            <a:extLst>
              <a:ext uri="{FF2B5EF4-FFF2-40B4-BE49-F238E27FC236}">
                <a16:creationId xmlns:a16="http://schemas.microsoft.com/office/drawing/2014/main" id="{DFA881D8-BFF5-DD1C-EC50-78CCB785273B}"/>
              </a:ext>
            </a:extLst>
          </p:cNvPr>
          <p:cNvSpPr/>
          <p:nvPr/>
        </p:nvSpPr>
        <p:spPr>
          <a:xfrm>
            <a:off x="5096175" y="3829980"/>
            <a:ext cx="1092710" cy="785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Primary</a:t>
            </a:r>
          </a:p>
        </p:txBody>
      </p:sp>
      <p:sp>
        <p:nvSpPr>
          <p:cNvPr id="35" name="Oval 34">
            <a:extLst>
              <a:ext uri="{FF2B5EF4-FFF2-40B4-BE49-F238E27FC236}">
                <a16:creationId xmlns:a16="http://schemas.microsoft.com/office/drawing/2014/main" id="{9DE1F6F7-8FC2-00E0-48FB-C8129B6FB541}"/>
              </a:ext>
            </a:extLst>
          </p:cNvPr>
          <p:cNvSpPr/>
          <p:nvPr/>
        </p:nvSpPr>
        <p:spPr>
          <a:xfrm>
            <a:off x="6500843" y="3829980"/>
            <a:ext cx="1092710" cy="785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Secondary</a:t>
            </a:r>
          </a:p>
        </p:txBody>
      </p:sp>
      <p:sp>
        <p:nvSpPr>
          <p:cNvPr id="36" name="Oval 35">
            <a:extLst>
              <a:ext uri="{FF2B5EF4-FFF2-40B4-BE49-F238E27FC236}">
                <a16:creationId xmlns:a16="http://schemas.microsoft.com/office/drawing/2014/main" id="{CF989341-A8FA-E89D-8FD9-130FC14F5625}"/>
              </a:ext>
            </a:extLst>
          </p:cNvPr>
          <p:cNvSpPr/>
          <p:nvPr/>
        </p:nvSpPr>
        <p:spPr>
          <a:xfrm>
            <a:off x="7905511" y="3829980"/>
            <a:ext cx="1092710" cy="785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Early latent</a:t>
            </a:r>
          </a:p>
        </p:txBody>
      </p:sp>
      <p:sp>
        <p:nvSpPr>
          <p:cNvPr id="37" name="Oval 36">
            <a:extLst>
              <a:ext uri="{FF2B5EF4-FFF2-40B4-BE49-F238E27FC236}">
                <a16:creationId xmlns:a16="http://schemas.microsoft.com/office/drawing/2014/main" id="{D63CE4B4-B616-0C04-E75F-CC4F6603B7FC}"/>
              </a:ext>
            </a:extLst>
          </p:cNvPr>
          <p:cNvSpPr/>
          <p:nvPr/>
        </p:nvSpPr>
        <p:spPr>
          <a:xfrm>
            <a:off x="9310179" y="3829980"/>
            <a:ext cx="1092710" cy="785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Late latent</a:t>
            </a:r>
          </a:p>
        </p:txBody>
      </p:sp>
      <p:sp>
        <p:nvSpPr>
          <p:cNvPr id="38" name="Oval 37">
            <a:extLst>
              <a:ext uri="{FF2B5EF4-FFF2-40B4-BE49-F238E27FC236}">
                <a16:creationId xmlns:a16="http://schemas.microsoft.com/office/drawing/2014/main" id="{60A23917-94D4-DC93-5FA9-0AF033FE0F8E}"/>
              </a:ext>
            </a:extLst>
          </p:cNvPr>
          <p:cNvSpPr/>
          <p:nvPr/>
        </p:nvSpPr>
        <p:spPr>
          <a:xfrm>
            <a:off x="10714845" y="3829980"/>
            <a:ext cx="1092710" cy="785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Untreated </a:t>
            </a:r>
          </a:p>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tertiary</a:t>
            </a:r>
          </a:p>
        </p:txBody>
      </p:sp>
      <p:sp>
        <p:nvSpPr>
          <p:cNvPr id="39" name="Oval 38">
            <a:extLst>
              <a:ext uri="{FF2B5EF4-FFF2-40B4-BE49-F238E27FC236}">
                <a16:creationId xmlns:a16="http://schemas.microsoft.com/office/drawing/2014/main" id="{A5752CFB-AA25-1986-C606-14B5F2DE85B2}"/>
              </a:ext>
            </a:extLst>
          </p:cNvPr>
          <p:cNvSpPr/>
          <p:nvPr/>
        </p:nvSpPr>
        <p:spPr>
          <a:xfrm>
            <a:off x="6500843" y="2917215"/>
            <a:ext cx="1092710" cy="785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Early </a:t>
            </a:r>
          </a:p>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neurosyphilis</a:t>
            </a:r>
          </a:p>
        </p:txBody>
      </p:sp>
      <p:sp>
        <p:nvSpPr>
          <p:cNvPr id="41" name="Oval 40">
            <a:extLst>
              <a:ext uri="{FF2B5EF4-FFF2-40B4-BE49-F238E27FC236}">
                <a16:creationId xmlns:a16="http://schemas.microsoft.com/office/drawing/2014/main" id="{AD7E5EBA-36C3-79E9-F648-43D9A3CCEA86}"/>
              </a:ext>
            </a:extLst>
          </p:cNvPr>
          <p:cNvSpPr/>
          <p:nvPr/>
        </p:nvSpPr>
        <p:spPr>
          <a:xfrm>
            <a:off x="10012512" y="2869059"/>
            <a:ext cx="1092710" cy="785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Late </a:t>
            </a:r>
          </a:p>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neurosyphilis</a:t>
            </a:r>
          </a:p>
        </p:txBody>
      </p:sp>
      <p:sp>
        <p:nvSpPr>
          <p:cNvPr id="43" name="Oval 42">
            <a:extLst>
              <a:ext uri="{FF2B5EF4-FFF2-40B4-BE49-F238E27FC236}">
                <a16:creationId xmlns:a16="http://schemas.microsoft.com/office/drawing/2014/main" id="{877B252F-A745-E1BE-C0DA-C15A0B877916}"/>
              </a:ext>
            </a:extLst>
          </p:cNvPr>
          <p:cNvSpPr/>
          <p:nvPr/>
        </p:nvSpPr>
        <p:spPr>
          <a:xfrm>
            <a:off x="6500843" y="4830722"/>
            <a:ext cx="1092710" cy="785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Recovery</a:t>
            </a:r>
          </a:p>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(w/o sequelae)</a:t>
            </a:r>
          </a:p>
        </p:txBody>
      </p:sp>
      <p:sp>
        <p:nvSpPr>
          <p:cNvPr id="44" name="Oval 43">
            <a:extLst>
              <a:ext uri="{FF2B5EF4-FFF2-40B4-BE49-F238E27FC236}">
                <a16:creationId xmlns:a16="http://schemas.microsoft.com/office/drawing/2014/main" id="{43A2EF06-5C85-8D55-224F-607EC00E75D3}"/>
              </a:ext>
            </a:extLst>
          </p:cNvPr>
          <p:cNvSpPr/>
          <p:nvPr/>
        </p:nvSpPr>
        <p:spPr>
          <a:xfrm>
            <a:off x="10715059" y="4775192"/>
            <a:ext cx="1092710" cy="785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Recovery</a:t>
            </a:r>
          </a:p>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(w sequelae)</a:t>
            </a:r>
          </a:p>
        </p:txBody>
      </p:sp>
      <p:sp>
        <p:nvSpPr>
          <p:cNvPr id="45" name="Oval 44">
            <a:extLst>
              <a:ext uri="{FF2B5EF4-FFF2-40B4-BE49-F238E27FC236}">
                <a16:creationId xmlns:a16="http://schemas.microsoft.com/office/drawing/2014/main" id="{7270A9B9-5E0A-3D1C-14E9-343288737E24}"/>
              </a:ext>
            </a:extLst>
          </p:cNvPr>
          <p:cNvSpPr/>
          <p:nvPr/>
        </p:nvSpPr>
        <p:spPr>
          <a:xfrm>
            <a:off x="7928482" y="5783680"/>
            <a:ext cx="1092710" cy="5887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Death</a:t>
            </a:r>
          </a:p>
        </p:txBody>
      </p:sp>
      <p:cxnSp>
        <p:nvCxnSpPr>
          <p:cNvPr id="47" name="Straight Arrow Connector 46">
            <a:extLst>
              <a:ext uri="{FF2B5EF4-FFF2-40B4-BE49-F238E27FC236}">
                <a16:creationId xmlns:a16="http://schemas.microsoft.com/office/drawing/2014/main" id="{0A93FA49-03C9-1D19-C351-73E3312F1D9E}"/>
              </a:ext>
            </a:extLst>
          </p:cNvPr>
          <p:cNvCxnSpPr>
            <a:stCxn id="29" idx="6"/>
            <a:endCxn id="35" idx="2"/>
          </p:cNvCxnSpPr>
          <p:nvPr/>
        </p:nvCxnSpPr>
        <p:spPr>
          <a:xfrm>
            <a:off x="6188885" y="4222780"/>
            <a:ext cx="3119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A2D8178-5393-C38B-4215-924682462C5E}"/>
              </a:ext>
            </a:extLst>
          </p:cNvPr>
          <p:cNvCxnSpPr>
            <a:cxnSpLocks/>
            <a:stCxn id="35" idx="6"/>
            <a:endCxn id="36" idx="2"/>
          </p:cNvCxnSpPr>
          <p:nvPr/>
        </p:nvCxnSpPr>
        <p:spPr>
          <a:xfrm>
            <a:off x="7593553" y="4222780"/>
            <a:ext cx="3119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21AE295C-EE6B-0EFE-56F4-5FD0A6331404}"/>
              </a:ext>
            </a:extLst>
          </p:cNvPr>
          <p:cNvCxnSpPr>
            <a:cxnSpLocks/>
            <a:stCxn id="36" idx="6"/>
            <a:endCxn id="37" idx="2"/>
          </p:cNvCxnSpPr>
          <p:nvPr/>
        </p:nvCxnSpPr>
        <p:spPr>
          <a:xfrm>
            <a:off x="8998221" y="4222780"/>
            <a:ext cx="3119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4F53B824-D8B3-8A49-31C2-A8965D75F934}"/>
              </a:ext>
            </a:extLst>
          </p:cNvPr>
          <p:cNvCxnSpPr>
            <a:cxnSpLocks/>
            <a:stCxn id="37" idx="6"/>
            <a:endCxn id="38" idx="2"/>
          </p:cNvCxnSpPr>
          <p:nvPr/>
        </p:nvCxnSpPr>
        <p:spPr>
          <a:xfrm>
            <a:off x="10402889" y="4222780"/>
            <a:ext cx="31195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1C55C962-8CD7-C19E-24D5-11D1D85B0981}"/>
              </a:ext>
            </a:extLst>
          </p:cNvPr>
          <p:cNvCxnSpPr>
            <a:cxnSpLocks/>
            <a:stCxn id="29" idx="7"/>
            <a:endCxn id="39" idx="3"/>
          </p:cNvCxnSpPr>
          <p:nvPr/>
        </p:nvCxnSpPr>
        <p:spPr>
          <a:xfrm flipV="1">
            <a:off x="6028861" y="3587767"/>
            <a:ext cx="632006" cy="3572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ED506C6E-1EF3-6768-56A7-BB813FBC2E39}"/>
              </a:ext>
            </a:extLst>
          </p:cNvPr>
          <p:cNvCxnSpPr>
            <a:cxnSpLocks/>
            <a:stCxn id="35" idx="0"/>
            <a:endCxn id="39" idx="4"/>
          </p:cNvCxnSpPr>
          <p:nvPr/>
        </p:nvCxnSpPr>
        <p:spPr>
          <a:xfrm flipV="1">
            <a:off x="7047198" y="3702815"/>
            <a:ext cx="0" cy="12716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7C65DECD-C096-9049-5129-A4B593FB5FE0}"/>
              </a:ext>
            </a:extLst>
          </p:cNvPr>
          <p:cNvCxnSpPr>
            <a:cxnSpLocks/>
            <a:stCxn id="36" idx="1"/>
            <a:endCxn id="39" idx="5"/>
          </p:cNvCxnSpPr>
          <p:nvPr/>
        </p:nvCxnSpPr>
        <p:spPr>
          <a:xfrm flipH="1" flipV="1">
            <a:off x="7433529" y="3587767"/>
            <a:ext cx="632006" cy="3572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520C8851-9B7A-E32B-6D7F-B612585ED8EF}"/>
              </a:ext>
            </a:extLst>
          </p:cNvPr>
          <p:cNvCxnSpPr>
            <a:cxnSpLocks/>
            <a:stCxn id="37" idx="0"/>
            <a:endCxn id="41" idx="3"/>
          </p:cNvCxnSpPr>
          <p:nvPr/>
        </p:nvCxnSpPr>
        <p:spPr>
          <a:xfrm flipV="1">
            <a:off x="9856534" y="3539611"/>
            <a:ext cx="316002" cy="29036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32D1680B-596E-87D4-5503-5489305C23A5}"/>
              </a:ext>
            </a:extLst>
          </p:cNvPr>
          <p:cNvCxnSpPr>
            <a:stCxn id="39" idx="0"/>
            <a:endCxn id="38" idx="0"/>
          </p:cNvCxnSpPr>
          <p:nvPr/>
        </p:nvCxnSpPr>
        <p:spPr>
          <a:xfrm rot="16200000" flipH="1">
            <a:off x="8697816" y="1266596"/>
            <a:ext cx="912765" cy="4214002"/>
          </a:xfrm>
          <a:prstGeom prst="bentConnector3">
            <a:avLst>
              <a:gd name="adj1" fmla="val -25045"/>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F3F0D7AA-F3F6-E4E5-76B6-C5870354BA77}"/>
              </a:ext>
            </a:extLst>
          </p:cNvPr>
          <p:cNvCxnSpPr>
            <a:cxnSpLocks/>
            <a:stCxn id="29" idx="5"/>
            <a:endCxn id="43" idx="1"/>
          </p:cNvCxnSpPr>
          <p:nvPr/>
        </p:nvCxnSpPr>
        <p:spPr>
          <a:xfrm>
            <a:off x="6028861" y="4500532"/>
            <a:ext cx="632006" cy="445238"/>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7F7247F2-495C-46E5-1DDC-DA8B1855FEB1}"/>
              </a:ext>
            </a:extLst>
          </p:cNvPr>
          <p:cNvCxnSpPr>
            <a:cxnSpLocks/>
            <a:stCxn id="35" idx="4"/>
            <a:endCxn id="43" idx="0"/>
          </p:cNvCxnSpPr>
          <p:nvPr/>
        </p:nvCxnSpPr>
        <p:spPr>
          <a:xfrm>
            <a:off x="7047198" y="4615580"/>
            <a:ext cx="0" cy="215142"/>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5FFBB85D-5D4E-769B-A988-B3D4446F2E8A}"/>
              </a:ext>
            </a:extLst>
          </p:cNvPr>
          <p:cNvCxnSpPr>
            <a:cxnSpLocks/>
            <a:stCxn id="36" idx="4"/>
            <a:endCxn id="43" idx="7"/>
          </p:cNvCxnSpPr>
          <p:nvPr/>
        </p:nvCxnSpPr>
        <p:spPr>
          <a:xfrm flipH="1">
            <a:off x="7433529" y="4615580"/>
            <a:ext cx="1018337" cy="33019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DA81178F-677E-7E46-AB70-AE063590F160}"/>
              </a:ext>
            </a:extLst>
          </p:cNvPr>
          <p:cNvCxnSpPr>
            <a:cxnSpLocks/>
            <a:stCxn id="38" idx="4"/>
            <a:endCxn id="44" idx="0"/>
          </p:cNvCxnSpPr>
          <p:nvPr/>
        </p:nvCxnSpPr>
        <p:spPr>
          <a:xfrm>
            <a:off x="11261200" y="4615580"/>
            <a:ext cx="214" cy="159612"/>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Connector: Elbow 109">
            <a:extLst>
              <a:ext uri="{FF2B5EF4-FFF2-40B4-BE49-F238E27FC236}">
                <a16:creationId xmlns:a16="http://schemas.microsoft.com/office/drawing/2014/main" id="{33D1FF95-99E1-1864-C172-012FCD681138}"/>
              </a:ext>
            </a:extLst>
          </p:cNvPr>
          <p:cNvCxnSpPr>
            <a:cxnSpLocks/>
            <a:stCxn id="39" idx="2"/>
            <a:endCxn id="43" idx="2"/>
          </p:cNvCxnSpPr>
          <p:nvPr/>
        </p:nvCxnSpPr>
        <p:spPr>
          <a:xfrm rot="10800000" flipV="1">
            <a:off x="6500843" y="3310014"/>
            <a:ext cx="12700" cy="1913507"/>
          </a:xfrm>
          <a:prstGeom prst="bentConnector3">
            <a:avLst>
              <a:gd name="adj1" fmla="val 12360000"/>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365D81D5-404C-BDDA-7FA8-3E8F82AD6EAD}"/>
              </a:ext>
            </a:extLst>
          </p:cNvPr>
          <p:cNvCxnSpPr>
            <a:cxnSpLocks/>
            <a:stCxn id="37" idx="3"/>
            <a:endCxn id="43" idx="6"/>
          </p:cNvCxnSpPr>
          <p:nvPr/>
        </p:nvCxnSpPr>
        <p:spPr>
          <a:xfrm flipH="1">
            <a:off x="7593553" y="4500532"/>
            <a:ext cx="1876650" cy="72299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Connector: Elbow 123">
            <a:extLst>
              <a:ext uri="{FF2B5EF4-FFF2-40B4-BE49-F238E27FC236}">
                <a16:creationId xmlns:a16="http://schemas.microsoft.com/office/drawing/2014/main" id="{5B5463F8-EB60-1604-0A6A-D7CEDBCA1F7C}"/>
              </a:ext>
            </a:extLst>
          </p:cNvPr>
          <p:cNvCxnSpPr>
            <a:cxnSpLocks/>
            <a:stCxn id="41" idx="6"/>
            <a:endCxn id="44" idx="6"/>
          </p:cNvCxnSpPr>
          <p:nvPr/>
        </p:nvCxnSpPr>
        <p:spPr>
          <a:xfrm>
            <a:off x="11105222" y="3261859"/>
            <a:ext cx="702547" cy="1906133"/>
          </a:xfrm>
          <a:prstGeom prst="bentConnector3">
            <a:avLst>
              <a:gd name="adj1" fmla="val 132539"/>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42" name="Right Brace 141">
            <a:extLst>
              <a:ext uri="{FF2B5EF4-FFF2-40B4-BE49-F238E27FC236}">
                <a16:creationId xmlns:a16="http://schemas.microsoft.com/office/drawing/2014/main" id="{AD8DDB79-14CE-5969-2B12-3B6A6149E024}"/>
              </a:ext>
            </a:extLst>
          </p:cNvPr>
          <p:cNvSpPr/>
          <p:nvPr/>
        </p:nvSpPr>
        <p:spPr>
          <a:xfrm rot="5400000">
            <a:off x="8381502" y="2339844"/>
            <a:ext cx="195481" cy="6692191"/>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latin typeface="Arial" panose="020B0604020202020204" pitchFamily="34" charset="0"/>
              <a:cs typeface="Arial" panose="020B0604020202020204" pitchFamily="34" charset="0"/>
            </a:endParaRPr>
          </a:p>
        </p:txBody>
      </p:sp>
      <p:sp>
        <p:nvSpPr>
          <p:cNvPr id="163" name="Arrow: Circular 162">
            <a:extLst>
              <a:ext uri="{FF2B5EF4-FFF2-40B4-BE49-F238E27FC236}">
                <a16:creationId xmlns:a16="http://schemas.microsoft.com/office/drawing/2014/main" id="{065127CC-7B5C-1F8E-FC4C-31FFF5417442}"/>
              </a:ext>
            </a:extLst>
          </p:cNvPr>
          <p:cNvSpPr/>
          <p:nvPr/>
        </p:nvSpPr>
        <p:spPr>
          <a:xfrm rot="16665435" flipH="1">
            <a:off x="6450569" y="2753075"/>
            <a:ext cx="365760" cy="365760"/>
          </a:xfrm>
          <a:prstGeom prst="circularArrow">
            <a:avLst>
              <a:gd name="adj1" fmla="val 11003"/>
              <a:gd name="adj2" fmla="val 1219713"/>
              <a:gd name="adj3" fmla="val 19819579"/>
              <a:gd name="adj4" fmla="val 5486935"/>
              <a:gd name="adj5" fmla="val 1119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74" name="Arrow: Right 173">
            <a:extLst>
              <a:ext uri="{FF2B5EF4-FFF2-40B4-BE49-F238E27FC236}">
                <a16:creationId xmlns:a16="http://schemas.microsoft.com/office/drawing/2014/main" id="{6B446183-4F05-9F9A-53B2-B3462368A381}"/>
              </a:ext>
            </a:extLst>
          </p:cNvPr>
          <p:cNvSpPr/>
          <p:nvPr/>
        </p:nvSpPr>
        <p:spPr>
          <a:xfrm>
            <a:off x="4994820" y="2330384"/>
            <a:ext cx="502078" cy="186847"/>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75" name="Arrow: Right 174">
            <a:extLst>
              <a:ext uri="{FF2B5EF4-FFF2-40B4-BE49-F238E27FC236}">
                <a16:creationId xmlns:a16="http://schemas.microsoft.com/office/drawing/2014/main" id="{5A38AFBB-054E-C8DE-6BA9-59C7BFD6B5AB}"/>
              </a:ext>
            </a:extLst>
          </p:cNvPr>
          <p:cNvSpPr/>
          <p:nvPr/>
        </p:nvSpPr>
        <p:spPr>
          <a:xfrm>
            <a:off x="6759972" y="2330384"/>
            <a:ext cx="502078" cy="186847"/>
          </a:xfrm>
          <a:prstGeom prst="rightArrow">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46" name="TextBox 45">
            <a:extLst>
              <a:ext uri="{FF2B5EF4-FFF2-40B4-BE49-F238E27FC236}">
                <a16:creationId xmlns:a16="http://schemas.microsoft.com/office/drawing/2014/main" id="{56F8C265-5B90-841B-4837-769E47D316DA}"/>
              </a:ext>
            </a:extLst>
          </p:cNvPr>
          <p:cNvSpPr txBox="1"/>
          <p:nvPr/>
        </p:nvSpPr>
        <p:spPr>
          <a:xfrm>
            <a:off x="4945378" y="6469597"/>
            <a:ext cx="7039358" cy="369332"/>
          </a:xfrm>
          <a:prstGeom prst="rect">
            <a:avLst/>
          </a:prstGeom>
          <a:solidFill>
            <a:schemeClr val="bg1"/>
          </a:solidFill>
        </p:spPr>
        <p:txBody>
          <a:bodyPr wrap="square" lIns="0" tIns="0" rIns="0" bIns="0">
            <a:spAutoFit/>
          </a:bodyPr>
          <a:lstStyle/>
          <a:p>
            <a:r>
              <a:rPr lang="en-US" sz="1200" noProof="0" dirty="0">
                <a:latin typeface="Arial" panose="020B0604020202020204" pitchFamily="34" charset="0"/>
                <a:ea typeface="Meiryo UI" panose="020B0604030504040204" pitchFamily="50" charset="-128"/>
                <a:cs typeface="Arial" panose="020B0604020202020204" pitchFamily="34" charset="0"/>
              </a:rPr>
              <a:t>Lee K et al. Estimation of the Lifetime Quality-Adjusted Life Years (QALYs) Lost Due to Syphilis Acquired in the United States in 2018. CID. 2023;76(3):e810-e819. doi:10.1093/</a:t>
            </a:r>
            <a:r>
              <a:rPr lang="en-US" sz="1200" noProof="0" dirty="0" err="1">
                <a:latin typeface="Arial" panose="020B0604020202020204" pitchFamily="34" charset="0"/>
                <a:ea typeface="Meiryo UI" panose="020B0604030504040204" pitchFamily="50" charset="-128"/>
                <a:cs typeface="Arial" panose="020B0604020202020204" pitchFamily="34" charset="0"/>
              </a:rPr>
              <a:t>cid</a:t>
            </a:r>
            <a:r>
              <a:rPr lang="en-US" sz="1200" noProof="0" dirty="0">
                <a:latin typeface="Arial" panose="020B0604020202020204" pitchFamily="34" charset="0"/>
                <a:ea typeface="Meiryo UI" panose="020B0604030504040204" pitchFamily="50" charset="-128"/>
                <a:cs typeface="Arial" panose="020B0604020202020204" pitchFamily="34" charset="0"/>
              </a:rPr>
              <a:t>/ciac427</a:t>
            </a:r>
          </a:p>
        </p:txBody>
      </p:sp>
      <p:sp>
        <p:nvSpPr>
          <p:cNvPr id="50" name="Arrow: Circular 49">
            <a:extLst>
              <a:ext uri="{FF2B5EF4-FFF2-40B4-BE49-F238E27FC236}">
                <a16:creationId xmlns:a16="http://schemas.microsoft.com/office/drawing/2014/main" id="{D43378AB-91C8-4D31-E459-EC5E78FCD144}"/>
              </a:ext>
            </a:extLst>
          </p:cNvPr>
          <p:cNvSpPr/>
          <p:nvPr/>
        </p:nvSpPr>
        <p:spPr>
          <a:xfrm rot="16665435" flipH="1">
            <a:off x="9889028" y="2753075"/>
            <a:ext cx="365760" cy="365760"/>
          </a:xfrm>
          <a:prstGeom prst="circularArrow">
            <a:avLst>
              <a:gd name="adj1" fmla="val 11003"/>
              <a:gd name="adj2" fmla="val 1219713"/>
              <a:gd name="adj3" fmla="val 19819579"/>
              <a:gd name="adj4" fmla="val 5486935"/>
              <a:gd name="adj5" fmla="val 1119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2" name="Arrow: Circular 51">
            <a:extLst>
              <a:ext uri="{FF2B5EF4-FFF2-40B4-BE49-F238E27FC236}">
                <a16:creationId xmlns:a16="http://schemas.microsoft.com/office/drawing/2014/main" id="{02F8E0BE-8305-CF8E-7D57-4EAE7702F7FC}"/>
              </a:ext>
            </a:extLst>
          </p:cNvPr>
          <p:cNvSpPr/>
          <p:nvPr/>
        </p:nvSpPr>
        <p:spPr>
          <a:xfrm rot="16665435" flipH="1">
            <a:off x="6450569" y="3682579"/>
            <a:ext cx="365760" cy="365760"/>
          </a:xfrm>
          <a:prstGeom prst="circularArrow">
            <a:avLst>
              <a:gd name="adj1" fmla="val 11003"/>
              <a:gd name="adj2" fmla="val 1219713"/>
              <a:gd name="adj3" fmla="val 19819579"/>
              <a:gd name="adj4" fmla="val 5486935"/>
              <a:gd name="adj5" fmla="val 1119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3" name="Arrow: Circular 52">
            <a:extLst>
              <a:ext uri="{FF2B5EF4-FFF2-40B4-BE49-F238E27FC236}">
                <a16:creationId xmlns:a16="http://schemas.microsoft.com/office/drawing/2014/main" id="{C89CA2B7-F562-9503-EB9F-F3C14B99932F}"/>
              </a:ext>
            </a:extLst>
          </p:cNvPr>
          <p:cNvSpPr/>
          <p:nvPr/>
        </p:nvSpPr>
        <p:spPr>
          <a:xfrm rot="16665435" flipH="1">
            <a:off x="5004664" y="3682579"/>
            <a:ext cx="365760" cy="365760"/>
          </a:xfrm>
          <a:prstGeom prst="circularArrow">
            <a:avLst>
              <a:gd name="adj1" fmla="val 11003"/>
              <a:gd name="adj2" fmla="val 1219713"/>
              <a:gd name="adj3" fmla="val 19819579"/>
              <a:gd name="adj4" fmla="val 5486935"/>
              <a:gd name="adj5" fmla="val 1119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4" name="Arrow: Circular 53">
            <a:extLst>
              <a:ext uri="{FF2B5EF4-FFF2-40B4-BE49-F238E27FC236}">
                <a16:creationId xmlns:a16="http://schemas.microsoft.com/office/drawing/2014/main" id="{B3EBB63A-A919-C556-5E81-397AA6CD325D}"/>
              </a:ext>
            </a:extLst>
          </p:cNvPr>
          <p:cNvSpPr/>
          <p:nvPr/>
        </p:nvSpPr>
        <p:spPr>
          <a:xfrm rot="16665435" flipH="1">
            <a:off x="8021841" y="3550824"/>
            <a:ext cx="365760" cy="365760"/>
          </a:xfrm>
          <a:prstGeom prst="circularArrow">
            <a:avLst>
              <a:gd name="adj1" fmla="val 11003"/>
              <a:gd name="adj2" fmla="val 1219713"/>
              <a:gd name="adj3" fmla="val 19819579"/>
              <a:gd name="adj4" fmla="val 5486935"/>
              <a:gd name="adj5" fmla="val 1119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6" name="Arrow: Circular 55">
            <a:extLst>
              <a:ext uri="{FF2B5EF4-FFF2-40B4-BE49-F238E27FC236}">
                <a16:creationId xmlns:a16="http://schemas.microsoft.com/office/drawing/2014/main" id="{8EAE6D2C-8ABE-3298-A136-F8BF8E4A534E}"/>
              </a:ext>
            </a:extLst>
          </p:cNvPr>
          <p:cNvSpPr/>
          <p:nvPr/>
        </p:nvSpPr>
        <p:spPr>
          <a:xfrm rot="16665435" flipH="1">
            <a:off x="9248036" y="3682579"/>
            <a:ext cx="365760" cy="365760"/>
          </a:xfrm>
          <a:prstGeom prst="circularArrow">
            <a:avLst>
              <a:gd name="adj1" fmla="val 11003"/>
              <a:gd name="adj2" fmla="val 1219713"/>
              <a:gd name="adj3" fmla="val 19819579"/>
              <a:gd name="adj4" fmla="val 5486935"/>
              <a:gd name="adj5" fmla="val 1119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8" name="Arrow: Circular 57">
            <a:extLst>
              <a:ext uri="{FF2B5EF4-FFF2-40B4-BE49-F238E27FC236}">
                <a16:creationId xmlns:a16="http://schemas.microsoft.com/office/drawing/2014/main" id="{380C9CAD-B840-4115-845A-8D936FDD195E}"/>
              </a:ext>
            </a:extLst>
          </p:cNvPr>
          <p:cNvSpPr/>
          <p:nvPr/>
        </p:nvSpPr>
        <p:spPr>
          <a:xfrm rot="16665435" flipH="1">
            <a:off x="10633757" y="3682579"/>
            <a:ext cx="365760" cy="365760"/>
          </a:xfrm>
          <a:prstGeom prst="circularArrow">
            <a:avLst>
              <a:gd name="adj1" fmla="val 11003"/>
              <a:gd name="adj2" fmla="val 1219713"/>
              <a:gd name="adj3" fmla="val 19819579"/>
              <a:gd name="adj4" fmla="val 5486935"/>
              <a:gd name="adj5" fmla="val 1119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9" name="Arrow: Circular 58">
            <a:extLst>
              <a:ext uri="{FF2B5EF4-FFF2-40B4-BE49-F238E27FC236}">
                <a16:creationId xmlns:a16="http://schemas.microsoft.com/office/drawing/2014/main" id="{96812B89-516A-83B2-5D50-C6CD12AD4018}"/>
              </a:ext>
            </a:extLst>
          </p:cNvPr>
          <p:cNvSpPr/>
          <p:nvPr/>
        </p:nvSpPr>
        <p:spPr>
          <a:xfrm rot="16665435" flipH="1">
            <a:off x="6604442" y="4566195"/>
            <a:ext cx="365760" cy="365760"/>
          </a:xfrm>
          <a:prstGeom prst="circularArrow">
            <a:avLst>
              <a:gd name="adj1" fmla="val 11003"/>
              <a:gd name="adj2" fmla="val 1219713"/>
              <a:gd name="adj3" fmla="val 19819579"/>
              <a:gd name="adj4" fmla="val 5486935"/>
              <a:gd name="adj5" fmla="val 11196"/>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1" name="Arrow: Circular 60">
            <a:extLst>
              <a:ext uri="{FF2B5EF4-FFF2-40B4-BE49-F238E27FC236}">
                <a16:creationId xmlns:a16="http://schemas.microsoft.com/office/drawing/2014/main" id="{E7A1E9B2-6168-DCF2-3E2E-D0F2296543A5}"/>
              </a:ext>
            </a:extLst>
          </p:cNvPr>
          <p:cNvSpPr/>
          <p:nvPr/>
        </p:nvSpPr>
        <p:spPr>
          <a:xfrm rot="16665435" flipH="1">
            <a:off x="10633757" y="4632730"/>
            <a:ext cx="365760" cy="365760"/>
          </a:xfrm>
          <a:prstGeom prst="circularArrow">
            <a:avLst>
              <a:gd name="adj1" fmla="val 11003"/>
              <a:gd name="adj2" fmla="val 1219713"/>
              <a:gd name="adj3" fmla="val 19819579"/>
              <a:gd name="adj4" fmla="val 5486935"/>
              <a:gd name="adj5" fmla="val 11196"/>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2" name="Arrow: Circular 61">
            <a:extLst>
              <a:ext uri="{FF2B5EF4-FFF2-40B4-BE49-F238E27FC236}">
                <a16:creationId xmlns:a16="http://schemas.microsoft.com/office/drawing/2014/main" id="{5F35F36B-E0F8-0E7E-0577-DDCB1A8A905A}"/>
              </a:ext>
            </a:extLst>
          </p:cNvPr>
          <p:cNvSpPr/>
          <p:nvPr/>
        </p:nvSpPr>
        <p:spPr>
          <a:xfrm rot="16665435" flipH="1">
            <a:off x="7759817" y="5688027"/>
            <a:ext cx="365760" cy="365760"/>
          </a:xfrm>
          <a:prstGeom prst="circularArrow">
            <a:avLst>
              <a:gd name="adj1" fmla="val 11003"/>
              <a:gd name="adj2" fmla="val 1219713"/>
              <a:gd name="adj3" fmla="val 19819579"/>
              <a:gd name="adj4" fmla="val 5486935"/>
              <a:gd name="adj5" fmla="val 1119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94" name="Oval 93">
            <a:extLst>
              <a:ext uri="{FF2B5EF4-FFF2-40B4-BE49-F238E27FC236}">
                <a16:creationId xmlns:a16="http://schemas.microsoft.com/office/drawing/2014/main" id="{14465D98-CB60-2A17-01F3-F5981741CFC3}"/>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1</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95" name="Oval 94">
            <a:extLst>
              <a:ext uri="{FF2B5EF4-FFF2-40B4-BE49-F238E27FC236}">
                <a16:creationId xmlns:a16="http://schemas.microsoft.com/office/drawing/2014/main" id="{6901C4F2-0968-2F47-FDD1-567A72B25710}"/>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2</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97" name="Oval 96">
            <a:extLst>
              <a:ext uri="{FF2B5EF4-FFF2-40B4-BE49-F238E27FC236}">
                <a16:creationId xmlns:a16="http://schemas.microsoft.com/office/drawing/2014/main" id="{ACA30690-092E-63FB-37F9-E649EAE4997A}"/>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bg1"/>
                </a:solidFill>
                <a:latin typeface="Arial" panose="020B0604020202020204" pitchFamily="34" charset="0"/>
                <a:ea typeface="Meiryo UI" panose="020B0604030504040204" pitchFamily="50" charset="-128"/>
                <a:cs typeface="Arial" panose="020B0604020202020204" pitchFamily="34" charset="0"/>
              </a:rPr>
              <a:t>3</a:t>
            </a:r>
          </a:p>
        </p:txBody>
      </p:sp>
      <p:sp>
        <p:nvSpPr>
          <p:cNvPr id="98" name="Oval 97">
            <a:extLst>
              <a:ext uri="{FF2B5EF4-FFF2-40B4-BE49-F238E27FC236}">
                <a16:creationId xmlns:a16="http://schemas.microsoft.com/office/drawing/2014/main" id="{A707360F-9B32-19B6-6BDE-223A968F4B4D}"/>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4</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99" name="Oval 98">
            <a:extLst>
              <a:ext uri="{FF2B5EF4-FFF2-40B4-BE49-F238E27FC236}">
                <a16:creationId xmlns:a16="http://schemas.microsoft.com/office/drawing/2014/main" id="{79E7182F-8866-41C3-CAE7-B7D3B6100507}"/>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5</a:t>
            </a:r>
          </a:p>
        </p:txBody>
      </p:sp>
      <p:sp>
        <p:nvSpPr>
          <p:cNvPr id="101" name="Oval 100">
            <a:extLst>
              <a:ext uri="{FF2B5EF4-FFF2-40B4-BE49-F238E27FC236}">
                <a16:creationId xmlns:a16="http://schemas.microsoft.com/office/drawing/2014/main" id="{9EC67866-0155-9675-8288-F87547FFCE90}"/>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6</a:t>
            </a:r>
          </a:p>
        </p:txBody>
      </p:sp>
      <p:sp>
        <p:nvSpPr>
          <p:cNvPr id="102" name="Oval 101">
            <a:extLst>
              <a:ext uri="{FF2B5EF4-FFF2-40B4-BE49-F238E27FC236}">
                <a16:creationId xmlns:a16="http://schemas.microsoft.com/office/drawing/2014/main" id="{AB26B30F-D897-9A46-00A0-E2536B057DDC}"/>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7</a:t>
            </a:r>
          </a:p>
        </p:txBody>
      </p:sp>
      <p:sp>
        <p:nvSpPr>
          <p:cNvPr id="103" name="Oval 102">
            <a:extLst>
              <a:ext uri="{FF2B5EF4-FFF2-40B4-BE49-F238E27FC236}">
                <a16:creationId xmlns:a16="http://schemas.microsoft.com/office/drawing/2014/main" id="{50E53D2F-CBBF-80A9-2E26-874545AFF7F3}"/>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8</a:t>
            </a:r>
          </a:p>
        </p:txBody>
      </p:sp>
      <p:grpSp>
        <p:nvGrpSpPr>
          <p:cNvPr id="104" name="Group 103">
            <a:extLst>
              <a:ext uri="{FF2B5EF4-FFF2-40B4-BE49-F238E27FC236}">
                <a16:creationId xmlns:a16="http://schemas.microsoft.com/office/drawing/2014/main" id="{05BC1AF5-41BF-BD52-6027-ECA584C3C8ED}"/>
              </a:ext>
            </a:extLst>
          </p:cNvPr>
          <p:cNvGrpSpPr/>
          <p:nvPr/>
        </p:nvGrpSpPr>
        <p:grpSpPr>
          <a:xfrm>
            <a:off x="467139" y="108959"/>
            <a:ext cx="4197304" cy="307297"/>
            <a:chOff x="562270" y="127168"/>
            <a:chExt cx="4197304" cy="307297"/>
          </a:xfrm>
        </p:grpSpPr>
        <p:sp>
          <p:nvSpPr>
            <p:cNvPr id="105" name="Arrow: Pentagon 104">
              <a:extLst>
                <a:ext uri="{FF2B5EF4-FFF2-40B4-BE49-F238E27FC236}">
                  <a16:creationId xmlns:a16="http://schemas.microsoft.com/office/drawing/2014/main" id="{0BE10655-CA6C-4BFA-BFBD-ED111E52EF9B}"/>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06" name="Arrow: Pentagon 105">
              <a:extLst>
                <a:ext uri="{FF2B5EF4-FFF2-40B4-BE49-F238E27FC236}">
                  <a16:creationId xmlns:a16="http://schemas.microsoft.com/office/drawing/2014/main" id="{5030F814-130C-AC81-0090-8EB6177645BC}"/>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07" name="Arrow: Pentagon 106">
              <a:extLst>
                <a:ext uri="{FF2B5EF4-FFF2-40B4-BE49-F238E27FC236}">
                  <a16:creationId xmlns:a16="http://schemas.microsoft.com/office/drawing/2014/main" id="{6F55A1F5-56C3-C91F-859D-08C013B46E48}"/>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23883546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4DCED-BEF9-F722-C754-4891439C89D2}"/>
            </a:ext>
          </a:extLst>
        </p:cNvPr>
        <p:cNvGrpSpPr/>
        <p:nvPr/>
      </p:nvGrpSpPr>
      <p:grpSpPr>
        <a:xfrm>
          <a:off x="0" y="0"/>
          <a:ext cx="0" cy="0"/>
          <a:chOff x="0" y="0"/>
          <a:chExt cx="0" cy="0"/>
        </a:xfrm>
      </p:grpSpPr>
      <p:sp>
        <p:nvSpPr>
          <p:cNvPr id="41" name="Rectangle 40">
            <a:extLst>
              <a:ext uri="{FF2B5EF4-FFF2-40B4-BE49-F238E27FC236}">
                <a16:creationId xmlns:a16="http://schemas.microsoft.com/office/drawing/2014/main" id="{36CC3034-65B3-A7B7-ACDB-F59EA7BF21DD}"/>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Define the problem and objectives</a:t>
            </a:r>
          </a:p>
        </p:txBody>
      </p:sp>
      <p:sp>
        <p:nvSpPr>
          <p:cNvPr id="42" name="Rectangle 41">
            <a:extLst>
              <a:ext uri="{FF2B5EF4-FFF2-40B4-BE49-F238E27FC236}">
                <a16:creationId xmlns:a16="http://schemas.microsoft.com/office/drawing/2014/main" id="{399897CF-287C-196B-B422-240D823D3A4D}"/>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Design simulation model</a:t>
            </a:r>
          </a:p>
        </p:txBody>
      </p:sp>
      <p:sp>
        <p:nvSpPr>
          <p:cNvPr id="44" name="Rectangle 43">
            <a:extLst>
              <a:ext uri="{FF2B5EF4-FFF2-40B4-BE49-F238E27FC236}">
                <a16:creationId xmlns:a16="http://schemas.microsoft.com/office/drawing/2014/main" id="{895FA6FC-7154-C974-5F14-367BFB8E5D04}"/>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Select simulation model</a:t>
            </a:r>
          </a:p>
        </p:txBody>
      </p:sp>
      <p:sp>
        <p:nvSpPr>
          <p:cNvPr id="45" name="Rectangle 44">
            <a:extLst>
              <a:ext uri="{FF2B5EF4-FFF2-40B4-BE49-F238E27FC236}">
                <a16:creationId xmlns:a16="http://schemas.microsoft.com/office/drawing/2014/main" id="{914373E8-6976-D1FA-9FCE-33F13A74399E}"/>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Define outcomes</a:t>
            </a:r>
          </a:p>
        </p:txBody>
      </p:sp>
      <p:sp>
        <p:nvSpPr>
          <p:cNvPr id="46" name="Rectangle 45">
            <a:extLst>
              <a:ext uri="{FF2B5EF4-FFF2-40B4-BE49-F238E27FC236}">
                <a16:creationId xmlns:a16="http://schemas.microsoft.com/office/drawing/2014/main" id="{F6DCE09C-9284-8A83-94C6-7C23F3115075}"/>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Select model inputs</a:t>
            </a:r>
          </a:p>
        </p:txBody>
      </p:sp>
      <p:sp>
        <p:nvSpPr>
          <p:cNvPr id="47" name="Rectangle 46">
            <a:extLst>
              <a:ext uri="{FF2B5EF4-FFF2-40B4-BE49-F238E27FC236}">
                <a16:creationId xmlns:a16="http://schemas.microsoft.com/office/drawing/2014/main" id="{D14DC0CC-52D1-AE38-8B68-3956AA1AEB55}"/>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Simulate multiple decision options</a:t>
            </a:r>
          </a:p>
        </p:txBody>
      </p:sp>
      <p:sp>
        <p:nvSpPr>
          <p:cNvPr id="48" name="Rectangle 47">
            <a:extLst>
              <a:ext uri="{FF2B5EF4-FFF2-40B4-BE49-F238E27FC236}">
                <a16:creationId xmlns:a16="http://schemas.microsoft.com/office/drawing/2014/main" id="{5343A745-748B-F4C6-6A71-29B4BE551CC8}"/>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Sensitivity and scenario analyses</a:t>
            </a:r>
          </a:p>
        </p:txBody>
      </p:sp>
      <p:sp>
        <p:nvSpPr>
          <p:cNvPr id="49" name="Rectangle 48">
            <a:extLst>
              <a:ext uri="{FF2B5EF4-FFF2-40B4-BE49-F238E27FC236}">
                <a16:creationId xmlns:a16="http://schemas.microsoft.com/office/drawing/2014/main" id="{D9602FFB-E7CA-AD44-189F-4AE4AE748224}"/>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Evaluate results</a:t>
            </a:r>
          </a:p>
        </p:txBody>
      </p:sp>
      <p:sp>
        <p:nvSpPr>
          <p:cNvPr id="50" name="Isosceles Triangle 49">
            <a:extLst>
              <a:ext uri="{FF2B5EF4-FFF2-40B4-BE49-F238E27FC236}">
                <a16:creationId xmlns:a16="http://schemas.microsoft.com/office/drawing/2014/main" id="{E829F69E-9963-426C-43AF-BC642F44FB0D}"/>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1" name="Isosceles Triangle 50">
            <a:extLst>
              <a:ext uri="{FF2B5EF4-FFF2-40B4-BE49-F238E27FC236}">
                <a16:creationId xmlns:a16="http://schemas.microsoft.com/office/drawing/2014/main" id="{2CD05304-8BAF-11D7-0624-2F700D39293A}"/>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2" name="Isosceles Triangle 51">
            <a:extLst>
              <a:ext uri="{FF2B5EF4-FFF2-40B4-BE49-F238E27FC236}">
                <a16:creationId xmlns:a16="http://schemas.microsoft.com/office/drawing/2014/main" id="{A98E98EE-F46F-E007-8DA4-223974EEB6B4}"/>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3" name="Isosceles Triangle 52">
            <a:extLst>
              <a:ext uri="{FF2B5EF4-FFF2-40B4-BE49-F238E27FC236}">
                <a16:creationId xmlns:a16="http://schemas.microsoft.com/office/drawing/2014/main" id="{B90231EA-26E9-2672-A3E5-C64C29E18128}"/>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4" name="Isosceles Triangle 53">
            <a:extLst>
              <a:ext uri="{FF2B5EF4-FFF2-40B4-BE49-F238E27FC236}">
                <a16:creationId xmlns:a16="http://schemas.microsoft.com/office/drawing/2014/main" id="{D08EB3C7-AB07-1E9C-71D7-D08B29DF9AB5}"/>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5" name="Isosceles Triangle 54">
            <a:extLst>
              <a:ext uri="{FF2B5EF4-FFF2-40B4-BE49-F238E27FC236}">
                <a16:creationId xmlns:a16="http://schemas.microsoft.com/office/drawing/2014/main" id="{5CA5EDBA-0078-94BD-2441-EC8764E0FF0F}"/>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6" name="Isosceles Triangle 55">
            <a:extLst>
              <a:ext uri="{FF2B5EF4-FFF2-40B4-BE49-F238E27FC236}">
                <a16:creationId xmlns:a16="http://schemas.microsoft.com/office/drawing/2014/main" id="{33C655DD-8333-9D01-6835-0536C32921BB}"/>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pic>
        <p:nvPicPr>
          <p:cNvPr id="3" name="Picture 2">
            <a:extLst>
              <a:ext uri="{FF2B5EF4-FFF2-40B4-BE49-F238E27FC236}">
                <a16:creationId xmlns:a16="http://schemas.microsoft.com/office/drawing/2014/main" id="{46C707F9-EFEC-35E0-8187-8251F3B4AFB5}"/>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911579" y="2244415"/>
            <a:ext cx="6474319" cy="3768763"/>
          </a:xfrm>
          <a:prstGeom prst="rect">
            <a:avLst/>
          </a:prstGeom>
        </p:spPr>
      </p:pic>
      <p:sp>
        <p:nvSpPr>
          <p:cNvPr id="2" name="Title 1">
            <a:extLst>
              <a:ext uri="{FF2B5EF4-FFF2-40B4-BE49-F238E27FC236}">
                <a16:creationId xmlns:a16="http://schemas.microsoft.com/office/drawing/2014/main" id="{E71058BF-17E3-9C6A-942F-EB5ED265C3B6}"/>
              </a:ext>
            </a:extLst>
          </p:cNvPr>
          <p:cNvSpPr>
            <a:spLocks noGrp="1"/>
          </p:cNvSpPr>
          <p:nvPr>
            <p:ph type="title"/>
          </p:nvPr>
        </p:nvSpPr>
        <p:spPr/>
        <p:txBody>
          <a:bodyPr/>
          <a:lstStyle/>
          <a:p>
            <a:r>
              <a:rPr lang="en-US" noProof="0" dirty="0"/>
              <a:t>Step④ Designing the Simulation Model (Example)</a:t>
            </a:r>
          </a:p>
        </p:txBody>
      </p:sp>
      <p:sp>
        <p:nvSpPr>
          <p:cNvPr id="4" name="Slide Number Placeholder 3">
            <a:extLst>
              <a:ext uri="{FF2B5EF4-FFF2-40B4-BE49-F238E27FC236}">
                <a16:creationId xmlns:a16="http://schemas.microsoft.com/office/drawing/2014/main" id="{621DAF6C-6777-4A94-D0E8-69FC5271633B}"/>
              </a:ext>
            </a:extLst>
          </p:cNvPr>
          <p:cNvSpPr>
            <a:spLocks noGrp="1"/>
          </p:cNvSpPr>
          <p:nvPr>
            <p:ph type="sldNum" sz="quarter" idx="4"/>
          </p:nvPr>
        </p:nvSpPr>
        <p:spPr/>
        <p:txBody>
          <a:bodyPr/>
          <a:lstStyle/>
          <a:p>
            <a:fld id="{B5CEABB6-07DC-46E8-9B57-56EC44A396E5}" type="slidenum">
              <a:rPr lang="en-US" noProof="0" smtClean="0"/>
              <a:pPr/>
              <a:t>20</a:t>
            </a:fld>
            <a:endParaRPr lang="en-US" noProof="0" dirty="0"/>
          </a:p>
        </p:txBody>
      </p:sp>
      <p:sp>
        <p:nvSpPr>
          <p:cNvPr id="5" name="Table Placeholder 4">
            <a:extLst>
              <a:ext uri="{FF2B5EF4-FFF2-40B4-BE49-F238E27FC236}">
                <a16:creationId xmlns:a16="http://schemas.microsoft.com/office/drawing/2014/main" id="{1481204C-808E-E8C8-F3BE-52D4E6BF2FB3}"/>
              </a:ext>
            </a:extLst>
          </p:cNvPr>
          <p:cNvSpPr>
            <a:spLocks noGrp="1"/>
          </p:cNvSpPr>
          <p:nvPr>
            <p:ph type="tbl" sz="quarter" idx="11"/>
          </p:nvPr>
        </p:nvSpPr>
        <p:spPr/>
        <p:txBody>
          <a:bodyPr/>
          <a:lstStyle/>
          <a:p>
            <a:r>
              <a:rPr lang="en-US" noProof="0" dirty="0"/>
              <a:t>The structure of a model may differ depending on the decision-maker.</a:t>
            </a:r>
          </a:p>
        </p:txBody>
      </p:sp>
      <p:sp>
        <p:nvSpPr>
          <p:cNvPr id="37" name="Rectangle 36">
            <a:extLst>
              <a:ext uri="{FF2B5EF4-FFF2-40B4-BE49-F238E27FC236}">
                <a16:creationId xmlns:a16="http://schemas.microsoft.com/office/drawing/2014/main" id="{0CD7B727-B326-0A51-4642-BE27D7153CE6}"/>
              </a:ext>
            </a:extLst>
          </p:cNvPr>
          <p:cNvSpPr/>
          <p:nvPr/>
        </p:nvSpPr>
        <p:spPr>
          <a:xfrm>
            <a:off x="4694922" y="1938130"/>
            <a:ext cx="120917" cy="4692045"/>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8" name="Table Placeholder 2">
            <a:extLst>
              <a:ext uri="{FF2B5EF4-FFF2-40B4-BE49-F238E27FC236}">
                <a16:creationId xmlns:a16="http://schemas.microsoft.com/office/drawing/2014/main" id="{5CDA3B97-51FA-A184-FC4A-C8E1544581FA}"/>
              </a:ext>
            </a:extLst>
          </p:cNvPr>
          <p:cNvSpPr txBox="1">
            <a:spLocks/>
          </p:cNvSpPr>
          <p:nvPr/>
        </p:nvSpPr>
        <p:spPr>
          <a:xfrm>
            <a:off x="4907279" y="1938130"/>
            <a:ext cx="6817581" cy="4692045"/>
          </a:xfrm>
          <a:prstGeom prst="rect">
            <a:avLst/>
          </a:prstGeom>
        </p:spPr>
        <p:txBody>
          <a:bodyPr vert="horz" lIns="0" tIns="0" rIns="0" bIns="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noProof="0" dirty="0">
                <a:latin typeface="Arial" panose="020B0604020202020204" pitchFamily="34" charset="0"/>
                <a:cs typeface="Arial" panose="020B0604020202020204" pitchFamily="34" charset="0"/>
              </a:rPr>
              <a:t>Example: Syphilis disease progression (Lee et al. 2023)</a:t>
            </a:r>
          </a:p>
        </p:txBody>
      </p:sp>
      <p:cxnSp>
        <p:nvCxnSpPr>
          <p:cNvPr id="34" name="Straight Connector 33">
            <a:extLst>
              <a:ext uri="{FF2B5EF4-FFF2-40B4-BE49-F238E27FC236}">
                <a16:creationId xmlns:a16="http://schemas.microsoft.com/office/drawing/2014/main" id="{4F22FEBB-C7C9-5900-3F90-6257574EC1C6}"/>
              </a:ext>
            </a:extLst>
          </p:cNvPr>
          <p:cNvCxnSpPr>
            <a:cxnSpLocks/>
            <a:stCxn id="42" idx="3"/>
            <a:endCxn id="37" idx="1"/>
          </p:cNvCxnSpPr>
          <p:nvPr/>
        </p:nvCxnSpPr>
        <p:spPr>
          <a:xfrm>
            <a:off x="3989294" y="3980902"/>
            <a:ext cx="705628" cy="303251"/>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86" name="Rectangle: Rounded Corners 85">
            <a:extLst>
              <a:ext uri="{FF2B5EF4-FFF2-40B4-BE49-F238E27FC236}">
                <a16:creationId xmlns:a16="http://schemas.microsoft.com/office/drawing/2014/main" id="{7AFCA854-D527-C026-C922-0965435BC844}"/>
              </a:ext>
            </a:extLst>
          </p:cNvPr>
          <p:cNvSpPr/>
          <p:nvPr/>
        </p:nvSpPr>
        <p:spPr>
          <a:xfrm>
            <a:off x="7511449" y="3597632"/>
            <a:ext cx="2453646" cy="965539"/>
          </a:xfrm>
          <a:prstGeom prst="roundRect">
            <a:avLst/>
          </a:prstGeom>
          <a:solidFill>
            <a:srgbClr val="D6DCE5">
              <a:alpha val="30196"/>
            </a:srgbClr>
          </a:solidFill>
          <a:ln w="5715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88" name="Straight Connector 87">
            <a:extLst>
              <a:ext uri="{FF2B5EF4-FFF2-40B4-BE49-F238E27FC236}">
                <a16:creationId xmlns:a16="http://schemas.microsoft.com/office/drawing/2014/main" id="{34B3A879-0992-D343-4E14-EF3D6354ED66}"/>
              </a:ext>
            </a:extLst>
          </p:cNvPr>
          <p:cNvCxnSpPr>
            <a:cxnSpLocks/>
            <a:stCxn id="86" idx="2"/>
            <a:endCxn id="102" idx="0"/>
          </p:cNvCxnSpPr>
          <p:nvPr/>
        </p:nvCxnSpPr>
        <p:spPr>
          <a:xfrm>
            <a:off x="8738272" y="4563171"/>
            <a:ext cx="1534794" cy="114086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02" name="Rectangle 101">
            <a:extLst>
              <a:ext uri="{FF2B5EF4-FFF2-40B4-BE49-F238E27FC236}">
                <a16:creationId xmlns:a16="http://schemas.microsoft.com/office/drawing/2014/main" id="{33067B4C-77EF-83ED-E04A-D229E6F10094}"/>
              </a:ext>
            </a:extLst>
          </p:cNvPr>
          <p:cNvSpPr/>
          <p:nvPr/>
        </p:nvSpPr>
        <p:spPr>
          <a:xfrm>
            <a:off x="8986028" y="5704031"/>
            <a:ext cx="2574076" cy="5568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These could potentially be combined</a:t>
            </a:r>
          </a:p>
        </p:txBody>
      </p:sp>
      <p:sp>
        <p:nvSpPr>
          <p:cNvPr id="40" name="TextBox 39">
            <a:extLst>
              <a:ext uri="{FF2B5EF4-FFF2-40B4-BE49-F238E27FC236}">
                <a16:creationId xmlns:a16="http://schemas.microsoft.com/office/drawing/2014/main" id="{13B2681A-DCBE-3555-5186-D9BBD68EC48B}"/>
              </a:ext>
            </a:extLst>
          </p:cNvPr>
          <p:cNvSpPr txBox="1"/>
          <p:nvPr/>
        </p:nvSpPr>
        <p:spPr>
          <a:xfrm>
            <a:off x="4945378" y="6469597"/>
            <a:ext cx="7039358" cy="369332"/>
          </a:xfrm>
          <a:prstGeom prst="rect">
            <a:avLst/>
          </a:prstGeom>
          <a:solidFill>
            <a:schemeClr val="bg1"/>
          </a:solidFill>
        </p:spPr>
        <p:txBody>
          <a:bodyPr wrap="square" lIns="0" tIns="0" rIns="0" bIns="0">
            <a:spAutoFit/>
          </a:bodyPr>
          <a:lstStyle/>
          <a:p>
            <a:r>
              <a:rPr lang="en-US" sz="1200" noProof="0" dirty="0">
                <a:latin typeface="Arial" panose="020B0604020202020204" pitchFamily="34" charset="0"/>
                <a:ea typeface="Meiryo UI" panose="020B0604030504040204" pitchFamily="50" charset="-128"/>
                <a:cs typeface="Arial" panose="020B0604020202020204" pitchFamily="34" charset="0"/>
              </a:rPr>
              <a:t>Lee K et al. Estimation of the Lifetime Quality-Adjusted Life Years (QALYs) Lost Due to Syphilis Acquired in the United States in 2018. CID. 2023;76(3):e810-e819. doi:10.1093/</a:t>
            </a:r>
            <a:r>
              <a:rPr lang="en-US" sz="1200" noProof="0" dirty="0" err="1">
                <a:latin typeface="Arial" panose="020B0604020202020204" pitchFamily="34" charset="0"/>
                <a:ea typeface="Meiryo UI" panose="020B0604030504040204" pitchFamily="50" charset="-128"/>
                <a:cs typeface="Arial" panose="020B0604020202020204" pitchFamily="34" charset="0"/>
              </a:rPr>
              <a:t>cid</a:t>
            </a:r>
            <a:r>
              <a:rPr lang="en-US" sz="1200" noProof="0" dirty="0">
                <a:latin typeface="Arial" panose="020B0604020202020204" pitchFamily="34" charset="0"/>
                <a:ea typeface="Meiryo UI" panose="020B0604030504040204" pitchFamily="50" charset="-128"/>
                <a:cs typeface="Arial" panose="020B0604020202020204" pitchFamily="34" charset="0"/>
              </a:rPr>
              <a:t>/ciac427</a:t>
            </a:r>
          </a:p>
        </p:txBody>
      </p:sp>
      <p:sp>
        <p:nvSpPr>
          <p:cNvPr id="66" name="Oval 65">
            <a:extLst>
              <a:ext uri="{FF2B5EF4-FFF2-40B4-BE49-F238E27FC236}">
                <a16:creationId xmlns:a16="http://schemas.microsoft.com/office/drawing/2014/main" id="{2D961369-BC80-D2C2-0744-04AB07B4C250}"/>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1</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67" name="Oval 66">
            <a:extLst>
              <a:ext uri="{FF2B5EF4-FFF2-40B4-BE49-F238E27FC236}">
                <a16:creationId xmlns:a16="http://schemas.microsoft.com/office/drawing/2014/main" id="{F27B7A5F-66D5-C42D-A84A-DFCA2C2AFD4C}"/>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2</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68" name="Oval 67">
            <a:extLst>
              <a:ext uri="{FF2B5EF4-FFF2-40B4-BE49-F238E27FC236}">
                <a16:creationId xmlns:a16="http://schemas.microsoft.com/office/drawing/2014/main" id="{91A208E0-06B0-7FFF-F3A6-78CF4A4EE597}"/>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3</a:t>
            </a:r>
          </a:p>
        </p:txBody>
      </p:sp>
      <p:sp>
        <p:nvSpPr>
          <p:cNvPr id="69" name="Oval 68">
            <a:extLst>
              <a:ext uri="{FF2B5EF4-FFF2-40B4-BE49-F238E27FC236}">
                <a16:creationId xmlns:a16="http://schemas.microsoft.com/office/drawing/2014/main" id="{5B11DA72-FFC0-D77E-83E3-9C4858643016}"/>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ea typeface="Meiryo UI" panose="020B0604030504040204" pitchFamily="50" charset="-128"/>
                <a:cs typeface="Arial" panose="020B0604020202020204" pitchFamily="34" charset="0"/>
              </a:rPr>
              <a:t>4</a:t>
            </a:r>
            <a:endParaRPr lang="en-US" b="1"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70" name="Oval 69">
            <a:extLst>
              <a:ext uri="{FF2B5EF4-FFF2-40B4-BE49-F238E27FC236}">
                <a16:creationId xmlns:a16="http://schemas.microsoft.com/office/drawing/2014/main" id="{8D251DC7-0E4A-484F-B32B-9A362D7C4D48}"/>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5</a:t>
            </a:r>
          </a:p>
        </p:txBody>
      </p:sp>
      <p:sp>
        <p:nvSpPr>
          <p:cNvPr id="71" name="Oval 70">
            <a:extLst>
              <a:ext uri="{FF2B5EF4-FFF2-40B4-BE49-F238E27FC236}">
                <a16:creationId xmlns:a16="http://schemas.microsoft.com/office/drawing/2014/main" id="{D2042372-78A3-7A0D-2219-71DE66C49AA2}"/>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6</a:t>
            </a:r>
          </a:p>
        </p:txBody>
      </p:sp>
      <p:sp>
        <p:nvSpPr>
          <p:cNvPr id="72" name="Oval 71">
            <a:extLst>
              <a:ext uri="{FF2B5EF4-FFF2-40B4-BE49-F238E27FC236}">
                <a16:creationId xmlns:a16="http://schemas.microsoft.com/office/drawing/2014/main" id="{1610E53F-6070-74FB-B72E-0AAEBB2497F6}"/>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7</a:t>
            </a:r>
          </a:p>
        </p:txBody>
      </p:sp>
      <p:sp>
        <p:nvSpPr>
          <p:cNvPr id="73" name="Oval 72">
            <a:extLst>
              <a:ext uri="{FF2B5EF4-FFF2-40B4-BE49-F238E27FC236}">
                <a16:creationId xmlns:a16="http://schemas.microsoft.com/office/drawing/2014/main" id="{D783422D-A792-8FAC-3C63-5AF281B49E4B}"/>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8</a:t>
            </a:r>
          </a:p>
        </p:txBody>
      </p:sp>
      <p:grpSp>
        <p:nvGrpSpPr>
          <p:cNvPr id="74" name="Group 73">
            <a:extLst>
              <a:ext uri="{FF2B5EF4-FFF2-40B4-BE49-F238E27FC236}">
                <a16:creationId xmlns:a16="http://schemas.microsoft.com/office/drawing/2014/main" id="{72FDC631-D583-DEA6-3A9A-F2C69DF25244}"/>
              </a:ext>
            </a:extLst>
          </p:cNvPr>
          <p:cNvGrpSpPr/>
          <p:nvPr/>
        </p:nvGrpSpPr>
        <p:grpSpPr>
          <a:xfrm>
            <a:off x="467139" y="108959"/>
            <a:ext cx="4197304" cy="307297"/>
            <a:chOff x="562270" y="127168"/>
            <a:chExt cx="4197304" cy="307297"/>
          </a:xfrm>
        </p:grpSpPr>
        <p:sp>
          <p:nvSpPr>
            <p:cNvPr id="75" name="Arrow: Pentagon 74">
              <a:extLst>
                <a:ext uri="{FF2B5EF4-FFF2-40B4-BE49-F238E27FC236}">
                  <a16:creationId xmlns:a16="http://schemas.microsoft.com/office/drawing/2014/main" id="{F19D635F-9233-FD18-CE6A-F954C5478CD3}"/>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76" name="Arrow: Pentagon 75">
              <a:extLst>
                <a:ext uri="{FF2B5EF4-FFF2-40B4-BE49-F238E27FC236}">
                  <a16:creationId xmlns:a16="http://schemas.microsoft.com/office/drawing/2014/main" id="{8449BA69-8D28-BE95-7189-BEE3FE7D91FD}"/>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77" name="Arrow: Pentagon 76">
              <a:extLst>
                <a:ext uri="{FF2B5EF4-FFF2-40B4-BE49-F238E27FC236}">
                  <a16:creationId xmlns:a16="http://schemas.microsoft.com/office/drawing/2014/main" id="{C7690734-AFDD-D1BA-3681-F8E0FB1129A7}"/>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17523486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84205-2887-F6DD-5BF2-99B6C1F6D444}"/>
            </a:ext>
          </a:extLst>
        </p:cNvPr>
        <p:cNvGrpSpPr/>
        <p:nvPr/>
      </p:nvGrpSpPr>
      <p:grpSpPr>
        <a:xfrm>
          <a:off x="0" y="0"/>
          <a:ext cx="0" cy="0"/>
          <a:chOff x="0" y="0"/>
          <a:chExt cx="0" cy="0"/>
        </a:xfrm>
      </p:grpSpPr>
      <p:sp>
        <p:nvSpPr>
          <p:cNvPr id="53" name="Rectangle 52">
            <a:extLst>
              <a:ext uri="{FF2B5EF4-FFF2-40B4-BE49-F238E27FC236}">
                <a16:creationId xmlns:a16="http://schemas.microsoft.com/office/drawing/2014/main" id="{386ABEFC-C3E5-0B88-D914-E00453606ABB}"/>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Define the problem and objectives</a:t>
            </a:r>
          </a:p>
        </p:txBody>
      </p:sp>
      <p:sp>
        <p:nvSpPr>
          <p:cNvPr id="54" name="Rectangle 53">
            <a:extLst>
              <a:ext uri="{FF2B5EF4-FFF2-40B4-BE49-F238E27FC236}">
                <a16:creationId xmlns:a16="http://schemas.microsoft.com/office/drawing/2014/main" id="{F4293AB3-003D-EA8F-06CF-E533E8F89DB3}"/>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Design simulation model</a:t>
            </a:r>
          </a:p>
        </p:txBody>
      </p:sp>
      <p:sp>
        <p:nvSpPr>
          <p:cNvPr id="56" name="Rectangle 55">
            <a:extLst>
              <a:ext uri="{FF2B5EF4-FFF2-40B4-BE49-F238E27FC236}">
                <a16:creationId xmlns:a16="http://schemas.microsoft.com/office/drawing/2014/main" id="{A04AF4D8-F072-024F-9F22-422B015E752A}"/>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Select simulation model</a:t>
            </a:r>
          </a:p>
        </p:txBody>
      </p:sp>
      <p:sp>
        <p:nvSpPr>
          <p:cNvPr id="57" name="Rectangle 56">
            <a:extLst>
              <a:ext uri="{FF2B5EF4-FFF2-40B4-BE49-F238E27FC236}">
                <a16:creationId xmlns:a16="http://schemas.microsoft.com/office/drawing/2014/main" id="{718F1399-83F8-C7A8-1AA6-6CA1AEC39EA2}"/>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Define outcomes</a:t>
            </a:r>
          </a:p>
        </p:txBody>
      </p:sp>
      <p:sp>
        <p:nvSpPr>
          <p:cNvPr id="58" name="Rectangle 57">
            <a:extLst>
              <a:ext uri="{FF2B5EF4-FFF2-40B4-BE49-F238E27FC236}">
                <a16:creationId xmlns:a16="http://schemas.microsoft.com/office/drawing/2014/main" id="{0DB65E92-DBEB-B10E-8503-2EB6D3F151D5}"/>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Select model inputs</a:t>
            </a:r>
          </a:p>
        </p:txBody>
      </p:sp>
      <p:sp>
        <p:nvSpPr>
          <p:cNvPr id="59" name="Rectangle 58">
            <a:extLst>
              <a:ext uri="{FF2B5EF4-FFF2-40B4-BE49-F238E27FC236}">
                <a16:creationId xmlns:a16="http://schemas.microsoft.com/office/drawing/2014/main" id="{00CC4F77-83F8-7FFB-7816-6917BB1AE301}"/>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Simulate multiple decision options</a:t>
            </a:r>
          </a:p>
        </p:txBody>
      </p:sp>
      <p:sp>
        <p:nvSpPr>
          <p:cNvPr id="60" name="Rectangle 59">
            <a:extLst>
              <a:ext uri="{FF2B5EF4-FFF2-40B4-BE49-F238E27FC236}">
                <a16:creationId xmlns:a16="http://schemas.microsoft.com/office/drawing/2014/main" id="{7C27A23F-E2DA-AE2A-6303-DAEF4092C8DF}"/>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Sensitivity and scenario analyses</a:t>
            </a:r>
          </a:p>
        </p:txBody>
      </p:sp>
      <p:sp>
        <p:nvSpPr>
          <p:cNvPr id="61" name="Rectangle 60">
            <a:extLst>
              <a:ext uri="{FF2B5EF4-FFF2-40B4-BE49-F238E27FC236}">
                <a16:creationId xmlns:a16="http://schemas.microsoft.com/office/drawing/2014/main" id="{950E38E2-E952-B5C9-B9B3-F008ABA22C79}"/>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Evaluate results</a:t>
            </a:r>
          </a:p>
        </p:txBody>
      </p:sp>
      <p:sp>
        <p:nvSpPr>
          <p:cNvPr id="62" name="Isosceles Triangle 61">
            <a:extLst>
              <a:ext uri="{FF2B5EF4-FFF2-40B4-BE49-F238E27FC236}">
                <a16:creationId xmlns:a16="http://schemas.microsoft.com/office/drawing/2014/main" id="{7DF2BF39-EF70-01E7-6653-1D36B3DD95C0}"/>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3" name="Isosceles Triangle 62">
            <a:extLst>
              <a:ext uri="{FF2B5EF4-FFF2-40B4-BE49-F238E27FC236}">
                <a16:creationId xmlns:a16="http://schemas.microsoft.com/office/drawing/2014/main" id="{F97EEA45-9B55-6803-61BB-5457E745F92A}"/>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4" name="Isosceles Triangle 63">
            <a:extLst>
              <a:ext uri="{FF2B5EF4-FFF2-40B4-BE49-F238E27FC236}">
                <a16:creationId xmlns:a16="http://schemas.microsoft.com/office/drawing/2014/main" id="{1FBDE97D-1A71-BB11-D70C-E39638C5F49D}"/>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5" name="Isosceles Triangle 64">
            <a:extLst>
              <a:ext uri="{FF2B5EF4-FFF2-40B4-BE49-F238E27FC236}">
                <a16:creationId xmlns:a16="http://schemas.microsoft.com/office/drawing/2014/main" id="{54B1BEA8-AACB-85B7-17F4-E6ED6E267BCE}"/>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6" name="Isosceles Triangle 65">
            <a:extLst>
              <a:ext uri="{FF2B5EF4-FFF2-40B4-BE49-F238E27FC236}">
                <a16:creationId xmlns:a16="http://schemas.microsoft.com/office/drawing/2014/main" id="{5AC43BF6-DCE2-B52F-B584-6584AE96413F}"/>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7" name="Isosceles Triangle 66">
            <a:extLst>
              <a:ext uri="{FF2B5EF4-FFF2-40B4-BE49-F238E27FC236}">
                <a16:creationId xmlns:a16="http://schemas.microsoft.com/office/drawing/2014/main" id="{FFB715B9-1EEE-D580-3C14-83E0C4EF807C}"/>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8" name="Isosceles Triangle 67">
            <a:extLst>
              <a:ext uri="{FF2B5EF4-FFF2-40B4-BE49-F238E27FC236}">
                <a16:creationId xmlns:a16="http://schemas.microsoft.com/office/drawing/2014/main" id="{D92159D9-692D-8DD3-4D62-46564C286859}"/>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 name="Table Placeholder 2">
            <a:extLst>
              <a:ext uri="{FF2B5EF4-FFF2-40B4-BE49-F238E27FC236}">
                <a16:creationId xmlns:a16="http://schemas.microsoft.com/office/drawing/2014/main" id="{58D24263-8AAF-C672-F8A3-E7E80F83CE11}"/>
              </a:ext>
            </a:extLst>
          </p:cNvPr>
          <p:cNvSpPr>
            <a:spLocks noGrp="1"/>
          </p:cNvSpPr>
          <p:nvPr>
            <p:ph type="tbl" sz="quarter" idx="10"/>
          </p:nvPr>
        </p:nvSpPr>
        <p:spPr>
          <a:xfrm>
            <a:off x="4815839" y="1938130"/>
            <a:ext cx="6909021" cy="4692045"/>
          </a:xfrm>
          <a:ln>
            <a:noFill/>
          </a:ln>
        </p:spPr>
        <p:txBody>
          <a:bodyPr/>
          <a:lstStyle/>
          <a:p>
            <a:r>
              <a:rPr lang="en-US" sz="2000" noProof="0" dirty="0"/>
              <a:t>Seek high-quality evidence, though not always be available</a:t>
            </a:r>
          </a:p>
          <a:p>
            <a:pPr lvl="1"/>
            <a:endParaRPr lang="en-US" sz="2000" noProof="0" dirty="0"/>
          </a:p>
          <a:p>
            <a:pPr lvl="1"/>
            <a:endParaRPr lang="en-US" sz="2000" noProof="0" dirty="0"/>
          </a:p>
          <a:p>
            <a:pPr lvl="1"/>
            <a:endParaRPr lang="en-US" sz="2000" noProof="0" dirty="0"/>
          </a:p>
          <a:p>
            <a:pPr lvl="1"/>
            <a:endParaRPr lang="en-US" sz="2000" noProof="0" dirty="0"/>
          </a:p>
          <a:p>
            <a:pPr lvl="1"/>
            <a:endParaRPr lang="en-US" sz="2000" noProof="0" dirty="0"/>
          </a:p>
          <a:p>
            <a:pPr lvl="1"/>
            <a:endParaRPr lang="en-US" sz="2000" noProof="0" dirty="0"/>
          </a:p>
          <a:p>
            <a:pPr lvl="1"/>
            <a:endParaRPr lang="en-US" sz="2000" noProof="0" dirty="0"/>
          </a:p>
          <a:p>
            <a:pPr lvl="1"/>
            <a:endParaRPr lang="en-US" sz="2000" noProof="0" dirty="0"/>
          </a:p>
          <a:p>
            <a:pPr marL="457200" lvl="1" indent="0">
              <a:buNone/>
            </a:pPr>
            <a:endParaRPr lang="en-US" sz="2000" noProof="0" dirty="0"/>
          </a:p>
          <a:p>
            <a:r>
              <a:rPr lang="en-US" sz="2000" noProof="0" dirty="0"/>
              <a:t>Uncertainty remains even with high-quality evidence.</a:t>
            </a:r>
          </a:p>
          <a:p>
            <a:pPr lvl="1"/>
            <a:r>
              <a:rPr lang="en-US" sz="1800" noProof="0" dirty="0"/>
              <a:t>e.g., 95% confidence intervals, interquartile ranges</a:t>
            </a:r>
          </a:p>
          <a:p>
            <a:pPr lvl="1"/>
            <a:r>
              <a:rPr lang="en-US" sz="1800" noProof="0" dirty="0"/>
              <a:t>Methods to address uncertainty are discussed later.</a:t>
            </a:r>
          </a:p>
        </p:txBody>
      </p:sp>
      <p:sp>
        <p:nvSpPr>
          <p:cNvPr id="42" name="Isosceles Triangle 41">
            <a:extLst>
              <a:ext uri="{FF2B5EF4-FFF2-40B4-BE49-F238E27FC236}">
                <a16:creationId xmlns:a16="http://schemas.microsoft.com/office/drawing/2014/main" id="{C3546FE5-29D3-3248-822C-41A3CB0B538B}"/>
              </a:ext>
            </a:extLst>
          </p:cNvPr>
          <p:cNvSpPr>
            <a:spLocks noChangeAspect="1"/>
          </p:cNvSpPr>
          <p:nvPr/>
        </p:nvSpPr>
        <p:spPr>
          <a:xfrm>
            <a:off x="6542222" y="2863273"/>
            <a:ext cx="3420000" cy="2565000"/>
          </a:xfrm>
          <a:prstGeom prst="triangl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9" name="Isosceles Triangle 38">
            <a:extLst>
              <a:ext uri="{FF2B5EF4-FFF2-40B4-BE49-F238E27FC236}">
                <a16:creationId xmlns:a16="http://schemas.microsoft.com/office/drawing/2014/main" id="{F76D9176-92D3-042A-5DDA-7C7DD252E3A0}"/>
              </a:ext>
            </a:extLst>
          </p:cNvPr>
          <p:cNvSpPr>
            <a:spLocks noChangeAspect="1"/>
          </p:cNvSpPr>
          <p:nvPr/>
        </p:nvSpPr>
        <p:spPr>
          <a:xfrm>
            <a:off x="6812222" y="2863273"/>
            <a:ext cx="2880000" cy="2160000"/>
          </a:xfrm>
          <a:prstGeom prst="triangl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8" name="Isosceles Triangle 37">
            <a:extLst>
              <a:ext uri="{FF2B5EF4-FFF2-40B4-BE49-F238E27FC236}">
                <a16:creationId xmlns:a16="http://schemas.microsoft.com/office/drawing/2014/main" id="{5FD1693C-5F0D-A5F7-4509-B2796B9C7D37}"/>
              </a:ext>
            </a:extLst>
          </p:cNvPr>
          <p:cNvSpPr>
            <a:spLocks noChangeAspect="1"/>
          </p:cNvSpPr>
          <p:nvPr/>
        </p:nvSpPr>
        <p:spPr>
          <a:xfrm>
            <a:off x="7082222" y="2863273"/>
            <a:ext cx="2340000" cy="1755000"/>
          </a:xfrm>
          <a:prstGeom prst="triangl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7" name="Isosceles Triangle 36">
            <a:extLst>
              <a:ext uri="{FF2B5EF4-FFF2-40B4-BE49-F238E27FC236}">
                <a16:creationId xmlns:a16="http://schemas.microsoft.com/office/drawing/2014/main" id="{07A2B10C-2E83-BA65-945E-E868F03DE563}"/>
              </a:ext>
            </a:extLst>
          </p:cNvPr>
          <p:cNvSpPr>
            <a:spLocks noChangeAspect="1"/>
          </p:cNvSpPr>
          <p:nvPr/>
        </p:nvSpPr>
        <p:spPr>
          <a:xfrm>
            <a:off x="7352222" y="2863273"/>
            <a:ext cx="1800000" cy="1350000"/>
          </a:xfrm>
          <a:prstGeom prst="triangl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6" name="Isosceles Triangle 35">
            <a:extLst>
              <a:ext uri="{FF2B5EF4-FFF2-40B4-BE49-F238E27FC236}">
                <a16:creationId xmlns:a16="http://schemas.microsoft.com/office/drawing/2014/main" id="{0657BD31-D51D-A47A-84CE-B22E90F0650B}"/>
              </a:ext>
            </a:extLst>
          </p:cNvPr>
          <p:cNvSpPr>
            <a:spLocks noChangeAspect="1"/>
          </p:cNvSpPr>
          <p:nvPr/>
        </p:nvSpPr>
        <p:spPr>
          <a:xfrm>
            <a:off x="7622222" y="2863273"/>
            <a:ext cx="1260000" cy="945000"/>
          </a:xfrm>
          <a:prstGeom prst="triangl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RCT</a:t>
            </a:r>
          </a:p>
        </p:txBody>
      </p:sp>
      <p:sp>
        <p:nvSpPr>
          <p:cNvPr id="2" name="Title 1">
            <a:extLst>
              <a:ext uri="{FF2B5EF4-FFF2-40B4-BE49-F238E27FC236}">
                <a16:creationId xmlns:a16="http://schemas.microsoft.com/office/drawing/2014/main" id="{E5F7013D-B32E-E1E1-0EE1-D5F296210D40}"/>
              </a:ext>
            </a:extLst>
          </p:cNvPr>
          <p:cNvSpPr>
            <a:spLocks noGrp="1"/>
          </p:cNvSpPr>
          <p:nvPr>
            <p:ph type="title"/>
          </p:nvPr>
        </p:nvSpPr>
        <p:spPr/>
        <p:txBody>
          <a:bodyPr/>
          <a:lstStyle/>
          <a:p>
            <a:r>
              <a:rPr lang="en-US" noProof="0" dirty="0"/>
              <a:t>Step⑤ Selecting Model Inputs</a:t>
            </a:r>
          </a:p>
        </p:txBody>
      </p:sp>
      <p:sp>
        <p:nvSpPr>
          <p:cNvPr id="4" name="Slide Number Placeholder 3">
            <a:extLst>
              <a:ext uri="{FF2B5EF4-FFF2-40B4-BE49-F238E27FC236}">
                <a16:creationId xmlns:a16="http://schemas.microsoft.com/office/drawing/2014/main" id="{F77E6BFD-15A3-CFAA-8D01-71F0E153D7C0}"/>
              </a:ext>
            </a:extLst>
          </p:cNvPr>
          <p:cNvSpPr>
            <a:spLocks noGrp="1"/>
          </p:cNvSpPr>
          <p:nvPr>
            <p:ph type="sldNum" sz="quarter" idx="4"/>
          </p:nvPr>
        </p:nvSpPr>
        <p:spPr/>
        <p:txBody>
          <a:bodyPr/>
          <a:lstStyle/>
          <a:p>
            <a:fld id="{B5CEABB6-07DC-46E8-9B57-56EC44A396E5}" type="slidenum">
              <a:rPr lang="en-US" noProof="0" smtClean="0"/>
              <a:pPr/>
              <a:t>21</a:t>
            </a:fld>
            <a:endParaRPr lang="en-US" noProof="0" dirty="0"/>
          </a:p>
        </p:txBody>
      </p:sp>
      <p:sp>
        <p:nvSpPr>
          <p:cNvPr id="5" name="Table Placeholder 4">
            <a:extLst>
              <a:ext uri="{FF2B5EF4-FFF2-40B4-BE49-F238E27FC236}">
                <a16:creationId xmlns:a16="http://schemas.microsoft.com/office/drawing/2014/main" id="{5053BA13-5940-1B9B-E4DD-343E13044572}"/>
              </a:ext>
            </a:extLst>
          </p:cNvPr>
          <p:cNvSpPr>
            <a:spLocks noGrp="1"/>
          </p:cNvSpPr>
          <p:nvPr>
            <p:ph type="tbl" sz="quarter" idx="11"/>
          </p:nvPr>
        </p:nvSpPr>
        <p:spPr/>
        <p:txBody>
          <a:bodyPr/>
          <a:lstStyle/>
          <a:p>
            <a:r>
              <a:rPr lang="en-US" noProof="0" dirty="0"/>
              <a:t>Identify numerical values for structured relationships and outcome measures from existing evidence.</a:t>
            </a:r>
          </a:p>
        </p:txBody>
      </p:sp>
      <p:sp>
        <p:nvSpPr>
          <p:cNvPr id="40" name="Rectangle 39">
            <a:extLst>
              <a:ext uri="{FF2B5EF4-FFF2-40B4-BE49-F238E27FC236}">
                <a16:creationId xmlns:a16="http://schemas.microsoft.com/office/drawing/2014/main" id="{1854FC0E-1288-E571-A259-056A96905B99}"/>
              </a:ext>
            </a:extLst>
          </p:cNvPr>
          <p:cNvSpPr/>
          <p:nvPr/>
        </p:nvSpPr>
        <p:spPr>
          <a:xfrm>
            <a:off x="4694922" y="1938130"/>
            <a:ext cx="120917" cy="469204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34" name="Straight Connector 33">
            <a:extLst>
              <a:ext uri="{FF2B5EF4-FFF2-40B4-BE49-F238E27FC236}">
                <a16:creationId xmlns:a16="http://schemas.microsoft.com/office/drawing/2014/main" id="{1E4E4283-646F-8897-05D2-40CDDCE48208}"/>
              </a:ext>
            </a:extLst>
          </p:cNvPr>
          <p:cNvCxnSpPr>
            <a:cxnSpLocks/>
            <a:stCxn id="58" idx="3"/>
            <a:endCxn id="40" idx="1"/>
          </p:cNvCxnSpPr>
          <p:nvPr/>
        </p:nvCxnSpPr>
        <p:spPr>
          <a:xfrm flipV="1">
            <a:off x="3989294" y="4284153"/>
            <a:ext cx="705628" cy="303259"/>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9" name="Isosceles Triangle 28">
            <a:extLst>
              <a:ext uri="{FF2B5EF4-FFF2-40B4-BE49-F238E27FC236}">
                <a16:creationId xmlns:a16="http://schemas.microsoft.com/office/drawing/2014/main" id="{C57E0C5E-55C1-BE8C-9338-E713B327CF62}"/>
              </a:ext>
            </a:extLst>
          </p:cNvPr>
          <p:cNvSpPr>
            <a:spLocks noChangeAspect="1"/>
          </p:cNvSpPr>
          <p:nvPr/>
        </p:nvSpPr>
        <p:spPr>
          <a:xfrm>
            <a:off x="7892222" y="2863273"/>
            <a:ext cx="720000" cy="540000"/>
          </a:xfrm>
          <a:prstGeom prst="triangle">
            <a:avLst/>
          </a:prstGeom>
          <a:solidFill>
            <a:schemeClr val="accent5">
              <a:lumMod val="20000"/>
              <a:lumOff val="80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44" name="Rectangle 43">
            <a:extLst>
              <a:ext uri="{FF2B5EF4-FFF2-40B4-BE49-F238E27FC236}">
                <a16:creationId xmlns:a16="http://schemas.microsoft.com/office/drawing/2014/main" id="{949509D2-FC81-AE78-AF61-D057311841A4}"/>
              </a:ext>
            </a:extLst>
          </p:cNvPr>
          <p:cNvSpPr/>
          <p:nvPr/>
        </p:nvSpPr>
        <p:spPr>
          <a:xfrm>
            <a:off x="7633146" y="3868548"/>
            <a:ext cx="1200790" cy="31508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Non-randomized comparative studies</a:t>
            </a:r>
          </a:p>
        </p:txBody>
      </p:sp>
      <p:sp>
        <p:nvSpPr>
          <p:cNvPr id="45" name="Rectangle 44">
            <a:extLst>
              <a:ext uri="{FF2B5EF4-FFF2-40B4-BE49-F238E27FC236}">
                <a16:creationId xmlns:a16="http://schemas.microsoft.com/office/drawing/2014/main" id="{1A435C04-0859-777F-08B4-81177C185257}"/>
              </a:ext>
            </a:extLst>
          </p:cNvPr>
          <p:cNvSpPr/>
          <p:nvPr/>
        </p:nvSpPr>
        <p:spPr>
          <a:xfrm>
            <a:off x="7434415" y="4270103"/>
            <a:ext cx="1598252" cy="31508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Cohort and case–control studies</a:t>
            </a:r>
          </a:p>
        </p:txBody>
      </p:sp>
      <p:sp>
        <p:nvSpPr>
          <p:cNvPr id="46" name="Rectangle 45">
            <a:extLst>
              <a:ext uri="{FF2B5EF4-FFF2-40B4-BE49-F238E27FC236}">
                <a16:creationId xmlns:a16="http://schemas.microsoft.com/office/drawing/2014/main" id="{7D51B214-6C45-6EEF-4887-F7DFB5A5E326}"/>
              </a:ext>
            </a:extLst>
          </p:cNvPr>
          <p:cNvSpPr/>
          <p:nvPr/>
        </p:nvSpPr>
        <p:spPr>
          <a:xfrm>
            <a:off x="7169905" y="4661232"/>
            <a:ext cx="2127273" cy="31508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Case reports</a:t>
            </a:r>
          </a:p>
        </p:txBody>
      </p:sp>
      <p:sp>
        <p:nvSpPr>
          <p:cNvPr id="47" name="Rectangle 46">
            <a:extLst>
              <a:ext uri="{FF2B5EF4-FFF2-40B4-BE49-F238E27FC236}">
                <a16:creationId xmlns:a16="http://schemas.microsoft.com/office/drawing/2014/main" id="{F4DBFEA4-E693-0E6B-B1A5-FB77908F7309}"/>
              </a:ext>
            </a:extLst>
          </p:cNvPr>
          <p:cNvSpPr/>
          <p:nvPr/>
        </p:nvSpPr>
        <p:spPr>
          <a:xfrm>
            <a:off x="7266599" y="5081826"/>
            <a:ext cx="1933885" cy="31508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Expert opinion / animal studies</a:t>
            </a:r>
          </a:p>
        </p:txBody>
      </p:sp>
      <p:sp>
        <p:nvSpPr>
          <p:cNvPr id="48" name="Rectangle 47">
            <a:extLst>
              <a:ext uri="{FF2B5EF4-FFF2-40B4-BE49-F238E27FC236}">
                <a16:creationId xmlns:a16="http://schemas.microsoft.com/office/drawing/2014/main" id="{75797A76-04FD-CD08-08BE-0A72044B5749}"/>
              </a:ext>
            </a:extLst>
          </p:cNvPr>
          <p:cNvSpPr/>
          <p:nvPr/>
        </p:nvSpPr>
        <p:spPr>
          <a:xfrm>
            <a:off x="5392679" y="2336280"/>
            <a:ext cx="5709936" cy="5224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Hierarchy of evidence in evidence-based medicine</a:t>
            </a:r>
          </a:p>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(Burns et al. 2011)</a:t>
            </a:r>
          </a:p>
        </p:txBody>
      </p:sp>
      <p:sp>
        <p:nvSpPr>
          <p:cNvPr id="50" name="TextBox 49">
            <a:extLst>
              <a:ext uri="{FF2B5EF4-FFF2-40B4-BE49-F238E27FC236}">
                <a16:creationId xmlns:a16="http://schemas.microsoft.com/office/drawing/2014/main" id="{7C07CA1B-30D9-5D10-6828-EE2A6C9158BC}"/>
              </a:ext>
            </a:extLst>
          </p:cNvPr>
          <p:cNvSpPr txBox="1"/>
          <p:nvPr/>
        </p:nvSpPr>
        <p:spPr>
          <a:xfrm>
            <a:off x="4815839" y="6392547"/>
            <a:ext cx="6826342" cy="461665"/>
          </a:xfrm>
          <a:prstGeom prst="rect">
            <a:avLst/>
          </a:prstGeom>
          <a:noFill/>
        </p:spPr>
        <p:txBody>
          <a:bodyPr wrap="square">
            <a:spAutoFit/>
          </a:bodyPr>
          <a:lstStyle/>
          <a:p>
            <a:r>
              <a:rPr lang="en-US" sz="1200" noProof="0" dirty="0">
                <a:latin typeface="Arial" panose="020B0604020202020204" pitchFamily="34" charset="0"/>
                <a:ea typeface="Meiryo UI" panose="020B0604030504040204" pitchFamily="50" charset="-128"/>
                <a:cs typeface="Arial" panose="020B0604020202020204" pitchFamily="34" charset="0"/>
              </a:rPr>
              <a:t>Burns PB et al. The levels of evidence and their role in evidence-based medicine. Plast </a:t>
            </a:r>
            <a:r>
              <a:rPr lang="en-US" sz="1200" noProof="0" dirty="0" err="1">
                <a:latin typeface="Arial" panose="020B0604020202020204" pitchFamily="34" charset="0"/>
                <a:ea typeface="Meiryo UI" panose="020B0604030504040204" pitchFamily="50" charset="-128"/>
                <a:cs typeface="Arial" panose="020B0604020202020204" pitchFamily="34" charset="0"/>
              </a:rPr>
              <a:t>Reconstr</a:t>
            </a:r>
            <a:r>
              <a:rPr lang="en-US" sz="1200" noProof="0" dirty="0">
                <a:latin typeface="Arial" panose="020B0604020202020204" pitchFamily="34" charset="0"/>
                <a:ea typeface="Meiryo UI" panose="020B0604030504040204" pitchFamily="50" charset="-128"/>
                <a:cs typeface="Arial" panose="020B0604020202020204" pitchFamily="34" charset="0"/>
              </a:rPr>
              <a:t> Surg. 2011;128(1):305-310. doi:10.1097/PRS.0b013e318219c171</a:t>
            </a:r>
          </a:p>
        </p:txBody>
      </p:sp>
      <p:cxnSp>
        <p:nvCxnSpPr>
          <p:cNvPr id="51" name="Straight Connector 50">
            <a:extLst>
              <a:ext uri="{FF2B5EF4-FFF2-40B4-BE49-F238E27FC236}">
                <a16:creationId xmlns:a16="http://schemas.microsoft.com/office/drawing/2014/main" id="{D6B0093A-F64F-C39B-E595-9FEFDE645B6E}"/>
              </a:ext>
            </a:extLst>
          </p:cNvPr>
          <p:cNvCxnSpPr>
            <a:stCxn id="29" idx="5"/>
            <a:endCxn id="43" idx="1"/>
          </p:cNvCxnSpPr>
          <p:nvPr/>
        </p:nvCxnSpPr>
        <p:spPr>
          <a:xfrm flipV="1">
            <a:off x="8432222" y="3126182"/>
            <a:ext cx="560050" cy="7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7578CFC1-9219-5B29-40D9-1D2E2190F037}"/>
              </a:ext>
            </a:extLst>
          </p:cNvPr>
          <p:cNvSpPr/>
          <p:nvPr/>
        </p:nvSpPr>
        <p:spPr>
          <a:xfrm>
            <a:off x="8992272" y="2935555"/>
            <a:ext cx="2127274" cy="3812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Meta-analyses/ </a:t>
            </a:r>
          </a:p>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systematic reviews</a:t>
            </a:r>
          </a:p>
        </p:txBody>
      </p:sp>
      <p:sp>
        <p:nvSpPr>
          <p:cNvPr id="77" name="Oval 76">
            <a:extLst>
              <a:ext uri="{FF2B5EF4-FFF2-40B4-BE49-F238E27FC236}">
                <a16:creationId xmlns:a16="http://schemas.microsoft.com/office/drawing/2014/main" id="{B0E7F8ED-D0C9-24D4-4BAA-3403ADCC8119}"/>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1</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78" name="Oval 77">
            <a:extLst>
              <a:ext uri="{FF2B5EF4-FFF2-40B4-BE49-F238E27FC236}">
                <a16:creationId xmlns:a16="http://schemas.microsoft.com/office/drawing/2014/main" id="{22DDD349-A397-D333-D85D-889965BA1061}"/>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2</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79" name="Oval 78">
            <a:extLst>
              <a:ext uri="{FF2B5EF4-FFF2-40B4-BE49-F238E27FC236}">
                <a16:creationId xmlns:a16="http://schemas.microsoft.com/office/drawing/2014/main" id="{B59452C0-1017-8F8F-B8AE-6D101FBB7329}"/>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3</a:t>
            </a:r>
          </a:p>
        </p:txBody>
      </p:sp>
      <p:sp>
        <p:nvSpPr>
          <p:cNvPr id="80" name="Oval 79">
            <a:extLst>
              <a:ext uri="{FF2B5EF4-FFF2-40B4-BE49-F238E27FC236}">
                <a16:creationId xmlns:a16="http://schemas.microsoft.com/office/drawing/2014/main" id="{C3F9F5CE-7564-FF85-7B1A-CD69BB65C27C}"/>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4</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81" name="Oval 80">
            <a:extLst>
              <a:ext uri="{FF2B5EF4-FFF2-40B4-BE49-F238E27FC236}">
                <a16:creationId xmlns:a16="http://schemas.microsoft.com/office/drawing/2014/main" id="{26659C8B-9197-950F-70AE-1F89AD3C95A7}"/>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bg1"/>
                </a:solidFill>
                <a:latin typeface="Arial" panose="020B0604020202020204" pitchFamily="34" charset="0"/>
                <a:ea typeface="Meiryo UI" panose="020B0604030504040204" pitchFamily="50" charset="-128"/>
                <a:cs typeface="Arial" panose="020B0604020202020204" pitchFamily="34" charset="0"/>
              </a:rPr>
              <a:t>5</a:t>
            </a:r>
          </a:p>
        </p:txBody>
      </p:sp>
      <p:sp>
        <p:nvSpPr>
          <p:cNvPr id="82" name="Oval 81">
            <a:extLst>
              <a:ext uri="{FF2B5EF4-FFF2-40B4-BE49-F238E27FC236}">
                <a16:creationId xmlns:a16="http://schemas.microsoft.com/office/drawing/2014/main" id="{1E987149-FB0C-ECC7-3FF4-8EF5F64A0BC6}"/>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6</a:t>
            </a:r>
          </a:p>
        </p:txBody>
      </p:sp>
      <p:sp>
        <p:nvSpPr>
          <p:cNvPr id="83" name="Oval 82">
            <a:extLst>
              <a:ext uri="{FF2B5EF4-FFF2-40B4-BE49-F238E27FC236}">
                <a16:creationId xmlns:a16="http://schemas.microsoft.com/office/drawing/2014/main" id="{2085D9BA-B0BA-4FA0-65D6-7B27AD10E075}"/>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7</a:t>
            </a:r>
          </a:p>
        </p:txBody>
      </p:sp>
      <p:sp>
        <p:nvSpPr>
          <p:cNvPr id="84" name="Oval 83">
            <a:extLst>
              <a:ext uri="{FF2B5EF4-FFF2-40B4-BE49-F238E27FC236}">
                <a16:creationId xmlns:a16="http://schemas.microsoft.com/office/drawing/2014/main" id="{FB0A23EB-7B58-B716-28C2-6C4701AF6802}"/>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8</a:t>
            </a:r>
          </a:p>
        </p:txBody>
      </p:sp>
      <p:grpSp>
        <p:nvGrpSpPr>
          <p:cNvPr id="85" name="Group 84">
            <a:extLst>
              <a:ext uri="{FF2B5EF4-FFF2-40B4-BE49-F238E27FC236}">
                <a16:creationId xmlns:a16="http://schemas.microsoft.com/office/drawing/2014/main" id="{2F62403E-FE30-2B09-EAB6-CA790417611D}"/>
              </a:ext>
            </a:extLst>
          </p:cNvPr>
          <p:cNvGrpSpPr/>
          <p:nvPr/>
        </p:nvGrpSpPr>
        <p:grpSpPr>
          <a:xfrm>
            <a:off x="467139" y="108959"/>
            <a:ext cx="4197304" cy="307297"/>
            <a:chOff x="562270" y="127168"/>
            <a:chExt cx="4197304" cy="307297"/>
          </a:xfrm>
        </p:grpSpPr>
        <p:sp>
          <p:nvSpPr>
            <p:cNvPr id="86" name="Arrow: Pentagon 85">
              <a:extLst>
                <a:ext uri="{FF2B5EF4-FFF2-40B4-BE49-F238E27FC236}">
                  <a16:creationId xmlns:a16="http://schemas.microsoft.com/office/drawing/2014/main" id="{C8757B7E-4C24-C06A-D927-A38AE489AF92}"/>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87" name="Arrow: Pentagon 86">
              <a:extLst>
                <a:ext uri="{FF2B5EF4-FFF2-40B4-BE49-F238E27FC236}">
                  <a16:creationId xmlns:a16="http://schemas.microsoft.com/office/drawing/2014/main" id="{83825452-A2A9-26F3-1ADB-ADAF55626111}"/>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88" name="Arrow: Pentagon 87">
              <a:extLst>
                <a:ext uri="{FF2B5EF4-FFF2-40B4-BE49-F238E27FC236}">
                  <a16:creationId xmlns:a16="http://schemas.microsoft.com/office/drawing/2014/main" id="{E088480A-71F1-0025-63B9-2084EDF8156C}"/>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1087184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B2014-E218-2A28-B837-F8CE40A545A0}"/>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AA4A9EF8-BEC5-F02B-2DCF-846F695591F9}"/>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Define the problem and objectives</a:t>
            </a:r>
          </a:p>
        </p:txBody>
      </p:sp>
      <p:sp>
        <p:nvSpPr>
          <p:cNvPr id="38" name="Rectangle 37">
            <a:extLst>
              <a:ext uri="{FF2B5EF4-FFF2-40B4-BE49-F238E27FC236}">
                <a16:creationId xmlns:a16="http://schemas.microsoft.com/office/drawing/2014/main" id="{C85C6A01-9594-1831-6DAE-00B2DA5CAA3A}"/>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Design simulation model</a:t>
            </a:r>
          </a:p>
        </p:txBody>
      </p:sp>
      <p:sp>
        <p:nvSpPr>
          <p:cNvPr id="40" name="Rectangle 39">
            <a:extLst>
              <a:ext uri="{FF2B5EF4-FFF2-40B4-BE49-F238E27FC236}">
                <a16:creationId xmlns:a16="http://schemas.microsoft.com/office/drawing/2014/main" id="{D7EF2258-0B65-4F8E-4492-238A30847659}"/>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Select simulation model</a:t>
            </a:r>
          </a:p>
        </p:txBody>
      </p:sp>
      <p:sp>
        <p:nvSpPr>
          <p:cNvPr id="41" name="Rectangle 40">
            <a:extLst>
              <a:ext uri="{FF2B5EF4-FFF2-40B4-BE49-F238E27FC236}">
                <a16:creationId xmlns:a16="http://schemas.microsoft.com/office/drawing/2014/main" id="{92F38434-79A2-41C4-C7F8-88B4410D295F}"/>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Define outcomes</a:t>
            </a:r>
          </a:p>
        </p:txBody>
      </p:sp>
      <p:sp>
        <p:nvSpPr>
          <p:cNvPr id="42" name="Rectangle 41">
            <a:extLst>
              <a:ext uri="{FF2B5EF4-FFF2-40B4-BE49-F238E27FC236}">
                <a16:creationId xmlns:a16="http://schemas.microsoft.com/office/drawing/2014/main" id="{A7039114-C486-A87E-02EA-0CA6004BD5C3}"/>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Select model inputs</a:t>
            </a:r>
          </a:p>
        </p:txBody>
      </p:sp>
      <p:sp>
        <p:nvSpPr>
          <p:cNvPr id="43" name="Rectangle 42">
            <a:extLst>
              <a:ext uri="{FF2B5EF4-FFF2-40B4-BE49-F238E27FC236}">
                <a16:creationId xmlns:a16="http://schemas.microsoft.com/office/drawing/2014/main" id="{A634EE5B-B430-7B41-1147-30706E16463D}"/>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Simulate multiple decision options</a:t>
            </a:r>
          </a:p>
        </p:txBody>
      </p:sp>
      <p:sp>
        <p:nvSpPr>
          <p:cNvPr id="44" name="Rectangle 43">
            <a:extLst>
              <a:ext uri="{FF2B5EF4-FFF2-40B4-BE49-F238E27FC236}">
                <a16:creationId xmlns:a16="http://schemas.microsoft.com/office/drawing/2014/main" id="{1110F09B-694C-9368-F574-ED9A0BFDE5F5}"/>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Sensitivity and scenario analyses</a:t>
            </a:r>
          </a:p>
        </p:txBody>
      </p:sp>
      <p:sp>
        <p:nvSpPr>
          <p:cNvPr id="45" name="Rectangle 44">
            <a:extLst>
              <a:ext uri="{FF2B5EF4-FFF2-40B4-BE49-F238E27FC236}">
                <a16:creationId xmlns:a16="http://schemas.microsoft.com/office/drawing/2014/main" id="{B62B7F7A-B8F1-20A6-8E4A-9BC0198CBD46}"/>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Evaluate results</a:t>
            </a:r>
          </a:p>
        </p:txBody>
      </p:sp>
      <p:sp>
        <p:nvSpPr>
          <p:cNvPr id="46" name="Isosceles Triangle 45">
            <a:extLst>
              <a:ext uri="{FF2B5EF4-FFF2-40B4-BE49-F238E27FC236}">
                <a16:creationId xmlns:a16="http://schemas.microsoft.com/office/drawing/2014/main" id="{37CADBD4-772E-3F29-CCE4-CEF25AE85E92}"/>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47" name="Isosceles Triangle 46">
            <a:extLst>
              <a:ext uri="{FF2B5EF4-FFF2-40B4-BE49-F238E27FC236}">
                <a16:creationId xmlns:a16="http://schemas.microsoft.com/office/drawing/2014/main" id="{8744B4BB-2F97-CB0B-DB6E-ECE6C63E860A}"/>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48" name="Isosceles Triangle 47">
            <a:extLst>
              <a:ext uri="{FF2B5EF4-FFF2-40B4-BE49-F238E27FC236}">
                <a16:creationId xmlns:a16="http://schemas.microsoft.com/office/drawing/2014/main" id="{B2D90FC5-0B87-2B60-96CF-52D1EE4D982C}"/>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0" name="Isosceles Triangle 49">
            <a:extLst>
              <a:ext uri="{FF2B5EF4-FFF2-40B4-BE49-F238E27FC236}">
                <a16:creationId xmlns:a16="http://schemas.microsoft.com/office/drawing/2014/main" id="{81D66EFD-DBCC-2747-4ACB-F48705888417}"/>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2" name="Isosceles Triangle 51">
            <a:extLst>
              <a:ext uri="{FF2B5EF4-FFF2-40B4-BE49-F238E27FC236}">
                <a16:creationId xmlns:a16="http://schemas.microsoft.com/office/drawing/2014/main" id="{3C5BC755-2A37-A911-3DF4-621CB30C51C7}"/>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3" name="Isosceles Triangle 52">
            <a:extLst>
              <a:ext uri="{FF2B5EF4-FFF2-40B4-BE49-F238E27FC236}">
                <a16:creationId xmlns:a16="http://schemas.microsoft.com/office/drawing/2014/main" id="{DB7E9443-D77E-8299-7C6E-609EEAA1E9D7}"/>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6" name="Isosceles Triangle 55">
            <a:extLst>
              <a:ext uri="{FF2B5EF4-FFF2-40B4-BE49-F238E27FC236}">
                <a16:creationId xmlns:a16="http://schemas.microsoft.com/office/drawing/2014/main" id="{AB513E53-2A8A-18EF-4D5B-741D00D2E968}"/>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 name="Title 1">
            <a:extLst>
              <a:ext uri="{FF2B5EF4-FFF2-40B4-BE49-F238E27FC236}">
                <a16:creationId xmlns:a16="http://schemas.microsoft.com/office/drawing/2014/main" id="{D8424E66-16B4-04A5-336A-9FCABAB2055D}"/>
              </a:ext>
            </a:extLst>
          </p:cNvPr>
          <p:cNvSpPr>
            <a:spLocks noGrp="1"/>
          </p:cNvSpPr>
          <p:nvPr>
            <p:ph type="title"/>
          </p:nvPr>
        </p:nvSpPr>
        <p:spPr/>
        <p:txBody>
          <a:bodyPr/>
          <a:lstStyle/>
          <a:p>
            <a:r>
              <a:rPr lang="en-US" dirty="0"/>
              <a:t>Step⑤ Selecting Model Inputs (Example)</a:t>
            </a:r>
            <a:endParaRPr lang="en-US" noProof="0" dirty="0"/>
          </a:p>
        </p:txBody>
      </p:sp>
      <p:sp>
        <p:nvSpPr>
          <p:cNvPr id="4" name="Slide Number Placeholder 3">
            <a:extLst>
              <a:ext uri="{FF2B5EF4-FFF2-40B4-BE49-F238E27FC236}">
                <a16:creationId xmlns:a16="http://schemas.microsoft.com/office/drawing/2014/main" id="{F26F1B6E-6195-021B-1121-6E9B2C6F1C43}"/>
              </a:ext>
            </a:extLst>
          </p:cNvPr>
          <p:cNvSpPr>
            <a:spLocks noGrp="1"/>
          </p:cNvSpPr>
          <p:nvPr>
            <p:ph type="sldNum" sz="quarter" idx="4"/>
          </p:nvPr>
        </p:nvSpPr>
        <p:spPr/>
        <p:txBody>
          <a:bodyPr/>
          <a:lstStyle/>
          <a:p>
            <a:fld id="{B5CEABB6-07DC-46E8-9B57-56EC44A396E5}" type="slidenum">
              <a:rPr lang="en-US" noProof="0" smtClean="0"/>
              <a:pPr/>
              <a:t>22</a:t>
            </a:fld>
            <a:endParaRPr lang="en-US" noProof="0" dirty="0"/>
          </a:p>
        </p:txBody>
      </p:sp>
      <p:sp>
        <p:nvSpPr>
          <p:cNvPr id="5" name="Table Placeholder 4">
            <a:extLst>
              <a:ext uri="{FF2B5EF4-FFF2-40B4-BE49-F238E27FC236}">
                <a16:creationId xmlns:a16="http://schemas.microsoft.com/office/drawing/2014/main" id="{F75DA625-A419-3E58-7A2B-1724567D2C10}"/>
              </a:ext>
            </a:extLst>
          </p:cNvPr>
          <p:cNvSpPr>
            <a:spLocks noGrp="1"/>
          </p:cNvSpPr>
          <p:nvPr>
            <p:ph type="tbl" sz="quarter" idx="11"/>
          </p:nvPr>
        </p:nvSpPr>
        <p:spPr/>
        <p:txBody>
          <a:bodyPr/>
          <a:lstStyle/>
          <a:p>
            <a:r>
              <a:rPr lang="en-US" noProof="0" dirty="0"/>
              <a:t>Identify numerical values for structured relationships and outcome measures from existing evidence.</a:t>
            </a:r>
          </a:p>
        </p:txBody>
      </p:sp>
      <p:sp>
        <p:nvSpPr>
          <p:cNvPr id="49" name="Rectangle 48">
            <a:extLst>
              <a:ext uri="{FF2B5EF4-FFF2-40B4-BE49-F238E27FC236}">
                <a16:creationId xmlns:a16="http://schemas.microsoft.com/office/drawing/2014/main" id="{415B9C5E-B963-A633-016A-1F48F9D0994C}"/>
              </a:ext>
            </a:extLst>
          </p:cNvPr>
          <p:cNvSpPr/>
          <p:nvPr/>
        </p:nvSpPr>
        <p:spPr>
          <a:xfrm>
            <a:off x="4694922" y="1938130"/>
            <a:ext cx="120917" cy="4692045"/>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1" name="Table Placeholder 2">
            <a:extLst>
              <a:ext uri="{FF2B5EF4-FFF2-40B4-BE49-F238E27FC236}">
                <a16:creationId xmlns:a16="http://schemas.microsoft.com/office/drawing/2014/main" id="{E65511AA-1B1D-D67A-D004-7B9FAE2D3EAA}"/>
              </a:ext>
            </a:extLst>
          </p:cNvPr>
          <p:cNvSpPr txBox="1">
            <a:spLocks/>
          </p:cNvSpPr>
          <p:nvPr/>
        </p:nvSpPr>
        <p:spPr>
          <a:xfrm>
            <a:off x="4907279" y="1938130"/>
            <a:ext cx="6817581" cy="4692045"/>
          </a:xfrm>
          <a:prstGeom prst="rect">
            <a:avLst/>
          </a:prstGeom>
        </p:spPr>
        <p:txBody>
          <a:bodyPr vert="horz" lIns="0" tIns="0" rIns="0" bIns="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000" noProof="0" dirty="0">
                <a:latin typeface="Arial" panose="020B0604020202020204" pitchFamily="34" charset="0"/>
                <a:cs typeface="Arial" panose="020B0604020202020204" pitchFamily="34" charset="0"/>
              </a:rPr>
              <a:t>Example: Syphilis </a:t>
            </a:r>
            <a:r>
              <a:rPr lang="fr-FR" sz="2000" noProof="0" dirty="0" err="1">
                <a:latin typeface="Arial" panose="020B0604020202020204" pitchFamily="34" charset="0"/>
                <a:cs typeface="Arial" panose="020B0604020202020204" pitchFamily="34" charset="0"/>
              </a:rPr>
              <a:t>disease</a:t>
            </a:r>
            <a:r>
              <a:rPr lang="fr-FR" sz="2000" noProof="0" dirty="0">
                <a:latin typeface="Arial" panose="020B0604020202020204" pitchFamily="34" charset="0"/>
                <a:cs typeface="Arial" panose="020B0604020202020204" pitchFamily="34" charset="0"/>
              </a:rPr>
              <a:t> progression (Lee et al. 2023)</a:t>
            </a:r>
            <a:endParaRPr lang="en-US" sz="1800" noProof="0" dirty="0">
              <a:latin typeface="Arial" panose="020B0604020202020204" pitchFamily="34" charset="0"/>
              <a:cs typeface="Arial" panose="020B0604020202020204" pitchFamily="34" charset="0"/>
            </a:endParaRPr>
          </a:p>
          <a:p>
            <a:pPr marL="0" indent="0">
              <a:buFont typeface="Arial" panose="020B0604020202020204" pitchFamily="34" charset="0"/>
              <a:buNone/>
            </a:pPr>
            <a:endParaRPr lang="en-US" sz="2000" noProof="0" dirty="0">
              <a:latin typeface="Arial" panose="020B0604020202020204" pitchFamily="34" charset="0"/>
              <a:cs typeface="Arial" panose="020B0604020202020204" pitchFamily="34" charset="0"/>
            </a:endParaRPr>
          </a:p>
          <a:p>
            <a:pPr marL="0" indent="0">
              <a:buFont typeface="Arial" panose="020B0604020202020204" pitchFamily="34" charset="0"/>
              <a:buNone/>
            </a:pPr>
            <a:endParaRPr lang="en-US" sz="2000" noProof="0" dirty="0">
              <a:latin typeface="Arial" panose="020B0604020202020204" pitchFamily="34" charset="0"/>
              <a:cs typeface="Arial" panose="020B0604020202020204" pitchFamily="34" charset="0"/>
            </a:endParaRPr>
          </a:p>
          <a:p>
            <a:pPr marL="0" indent="0">
              <a:buFont typeface="Arial" panose="020B0604020202020204" pitchFamily="34" charset="0"/>
              <a:buNone/>
            </a:pPr>
            <a:endParaRPr lang="en-US" sz="2000" noProof="0" dirty="0">
              <a:latin typeface="Arial" panose="020B0604020202020204" pitchFamily="34" charset="0"/>
              <a:cs typeface="Arial" panose="020B0604020202020204" pitchFamily="34" charset="0"/>
            </a:endParaRPr>
          </a:p>
          <a:p>
            <a:pPr marL="0" indent="0">
              <a:buFont typeface="Arial" panose="020B0604020202020204" pitchFamily="34" charset="0"/>
              <a:buNone/>
            </a:pPr>
            <a:endParaRPr lang="en-US" sz="2000" noProof="0" dirty="0">
              <a:latin typeface="Arial" panose="020B0604020202020204" pitchFamily="34" charset="0"/>
              <a:cs typeface="Arial" panose="020B0604020202020204" pitchFamily="34" charset="0"/>
            </a:endParaRPr>
          </a:p>
          <a:p>
            <a:pPr marL="0" indent="0">
              <a:buFont typeface="Arial" panose="020B0604020202020204" pitchFamily="34" charset="0"/>
              <a:buNone/>
            </a:pPr>
            <a:endParaRPr lang="en-US" sz="2000" noProof="0" dirty="0">
              <a:latin typeface="Arial" panose="020B0604020202020204" pitchFamily="34" charset="0"/>
              <a:cs typeface="Arial" panose="020B0604020202020204" pitchFamily="34" charset="0"/>
            </a:endParaRPr>
          </a:p>
        </p:txBody>
      </p:sp>
      <p:cxnSp>
        <p:nvCxnSpPr>
          <p:cNvPr id="34" name="Straight Connector 33">
            <a:extLst>
              <a:ext uri="{FF2B5EF4-FFF2-40B4-BE49-F238E27FC236}">
                <a16:creationId xmlns:a16="http://schemas.microsoft.com/office/drawing/2014/main" id="{4B57E64F-E09C-2801-4DAD-F085E5193B48}"/>
              </a:ext>
            </a:extLst>
          </p:cNvPr>
          <p:cNvCxnSpPr>
            <a:cxnSpLocks/>
            <a:stCxn id="42" idx="3"/>
            <a:endCxn id="49" idx="1"/>
          </p:cNvCxnSpPr>
          <p:nvPr/>
        </p:nvCxnSpPr>
        <p:spPr>
          <a:xfrm flipV="1">
            <a:off x="3989294" y="4284153"/>
            <a:ext cx="705628" cy="303259"/>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aphicFrame>
        <p:nvGraphicFramePr>
          <p:cNvPr id="54" name="Table 53">
            <a:extLst>
              <a:ext uri="{FF2B5EF4-FFF2-40B4-BE49-F238E27FC236}">
                <a16:creationId xmlns:a16="http://schemas.microsoft.com/office/drawing/2014/main" id="{30D56CE1-4A44-FFFC-DDCD-736E06260062}"/>
              </a:ext>
            </a:extLst>
          </p:cNvPr>
          <p:cNvGraphicFramePr>
            <a:graphicFrameLocks noGrp="1"/>
          </p:cNvGraphicFramePr>
          <p:nvPr>
            <p:extLst>
              <p:ext uri="{D42A27DB-BD31-4B8C-83A1-F6EECF244321}">
                <p14:modId xmlns:p14="http://schemas.microsoft.com/office/powerpoint/2010/main" val="3289607380"/>
              </p:ext>
            </p:extLst>
          </p:nvPr>
        </p:nvGraphicFramePr>
        <p:xfrm>
          <a:off x="4907278" y="2341371"/>
          <a:ext cx="6817582" cy="3505200"/>
        </p:xfrm>
        <a:graphic>
          <a:graphicData uri="http://schemas.openxmlformats.org/drawingml/2006/table">
            <a:tbl>
              <a:tblPr firstRow="1" bandRow="1">
                <a:tableStyleId>{74C1A8A3-306A-4EB7-A6B1-4F7E0EB9C5D6}</a:tableStyleId>
              </a:tblPr>
              <a:tblGrid>
                <a:gridCol w="4279252">
                  <a:extLst>
                    <a:ext uri="{9D8B030D-6E8A-4147-A177-3AD203B41FA5}">
                      <a16:colId xmlns:a16="http://schemas.microsoft.com/office/drawing/2014/main" val="456710665"/>
                    </a:ext>
                  </a:extLst>
                </a:gridCol>
                <a:gridCol w="956930">
                  <a:extLst>
                    <a:ext uri="{9D8B030D-6E8A-4147-A177-3AD203B41FA5}">
                      <a16:colId xmlns:a16="http://schemas.microsoft.com/office/drawing/2014/main" val="1417184752"/>
                    </a:ext>
                  </a:extLst>
                </a:gridCol>
                <a:gridCol w="1581400">
                  <a:extLst>
                    <a:ext uri="{9D8B030D-6E8A-4147-A177-3AD203B41FA5}">
                      <a16:colId xmlns:a16="http://schemas.microsoft.com/office/drawing/2014/main" val="2581339851"/>
                    </a:ext>
                  </a:extLst>
                </a:gridCol>
              </a:tblGrid>
              <a:tr h="370840">
                <a:tc>
                  <a:txBody>
                    <a:bodyPr/>
                    <a:lstStyle/>
                    <a:p>
                      <a:r>
                        <a:rPr lang="en-US" noProof="0" dirty="0">
                          <a:latin typeface="Arial" panose="020B0604020202020204" pitchFamily="34" charset="0"/>
                          <a:ea typeface="Meiryo" panose="020B0604030504040204" pitchFamily="34" charset="-128"/>
                          <a:cs typeface="Arial" panose="020B0604020202020204" pitchFamily="34" charset="0"/>
                        </a:rPr>
                        <a:t>Parameter</a:t>
                      </a:r>
                    </a:p>
                  </a:txBody>
                  <a:tcPr marL="45720" marR="45720">
                    <a:solidFill>
                      <a:srgbClr val="0070C0"/>
                    </a:solidFill>
                  </a:tcPr>
                </a:tc>
                <a:tc>
                  <a:txBody>
                    <a:bodyPr/>
                    <a:lstStyle/>
                    <a:p>
                      <a:pPr algn="r"/>
                      <a:r>
                        <a:rPr lang="en-US" noProof="0" dirty="0">
                          <a:latin typeface="Arial" panose="020B0604020202020204" pitchFamily="34" charset="0"/>
                          <a:ea typeface="Meiryo" panose="020B0604030504040204" pitchFamily="34" charset="-128"/>
                          <a:cs typeface="Arial" panose="020B0604020202020204" pitchFamily="34" charset="0"/>
                        </a:rPr>
                        <a:t>Value</a:t>
                      </a:r>
                    </a:p>
                  </a:txBody>
                  <a:tcPr marL="45720" marR="45720">
                    <a:solidFill>
                      <a:srgbClr val="0070C0"/>
                    </a:solidFill>
                  </a:tcPr>
                </a:tc>
                <a:tc>
                  <a:txBody>
                    <a:bodyPr/>
                    <a:lstStyle/>
                    <a:p>
                      <a:pPr algn="r"/>
                      <a:r>
                        <a:rPr lang="en-US" noProof="0" dirty="0">
                          <a:latin typeface="Arial" panose="020B0604020202020204" pitchFamily="34" charset="0"/>
                          <a:ea typeface="Meiryo" panose="020B0604030504040204" pitchFamily="34" charset="-128"/>
                          <a:cs typeface="Arial" panose="020B0604020202020204" pitchFamily="34" charset="0"/>
                        </a:rPr>
                        <a:t>[Confidence Interval]</a:t>
                      </a:r>
                    </a:p>
                  </a:txBody>
                  <a:tcPr marL="45720" marR="45720">
                    <a:solidFill>
                      <a:srgbClr val="0070C0"/>
                    </a:solidFill>
                  </a:tcPr>
                </a:tc>
                <a:extLst>
                  <a:ext uri="{0D108BD9-81ED-4DB2-BD59-A6C34878D82A}">
                    <a16:rowId xmlns:a16="http://schemas.microsoft.com/office/drawing/2014/main" val="2646646344"/>
                  </a:ext>
                </a:extLst>
              </a:tr>
              <a:tr h="370840">
                <a:tc>
                  <a:txBody>
                    <a:bodyPr/>
                    <a:lstStyle/>
                    <a:p>
                      <a:r>
                        <a:rPr lang="en-US" noProof="0" dirty="0">
                          <a:latin typeface="Arial" panose="020B0604020202020204" pitchFamily="34" charset="0"/>
                          <a:ea typeface="Meiryo" panose="020B0604030504040204" pitchFamily="34" charset="-128"/>
                          <a:cs typeface="Arial" panose="020B0604020202020204" pitchFamily="34" charset="0"/>
                        </a:rPr>
                        <a:t>Duration of primary stage (months)</a:t>
                      </a:r>
                    </a:p>
                  </a:txBody>
                  <a:tcPr marL="45720" marR="45720"/>
                </a:tc>
                <a:tc>
                  <a:txBody>
                    <a:bodyPr/>
                    <a:lstStyle/>
                    <a:p>
                      <a:pPr algn="r"/>
                      <a:r>
                        <a:rPr lang="en-US" noProof="0" dirty="0">
                          <a:latin typeface="Arial" panose="020B0604020202020204" pitchFamily="34" charset="0"/>
                          <a:ea typeface="Meiryo" panose="020B0604030504040204" pitchFamily="34" charset="-128"/>
                          <a:cs typeface="Arial" panose="020B0604020202020204" pitchFamily="34" charset="0"/>
                        </a:rPr>
                        <a:t>0.7　</a:t>
                      </a:r>
                    </a:p>
                  </a:txBody>
                  <a:tcPr marL="45720" marR="45720"/>
                </a:tc>
                <a:tc>
                  <a:txBody>
                    <a:bodyPr/>
                    <a:lstStyle/>
                    <a:p>
                      <a:pPr algn="r"/>
                      <a:r>
                        <a:rPr lang="en-US" noProof="0" dirty="0">
                          <a:latin typeface="Arial" panose="020B0604020202020204" pitchFamily="34" charset="0"/>
                          <a:ea typeface="Meiryo" panose="020B0604030504040204" pitchFamily="34" charset="-128"/>
                          <a:cs typeface="Arial" panose="020B0604020202020204" pitchFamily="34" charset="0"/>
                        </a:rPr>
                        <a:t>[0.25-1.96]</a:t>
                      </a:r>
                    </a:p>
                  </a:txBody>
                  <a:tcPr marL="45720" marR="45720"/>
                </a:tc>
                <a:extLst>
                  <a:ext uri="{0D108BD9-81ED-4DB2-BD59-A6C34878D82A}">
                    <a16:rowId xmlns:a16="http://schemas.microsoft.com/office/drawing/2014/main" val="2051302043"/>
                  </a:ext>
                </a:extLst>
              </a:tr>
              <a:tr h="370840">
                <a:tc>
                  <a:txBody>
                    <a:bodyPr/>
                    <a:lstStyle/>
                    <a:p>
                      <a:r>
                        <a:rPr lang="en-US" noProof="0" dirty="0">
                          <a:latin typeface="Arial" panose="020B0604020202020204" pitchFamily="34" charset="0"/>
                          <a:ea typeface="Meiryo" panose="020B0604030504040204" pitchFamily="34" charset="-128"/>
                          <a:cs typeface="Arial" panose="020B0604020202020204" pitchFamily="34" charset="0"/>
                        </a:rPr>
                        <a:t>Duration of secondary stage (months)</a:t>
                      </a:r>
                    </a:p>
                  </a:txBody>
                  <a:tcPr marL="45720" marR="45720"/>
                </a:tc>
                <a:tc>
                  <a:txBody>
                    <a:bodyPr/>
                    <a:lstStyle/>
                    <a:p>
                      <a:pPr algn="r"/>
                      <a:r>
                        <a:rPr lang="en-US" noProof="0" dirty="0">
                          <a:latin typeface="Arial" panose="020B0604020202020204" pitchFamily="34" charset="0"/>
                          <a:ea typeface="Meiryo" panose="020B0604030504040204" pitchFamily="34" charset="-128"/>
                          <a:cs typeface="Arial" panose="020B0604020202020204" pitchFamily="34" charset="0"/>
                        </a:rPr>
                        <a:t>3.6　</a:t>
                      </a:r>
                    </a:p>
                  </a:txBody>
                  <a:tcPr marL="45720" marR="45720"/>
                </a:tc>
                <a:tc>
                  <a:txBody>
                    <a:bodyPr/>
                    <a:lstStyle/>
                    <a:p>
                      <a:pPr algn="r"/>
                      <a:r>
                        <a:rPr lang="en-US" noProof="0" dirty="0">
                          <a:latin typeface="Arial" panose="020B0604020202020204" pitchFamily="34" charset="0"/>
                          <a:ea typeface="Meiryo" panose="020B0604030504040204" pitchFamily="34" charset="-128"/>
                          <a:cs typeface="Arial" panose="020B0604020202020204" pitchFamily="34" charset="0"/>
                        </a:rPr>
                        <a:t>[2.16-5.99]</a:t>
                      </a:r>
                    </a:p>
                  </a:txBody>
                  <a:tcPr marL="45720" marR="45720"/>
                </a:tc>
                <a:extLst>
                  <a:ext uri="{0D108BD9-81ED-4DB2-BD59-A6C34878D82A}">
                    <a16:rowId xmlns:a16="http://schemas.microsoft.com/office/drawing/2014/main" val="2239220428"/>
                  </a:ext>
                </a:extLst>
              </a:tr>
              <a:tr h="370840">
                <a:tc>
                  <a:txBody>
                    <a:bodyPr/>
                    <a:lstStyle/>
                    <a:p>
                      <a:r>
                        <a:rPr lang="en-US" noProof="0" dirty="0">
                          <a:latin typeface="Arial" panose="020B0604020202020204" pitchFamily="34" charset="0"/>
                          <a:ea typeface="Meiryo" panose="020B0604030504040204" pitchFamily="34" charset="-128"/>
                          <a:cs typeface="Arial" panose="020B0604020202020204" pitchFamily="34" charset="0"/>
                        </a:rPr>
                        <a:t>Monthly probability of recovery from neurosyphilis after treatment</a:t>
                      </a:r>
                    </a:p>
                  </a:txBody>
                  <a:tcPr marL="45720" marR="45720"/>
                </a:tc>
                <a:tc>
                  <a:txBody>
                    <a:bodyPr/>
                    <a:lstStyle/>
                    <a:p>
                      <a:pPr algn="r"/>
                      <a:r>
                        <a:rPr lang="en-US" noProof="0" dirty="0">
                          <a:latin typeface="Arial" panose="020B0604020202020204" pitchFamily="34" charset="0"/>
                          <a:ea typeface="Meiryo" panose="020B0604030504040204" pitchFamily="34" charset="-128"/>
                          <a:cs typeface="Arial" panose="020B0604020202020204" pitchFamily="34" charset="0"/>
                        </a:rPr>
                        <a:t>0.18　</a:t>
                      </a:r>
                    </a:p>
                  </a:txBody>
                  <a:tcPr marL="45720" marR="45720"/>
                </a:tc>
                <a:tc>
                  <a:txBody>
                    <a:bodyPr/>
                    <a:lstStyle/>
                    <a:p>
                      <a:pPr algn="r"/>
                      <a:r>
                        <a:rPr lang="en-US" noProof="0" dirty="0">
                          <a:latin typeface="Arial" panose="020B0604020202020204" pitchFamily="34" charset="0"/>
                          <a:ea typeface="Meiryo" panose="020B0604030504040204" pitchFamily="34" charset="-128"/>
                          <a:cs typeface="Arial" panose="020B0604020202020204" pitchFamily="34" charset="0"/>
                        </a:rPr>
                        <a:t>[0.12–0.28]</a:t>
                      </a:r>
                    </a:p>
                  </a:txBody>
                  <a:tcPr marL="45720" marR="45720"/>
                </a:tc>
                <a:extLst>
                  <a:ext uri="{0D108BD9-81ED-4DB2-BD59-A6C34878D82A}">
                    <a16:rowId xmlns:a16="http://schemas.microsoft.com/office/drawing/2014/main" val="3976100734"/>
                  </a:ext>
                </a:extLst>
              </a:tr>
              <a:tr h="370840">
                <a:tc>
                  <a:txBody>
                    <a:bodyPr/>
                    <a:lstStyle/>
                    <a:p>
                      <a:r>
                        <a:rPr lang="en-US" noProof="0" dirty="0">
                          <a:latin typeface="Arial" panose="020B0604020202020204" pitchFamily="34" charset="0"/>
                          <a:ea typeface="Meiryo" panose="020B0604030504040204" pitchFamily="34" charset="-128"/>
                          <a:cs typeface="Arial" panose="020B0604020202020204" pitchFamily="34" charset="0"/>
                        </a:rPr>
                        <a:t>Monthly probability of treatment failure</a:t>
                      </a:r>
                    </a:p>
                  </a:txBody>
                  <a:tcPr marL="45720" marR="45720"/>
                </a:tc>
                <a:tc>
                  <a:txBody>
                    <a:bodyPr/>
                    <a:lstStyle/>
                    <a:p>
                      <a:pPr algn="r"/>
                      <a:r>
                        <a:rPr lang="en-US" noProof="0" dirty="0">
                          <a:latin typeface="Arial" panose="020B0604020202020204" pitchFamily="34" charset="0"/>
                          <a:ea typeface="Meiryo" panose="020B0604030504040204" pitchFamily="34" charset="-128"/>
                          <a:cs typeface="Arial" panose="020B0604020202020204" pitchFamily="34" charset="0"/>
                        </a:rPr>
                        <a:t>0.05　</a:t>
                      </a:r>
                    </a:p>
                  </a:txBody>
                  <a:tcPr marL="45720" marR="45720"/>
                </a:tc>
                <a:tc>
                  <a:txBody>
                    <a:bodyPr/>
                    <a:lstStyle/>
                    <a:p>
                      <a:pPr algn="r"/>
                      <a:r>
                        <a:rPr lang="en-US" noProof="0" dirty="0">
                          <a:latin typeface="Arial" panose="020B0604020202020204" pitchFamily="34" charset="0"/>
                          <a:ea typeface="Meiryo" panose="020B0604030504040204" pitchFamily="34" charset="-128"/>
                          <a:cs typeface="Arial" panose="020B0604020202020204" pitchFamily="34" charset="0"/>
                        </a:rPr>
                        <a:t>[0–0.1]</a:t>
                      </a:r>
                    </a:p>
                  </a:txBody>
                  <a:tcPr marL="45720" marR="45720"/>
                </a:tc>
                <a:extLst>
                  <a:ext uri="{0D108BD9-81ED-4DB2-BD59-A6C34878D82A}">
                    <a16:rowId xmlns:a16="http://schemas.microsoft.com/office/drawing/2014/main" val="207159734"/>
                  </a:ext>
                </a:extLst>
              </a:tr>
              <a:tr h="370840">
                <a:tc>
                  <a:txBody>
                    <a:bodyPr/>
                    <a:lstStyle/>
                    <a:p>
                      <a:r>
                        <a:rPr lang="en-US" noProof="0" dirty="0">
                          <a:latin typeface="Arial" panose="020B0604020202020204" pitchFamily="34" charset="0"/>
                          <a:ea typeface="Meiryo" panose="020B0604030504040204" pitchFamily="34" charset="-128"/>
                          <a:cs typeface="Arial" panose="020B0604020202020204" pitchFamily="34" charset="0"/>
                        </a:rPr>
                        <a:t>Utility decrement during primary stage</a:t>
                      </a:r>
                    </a:p>
                  </a:txBody>
                  <a:tcPr marL="45720" marR="45720" anchor="b"/>
                </a:tc>
                <a:tc>
                  <a:txBody>
                    <a:bodyPr/>
                    <a:lstStyle/>
                    <a:p>
                      <a:pPr algn="r"/>
                      <a:r>
                        <a:rPr lang="en-US" noProof="0" dirty="0">
                          <a:latin typeface="Arial" panose="020B0604020202020204" pitchFamily="34" charset="0"/>
                          <a:ea typeface="Meiryo" panose="020B0604030504040204" pitchFamily="34" charset="-128"/>
                          <a:cs typeface="Arial" panose="020B0604020202020204" pitchFamily="34" charset="0"/>
                        </a:rPr>
                        <a:t>-.006　</a:t>
                      </a:r>
                    </a:p>
                  </a:txBody>
                  <a:tcPr marL="45720" marR="45720"/>
                </a:tc>
                <a:tc>
                  <a:txBody>
                    <a:bodyPr/>
                    <a:lstStyle/>
                    <a:p>
                      <a:pPr algn="r"/>
                      <a:r>
                        <a:rPr lang="en-US" noProof="0" dirty="0">
                          <a:latin typeface="Arial" panose="020B0604020202020204" pitchFamily="34" charset="0"/>
                          <a:ea typeface="Meiryo" panose="020B0604030504040204" pitchFamily="34" charset="-128"/>
                          <a:cs typeface="Arial" panose="020B0604020202020204" pitchFamily="34" charset="0"/>
                        </a:rPr>
                        <a:t>[-.004– -.01]</a:t>
                      </a:r>
                    </a:p>
                  </a:txBody>
                  <a:tcPr marL="45720" marR="45720"/>
                </a:tc>
                <a:extLst>
                  <a:ext uri="{0D108BD9-81ED-4DB2-BD59-A6C34878D82A}">
                    <a16:rowId xmlns:a16="http://schemas.microsoft.com/office/drawing/2014/main" val="3364810176"/>
                  </a:ext>
                </a:extLst>
              </a:tr>
              <a:tr h="370840">
                <a:tc>
                  <a:txBody>
                    <a:bodyPr/>
                    <a:lstStyle/>
                    <a:p>
                      <a:r>
                        <a:rPr lang="en-US" noProof="0" dirty="0">
                          <a:latin typeface="Arial" panose="020B0604020202020204" pitchFamily="34" charset="0"/>
                          <a:ea typeface="Meiryo" panose="020B0604030504040204" pitchFamily="34" charset="-128"/>
                          <a:cs typeface="Arial" panose="020B0604020202020204" pitchFamily="34" charset="0"/>
                        </a:rPr>
                        <a:t>…</a:t>
                      </a:r>
                    </a:p>
                  </a:txBody>
                  <a:tcPr marL="45720" marR="45720" anchor="b"/>
                </a:tc>
                <a:tc>
                  <a:txBody>
                    <a:bodyPr/>
                    <a:lstStyle/>
                    <a:p>
                      <a:endParaRPr lang="en-US" noProof="0" dirty="0">
                        <a:latin typeface="Arial" panose="020B0604020202020204" pitchFamily="34" charset="0"/>
                        <a:ea typeface="Meiryo" panose="020B0604030504040204" pitchFamily="34" charset="-128"/>
                        <a:cs typeface="Arial" panose="020B0604020202020204" pitchFamily="34" charset="0"/>
                      </a:endParaRPr>
                    </a:p>
                  </a:txBody>
                  <a:tcPr marL="45720" marR="45720"/>
                </a:tc>
                <a:tc>
                  <a:txBody>
                    <a:bodyPr/>
                    <a:lstStyle/>
                    <a:p>
                      <a:endParaRPr lang="en-US" noProof="0" dirty="0">
                        <a:latin typeface="Arial" panose="020B0604020202020204" pitchFamily="34" charset="0"/>
                        <a:ea typeface="Meiryo" panose="020B0604030504040204" pitchFamily="34" charset="-128"/>
                        <a:cs typeface="Arial" panose="020B0604020202020204" pitchFamily="34" charset="0"/>
                      </a:endParaRPr>
                    </a:p>
                  </a:txBody>
                  <a:tcPr marL="45720" marR="45720"/>
                </a:tc>
                <a:extLst>
                  <a:ext uri="{0D108BD9-81ED-4DB2-BD59-A6C34878D82A}">
                    <a16:rowId xmlns:a16="http://schemas.microsoft.com/office/drawing/2014/main" val="3785174442"/>
                  </a:ext>
                </a:extLst>
              </a:tr>
              <a:tr h="370840">
                <a:tc>
                  <a:txBody>
                    <a:bodyPr/>
                    <a:lstStyle/>
                    <a:p>
                      <a:r>
                        <a:rPr lang="en-US" noProof="0" dirty="0" err="1">
                          <a:latin typeface="Arial" panose="020B0604020202020204" pitchFamily="34" charset="0"/>
                          <a:ea typeface="Meiryo" panose="020B0604030504040204" pitchFamily="34" charset="-128"/>
                          <a:cs typeface="Arial" panose="020B0604020202020204" pitchFamily="34" charset="0"/>
                        </a:rPr>
                        <a:t>etc</a:t>
                      </a:r>
                      <a:endParaRPr lang="en-US" noProof="0" dirty="0">
                        <a:latin typeface="Arial" panose="020B0604020202020204" pitchFamily="34" charset="0"/>
                        <a:ea typeface="Meiryo" panose="020B0604030504040204" pitchFamily="34" charset="-128"/>
                        <a:cs typeface="Arial" panose="020B0604020202020204" pitchFamily="34" charset="0"/>
                      </a:endParaRPr>
                    </a:p>
                  </a:txBody>
                  <a:tcPr marL="45720" marR="45720" anchor="b"/>
                </a:tc>
                <a:tc>
                  <a:txBody>
                    <a:bodyPr/>
                    <a:lstStyle/>
                    <a:p>
                      <a:endParaRPr lang="en-US" noProof="0" dirty="0">
                        <a:latin typeface="Arial" panose="020B0604020202020204" pitchFamily="34" charset="0"/>
                        <a:ea typeface="Meiryo" panose="020B0604030504040204" pitchFamily="34" charset="-128"/>
                        <a:cs typeface="Arial" panose="020B0604020202020204" pitchFamily="34" charset="0"/>
                      </a:endParaRPr>
                    </a:p>
                  </a:txBody>
                  <a:tcPr marL="45720" marR="45720"/>
                </a:tc>
                <a:tc>
                  <a:txBody>
                    <a:bodyPr/>
                    <a:lstStyle/>
                    <a:p>
                      <a:endParaRPr lang="en-US" noProof="0" dirty="0">
                        <a:latin typeface="Arial" panose="020B0604020202020204" pitchFamily="34" charset="0"/>
                        <a:ea typeface="Meiryo" panose="020B0604030504040204" pitchFamily="34" charset="-128"/>
                        <a:cs typeface="Arial" panose="020B0604020202020204" pitchFamily="34" charset="0"/>
                      </a:endParaRPr>
                    </a:p>
                  </a:txBody>
                  <a:tcPr marL="45720" marR="45720"/>
                </a:tc>
                <a:extLst>
                  <a:ext uri="{0D108BD9-81ED-4DB2-BD59-A6C34878D82A}">
                    <a16:rowId xmlns:a16="http://schemas.microsoft.com/office/drawing/2014/main" val="2719757609"/>
                  </a:ext>
                </a:extLst>
              </a:tr>
            </a:tbl>
          </a:graphicData>
        </a:graphic>
      </p:graphicFrame>
      <p:sp>
        <p:nvSpPr>
          <p:cNvPr id="55" name="TextBox 54">
            <a:extLst>
              <a:ext uri="{FF2B5EF4-FFF2-40B4-BE49-F238E27FC236}">
                <a16:creationId xmlns:a16="http://schemas.microsoft.com/office/drawing/2014/main" id="{A1CD1679-3BE8-39A3-7B47-A555142075D0}"/>
              </a:ext>
            </a:extLst>
          </p:cNvPr>
          <p:cNvSpPr txBox="1"/>
          <p:nvPr/>
        </p:nvSpPr>
        <p:spPr>
          <a:xfrm>
            <a:off x="4945378" y="6469597"/>
            <a:ext cx="7039358" cy="369332"/>
          </a:xfrm>
          <a:prstGeom prst="rect">
            <a:avLst/>
          </a:prstGeom>
          <a:solidFill>
            <a:schemeClr val="bg1"/>
          </a:solidFill>
        </p:spPr>
        <p:txBody>
          <a:bodyPr wrap="square" lIns="0" tIns="0" rIns="0" bIns="0">
            <a:spAutoFit/>
          </a:bodyPr>
          <a:lstStyle/>
          <a:p>
            <a:r>
              <a:rPr lang="en-US" sz="1200" noProof="0" dirty="0">
                <a:latin typeface="Arial" panose="020B0604020202020204" pitchFamily="34" charset="0"/>
                <a:ea typeface="Meiryo UI" panose="020B0604030504040204" pitchFamily="50" charset="-128"/>
                <a:cs typeface="Arial" panose="020B0604020202020204" pitchFamily="34" charset="0"/>
              </a:rPr>
              <a:t>Lee K et al. Estimation of the Lifetime Quality-Adjusted Life Years (QALYs) Lost Due to Syphilis Acquired in the United States in 2018. CID. 2023;76(3):e810-e819. doi:10.1093/</a:t>
            </a:r>
            <a:r>
              <a:rPr lang="en-US" sz="1200" noProof="0" dirty="0" err="1">
                <a:latin typeface="Arial" panose="020B0604020202020204" pitchFamily="34" charset="0"/>
                <a:ea typeface="Meiryo UI" panose="020B0604030504040204" pitchFamily="50" charset="-128"/>
                <a:cs typeface="Arial" panose="020B0604020202020204" pitchFamily="34" charset="0"/>
              </a:rPr>
              <a:t>cid</a:t>
            </a:r>
            <a:r>
              <a:rPr lang="en-US" sz="1200" noProof="0" dirty="0">
                <a:latin typeface="Arial" panose="020B0604020202020204" pitchFamily="34" charset="0"/>
                <a:ea typeface="Meiryo UI" panose="020B0604030504040204" pitchFamily="50" charset="-128"/>
                <a:cs typeface="Arial" panose="020B0604020202020204" pitchFamily="34" charset="0"/>
              </a:rPr>
              <a:t>/ciac427</a:t>
            </a:r>
          </a:p>
        </p:txBody>
      </p:sp>
      <p:sp>
        <p:nvSpPr>
          <p:cNvPr id="65" name="Oval 64">
            <a:extLst>
              <a:ext uri="{FF2B5EF4-FFF2-40B4-BE49-F238E27FC236}">
                <a16:creationId xmlns:a16="http://schemas.microsoft.com/office/drawing/2014/main" id="{66B12684-AA1F-C0A7-C1BD-AF70688D4F48}"/>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1</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66" name="Oval 65">
            <a:extLst>
              <a:ext uri="{FF2B5EF4-FFF2-40B4-BE49-F238E27FC236}">
                <a16:creationId xmlns:a16="http://schemas.microsoft.com/office/drawing/2014/main" id="{5BB5E45F-0C11-1BBB-3912-6D3FB2F29AAB}"/>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2</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67" name="Oval 66">
            <a:extLst>
              <a:ext uri="{FF2B5EF4-FFF2-40B4-BE49-F238E27FC236}">
                <a16:creationId xmlns:a16="http://schemas.microsoft.com/office/drawing/2014/main" id="{A87BEE5A-3BDC-90EE-16FB-AD0B3274F917}"/>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3</a:t>
            </a:r>
          </a:p>
        </p:txBody>
      </p:sp>
      <p:sp>
        <p:nvSpPr>
          <p:cNvPr id="68" name="Oval 67">
            <a:extLst>
              <a:ext uri="{FF2B5EF4-FFF2-40B4-BE49-F238E27FC236}">
                <a16:creationId xmlns:a16="http://schemas.microsoft.com/office/drawing/2014/main" id="{8214B341-8783-8487-380E-0CADE14A686A}"/>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4</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69" name="Oval 68">
            <a:extLst>
              <a:ext uri="{FF2B5EF4-FFF2-40B4-BE49-F238E27FC236}">
                <a16:creationId xmlns:a16="http://schemas.microsoft.com/office/drawing/2014/main" id="{BEAB0D4C-07DF-B2F6-51DA-A1BB64F18541}"/>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bg1"/>
                </a:solidFill>
                <a:latin typeface="Arial" panose="020B0604020202020204" pitchFamily="34" charset="0"/>
                <a:ea typeface="Meiryo UI" panose="020B0604030504040204" pitchFamily="50" charset="-128"/>
                <a:cs typeface="Arial" panose="020B0604020202020204" pitchFamily="34" charset="0"/>
              </a:rPr>
              <a:t>5</a:t>
            </a:r>
          </a:p>
        </p:txBody>
      </p:sp>
      <p:sp>
        <p:nvSpPr>
          <p:cNvPr id="70" name="Oval 69">
            <a:extLst>
              <a:ext uri="{FF2B5EF4-FFF2-40B4-BE49-F238E27FC236}">
                <a16:creationId xmlns:a16="http://schemas.microsoft.com/office/drawing/2014/main" id="{0BFB7204-95BB-4C23-3BDA-D514571DF03D}"/>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6</a:t>
            </a:r>
          </a:p>
        </p:txBody>
      </p:sp>
      <p:sp>
        <p:nvSpPr>
          <p:cNvPr id="71" name="Oval 70">
            <a:extLst>
              <a:ext uri="{FF2B5EF4-FFF2-40B4-BE49-F238E27FC236}">
                <a16:creationId xmlns:a16="http://schemas.microsoft.com/office/drawing/2014/main" id="{6588AFA3-07F9-A960-8CC4-1205FE2F329E}"/>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7</a:t>
            </a:r>
          </a:p>
        </p:txBody>
      </p:sp>
      <p:sp>
        <p:nvSpPr>
          <p:cNvPr id="72" name="Oval 71">
            <a:extLst>
              <a:ext uri="{FF2B5EF4-FFF2-40B4-BE49-F238E27FC236}">
                <a16:creationId xmlns:a16="http://schemas.microsoft.com/office/drawing/2014/main" id="{B72B6BD3-B55B-CFB4-17A0-82AFDF2F6BBC}"/>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8</a:t>
            </a:r>
          </a:p>
        </p:txBody>
      </p:sp>
      <p:grpSp>
        <p:nvGrpSpPr>
          <p:cNvPr id="73" name="Group 72">
            <a:extLst>
              <a:ext uri="{FF2B5EF4-FFF2-40B4-BE49-F238E27FC236}">
                <a16:creationId xmlns:a16="http://schemas.microsoft.com/office/drawing/2014/main" id="{3F75BA59-40A9-4B13-F049-1B233802A22D}"/>
              </a:ext>
            </a:extLst>
          </p:cNvPr>
          <p:cNvGrpSpPr/>
          <p:nvPr/>
        </p:nvGrpSpPr>
        <p:grpSpPr>
          <a:xfrm>
            <a:off x="467139" y="108959"/>
            <a:ext cx="4197304" cy="307297"/>
            <a:chOff x="562270" y="127168"/>
            <a:chExt cx="4197304" cy="307297"/>
          </a:xfrm>
        </p:grpSpPr>
        <p:sp>
          <p:nvSpPr>
            <p:cNvPr id="74" name="Arrow: Pentagon 73">
              <a:extLst>
                <a:ext uri="{FF2B5EF4-FFF2-40B4-BE49-F238E27FC236}">
                  <a16:creationId xmlns:a16="http://schemas.microsoft.com/office/drawing/2014/main" id="{EB4262D5-8CF7-A9E3-E27C-38B3EEF66360}"/>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75" name="Arrow: Pentagon 74">
              <a:extLst>
                <a:ext uri="{FF2B5EF4-FFF2-40B4-BE49-F238E27FC236}">
                  <a16:creationId xmlns:a16="http://schemas.microsoft.com/office/drawing/2014/main" id="{277BE686-A4BA-789E-EDA1-ADBC3B974F05}"/>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76" name="Arrow: Pentagon 75">
              <a:extLst>
                <a:ext uri="{FF2B5EF4-FFF2-40B4-BE49-F238E27FC236}">
                  <a16:creationId xmlns:a16="http://schemas.microsoft.com/office/drawing/2014/main" id="{4F7F8D84-2578-8976-D7C7-175AEC9FCE48}"/>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3793233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B3AE8-6715-B93C-761D-C26C38AC6BAF}"/>
            </a:ext>
          </a:extLst>
        </p:cNvPr>
        <p:cNvGrpSpPr/>
        <p:nvPr/>
      </p:nvGrpSpPr>
      <p:grpSpPr>
        <a:xfrm>
          <a:off x="0" y="0"/>
          <a:ext cx="0" cy="0"/>
          <a:chOff x="0" y="0"/>
          <a:chExt cx="0" cy="0"/>
        </a:xfrm>
      </p:grpSpPr>
      <p:sp>
        <p:nvSpPr>
          <p:cNvPr id="63" name="Rectangle 62">
            <a:extLst>
              <a:ext uri="{FF2B5EF4-FFF2-40B4-BE49-F238E27FC236}">
                <a16:creationId xmlns:a16="http://schemas.microsoft.com/office/drawing/2014/main" id="{D94F29F4-E783-16D2-C7C5-D34EBCB2F348}"/>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Define the problem and objectives</a:t>
            </a:r>
          </a:p>
        </p:txBody>
      </p:sp>
      <p:sp>
        <p:nvSpPr>
          <p:cNvPr id="64" name="Rectangle 63">
            <a:extLst>
              <a:ext uri="{FF2B5EF4-FFF2-40B4-BE49-F238E27FC236}">
                <a16:creationId xmlns:a16="http://schemas.microsoft.com/office/drawing/2014/main" id="{560BBF72-C44C-9540-049A-409CD851AE12}"/>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Design simulation model</a:t>
            </a:r>
          </a:p>
        </p:txBody>
      </p:sp>
      <p:sp>
        <p:nvSpPr>
          <p:cNvPr id="66" name="Rectangle 65">
            <a:extLst>
              <a:ext uri="{FF2B5EF4-FFF2-40B4-BE49-F238E27FC236}">
                <a16:creationId xmlns:a16="http://schemas.microsoft.com/office/drawing/2014/main" id="{5B88C410-3CA4-F0D0-474D-5C4115DC8C87}"/>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Select simulation model</a:t>
            </a:r>
          </a:p>
        </p:txBody>
      </p:sp>
      <p:sp>
        <p:nvSpPr>
          <p:cNvPr id="67" name="Rectangle 66">
            <a:extLst>
              <a:ext uri="{FF2B5EF4-FFF2-40B4-BE49-F238E27FC236}">
                <a16:creationId xmlns:a16="http://schemas.microsoft.com/office/drawing/2014/main" id="{68B170BF-AD2D-CDEF-E514-C288B875AC2A}"/>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Define outcomes</a:t>
            </a:r>
          </a:p>
        </p:txBody>
      </p:sp>
      <p:sp>
        <p:nvSpPr>
          <p:cNvPr id="68" name="Rectangle 67">
            <a:extLst>
              <a:ext uri="{FF2B5EF4-FFF2-40B4-BE49-F238E27FC236}">
                <a16:creationId xmlns:a16="http://schemas.microsoft.com/office/drawing/2014/main" id="{22DE381C-2597-A401-BFEF-67DF13C36199}"/>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Select model inputs</a:t>
            </a:r>
          </a:p>
        </p:txBody>
      </p:sp>
      <p:sp>
        <p:nvSpPr>
          <p:cNvPr id="69" name="Rectangle 68">
            <a:extLst>
              <a:ext uri="{FF2B5EF4-FFF2-40B4-BE49-F238E27FC236}">
                <a16:creationId xmlns:a16="http://schemas.microsoft.com/office/drawing/2014/main" id="{FC8E5D7B-B726-E812-562D-C2EC4F7B624E}"/>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     Simulate multiple decision options</a:t>
            </a:r>
          </a:p>
        </p:txBody>
      </p:sp>
      <p:sp>
        <p:nvSpPr>
          <p:cNvPr id="70" name="Rectangle 69">
            <a:extLst>
              <a:ext uri="{FF2B5EF4-FFF2-40B4-BE49-F238E27FC236}">
                <a16:creationId xmlns:a16="http://schemas.microsoft.com/office/drawing/2014/main" id="{E46B3C4D-E779-1C91-0E45-6EE4C51E5977}"/>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Sensitivity and scenario analyses</a:t>
            </a:r>
          </a:p>
        </p:txBody>
      </p:sp>
      <p:sp>
        <p:nvSpPr>
          <p:cNvPr id="71" name="Rectangle 70">
            <a:extLst>
              <a:ext uri="{FF2B5EF4-FFF2-40B4-BE49-F238E27FC236}">
                <a16:creationId xmlns:a16="http://schemas.microsoft.com/office/drawing/2014/main" id="{2F0B2920-313C-CD8C-3E38-60E591301208}"/>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Evaluate results</a:t>
            </a:r>
          </a:p>
        </p:txBody>
      </p:sp>
      <p:sp>
        <p:nvSpPr>
          <p:cNvPr id="72" name="Isosceles Triangle 71">
            <a:extLst>
              <a:ext uri="{FF2B5EF4-FFF2-40B4-BE49-F238E27FC236}">
                <a16:creationId xmlns:a16="http://schemas.microsoft.com/office/drawing/2014/main" id="{9C4A4AFD-8A2F-8F4A-A240-4444A2B94EE1}"/>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73" name="Isosceles Triangle 72">
            <a:extLst>
              <a:ext uri="{FF2B5EF4-FFF2-40B4-BE49-F238E27FC236}">
                <a16:creationId xmlns:a16="http://schemas.microsoft.com/office/drawing/2014/main" id="{C63C087E-9565-555F-ABA8-C376770DAB03}"/>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74" name="Isosceles Triangle 73">
            <a:extLst>
              <a:ext uri="{FF2B5EF4-FFF2-40B4-BE49-F238E27FC236}">
                <a16:creationId xmlns:a16="http://schemas.microsoft.com/office/drawing/2014/main" id="{E98661BB-7EAB-4269-04A9-D2AF9E0F5202}"/>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75" name="Isosceles Triangle 74">
            <a:extLst>
              <a:ext uri="{FF2B5EF4-FFF2-40B4-BE49-F238E27FC236}">
                <a16:creationId xmlns:a16="http://schemas.microsoft.com/office/drawing/2014/main" id="{49DE003A-92DB-D531-6ABD-2E8BB1B0E8EB}"/>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76" name="Isosceles Triangle 75">
            <a:extLst>
              <a:ext uri="{FF2B5EF4-FFF2-40B4-BE49-F238E27FC236}">
                <a16:creationId xmlns:a16="http://schemas.microsoft.com/office/drawing/2014/main" id="{32CC93D4-077C-3B6E-4461-E736E2576506}"/>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77" name="Isosceles Triangle 76">
            <a:extLst>
              <a:ext uri="{FF2B5EF4-FFF2-40B4-BE49-F238E27FC236}">
                <a16:creationId xmlns:a16="http://schemas.microsoft.com/office/drawing/2014/main" id="{39A0EA40-EEA0-0B0E-7DE7-DE2DCAC143CA}"/>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78" name="Isosceles Triangle 77">
            <a:extLst>
              <a:ext uri="{FF2B5EF4-FFF2-40B4-BE49-F238E27FC236}">
                <a16:creationId xmlns:a16="http://schemas.microsoft.com/office/drawing/2014/main" id="{59B7068D-4F7D-77D6-13EF-DF12491DB4E0}"/>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 name="Title 1">
            <a:extLst>
              <a:ext uri="{FF2B5EF4-FFF2-40B4-BE49-F238E27FC236}">
                <a16:creationId xmlns:a16="http://schemas.microsoft.com/office/drawing/2014/main" id="{EBE24C2A-EF83-B1F0-60F7-0E31F183E6A7}"/>
              </a:ext>
            </a:extLst>
          </p:cNvPr>
          <p:cNvSpPr>
            <a:spLocks noGrp="1"/>
          </p:cNvSpPr>
          <p:nvPr>
            <p:ph type="title"/>
          </p:nvPr>
        </p:nvSpPr>
        <p:spPr/>
        <p:txBody>
          <a:bodyPr/>
          <a:lstStyle/>
          <a:p>
            <a:r>
              <a:rPr lang="en-US" noProof="0" dirty="0"/>
              <a:t>Step⑥ Simulating Multiple Decision Options</a:t>
            </a:r>
          </a:p>
        </p:txBody>
      </p:sp>
      <p:sp>
        <p:nvSpPr>
          <p:cNvPr id="4" name="Slide Number Placeholder 3">
            <a:extLst>
              <a:ext uri="{FF2B5EF4-FFF2-40B4-BE49-F238E27FC236}">
                <a16:creationId xmlns:a16="http://schemas.microsoft.com/office/drawing/2014/main" id="{471A0396-0A47-A184-4556-542CEA08B239}"/>
              </a:ext>
            </a:extLst>
          </p:cNvPr>
          <p:cNvSpPr>
            <a:spLocks noGrp="1"/>
          </p:cNvSpPr>
          <p:nvPr>
            <p:ph type="sldNum" sz="quarter" idx="4"/>
          </p:nvPr>
        </p:nvSpPr>
        <p:spPr/>
        <p:txBody>
          <a:bodyPr/>
          <a:lstStyle/>
          <a:p>
            <a:fld id="{B5CEABB6-07DC-46E8-9B57-56EC44A396E5}" type="slidenum">
              <a:rPr lang="en-US" noProof="0" smtClean="0"/>
              <a:pPr/>
              <a:t>23</a:t>
            </a:fld>
            <a:endParaRPr lang="en-US" noProof="0" dirty="0"/>
          </a:p>
        </p:txBody>
      </p:sp>
      <p:sp>
        <p:nvSpPr>
          <p:cNvPr id="5" name="Table Placeholder 4">
            <a:extLst>
              <a:ext uri="{FF2B5EF4-FFF2-40B4-BE49-F238E27FC236}">
                <a16:creationId xmlns:a16="http://schemas.microsoft.com/office/drawing/2014/main" id="{95E1A2E2-D28B-3083-23EF-707983582951}"/>
              </a:ext>
            </a:extLst>
          </p:cNvPr>
          <p:cNvSpPr>
            <a:spLocks noGrp="1"/>
          </p:cNvSpPr>
          <p:nvPr>
            <p:ph type="tbl" sz="quarter" idx="11"/>
          </p:nvPr>
        </p:nvSpPr>
        <p:spPr/>
        <p:txBody>
          <a:bodyPr/>
          <a:lstStyle/>
          <a:p>
            <a:r>
              <a:rPr lang="en-US" noProof="0" dirty="0"/>
              <a:t>Simulate each decision option within the model.</a:t>
            </a:r>
          </a:p>
        </p:txBody>
      </p:sp>
      <p:sp>
        <p:nvSpPr>
          <p:cNvPr id="41" name="Rectangle 40">
            <a:extLst>
              <a:ext uri="{FF2B5EF4-FFF2-40B4-BE49-F238E27FC236}">
                <a16:creationId xmlns:a16="http://schemas.microsoft.com/office/drawing/2014/main" id="{7CCAE124-8B9A-E1E0-8DA5-382BEF3B154D}"/>
              </a:ext>
            </a:extLst>
          </p:cNvPr>
          <p:cNvSpPr/>
          <p:nvPr/>
        </p:nvSpPr>
        <p:spPr>
          <a:xfrm>
            <a:off x="4694922" y="1938130"/>
            <a:ext cx="120917" cy="4692045"/>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3" name="Table Placeholder 2">
            <a:extLst>
              <a:ext uri="{FF2B5EF4-FFF2-40B4-BE49-F238E27FC236}">
                <a16:creationId xmlns:a16="http://schemas.microsoft.com/office/drawing/2014/main" id="{D7313805-2338-A2DE-41A5-D13F036DD7C4}"/>
              </a:ext>
            </a:extLst>
          </p:cNvPr>
          <p:cNvSpPr txBox="1">
            <a:spLocks/>
          </p:cNvSpPr>
          <p:nvPr/>
        </p:nvSpPr>
        <p:spPr>
          <a:xfrm>
            <a:off x="4907279" y="1938130"/>
            <a:ext cx="6817581" cy="4692045"/>
          </a:xfrm>
          <a:prstGeom prst="rect">
            <a:avLst/>
          </a:prstGeom>
        </p:spPr>
        <p:txBody>
          <a:bodyPr vert="horz" lIns="0" tIns="0" rIns="0" bIns="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000" dirty="0">
                <a:latin typeface="Arial" panose="020B0604020202020204" pitchFamily="34" charset="0"/>
                <a:cs typeface="Arial" panose="020B0604020202020204" pitchFamily="34" charset="0"/>
              </a:rPr>
              <a:t>Example: Syphilis </a:t>
            </a:r>
            <a:r>
              <a:rPr lang="fr-FR" sz="2000" dirty="0" err="1">
                <a:latin typeface="Arial" panose="020B0604020202020204" pitchFamily="34" charset="0"/>
                <a:cs typeface="Arial" panose="020B0604020202020204" pitchFamily="34" charset="0"/>
              </a:rPr>
              <a:t>disease</a:t>
            </a:r>
            <a:r>
              <a:rPr lang="fr-FR" sz="2000" dirty="0">
                <a:latin typeface="Arial" panose="020B0604020202020204" pitchFamily="34" charset="0"/>
                <a:cs typeface="Arial" panose="020B0604020202020204" pitchFamily="34" charset="0"/>
              </a:rPr>
              <a:t> progression (Lee et al. 2023)</a:t>
            </a:r>
            <a:endParaRPr lang="en-US" sz="1800" dirty="0">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p:txBody>
      </p:sp>
      <p:sp>
        <p:nvSpPr>
          <p:cNvPr id="54" name="TextBox 53">
            <a:extLst>
              <a:ext uri="{FF2B5EF4-FFF2-40B4-BE49-F238E27FC236}">
                <a16:creationId xmlns:a16="http://schemas.microsoft.com/office/drawing/2014/main" id="{42DB1E3D-C5DB-4F6F-6F31-432555A86791}"/>
              </a:ext>
            </a:extLst>
          </p:cNvPr>
          <p:cNvSpPr txBox="1"/>
          <p:nvPr/>
        </p:nvSpPr>
        <p:spPr>
          <a:xfrm>
            <a:off x="4945378" y="6469597"/>
            <a:ext cx="7039358" cy="369332"/>
          </a:xfrm>
          <a:prstGeom prst="rect">
            <a:avLst/>
          </a:prstGeom>
          <a:solidFill>
            <a:schemeClr val="bg1"/>
          </a:solidFill>
        </p:spPr>
        <p:txBody>
          <a:bodyPr wrap="square" lIns="0" tIns="0" rIns="0" bIns="0">
            <a:spAutoFit/>
          </a:bodyPr>
          <a:lstStyle/>
          <a:p>
            <a:r>
              <a:rPr lang="en-US" sz="1200" noProof="0" dirty="0">
                <a:latin typeface="Arial" panose="020B0604020202020204" pitchFamily="34" charset="0"/>
                <a:ea typeface="Meiryo UI" panose="020B0604030504040204" pitchFamily="50" charset="-128"/>
                <a:cs typeface="Arial" panose="020B0604020202020204" pitchFamily="34" charset="0"/>
              </a:rPr>
              <a:t>Lee K et al. Estimation of the Lifetime Quality-Adjusted Life Years (QALYs) Lost Due to Syphilis Acquired in the United States in 2018. CID. 2023;76(3):e810-e819. doi:10.1093/</a:t>
            </a:r>
            <a:r>
              <a:rPr lang="en-US" sz="1200" noProof="0" dirty="0" err="1">
                <a:latin typeface="Arial" panose="020B0604020202020204" pitchFamily="34" charset="0"/>
                <a:ea typeface="Meiryo UI" panose="020B0604030504040204" pitchFamily="50" charset="-128"/>
                <a:cs typeface="Arial" panose="020B0604020202020204" pitchFamily="34" charset="0"/>
              </a:rPr>
              <a:t>cid</a:t>
            </a:r>
            <a:r>
              <a:rPr lang="en-US" sz="1200" noProof="0" dirty="0">
                <a:latin typeface="Arial" panose="020B0604020202020204" pitchFamily="34" charset="0"/>
                <a:ea typeface="Meiryo UI" panose="020B0604030504040204" pitchFamily="50" charset="-128"/>
                <a:cs typeface="Arial" panose="020B0604020202020204" pitchFamily="34" charset="0"/>
              </a:rPr>
              <a:t>/ciac427</a:t>
            </a:r>
          </a:p>
        </p:txBody>
      </p:sp>
      <p:cxnSp>
        <p:nvCxnSpPr>
          <p:cNvPr id="34" name="Straight Connector 33">
            <a:extLst>
              <a:ext uri="{FF2B5EF4-FFF2-40B4-BE49-F238E27FC236}">
                <a16:creationId xmlns:a16="http://schemas.microsoft.com/office/drawing/2014/main" id="{638F4ED0-8182-F21F-31F2-720867F46901}"/>
              </a:ext>
            </a:extLst>
          </p:cNvPr>
          <p:cNvCxnSpPr>
            <a:cxnSpLocks/>
            <a:stCxn id="69" idx="3"/>
            <a:endCxn id="41" idx="1"/>
          </p:cNvCxnSpPr>
          <p:nvPr/>
        </p:nvCxnSpPr>
        <p:spPr>
          <a:xfrm flipV="1">
            <a:off x="3989294" y="4284153"/>
            <a:ext cx="705628" cy="909769"/>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99" name="Rectangle 98">
            <a:extLst>
              <a:ext uri="{FF2B5EF4-FFF2-40B4-BE49-F238E27FC236}">
                <a16:creationId xmlns:a16="http://schemas.microsoft.com/office/drawing/2014/main" id="{0743B13E-5980-B2E9-3D50-027BFD5936F7}"/>
              </a:ext>
            </a:extLst>
          </p:cNvPr>
          <p:cNvSpPr/>
          <p:nvPr/>
        </p:nvSpPr>
        <p:spPr>
          <a:xfrm>
            <a:off x="4990703" y="2255082"/>
            <a:ext cx="1929250" cy="188782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Without</a:t>
            </a: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testing or treatment</a:t>
            </a:r>
          </a:p>
        </p:txBody>
      </p:sp>
      <p:sp>
        <p:nvSpPr>
          <p:cNvPr id="100" name="Rectangle 99">
            <a:extLst>
              <a:ext uri="{FF2B5EF4-FFF2-40B4-BE49-F238E27FC236}">
                <a16:creationId xmlns:a16="http://schemas.microsoft.com/office/drawing/2014/main" id="{0AFEC1DC-477D-B17D-438E-4D70847DC02F}"/>
              </a:ext>
            </a:extLst>
          </p:cNvPr>
          <p:cNvSpPr/>
          <p:nvPr/>
        </p:nvSpPr>
        <p:spPr>
          <a:xfrm>
            <a:off x="4990703" y="4421615"/>
            <a:ext cx="1929250" cy="188782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With testing and treatment</a:t>
            </a:r>
          </a:p>
        </p:txBody>
      </p:sp>
      <p:pic>
        <p:nvPicPr>
          <p:cNvPr id="101" name="Picture 100">
            <a:extLst>
              <a:ext uri="{FF2B5EF4-FFF2-40B4-BE49-F238E27FC236}">
                <a16:creationId xmlns:a16="http://schemas.microsoft.com/office/drawing/2014/main" id="{ACFE54B2-43EC-198D-B3E1-D47B5E9C9C6A}"/>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7207851" y="4175325"/>
            <a:ext cx="4598095" cy="2394202"/>
          </a:xfrm>
          <a:prstGeom prst="rect">
            <a:avLst/>
          </a:prstGeom>
        </p:spPr>
      </p:pic>
      <p:pic>
        <p:nvPicPr>
          <p:cNvPr id="140" name="Picture 139">
            <a:extLst>
              <a:ext uri="{FF2B5EF4-FFF2-40B4-BE49-F238E27FC236}">
                <a16:creationId xmlns:a16="http://schemas.microsoft.com/office/drawing/2014/main" id="{60FE00D2-8145-B50E-FDE6-586C0A60A20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227912" y="2255082"/>
            <a:ext cx="4476840" cy="1847485"/>
          </a:xfrm>
          <a:prstGeom prst="rect">
            <a:avLst/>
          </a:prstGeom>
        </p:spPr>
      </p:pic>
      <p:sp>
        <p:nvSpPr>
          <p:cNvPr id="116" name="Oval 115">
            <a:extLst>
              <a:ext uri="{FF2B5EF4-FFF2-40B4-BE49-F238E27FC236}">
                <a16:creationId xmlns:a16="http://schemas.microsoft.com/office/drawing/2014/main" id="{1102DF6C-E4CF-14C2-BEE8-CEA934693E21}"/>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1</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117" name="Oval 116">
            <a:extLst>
              <a:ext uri="{FF2B5EF4-FFF2-40B4-BE49-F238E27FC236}">
                <a16:creationId xmlns:a16="http://schemas.microsoft.com/office/drawing/2014/main" id="{C7339B68-B2A6-ECB2-F5EE-2E63D8F878DC}"/>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2</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118" name="Oval 117">
            <a:extLst>
              <a:ext uri="{FF2B5EF4-FFF2-40B4-BE49-F238E27FC236}">
                <a16:creationId xmlns:a16="http://schemas.microsoft.com/office/drawing/2014/main" id="{5BE334E8-0433-4033-5A3C-F7660D50953B}"/>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3</a:t>
            </a:r>
          </a:p>
        </p:txBody>
      </p:sp>
      <p:sp>
        <p:nvSpPr>
          <p:cNvPr id="119" name="Oval 118">
            <a:extLst>
              <a:ext uri="{FF2B5EF4-FFF2-40B4-BE49-F238E27FC236}">
                <a16:creationId xmlns:a16="http://schemas.microsoft.com/office/drawing/2014/main" id="{9970CF6F-AF02-4748-969E-F64B7EFEAB44}"/>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4</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120" name="Oval 119">
            <a:extLst>
              <a:ext uri="{FF2B5EF4-FFF2-40B4-BE49-F238E27FC236}">
                <a16:creationId xmlns:a16="http://schemas.microsoft.com/office/drawing/2014/main" id="{9F7C9660-2208-02EA-A358-71BA798FD2FB}"/>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5</a:t>
            </a:r>
          </a:p>
        </p:txBody>
      </p:sp>
      <p:sp>
        <p:nvSpPr>
          <p:cNvPr id="121" name="Oval 120">
            <a:extLst>
              <a:ext uri="{FF2B5EF4-FFF2-40B4-BE49-F238E27FC236}">
                <a16:creationId xmlns:a16="http://schemas.microsoft.com/office/drawing/2014/main" id="{41900E99-527C-282A-D333-54E8ADBD3B2C}"/>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bg1"/>
                </a:solidFill>
                <a:latin typeface="Arial" panose="020B0604020202020204" pitchFamily="34" charset="0"/>
                <a:ea typeface="Meiryo UI" panose="020B0604030504040204" pitchFamily="50" charset="-128"/>
                <a:cs typeface="Arial" panose="020B0604020202020204" pitchFamily="34" charset="0"/>
              </a:rPr>
              <a:t>6</a:t>
            </a:r>
          </a:p>
        </p:txBody>
      </p:sp>
      <p:sp>
        <p:nvSpPr>
          <p:cNvPr id="122" name="Oval 121">
            <a:extLst>
              <a:ext uri="{FF2B5EF4-FFF2-40B4-BE49-F238E27FC236}">
                <a16:creationId xmlns:a16="http://schemas.microsoft.com/office/drawing/2014/main" id="{8B696272-E548-8EB5-60E0-9603A8C02858}"/>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7</a:t>
            </a:r>
          </a:p>
        </p:txBody>
      </p:sp>
      <p:sp>
        <p:nvSpPr>
          <p:cNvPr id="123" name="Oval 122">
            <a:extLst>
              <a:ext uri="{FF2B5EF4-FFF2-40B4-BE49-F238E27FC236}">
                <a16:creationId xmlns:a16="http://schemas.microsoft.com/office/drawing/2014/main" id="{4220EDBE-7AF1-055A-EE50-AEEA72E7D85C}"/>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8</a:t>
            </a:r>
          </a:p>
        </p:txBody>
      </p:sp>
      <p:grpSp>
        <p:nvGrpSpPr>
          <p:cNvPr id="124" name="Group 123">
            <a:extLst>
              <a:ext uri="{FF2B5EF4-FFF2-40B4-BE49-F238E27FC236}">
                <a16:creationId xmlns:a16="http://schemas.microsoft.com/office/drawing/2014/main" id="{F4DBA199-AE26-2715-9B04-318129E29DB6}"/>
              </a:ext>
            </a:extLst>
          </p:cNvPr>
          <p:cNvGrpSpPr/>
          <p:nvPr/>
        </p:nvGrpSpPr>
        <p:grpSpPr>
          <a:xfrm>
            <a:off x="467139" y="108959"/>
            <a:ext cx="4197304" cy="307297"/>
            <a:chOff x="562270" y="127168"/>
            <a:chExt cx="4197304" cy="307297"/>
          </a:xfrm>
        </p:grpSpPr>
        <p:sp>
          <p:nvSpPr>
            <p:cNvPr id="125" name="Arrow: Pentagon 124">
              <a:extLst>
                <a:ext uri="{FF2B5EF4-FFF2-40B4-BE49-F238E27FC236}">
                  <a16:creationId xmlns:a16="http://schemas.microsoft.com/office/drawing/2014/main" id="{DC13BE2C-812C-64DC-9BC6-C5DC866D22BF}"/>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26" name="Arrow: Pentagon 125">
              <a:extLst>
                <a:ext uri="{FF2B5EF4-FFF2-40B4-BE49-F238E27FC236}">
                  <a16:creationId xmlns:a16="http://schemas.microsoft.com/office/drawing/2014/main" id="{8E7DF189-B0A7-5DEB-5DBF-CA6A0A2ACEC5}"/>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27" name="Arrow: Pentagon 126">
              <a:extLst>
                <a:ext uri="{FF2B5EF4-FFF2-40B4-BE49-F238E27FC236}">
                  <a16:creationId xmlns:a16="http://schemas.microsoft.com/office/drawing/2014/main" id="{CC6BBD7B-D53A-9A4C-26C6-36368786A2A2}"/>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13659015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4428F-4188-ED58-D3CA-84B08E8C3EC9}"/>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7E9E1013-B45A-A90F-A811-DAC7017C71E0}"/>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Define the problem and objectives</a:t>
            </a:r>
          </a:p>
        </p:txBody>
      </p:sp>
      <p:sp>
        <p:nvSpPr>
          <p:cNvPr id="39" name="Rectangle 38">
            <a:extLst>
              <a:ext uri="{FF2B5EF4-FFF2-40B4-BE49-F238E27FC236}">
                <a16:creationId xmlns:a16="http://schemas.microsoft.com/office/drawing/2014/main" id="{23E64A51-4872-CBDB-C90F-2182FA3A02CA}"/>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Design simulation model</a:t>
            </a:r>
          </a:p>
        </p:txBody>
      </p:sp>
      <p:sp>
        <p:nvSpPr>
          <p:cNvPr id="42" name="Rectangle 41">
            <a:extLst>
              <a:ext uri="{FF2B5EF4-FFF2-40B4-BE49-F238E27FC236}">
                <a16:creationId xmlns:a16="http://schemas.microsoft.com/office/drawing/2014/main" id="{D18E7D08-2FD0-A6C3-D57C-662DC983FDEE}"/>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Select simulation model</a:t>
            </a:r>
          </a:p>
        </p:txBody>
      </p:sp>
      <p:sp>
        <p:nvSpPr>
          <p:cNvPr id="43" name="Rectangle 42">
            <a:extLst>
              <a:ext uri="{FF2B5EF4-FFF2-40B4-BE49-F238E27FC236}">
                <a16:creationId xmlns:a16="http://schemas.microsoft.com/office/drawing/2014/main" id="{D8A75781-388B-B8AB-19C0-1080BA9B5A27}"/>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Define outcomes</a:t>
            </a:r>
          </a:p>
        </p:txBody>
      </p:sp>
      <p:sp>
        <p:nvSpPr>
          <p:cNvPr id="44" name="Rectangle 43">
            <a:extLst>
              <a:ext uri="{FF2B5EF4-FFF2-40B4-BE49-F238E27FC236}">
                <a16:creationId xmlns:a16="http://schemas.microsoft.com/office/drawing/2014/main" id="{56F66D65-DE6B-5378-6601-40710C788C8E}"/>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Select model inputs</a:t>
            </a:r>
          </a:p>
        </p:txBody>
      </p:sp>
      <p:sp>
        <p:nvSpPr>
          <p:cNvPr id="45" name="Rectangle 44">
            <a:extLst>
              <a:ext uri="{FF2B5EF4-FFF2-40B4-BE49-F238E27FC236}">
                <a16:creationId xmlns:a16="http://schemas.microsoft.com/office/drawing/2014/main" id="{5E4ACB97-90AC-2481-B03D-5CE2343395B4}"/>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Simulate multiple decision options</a:t>
            </a:r>
          </a:p>
        </p:txBody>
      </p:sp>
      <p:sp>
        <p:nvSpPr>
          <p:cNvPr id="46" name="Rectangle 45">
            <a:extLst>
              <a:ext uri="{FF2B5EF4-FFF2-40B4-BE49-F238E27FC236}">
                <a16:creationId xmlns:a16="http://schemas.microsoft.com/office/drawing/2014/main" id="{B4458AD6-C228-5069-85FE-D79FCB160B5D}"/>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Sensitivity and scenario analyses</a:t>
            </a:r>
          </a:p>
        </p:txBody>
      </p:sp>
      <p:sp>
        <p:nvSpPr>
          <p:cNvPr id="47" name="Rectangle 46">
            <a:extLst>
              <a:ext uri="{FF2B5EF4-FFF2-40B4-BE49-F238E27FC236}">
                <a16:creationId xmlns:a16="http://schemas.microsoft.com/office/drawing/2014/main" id="{8AB5FBE8-F51A-E693-DA3C-A1D055C9EB8E}"/>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Evaluate results</a:t>
            </a:r>
          </a:p>
        </p:txBody>
      </p:sp>
      <p:sp>
        <p:nvSpPr>
          <p:cNvPr id="48" name="Isosceles Triangle 47">
            <a:extLst>
              <a:ext uri="{FF2B5EF4-FFF2-40B4-BE49-F238E27FC236}">
                <a16:creationId xmlns:a16="http://schemas.microsoft.com/office/drawing/2014/main" id="{5EAF3568-5A2E-D921-C92E-339B747EC9E1}"/>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49" name="Isosceles Triangle 48">
            <a:extLst>
              <a:ext uri="{FF2B5EF4-FFF2-40B4-BE49-F238E27FC236}">
                <a16:creationId xmlns:a16="http://schemas.microsoft.com/office/drawing/2014/main" id="{64CA96CC-6637-0AFC-36F2-44CC51EE0CC6}"/>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0" name="Isosceles Triangle 49">
            <a:extLst>
              <a:ext uri="{FF2B5EF4-FFF2-40B4-BE49-F238E27FC236}">
                <a16:creationId xmlns:a16="http://schemas.microsoft.com/office/drawing/2014/main" id="{7C0DEAD7-AA52-67E7-FEFD-C894416A2C4C}"/>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1" name="Isosceles Triangle 50">
            <a:extLst>
              <a:ext uri="{FF2B5EF4-FFF2-40B4-BE49-F238E27FC236}">
                <a16:creationId xmlns:a16="http://schemas.microsoft.com/office/drawing/2014/main" id="{8D62DF99-AF51-74F2-976F-FFAEDBF887A6}"/>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2" name="Isosceles Triangle 51">
            <a:extLst>
              <a:ext uri="{FF2B5EF4-FFF2-40B4-BE49-F238E27FC236}">
                <a16:creationId xmlns:a16="http://schemas.microsoft.com/office/drawing/2014/main" id="{1CD278AE-A454-44C4-8B0A-42AB59BA573B}"/>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3" name="Isosceles Triangle 52">
            <a:extLst>
              <a:ext uri="{FF2B5EF4-FFF2-40B4-BE49-F238E27FC236}">
                <a16:creationId xmlns:a16="http://schemas.microsoft.com/office/drawing/2014/main" id="{00B16BE7-046D-166C-55FB-E44F1B346E44}"/>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4" name="Isosceles Triangle 53">
            <a:extLst>
              <a:ext uri="{FF2B5EF4-FFF2-40B4-BE49-F238E27FC236}">
                <a16:creationId xmlns:a16="http://schemas.microsoft.com/office/drawing/2014/main" id="{5A5D9AA0-8A7E-04EB-8708-9AA119AFE19C}"/>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 name="Title 1">
            <a:extLst>
              <a:ext uri="{FF2B5EF4-FFF2-40B4-BE49-F238E27FC236}">
                <a16:creationId xmlns:a16="http://schemas.microsoft.com/office/drawing/2014/main" id="{CCEF7298-DEA9-A606-780C-792B0C66E354}"/>
              </a:ext>
            </a:extLst>
          </p:cNvPr>
          <p:cNvSpPr>
            <a:spLocks noGrp="1"/>
          </p:cNvSpPr>
          <p:nvPr>
            <p:ph type="title"/>
          </p:nvPr>
        </p:nvSpPr>
        <p:spPr/>
        <p:txBody>
          <a:bodyPr/>
          <a:lstStyle/>
          <a:p>
            <a:r>
              <a:rPr lang="en-US" noProof="0" dirty="0"/>
              <a:t>Step⑦ Sensitivity and Scenario Analyses</a:t>
            </a:r>
          </a:p>
        </p:txBody>
      </p:sp>
      <p:sp>
        <p:nvSpPr>
          <p:cNvPr id="3" name="Table Placeholder 2">
            <a:extLst>
              <a:ext uri="{FF2B5EF4-FFF2-40B4-BE49-F238E27FC236}">
                <a16:creationId xmlns:a16="http://schemas.microsoft.com/office/drawing/2014/main" id="{06E2C845-52A2-9568-4499-2A8885612331}"/>
              </a:ext>
            </a:extLst>
          </p:cNvPr>
          <p:cNvSpPr>
            <a:spLocks noGrp="1"/>
          </p:cNvSpPr>
          <p:nvPr>
            <p:ph type="tbl" sz="quarter" idx="10"/>
          </p:nvPr>
        </p:nvSpPr>
        <p:spPr>
          <a:xfrm>
            <a:off x="4815839" y="1938130"/>
            <a:ext cx="6909021" cy="4692045"/>
          </a:xfrm>
        </p:spPr>
        <p:txBody>
          <a:bodyPr/>
          <a:lstStyle/>
          <a:p>
            <a:r>
              <a:rPr lang="en-US" noProof="0" dirty="0"/>
              <a:t>How do we handle uncertainty?</a:t>
            </a:r>
          </a:p>
          <a:p>
            <a:pPr lvl="1"/>
            <a:r>
              <a:rPr lang="en-US" noProof="0" dirty="0"/>
              <a:t>Stochastic uncertainty: Results are unknown until simulated.</a:t>
            </a:r>
          </a:p>
          <a:p>
            <a:pPr lvl="2">
              <a:buFont typeface="Wingdings" panose="05000000000000000000" pitchFamily="2" charset="2"/>
              <a:buChar char="Ø"/>
            </a:pPr>
            <a:r>
              <a:rPr lang="en-US" noProof="0" dirty="0"/>
              <a:t>Increase the number of simulated individuals or runs.</a:t>
            </a:r>
          </a:p>
          <a:p>
            <a:pPr lvl="2"/>
            <a:endParaRPr lang="en-US" noProof="0" dirty="0"/>
          </a:p>
          <a:p>
            <a:pPr lvl="1"/>
            <a:r>
              <a:rPr lang="en-US" noProof="0" dirty="0"/>
              <a:t>Model (structural) uncertainty: The correc.t model structure is unknown</a:t>
            </a:r>
          </a:p>
          <a:p>
            <a:pPr lvl="2">
              <a:buFont typeface="Wingdings" panose="05000000000000000000" pitchFamily="2" charset="2"/>
              <a:buChar char="Ø"/>
            </a:pPr>
            <a:r>
              <a:rPr lang="en-US" noProof="0" dirty="0"/>
              <a:t>Test multiple plausible model structures.</a:t>
            </a:r>
          </a:p>
          <a:p>
            <a:pPr lvl="2"/>
            <a:endParaRPr lang="en-US" noProof="0" dirty="0"/>
          </a:p>
          <a:p>
            <a:pPr lvl="1"/>
            <a:r>
              <a:rPr lang="en-US" noProof="0" dirty="0"/>
              <a:t>Parameter uncertainty: Input values are uncertain.</a:t>
            </a:r>
          </a:p>
          <a:p>
            <a:pPr lvl="2">
              <a:buFont typeface="Wingdings" panose="05000000000000000000" pitchFamily="2" charset="2"/>
              <a:buChar char="Ø"/>
            </a:pPr>
            <a:r>
              <a:rPr lang="en-US" b="1" noProof="0" dirty="0"/>
              <a:t>Vary parameters over plausible ranges and re-run the model.</a:t>
            </a:r>
          </a:p>
        </p:txBody>
      </p:sp>
      <p:sp>
        <p:nvSpPr>
          <p:cNvPr id="4" name="Slide Number Placeholder 3">
            <a:extLst>
              <a:ext uri="{FF2B5EF4-FFF2-40B4-BE49-F238E27FC236}">
                <a16:creationId xmlns:a16="http://schemas.microsoft.com/office/drawing/2014/main" id="{645233DF-4D4E-9D21-D096-FB9533938B67}"/>
              </a:ext>
            </a:extLst>
          </p:cNvPr>
          <p:cNvSpPr>
            <a:spLocks noGrp="1"/>
          </p:cNvSpPr>
          <p:nvPr>
            <p:ph type="sldNum" sz="quarter" idx="4"/>
          </p:nvPr>
        </p:nvSpPr>
        <p:spPr/>
        <p:txBody>
          <a:bodyPr/>
          <a:lstStyle/>
          <a:p>
            <a:fld id="{B5CEABB6-07DC-46E8-9B57-56EC44A396E5}" type="slidenum">
              <a:rPr lang="en-US" noProof="0" smtClean="0"/>
              <a:pPr/>
              <a:t>24</a:t>
            </a:fld>
            <a:endParaRPr lang="en-US" noProof="0" dirty="0"/>
          </a:p>
        </p:txBody>
      </p:sp>
      <p:sp>
        <p:nvSpPr>
          <p:cNvPr id="5" name="Table Placeholder 4">
            <a:extLst>
              <a:ext uri="{FF2B5EF4-FFF2-40B4-BE49-F238E27FC236}">
                <a16:creationId xmlns:a16="http://schemas.microsoft.com/office/drawing/2014/main" id="{A84FE957-5D37-D7B8-ADD1-DD398AA92F74}"/>
              </a:ext>
            </a:extLst>
          </p:cNvPr>
          <p:cNvSpPr>
            <a:spLocks noGrp="1"/>
          </p:cNvSpPr>
          <p:nvPr>
            <p:ph type="tbl" sz="quarter" idx="11"/>
          </p:nvPr>
        </p:nvSpPr>
        <p:spPr/>
        <p:txBody>
          <a:bodyPr/>
          <a:lstStyle/>
          <a:p>
            <a:r>
              <a:rPr lang="en-US" noProof="0" dirty="0"/>
              <a:t>Accounting for multiple sources of uncertainty.</a:t>
            </a:r>
          </a:p>
        </p:txBody>
      </p:sp>
      <p:sp>
        <p:nvSpPr>
          <p:cNvPr id="40" name="Rectangle 39">
            <a:extLst>
              <a:ext uri="{FF2B5EF4-FFF2-40B4-BE49-F238E27FC236}">
                <a16:creationId xmlns:a16="http://schemas.microsoft.com/office/drawing/2014/main" id="{5562C2A1-2957-122A-4E51-E96AD42AE2E6}"/>
              </a:ext>
            </a:extLst>
          </p:cNvPr>
          <p:cNvSpPr/>
          <p:nvPr/>
        </p:nvSpPr>
        <p:spPr>
          <a:xfrm>
            <a:off x="4694922" y="1938130"/>
            <a:ext cx="120917" cy="469204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34" name="Straight Connector 33">
            <a:extLst>
              <a:ext uri="{FF2B5EF4-FFF2-40B4-BE49-F238E27FC236}">
                <a16:creationId xmlns:a16="http://schemas.microsoft.com/office/drawing/2014/main" id="{E56514D3-721D-7764-D1E5-B27EF02C8009}"/>
              </a:ext>
            </a:extLst>
          </p:cNvPr>
          <p:cNvCxnSpPr>
            <a:cxnSpLocks/>
            <a:stCxn id="46" idx="3"/>
            <a:endCxn id="40" idx="1"/>
          </p:cNvCxnSpPr>
          <p:nvPr/>
        </p:nvCxnSpPr>
        <p:spPr>
          <a:xfrm flipV="1">
            <a:off x="3989294" y="4284153"/>
            <a:ext cx="705628" cy="1516279"/>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D759F5A4-6216-CB54-DB84-35E10CAAFF5C}"/>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1</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64" name="Oval 63">
            <a:extLst>
              <a:ext uri="{FF2B5EF4-FFF2-40B4-BE49-F238E27FC236}">
                <a16:creationId xmlns:a16="http://schemas.microsoft.com/office/drawing/2014/main" id="{3BABF22C-F757-8749-F50A-E14048B47200}"/>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2</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65" name="Oval 64">
            <a:extLst>
              <a:ext uri="{FF2B5EF4-FFF2-40B4-BE49-F238E27FC236}">
                <a16:creationId xmlns:a16="http://schemas.microsoft.com/office/drawing/2014/main" id="{CB6CD607-BC48-4E2C-ADF8-7CC7C6A70E4F}"/>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3</a:t>
            </a:r>
          </a:p>
        </p:txBody>
      </p:sp>
      <p:sp>
        <p:nvSpPr>
          <p:cNvPr id="66" name="Oval 65">
            <a:extLst>
              <a:ext uri="{FF2B5EF4-FFF2-40B4-BE49-F238E27FC236}">
                <a16:creationId xmlns:a16="http://schemas.microsoft.com/office/drawing/2014/main" id="{8F56273B-091B-7416-05EF-A0D21B0FE686}"/>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4</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67" name="Oval 66">
            <a:extLst>
              <a:ext uri="{FF2B5EF4-FFF2-40B4-BE49-F238E27FC236}">
                <a16:creationId xmlns:a16="http://schemas.microsoft.com/office/drawing/2014/main" id="{5B38AAB3-D278-4381-842B-8B2FC33587A2}"/>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5</a:t>
            </a:r>
          </a:p>
        </p:txBody>
      </p:sp>
      <p:sp>
        <p:nvSpPr>
          <p:cNvPr id="68" name="Oval 67">
            <a:extLst>
              <a:ext uri="{FF2B5EF4-FFF2-40B4-BE49-F238E27FC236}">
                <a16:creationId xmlns:a16="http://schemas.microsoft.com/office/drawing/2014/main" id="{5B1379CC-B70A-5121-2598-0752F46B64A6}"/>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6</a:t>
            </a:r>
          </a:p>
        </p:txBody>
      </p:sp>
      <p:sp>
        <p:nvSpPr>
          <p:cNvPr id="69" name="Oval 68">
            <a:extLst>
              <a:ext uri="{FF2B5EF4-FFF2-40B4-BE49-F238E27FC236}">
                <a16:creationId xmlns:a16="http://schemas.microsoft.com/office/drawing/2014/main" id="{4520D757-B78A-6299-7DB1-7541AE43A881}"/>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bg1"/>
                </a:solidFill>
                <a:latin typeface="Arial" panose="020B0604020202020204" pitchFamily="34" charset="0"/>
                <a:ea typeface="Meiryo UI" panose="020B0604030504040204" pitchFamily="50" charset="-128"/>
                <a:cs typeface="Arial" panose="020B0604020202020204" pitchFamily="34" charset="0"/>
              </a:rPr>
              <a:t>7</a:t>
            </a:r>
          </a:p>
        </p:txBody>
      </p:sp>
      <p:sp>
        <p:nvSpPr>
          <p:cNvPr id="70" name="Oval 69">
            <a:extLst>
              <a:ext uri="{FF2B5EF4-FFF2-40B4-BE49-F238E27FC236}">
                <a16:creationId xmlns:a16="http://schemas.microsoft.com/office/drawing/2014/main" id="{65EB226C-9831-889E-9D2A-E0A8992BD6D1}"/>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8</a:t>
            </a:r>
          </a:p>
        </p:txBody>
      </p:sp>
      <p:grpSp>
        <p:nvGrpSpPr>
          <p:cNvPr id="71" name="Group 70">
            <a:extLst>
              <a:ext uri="{FF2B5EF4-FFF2-40B4-BE49-F238E27FC236}">
                <a16:creationId xmlns:a16="http://schemas.microsoft.com/office/drawing/2014/main" id="{0029DACC-0F9C-7C90-26C4-59945963AEBD}"/>
              </a:ext>
            </a:extLst>
          </p:cNvPr>
          <p:cNvGrpSpPr/>
          <p:nvPr/>
        </p:nvGrpSpPr>
        <p:grpSpPr>
          <a:xfrm>
            <a:off x="467139" y="108959"/>
            <a:ext cx="4197304" cy="307297"/>
            <a:chOff x="562270" y="127168"/>
            <a:chExt cx="4197304" cy="307297"/>
          </a:xfrm>
        </p:grpSpPr>
        <p:sp>
          <p:nvSpPr>
            <p:cNvPr id="72" name="Arrow: Pentagon 71">
              <a:extLst>
                <a:ext uri="{FF2B5EF4-FFF2-40B4-BE49-F238E27FC236}">
                  <a16:creationId xmlns:a16="http://schemas.microsoft.com/office/drawing/2014/main" id="{2CEF8D8D-0BD9-765E-1E93-F28874805B21}"/>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73" name="Arrow: Pentagon 72">
              <a:extLst>
                <a:ext uri="{FF2B5EF4-FFF2-40B4-BE49-F238E27FC236}">
                  <a16:creationId xmlns:a16="http://schemas.microsoft.com/office/drawing/2014/main" id="{175BB8CD-2A64-3A01-5525-592590C7DB66}"/>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74" name="Arrow: Pentagon 73">
              <a:extLst>
                <a:ext uri="{FF2B5EF4-FFF2-40B4-BE49-F238E27FC236}">
                  <a16:creationId xmlns:a16="http://schemas.microsoft.com/office/drawing/2014/main" id="{D573BBEB-4F9F-45B9-44C3-EA3FB872DEEB}"/>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8567391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1A581-3E74-0097-F98E-A753EDA9DE9B}"/>
            </a:ext>
          </a:extLst>
        </p:cNvPr>
        <p:cNvGrpSpPr/>
        <p:nvPr/>
      </p:nvGrpSpPr>
      <p:grpSpPr>
        <a:xfrm>
          <a:off x="0" y="0"/>
          <a:ext cx="0" cy="0"/>
          <a:chOff x="0" y="0"/>
          <a:chExt cx="0" cy="0"/>
        </a:xfrm>
      </p:grpSpPr>
      <p:grpSp>
        <p:nvGrpSpPr>
          <p:cNvPr id="48" name="Group 47">
            <a:extLst>
              <a:ext uri="{FF2B5EF4-FFF2-40B4-BE49-F238E27FC236}">
                <a16:creationId xmlns:a16="http://schemas.microsoft.com/office/drawing/2014/main" id="{1DBC89CF-0ACE-055D-2D03-6087FA13ED9E}"/>
              </a:ext>
            </a:extLst>
          </p:cNvPr>
          <p:cNvGrpSpPr/>
          <p:nvPr/>
        </p:nvGrpSpPr>
        <p:grpSpPr>
          <a:xfrm>
            <a:off x="9048175" y="4807717"/>
            <a:ext cx="2821669" cy="1274865"/>
            <a:chOff x="8567512" y="2489858"/>
            <a:chExt cx="2821669" cy="1274865"/>
          </a:xfrm>
        </p:grpSpPr>
        <p:sp>
          <p:nvSpPr>
            <p:cNvPr id="49" name="Isosceles Triangle 24">
              <a:extLst>
                <a:ext uri="{FF2B5EF4-FFF2-40B4-BE49-F238E27FC236}">
                  <a16:creationId xmlns:a16="http://schemas.microsoft.com/office/drawing/2014/main" id="{A80E64CD-0EA4-C3CC-F9B1-7628CA4FBD13}"/>
                </a:ext>
              </a:extLst>
            </p:cNvPr>
            <p:cNvSpPr/>
            <p:nvPr/>
          </p:nvSpPr>
          <p:spPr>
            <a:xfrm>
              <a:off x="8861549" y="2546491"/>
              <a:ext cx="1744397" cy="819117"/>
            </a:xfrm>
            <a:custGeom>
              <a:avLst/>
              <a:gdLst>
                <a:gd name="connsiteX0" fmla="*/ 0 w 1180271"/>
                <a:gd name="connsiteY0" fmla="*/ 702437 h 702437"/>
                <a:gd name="connsiteX1" fmla="*/ 590136 w 1180271"/>
                <a:gd name="connsiteY1" fmla="*/ 0 h 702437"/>
                <a:gd name="connsiteX2" fmla="*/ 1180271 w 1180271"/>
                <a:gd name="connsiteY2" fmla="*/ 702437 h 702437"/>
                <a:gd name="connsiteX3" fmla="*/ 0 w 1180271"/>
                <a:gd name="connsiteY3" fmla="*/ 702437 h 702437"/>
                <a:gd name="connsiteX0" fmla="*/ 0 w 1180271"/>
                <a:gd name="connsiteY0" fmla="*/ 702437 h 702437"/>
                <a:gd name="connsiteX1" fmla="*/ 261907 w 1180271"/>
                <a:gd name="connsiteY1" fmla="*/ 315746 h 702437"/>
                <a:gd name="connsiteX2" fmla="*/ 590136 w 1180271"/>
                <a:gd name="connsiteY2" fmla="*/ 0 h 702437"/>
                <a:gd name="connsiteX3" fmla="*/ 1180271 w 1180271"/>
                <a:gd name="connsiteY3" fmla="*/ 702437 h 702437"/>
                <a:gd name="connsiteX4" fmla="*/ 0 w 1180271"/>
                <a:gd name="connsiteY4" fmla="*/ 702437 h 70243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259636"/>
                <a:gd name="connsiteY0" fmla="*/ 621157 h 621157"/>
                <a:gd name="connsiteX1" fmla="*/ 261907 w 1259636"/>
                <a:gd name="connsiteY1" fmla="*/ 234466 h 621157"/>
                <a:gd name="connsiteX2" fmla="*/ 651096 w 1259636"/>
                <a:gd name="connsiteY2" fmla="*/ 0 h 621157"/>
                <a:gd name="connsiteX3" fmla="*/ 1115347 w 1259636"/>
                <a:gd name="connsiteY3" fmla="*/ 447826 h 621157"/>
                <a:gd name="connsiteX4" fmla="*/ 1180271 w 1259636"/>
                <a:gd name="connsiteY4" fmla="*/ 621157 h 621157"/>
                <a:gd name="connsiteX5" fmla="*/ 0 w 1259636"/>
                <a:gd name="connsiteY5" fmla="*/ 621157 h 621157"/>
                <a:gd name="connsiteX0" fmla="*/ 0 w 1274952"/>
                <a:gd name="connsiteY0" fmla="*/ 621157 h 631317"/>
                <a:gd name="connsiteX1" fmla="*/ 261907 w 1274952"/>
                <a:gd name="connsiteY1" fmla="*/ 234466 h 631317"/>
                <a:gd name="connsiteX2" fmla="*/ 651096 w 1274952"/>
                <a:gd name="connsiteY2" fmla="*/ 0 h 631317"/>
                <a:gd name="connsiteX3" fmla="*/ 1115347 w 1274952"/>
                <a:gd name="connsiteY3" fmla="*/ 447826 h 631317"/>
                <a:gd name="connsiteX4" fmla="*/ 1200591 w 1274952"/>
                <a:gd name="connsiteY4" fmla="*/ 631317 h 631317"/>
                <a:gd name="connsiteX5" fmla="*/ 0 w 1274952"/>
                <a:gd name="connsiteY5" fmla="*/ 621157 h 631317"/>
                <a:gd name="connsiteX0" fmla="*/ 0 w 1310591"/>
                <a:gd name="connsiteY0" fmla="*/ 621157 h 631317"/>
                <a:gd name="connsiteX1" fmla="*/ 261907 w 1310591"/>
                <a:gd name="connsiteY1" fmla="*/ 234466 h 631317"/>
                <a:gd name="connsiteX2" fmla="*/ 651096 w 1310591"/>
                <a:gd name="connsiteY2" fmla="*/ 0 h 631317"/>
                <a:gd name="connsiteX3" fmla="*/ 1115347 w 1310591"/>
                <a:gd name="connsiteY3" fmla="*/ 447826 h 631317"/>
                <a:gd name="connsiteX4" fmla="*/ 1241151 w 1310591"/>
                <a:gd name="connsiteY4" fmla="*/ 589767 h 631317"/>
                <a:gd name="connsiteX5" fmla="*/ 1200591 w 1310591"/>
                <a:gd name="connsiteY5" fmla="*/ 631317 h 631317"/>
                <a:gd name="connsiteX6" fmla="*/ 0 w 1310591"/>
                <a:gd name="connsiteY6" fmla="*/ 621157 h 631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0591" h="631317">
                  <a:moveTo>
                    <a:pt x="0" y="621157"/>
                  </a:moveTo>
                  <a:cubicBezTo>
                    <a:pt x="111009" y="499033"/>
                    <a:pt x="150898" y="356590"/>
                    <a:pt x="261907" y="234466"/>
                  </a:cubicBezTo>
                  <a:cubicBezTo>
                    <a:pt x="391637" y="156311"/>
                    <a:pt x="419766" y="47675"/>
                    <a:pt x="651096" y="0"/>
                  </a:cubicBezTo>
                  <a:cubicBezTo>
                    <a:pt x="779789" y="27093"/>
                    <a:pt x="1027151" y="344300"/>
                    <a:pt x="1115347" y="447826"/>
                  </a:cubicBezTo>
                  <a:cubicBezTo>
                    <a:pt x="1218919" y="546867"/>
                    <a:pt x="1226944" y="559185"/>
                    <a:pt x="1241151" y="589767"/>
                  </a:cubicBezTo>
                  <a:cubicBezTo>
                    <a:pt x="1255358" y="620349"/>
                    <a:pt x="1412679" y="626833"/>
                    <a:pt x="1200591" y="631317"/>
                  </a:cubicBezTo>
                  <a:lnTo>
                    <a:pt x="0" y="621157"/>
                  </a:lnTo>
                  <a:close/>
                </a:path>
              </a:pathLst>
            </a:cu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50" name="Straight Arrow Connector 49">
              <a:extLst>
                <a:ext uri="{FF2B5EF4-FFF2-40B4-BE49-F238E27FC236}">
                  <a16:creationId xmlns:a16="http://schemas.microsoft.com/office/drawing/2014/main" id="{2B1E9C57-958E-C2EC-BF5B-F342E9C223D7}"/>
                </a:ext>
              </a:extLst>
            </p:cNvPr>
            <p:cNvCxnSpPr>
              <a:cxnSpLocks/>
              <a:stCxn id="49" idx="0"/>
            </p:cNvCxnSpPr>
            <p:nvPr/>
          </p:nvCxnSpPr>
          <p:spPr>
            <a:xfrm flipV="1">
              <a:off x="8861549" y="2489858"/>
              <a:ext cx="13433" cy="86256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CF15A0D-B3B9-3656-FD7F-6AE94E2A7668}"/>
                </a:ext>
              </a:extLst>
            </p:cNvPr>
            <p:cNvCxnSpPr>
              <a:cxnSpLocks/>
              <a:stCxn id="49" idx="0"/>
            </p:cNvCxnSpPr>
            <p:nvPr/>
          </p:nvCxnSpPr>
          <p:spPr>
            <a:xfrm>
              <a:off x="8861549" y="3352426"/>
              <a:ext cx="1939993" cy="2082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21AAEEB0-51F8-D570-C81C-DAA0CD91EDD7}"/>
                </a:ext>
              </a:extLst>
            </p:cNvPr>
            <p:cNvSpPr/>
            <p:nvPr/>
          </p:nvSpPr>
          <p:spPr>
            <a:xfrm>
              <a:off x="8567512" y="2567917"/>
              <a:ext cx="176493" cy="7193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wrap="none" lIns="0" tIns="0" rIns="0" bIns="0" rtlCol="0" anchor="ctr"/>
            <a:lstStyle/>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Prob.</a:t>
              </a:r>
            </a:p>
          </p:txBody>
        </p:sp>
        <p:sp>
          <p:nvSpPr>
            <p:cNvPr id="53" name="Rectangle 52">
              <a:extLst>
                <a:ext uri="{FF2B5EF4-FFF2-40B4-BE49-F238E27FC236}">
                  <a16:creationId xmlns:a16="http://schemas.microsoft.com/office/drawing/2014/main" id="{B8946BED-F604-1D2A-1420-DC08C29E33B6}"/>
                </a:ext>
              </a:extLst>
            </p:cNvPr>
            <p:cNvSpPr/>
            <p:nvPr/>
          </p:nvSpPr>
          <p:spPr>
            <a:xfrm>
              <a:off x="8633856" y="3418668"/>
              <a:ext cx="826272"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0.25</a:t>
              </a:r>
            </a:p>
          </p:txBody>
        </p:sp>
        <p:sp>
          <p:nvSpPr>
            <p:cNvPr id="54" name="Rectangle 53">
              <a:extLst>
                <a:ext uri="{FF2B5EF4-FFF2-40B4-BE49-F238E27FC236}">
                  <a16:creationId xmlns:a16="http://schemas.microsoft.com/office/drawing/2014/main" id="{9BF32A91-5354-B7AD-5F1E-AA38AFCCE3CA}"/>
                </a:ext>
              </a:extLst>
            </p:cNvPr>
            <p:cNvSpPr/>
            <p:nvPr/>
          </p:nvSpPr>
          <p:spPr>
            <a:xfrm>
              <a:off x="9365381" y="3418668"/>
              <a:ext cx="826272"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0.7</a:t>
              </a:r>
            </a:p>
          </p:txBody>
        </p:sp>
        <p:sp>
          <p:nvSpPr>
            <p:cNvPr id="55" name="Rectangle 54">
              <a:extLst>
                <a:ext uri="{FF2B5EF4-FFF2-40B4-BE49-F238E27FC236}">
                  <a16:creationId xmlns:a16="http://schemas.microsoft.com/office/drawing/2014/main" id="{ABD0B8A9-7A48-D97E-EB2D-84B0159CA939}"/>
                </a:ext>
              </a:extLst>
            </p:cNvPr>
            <p:cNvSpPr/>
            <p:nvPr/>
          </p:nvSpPr>
          <p:spPr>
            <a:xfrm>
              <a:off x="10171874" y="3429000"/>
              <a:ext cx="688371"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1.96</a:t>
              </a:r>
            </a:p>
          </p:txBody>
        </p:sp>
        <p:sp>
          <p:nvSpPr>
            <p:cNvPr id="56" name="Rectangle 55">
              <a:extLst>
                <a:ext uri="{FF2B5EF4-FFF2-40B4-BE49-F238E27FC236}">
                  <a16:creationId xmlns:a16="http://schemas.microsoft.com/office/drawing/2014/main" id="{DC9BEDCF-56FB-7A9F-23A8-07FAD121AFEA}"/>
                </a:ext>
              </a:extLst>
            </p:cNvPr>
            <p:cNvSpPr/>
            <p:nvPr/>
          </p:nvSpPr>
          <p:spPr>
            <a:xfrm>
              <a:off x="10758117" y="3467489"/>
              <a:ext cx="631064" cy="914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Month</a:t>
              </a:r>
            </a:p>
          </p:txBody>
        </p:sp>
      </p:grpSp>
      <p:sp>
        <p:nvSpPr>
          <p:cNvPr id="58" name="Rectangle 57">
            <a:extLst>
              <a:ext uri="{FF2B5EF4-FFF2-40B4-BE49-F238E27FC236}">
                <a16:creationId xmlns:a16="http://schemas.microsoft.com/office/drawing/2014/main" id="{21003B95-38B2-8176-6E8D-D1447B810C92}"/>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Define the problem and objectives</a:t>
            </a:r>
          </a:p>
        </p:txBody>
      </p:sp>
      <p:sp>
        <p:nvSpPr>
          <p:cNvPr id="59" name="Rectangle 58">
            <a:extLst>
              <a:ext uri="{FF2B5EF4-FFF2-40B4-BE49-F238E27FC236}">
                <a16:creationId xmlns:a16="http://schemas.microsoft.com/office/drawing/2014/main" id="{9282C97F-EF7C-63C5-4459-03E0EB96B132}"/>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Design simulation model</a:t>
            </a:r>
          </a:p>
        </p:txBody>
      </p:sp>
      <p:sp>
        <p:nvSpPr>
          <p:cNvPr id="61" name="Rectangle 60">
            <a:extLst>
              <a:ext uri="{FF2B5EF4-FFF2-40B4-BE49-F238E27FC236}">
                <a16:creationId xmlns:a16="http://schemas.microsoft.com/office/drawing/2014/main" id="{8F9A263C-CF30-0D39-D935-F75F02550E70}"/>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Select simulation model</a:t>
            </a:r>
          </a:p>
        </p:txBody>
      </p:sp>
      <p:sp>
        <p:nvSpPr>
          <p:cNvPr id="62" name="Rectangle 61">
            <a:extLst>
              <a:ext uri="{FF2B5EF4-FFF2-40B4-BE49-F238E27FC236}">
                <a16:creationId xmlns:a16="http://schemas.microsoft.com/office/drawing/2014/main" id="{AD8B76DF-A0FA-D229-4483-04C21B07CB3E}"/>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Define outcomes</a:t>
            </a:r>
          </a:p>
        </p:txBody>
      </p:sp>
      <p:sp>
        <p:nvSpPr>
          <p:cNvPr id="63" name="Rectangle 62">
            <a:extLst>
              <a:ext uri="{FF2B5EF4-FFF2-40B4-BE49-F238E27FC236}">
                <a16:creationId xmlns:a16="http://schemas.microsoft.com/office/drawing/2014/main" id="{D379B2B8-FA02-C5A9-45E5-E3B5EC69A67E}"/>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Select model inputs</a:t>
            </a:r>
          </a:p>
        </p:txBody>
      </p:sp>
      <p:sp>
        <p:nvSpPr>
          <p:cNvPr id="64" name="Rectangle 63">
            <a:extLst>
              <a:ext uri="{FF2B5EF4-FFF2-40B4-BE49-F238E27FC236}">
                <a16:creationId xmlns:a16="http://schemas.microsoft.com/office/drawing/2014/main" id="{4DF6B5B9-9C8D-B3A1-D801-0413AFB93041}"/>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Simulate multiple decision options</a:t>
            </a:r>
          </a:p>
        </p:txBody>
      </p:sp>
      <p:sp>
        <p:nvSpPr>
          <p:cNvPr id="65" name="Rectangle 64">
            <a:extLst>
              <a:ext uri="{FF2B5EF4-FFF2-40B4-BE49-F238E27FC236}">
                <a16:creationId xmlns:a16="http://schemas.microsoft.com/office/drawing/2014/main" id="{E83E06FB-4B32-956E-E82B-E8C4B4BFF933}"/>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Sensitivity and scenario analyses</a:t>
            </a:r>
          </a:p>
        </p:txBody>
      </p:sp>
      <p:sp>
        <p:nvSpPr>
          <p:cNvPr id="66" name="Rectangle 65">
            <a:extLst>
              <a:ext uri="{FF2B5EF4-FFF2-40B4-BE49-F238E27FC236}">
                <a16:creationId xmlns:a16="http://schemas.microsoft.com/office/drawing/2014/main" id="{E53D2248-ECD6-E978-7599-431E4A73F3D1}"/>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Evaluate results</a:t>
            </a:r>
          </a:p>
        </p:txBody>
      </p:sp>
      <p:sp>
        <p:nvSpPr>
          <p:cNvPr id="67" name="Isosceles Triangle 66">
            <a:extLst>
              <a:ext uri="{FF2B5EF4-FFF2-40B4-BE49-F238E27FC236}">
                <a16:creationId xmlns:a16="http://schemas.microsoft.com/office/drawing/2014/main" id="{0146D27A-5455-7AC1-733E-7373AC187BE9}"/>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8" name="Isosceles Triangle 67">
            <a:extLst>
              <a:ext uri="{FF2B5EF4-FFF2-40B4-BE49-F238E27FC236}">
                <a16:creationId xmlns:a16="http://schemas.microsoft.com/office/drawing/2014/main" id="{E2B48EBD-2C35-CC46-CD64-76259857E722}"/>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9" name="Isosceles Triangle 68">
            <a:extLst>
              <a:ext uri="{FF2B5EF4-FFF2-40B4-BE49-F238E27FC236}">
                <a16:creationId xmlns:a16="http://schemas.microsoft.com/office/drawing/2014/main" id="{60646B21-4D5F-B3E9-1938-BBF95D17AB75}"/>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70" name="Isosceles Triangle 69">
            <a:extLst>
              <a:ext uri="{FF2B5EF4-FFF2-40B4-BE49-F238E27FC236}">
                <a16:creationId xmlns:a16="http://schemas.microsoft.com/office/drawing/2014/main" id="{C1A1D005-43BB-8000-2DE7-1A8DEA0DE147}"/>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71" name="Isosceles Triangle 70">
            <a:extLst>
              <a:ext uri="{FF2B5EF4-FFF2-40B4-BE49-F238E27FC236}">
                <a16:creationId xmlns:a16="http://schemas.microsoft.com/office/drawing/2014/main" id="{D6CBC9EC-95F9-85BB-F4AE-11E58848A135}"/>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72" name="Isosceles Triangle 71">
            <a:extLst>
              <a:ext uri="{FF2B5EF4-FFF2-40B4-BE49-F238E27FC236}">
                <a16:creationId xmlns:a16="http://schemas.microsoft.com/office/drawing/2014/main" id="{D9A128B2-E8D9-3995-1AF5-3A00971684C0}"/>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73" name="Isosceles Triangle 72">
            <a:extLst>
              <a:ext uri="{FF2B5EF4-FFF2-40B4-BE49-F238E27FC236}">
                <a16:creationId xmlns:a16="http://schemas.microsoft.com/office/drawing/2014/main" id="{9AEAE7B0-62C4-CF00-DD04-808C112F4DAC}"/>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 name="Title 1">
            <a:extLst>
              <a:ext uri="{FF2B5EF4-FFF2-40B4-BE49-F238E27FC236}">
                <a16:creationId xmlns:a16="http://schemas.microsoft.com/office/drawing/2014/main" id="{44F4FA84-108C-408F-996E-BAAD65499EB0}"/>
              </a:ext>
            </a:extLst>
          </p:cNvPr>
          <p:cNvSpPr>
            <a:spLocks noGrp="1"/>
          </p:cNvSpPr>
          <p:nvPr>
            <p:ph type="title"/>
          </p:nvPr>
        </p:nvSpPr>
        <p:spPr/>
        <p:txBody>
          <a:bodyPr/>
          <a:lstStyle/>
          <a:p>
            <a:r>
              <a:rPr lang="en-US" noProof="0" dirty="0"/>
              <a:t>Step⑦ Sensitivity and Scenario Analyses (Example)</a:t>
            </a:r>
          </a:p>
        </p:txBody>
      </p:sp>
      <p:sp>
        <p:nvSpPr>
          <p:cNvPr id="3" name="Table Placeholder 2">
            <a:extLst>
              <a:ext uri="{FF2B5EF4-FFF2-40B4-BE49-F238E27FC236}">
                <a16:creationId xmlns:a16="http://schemas.microsoft.com/office/drawing/2014/main" id="{62650BBE-2A63-5032-3183-459B4E2A4212}"/>
              </a:ext>
            </a:extLst>
          </p:cNvPr>
          <p:cNvSpPr>
            <a:spLocks noGrp="1"/>
          </p:cNvSpPr>
          <p:nvPr>
            <p:ph type="tbl" sz="quarter" idx="10"/>
          </p:nvPr>
        </p:nvSpPr>
        <p:spPr>
          <a:xfrm>
            <a:off x="4815839" y="1938130"/>
            <a:ext cx="6909021" cy="4692045"/>
          </a:xfrm>
        </p:spPr>
        <p:txBody>
          <a:bodyPr/>
          <a:lstStyle/>
          <a:p>
            <a:r>
              <a:rPr lang="en-US" noProof="0" dirty="0"/>
              <a:t>Approaches to handling parameter uncertainty</a:t>
            </a:r>
          </a:p>
        </p:txBody>
      </p:sp>
      <p:sp>
        <p:nvSpPr>
          <p:cNvPr id="4" name="Slide Number Placeholder 3">
            <a:extLst>
              <a:ext uri="{FF2B5EF4-FFF2-40B4-BE49-F238E27FC236}">
                <a16:creationId xmlns:a16="http://schemas.microsoft.com/office/drawing/2014/main" id="{7D0C978F-886C-87DA-96C5-3F1AC33733F3}"/>
              </a:ext>
            </a:extLst>
          </p:cNvPr>
          <p:cNvSpPr>
            <a:spLocks noGrp="1"/>
          </p:cNvSpPr>
          <p:nvPr>
            <p:ph type="sldNum" sz="quarter" idx="4"/>
          </p:nvPr>
        </p:nvSpPr>
        <p:spPr/>
        <p:txBody>
          <a:bodyPr/>
          <a:lstStyle/>
          <a:p>
            <a:fld id="{B5CEABB6-07DC-46E8-9B57-56EC44A396E5}" type="slidenum">
              <a:rPr lang="en-US" noProof="0" smtClean="0"/>
              <a:pPr/>
              <a:t>25</a:t>
            </a:fld>
            <a:endParaRPr lang="en-US" noProof="0" dirty="0"/>
          </a:p>
        </p:txBody>
      </p:sp>
      <p:sp>
        <p:nvSpPr>
          <p:cNvPr id="5" name="Table Placeholder 4">
            <a:extLst>
              <a:ext uri="{FF2B5EF4-FFF2-40B4-BE49-F238E27FC236}">
                <a16:creationId xmlns:a16="http://schemas.microsoft.com/office/drawing/2014/main" id="{F74314DA-371B-CA7E-9FBA-E79CE3D80A18}"/>
              </a:ext>
            </a:extLst>
          </p:cNvPr>
          <p:cNvSpPr>
            <a:spLocks noGrp="1"/>
          </p:cNvSpPr>
          <p:nvPr>
            <p:ph type="tbl" sz="quarter" idx="11"/>
          </p:nvPr>
        </p:nvSpPr>
        <p:spPr/>
        <p:txBody>
          <a:bodyPr/>
          <a:lstStyle/>
          <a:p>
            <a:r>
              <a:rPr lang="en-US" noProof="0" dirty="0"/>
              <a:t>To address parameter uncertainty, two common approaches are used.</a:t>
            </a:r>
          </a:p>
        </p:txBody>
      </p:sp>
      <p:sp>
        <p:nvSpPr>
          <p:cNvPr id="29" name="Rectangle 28">
            <a:extLst>
              <a:ext uri="{FF2B5EF4-FFF2-40B4-BE49-F238E27FC236}">
                <a16:creationId xmlns:a16="http://schemas.microsoft.com/office/drawing/2014/main" id="{D82CFBBE-1F24-882C-0B20-3D94519BDD8B}"/>
              </a:ext>
            </a:extLst>
          </p:cNvPr>
          <p:cNvSpPr/>
          <p:nvPr/>
        </p:nvSpPr>
        <p:spPr>
          <a:xfrm>
            <a:off x="4694922" y="1938130"/>
            <a:ext cx="120917" cy="4692045"/>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34" name="Straight Connector 33">
            <a:extLst>
              <a:ext uri="{FF2B5EF4-FFF2-40B4-BE49-F238E27FC236}">
                <a16:creationId xmlns:a16="http://schemas.microsoft.com/office/drawing/2014/main" id="{31F86D48-0F7E-56A5-D24C-15DA72C3CF8D}"/>
              </a:ext>
            </a:extLst>
          </p:cNvPr>
          <p:cNvCxnSpPr>
            <a:cxnSpLocks/>
            <a:stCxn id="65" idx="3"/>
            <a:endCxn id="29" idx="1"/>
          </p:cNvCxnSpPr>
          <p:nvPr/>
        </p:nvCxnSpPr>
        <p:spPr>
          <a:xfrm flipV="1">
            <a:off x="3989294" y="4284153"/>
            <a:ext cx="705628" cy="1516279"/>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6" name="Arrow: Down 35">
            <a:extLst>
              <a:ext uri="{FF2B5EF4-FFF2-40B4-BE49-F238E27FC236}">
                <a16:creationId xmlns:a16="http://schemas.microsoft.com/office/drawing/2014/main" id="{770CAEC3-2034-A2B6-5EC1-4A3633146DB2}"/>
              </a:ext>
            </a:extLst>
          </p:cNvPr>
          <p:cNvSpPr/>
          <p:nvPr/>
        </p:nvSpPr>
        <p:spPr>
          <a:xfrm rot="2220979">
            <a:off x="6684242" y="3625213"/>
            <a:ext cx="660615" cy="66425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7" name="Arrow: Down 36">
            <a:extLst>
              <a:ext uri="{FF2B5EF4-FFF2-40B4-BE49-F238E27FC236}">
                <a16:creationId xmlns:a16="http://schemas.microsoft.com/office/drawing/2014/main" id="{6228E1B0-C05A-CA7D-2010-F5DADE9109D8}"/>
              </a:ext>
            </a:extLst>
          </p:cNvPr>
          <p:cNvSpPr/>
          <p:nvPr/>
        </p:nvSpPr>
        <p:spPr>
          <a:xfrm rot="18828884">
            <a:off x="9263941" y="3625213"/>
            <a:ext cx="660615" cy="66425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8" name="Rectangle 37">
            <a:extLst>
              <a:ext uri="{FF2B5EF4-FFF2-40B4-BE49-F238E27FC236}">
                <a16:creationId xmlns:a16="http://schemas.microsoft.com/office/drawing/2014/main" id="{110F4FA9-DF34-CD89-F658-74340091441E}"/>
              </a:ext>
            </a:extLst>
          </p:cNvPr>
          <p:cNvSpPr/>
          <p:nvPr/>
        </p:nvSpPr>
        <p:spPr>
          <a:xfrm>
            <a:off x="4876245" y="4322900"/>
            <a:ext cx="3545421" cy="2985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Test plausible boundary values</a:t>
            </a:r>
          </a:p>
        </p:txBody>
      </p:sp>
      <p:sp>
        <p:nvSpPr>
          <p:cNvPr id="39" name="Rectangle 38">
            <a:extLst>
              <a:ext uri="{FF2B5EF4-FFF2-40B4-BE49-F238E27FC236}">
                <a16:creationId xmlns:a16="http://schemas.microsoft.com/office/drawing/2014/main" id="{9E88A485-BC8C-C593-4CB9-A07C229AB84D}"/>
              </a:ext>
            </a:extLst>
          </p:cNvPr>
          <p:cNvSpPr/>
          <p:nvPr/>
        </p:nvSpPr>
        <p:spPr>
          <a:xfrm>
            <a:off x="9048175" y="4322900"/>
            <a:ext cx="2663727" cy="2985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Sample from </a:t>
            </a:r>
          </a:p>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probability distributions</a:t>
            </a:r>
          </a:p>
        </p:txBody>
      </p:sp>
      <p:sp>
        <p:nvSpPr>
          <p:cNvPr id="41" name="Rectangle 40">
            <a:extLst>
              <a:ext uri="{FF2B5EF4-FFF2-40B4-BE49-F238E27FC236}">
                <a16:creationId xmlns:a16="http://schemas.microsoft.com/office/drawing/2014/main" id="{A4352CC2-877D-467D-3A11-5B017B1F3289}"/>
              </a:ext>
            </a:extLst>
          </p:cNvPr>
          <p:cNvSpPr/>
          <p:nvPr/>
        </p:nvSpPr>
        <p:spPr>
          <a:xfrm>
            <a:off x="9048175" y="6268276"/>
            <a:ext cx="2663727" cy="2985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Generates an outcome </a:t>
            </a:r>
          </a:p>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distribution across iterations</a:t>
            </a:r>
          </a:p>
        </p:txBody>
      </p:sp>
      <p:sp>
        <p:nvSpPr>
          <p:cNvPr id="42" name="Rectangle 41">
            <a:extLst>
              <a:ext uri="{FF2B5EF4-FFF2-40B4-BE49-F238E27FC236}">
                <a16:creationId xmlns:a16="http://schemas.microsoft.com/office/drawing/2014/main" id="{1CA5DD6A-777C-6ADB-3D06-F7238C1949E0}"/>
              </a:ext>
            </a:extLst>
          </p:cNvPr>
          <p:cNvSpPr/>
          <p:nvPr/>
        </p:nvSpPr>
        <p:spPr>
          <a:xfrm>
            <a:off x="5317092" y="6268276"/>
            <a:ext cx="2663727" cy="2985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Produces a range of outcomes</a:t>
            </a:r>
          </a:p>
        </p:txBody>
      </p:sp>
      <p:pic>
        <p:nvPicPr>
          <p:cNvPr id="43" name="Picture 42">
            <a:extLst>
              <a:ext uri="{FF2B5EF4-FFF2-40B4-BE49-F238E27FC236}">
                <a16:creationId xmlns:a16="http://schemas.microsoft.com/office/drawing/2014/main" id="{59C9BFE3-EAB0-3956-2E08-8CA6DBD91AE4}"/>
              </a:ext>
            </a:extLst>
          </p:cNvPr>
          <p:cNvPicPr>
            <a:picLocks noChangeAspect="1"/>
          </p:cNvPicPr>
          <p:nvPr/>
        </p:nvPicPr>
        <p:blipFill>
          <a:blip r:embed="rId2"/>
          <a:srcRect t="9581" b="9581"/>
          <a:stretch/>
        </p:blipFill>
        <p:spPr>
          <a:xfrm>
            <a:off x="5011569" y="2336095"/>
            <a:ext cx="6834208" cy="1187180"/>
          </a:xfrm>
          <a:prstGeom prst="rect">
            <a:avLst/>
          </a:prstGeom>
        </p:spPr>
      </p:pic>
      <p:pic>
        <p:nvPicPr>
          <p:cNvPr id="44" name="Picture 43">
            <a:extLst>
              <a:ext uri="{FF2B5EF4-FFF2-40B4-BE49-F238E27FC236}">
                <a16:creationId xmlns:a16="http://schemas.microsoft.com/office/drawing/2014/main" id="{CE50C2B1-8901-F024-6375-AF44D4BB9778}"/>
              </a:ext>
            </a:extLst>
          </p:cNvPr>
          <p:cNvPicPr>
            <a:picLocks noChangeAspect="1"/>
          </p:cNvPicPr>
          <p:nvPr/>
        </p:nvPicPr>
        <p:blipFill>
          <a:blip r:embed="rId3"/>
          <a:srcRect t="1315" b="1315"/>
          <a:stretch/>
        </p:blipFill>
        <p:spPr>
          <a:xfrm>
            <a:off x="5111923" y="4776871"/>
            <a:ext cx="3019014" cy="1436488"/>
          </a:xfrm>
          <a:prstGeom prst="rect">
            <a:avLst/>
          </a:prstGeom>
        </p:spPr>
      </p:pic>
      <p:sp>
        <p:nvSpPr>
          <p:cNvPr id="45" name="Rectangle: Rounded Corners 44">
            <a:extLst>
              <a:ext uri="{FF2B5EF4-FFF2-40B4-BE49-F238E27FC236}">
                <a16:creationId xmlns:a16="http://schemas.microsoft.com/office/drawing/2014/main" id="{261529BE-C28F-3A40-995D-5735357FBCD6}"/>
              </a:ext>
            </a:extLst>
          </p:cNvPr>
          <p:cNvSpPr/>
          <p:nvPr/>
        </p:nvSpPr>
        <p:spPr>
          <a:xfrm>
            <a:off x="6611353" y="5517765"/>
            <a:ext cx="669851" cy="328104"/>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47" name="Rectangle: Rounded Corners 46">
            <a:extLst>
              <a:ext uri="{FF2B5EF4-FFF2-40B4-BE49-F238E27FC236}">
                <a16:creationId xmlns:a16="http://schemas.microsoft.com/office/drawing/2014/main" id="{A1E0386F-D664-FE50-9760-3D766392DB9C}"/>
              </a:ext>
            </a:extLst>
          </p:cNvPr>
          <p:cNvSpPr/>
          <p:nvPr/>
        </p:nvSpPr>
        <p:spPr>
          <a:xfrm>
            <a:off x="7403714" y="5517765"/>
            <a:ext cx="669851" cy="328104"/>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83" name="Oval 82">
            <a:extLst>
              <a:ext uri="{FF2B5EF4-FFF2-40B4-BE49-F238E27FC236}">
                <a16:creationId xmlns:a16="http://schemas.microsoft.com/office/drawing/2014/main" id="{953DE6CD-9901-CE52-89BC-F167611518F3}"/>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1</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84" name="Oval 83">
            <a:extLst>
              <a:ext uri="{FF2B5EF4-FFF2-40B4-BE49-F238E27FC236}">
                <a16:creationId xmlns:a16="http://schemas.microsoft.com/office/drawing/2014/main" id="{67A3A4BA-C9C7-3DE2-B65E-6D57A1AE93AE}"/>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2</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85" name="Oval 84">
            <a:extLst>
              <a:ext uri="{FF2B5EF4-FFF2-40B4-BE49-F238E27FC236}">
                <a16:creationId xmlns:a16="http://schemas.microsoft.com/office/drawing/2014/main" id="{3E74F978-CA7A-83CE-E535-123049D96AEA}"/>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3</a:t>
            </a:r>
          </a:p>
        </p:txBody>
      </p:sp>
      <p:sp>
        <p:nvSpPr>
          <p:cNvPr id="86" name="Oval 85">
            <a:extLst>
              <a:ext uri="{FF2B5EF4-FFF2-40B4-BE49-F238E27FC236}">
                <a16:creationId xmlns:a16="http://schemas.microsoft.com/office/drawing/2014/main" id="{8609BDC2-D15B-DE5C-26F8-CEEF43E49F3A}"/>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4</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87" name="Oval 86">
            <a:extLst>
              <a:ext uri="{FF2B5EF4-FFF2-40B4-BE49-F238E27FC236}">
                <a16:creationId xmlns:a16="http://schemas.microsoft.com/office/drawing/2014/main" id="{249D9655-6510-7008-14FC-C57523618867}"/>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5</a:t>
            </a:r>
          </a:p>
        </p:txBody>
      </p:sp>
      <p:sp>
        <p:nvSpPr>
          <p:cNvPr id="88" name="Oval 87">
            <a:extLst>
              <a:ext uri="{FF2B5EF4-FFF2-40B4-BE49-F238E27FC236}">
                <a16:creationId xmlns:a16="http://schemas.microsoft.com/office/drawing/2014/main" id="{0C334EB6-96CD-FBA6-6FDF-767B9E8E255E}"/>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6</a:t>
            </a:r>
          </a:p>
        </p:txBody>
      </p:sp>
      <p:sp>
        <p:nvSpPr>
          <p:cNvPr id="89" name="Oval 88">
            <a:extLst>
              <a:ext uri="{FF2B5EF4-FFF2-40B4-BE49-F238E27FC236}">
                <a16:creationId xmlns:a16="http://schemas.microsoft.com/office/drawing/2014/main" id="{5B879294-85AD-6C08-1595-C37B321596D1}"/>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bg1"/>
                </a:solidFill>
                <a:latin typeface="Arial" panose="020B0604020202020204" pitchFamily="34" charset="0"/>
                <a:ea typeface="Meiryo UI" panose="020B0604030504040204" pitchFamily="50" charset="-128"/>
                <a:cs typeface="Arial" panose="020B0604020202020204" pitchFamily="34" charset="0"/>
              </a:rPr>
              <a:t>7</a:t>
            </a:r>
          </a:p>
        </p:txBody>
      </p:sp>
      <p:sp>
        <p:nvSpPr>
          <p:cNvPr id="90" name="Oval 89">
            <a:extLst>
              <a:ext uri="{FF2B5EF4-FFF2-40B4-BE49-F238E27FC236}">
                <a16:creationId xmlns:a16="http://schemas.microsoft.com/office/drawing/2014/main" id="{F487EA10-6FC0-58D7-7258-86B90F0D9C40}"/>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8</a:t>
            </a:r>
          </a:p>
        </p:txBody>
      </p:sp>
      <p:grpSp>
        <p:nvGrpSpPr>
          <p:cNvPr id="91" name="Group 90">
            <a:extLst>
              <a:ext uri="{FF2B5EF4-FFF2-40B4-BE49-F238E27FC236}">
                <a16:creationId xmlns:a16="http://schemas.microsoft.com/office/drawing/2014/main" id="{CFCDD7C4-883F-05B0-314F-743D98ADAC57}"/>
              </a:ext>
            </a:extLst>
          </p:cNvPr>
          <p:cNvGrpSpPr/>
          <p:nvPr/>
        </p:nvGrpSpPr>
        <p:grpSpPr>
          <a:xfrm>
            <a:off x="467139" y="108959"/>
            <a:ext cx="4197304" cy="307297"/>
            <a:chOff x="562270" y="127168"/>
            <a:chExt cx="4197304" cy="307297"/>
          </a:xfrm>
        </p:grpSpPr>
        <p:sp>
          <p:nvSpPr>
            <p:cNvPr id="92" name="Arrow: Pentagon 91">
              <a:extLst>
                <a:ext uri="{FF2B5EF4-FFF2-40B4-BE49-F238E27FC236}">
                  <a16:creationId xmlns:a16="http://schemas.microsoft.com/office/drawing/2014/main" id="{BE1D97A8-A36C-8AB0-129A-83FA041CBDEC}"/>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93" name="Arrow: Pentagon 92">
              <a:extLst>
                <a:ext uri="{FF2B5EF4-FFF2-40B4-BE49-F238E27FC236}">
                  <a16:creationId xmlns:a16="http://schemas.microsoft.com/office/drawing/2014/main" id="{E0A71600-BB01-E5B3-0711-AF20120F35D2}"/>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94" name="Arrow: Pentagon 93">
              <a:extLst>
                <a:ext uri="{FF2B5EF4-FFF2-40B4-BE49-F238E27FC236}">
                  <a16:creationId xmlns:a16="http://schemas.microsoft.com/office/drawing/2014/main" id="{5624F6AE-A997-A1A0-3C6D-B9DEE8DEBF40}"/>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23052579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839CE-40D2-2C41-E352-86F07364C0FD}"/>
            </a:ext>
          </a:extLst>
        </p:cNvPr>
        <p:cNvGrpSpPr/>
        <p:nvPr/>
      </p:nvGrpSpPr>
      <p:grpSpPr>
        <a:xfrm>
          <a:off x="0" y="0"/>
          <a:ext cx="0" cy="0"/>
          <a:chOff x="0" y="0"/>
          <a:chExt cx="0" cy="0"/>
        </a:xfrm>
      </p:grpSpPr>
      <p:sp>
        <p:nvSpPr>
          <p:cNvPr id="39" name="Rectangle 38">
            <a:extLst>
              <a:ext uri="{FF2B5EF4-FFF2-40B4-BE49-F238E27FC236}">
                <a16:creationId xmlns:a16="http://schemas.microsoft.com/office/drawing/2014/main" id="{F70EB93C-A713-D551-9A46-98EEB4F8F2AA}"/>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Define the problem and objectives</a:t>
            </a:r>
          </a:p>
        </p:txBody>
      </p:sp>
      <p:sp>
        <p:nvSpPr>
          <p:cNvPr id="41" name="Rectangle 40">
            <a:extLst>
              <a:ext uri="{FF2B5EF4-FFF2-40B4-BE49-F238E27FC236}">
                <a16:creationId xmlns:a16="http://schemas.microsoft.com/office/drawing/2014/main" id="{540DA16C-C86A-7DDB-1438-348BDE1E0647}"/>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Design simulation model</a:t>
            </a:r>
          </a:p>
        </p:txBody>
      </p:sp>
      <p:sp>
        <p:nvSpPr>
          <p:cNvPr id="43" name="Rectangle 42">
            <a:extLst>
              <a:ext uri="{FF2B5EF4-FFF2-40B4-BE49-F238E27FC236}">
                <a16:creationId xmlns:a16="http://schemas.microsoft.com/office/drawing/2014/main" id="{8587D2E1-47D4-3202-1355-E545D28635A8}"/>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Select simulation model</a:t>
            </a:r>
          </a:p>
        </p:txBody>
      </p:sp>
      <p:sp>
        <p:nvSpPr>
          <p:cNvPr id="44" name="Rectangle 43">
            <a:extLst>
              <a:ext uri="{FF2B5EF4-FFF2-40B4-BE49-F238E27FC236}">
                <a16:creationId xmlns:a16="http://schemas.microsoft.com/office/drawing/2014/main" id="{7EF00FEE-B184-2903-98B4-2AF4A552F2EC}"/>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Define outcomes</a:t>
            </a:r>
          </a:p>
        </p:txBody>
      </p:sp>
      <p:sp>
        <p:nvSpPr>
          <p:cNvPr id="45" name="Rectangle 44">
            <a:extLst>
              <a:ext uri="{FF2B5EF4-FFF2-40B4-BE49-F238E27FC236}">
                <a16:creationId xmlns:a16="http://schemas.microsoft.com/office/drawing/2014/main" id="{2EAED5D2-72B4-5A60-BAC5-E43549C4A91D}"/>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Select model inputs</a:t>
            </a:r>
          </a:p>
        </p:txBody>
      </p:sp>
      <p:sp>
        <p:nvSpPr>
          <p:cNvPr id="46" name="Rectangle 45">
            <a:extLst>
              <a:ext uri="{FF2B5EF4-FFF2-40B4-BE49-F238E27FC236}">
                <a16:creationId xmlns:a16="http://schemas.microsoft.com/office/drawing/2014/main" id="{DE44D834-E84B-9A29-B3C7-FBD9236BCD2A}"/>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Simulate multiple decision options</a:t>
            </a:r>
          </a:p>
        </p:txBody>
      </p:sp>
      <p:sp>
        <p:nvSpPr>
          <p:cNvPr id="47" name="Rectangle 46">
            <a:extLst>
              <a:ext uri="{FF2B5EF4-FFF2-40B4-BE49-F238E27FC236}">
                <a16:creationId xmlns:a16="http://schemas.microsoft.com/office/drawing/2014/main" id="{D4969A46-A11A-B991-16EE-23265C5A649A}"/>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Sensitivity and scenario analyses</a:t>
            </a:r>
          </a:p>
        </p:txBody>
      </p:sp>
      <p:sp>
        <p:nvSpPr>
          <p:cNvPr id="48" name="Rectangle 47">
            <a:extLst>
              <a:ext uri="{FF2B5EF4-FFF2-40B4-BE49-F238E27FC236}">
                <a16:creationId xmlns:a16="http://schemas.microsoft.com/office/drawing/2014/main" id="{F6D8B515-1327-0A9B-7005-AACB8D4CF714}"/>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Evaluate results</a:t>
            </a:r>
          </a:p>
        </p:txBody>
      </p:sp>
      <p:sp>
        <p:nvSpPr>
          <p:cNvPr id="49" name="Isosceles Triangle 48">
            <a:extLst>
              <a:ext uri="{FF2B5EF4-FFF2-40B4-BE49-F238E27FC236}">
                <a16:creationId xmlns:a16="http://schemas.microsoft.com/office/drawing/2014/main" id="{4EC03334-42CC-DFA8-00F4-F2F616E23789}"/>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0" name="Isosceles Triangle 49">
            <a:extLst>
              <a:ext uri="{FF2B5EF4-FFF2-40B4-BE49-F238E27FC236}">
                <a16:creationId xmlns:a16="http://schemas.microsoft.com/office/drawing/2014/main" id="{A35396AA-F776-9DCA-0B3C-48F0C7748702}"/>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1" name="Isosceles Triangle 50">
            <a:extLst>
              <a:ext uri="{FF2B5EF4-FFF2-40B4-BE49-F238E27FC236}">
                <a16:creationId xmlns:a16="http://schemas.microsoft.com/office/drawing/2014/main" id="{3D4E5993-97BC-2BE7-E621-280F18F757E5}"/>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2" name="Isosceles Triangle 51">
            <a:extLst>
              <a:ext uri="{FF2B5EF4-FFF2-40B4-BE49-F238E27FC236}">
                <a16:creationId xmlns:a16="http://schemas.microsoft.com/office/drawing/2014/main" id="{65B28920-7E88-9826-F982-24C1B7C993F7}"/>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3" name="Isosceles Triangle 52">
            <a:extLst>
              <a:ext uri="{FF2B5EF4-FFF2-40B4-BE49-F238E27FC236}">
                <a16:creationId xmlns:a16="http://schemas.microsoft.com/office/drawing/2014/main" id="{8986E17E-E171-13A9-B416-D922BEF3267A}"/>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4" name="Isosceles Triangle 53">
            <a:extLst>
              <a:ext uri="{FF2B5EF4-FFF2-40B4-BE49-F238E27FC236}">
                <a16:creationId xmlns:a16="http://schemas.microsoft.com/office/drawing/2014/main" id="{D4E64D93-AB20-6DE1-3DF8-3DBA1466BADD}"/>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5" name="Isosceles Triangle 54">
            <a:extLst>
              <a:ext uri="{FF2B5EF4-FFF2-40B4-BE49-F238E27FC236}">
                <a16:creationId xmlns:a16="http://schemas.microsoft.com/office/drawing/2014/main" id="{09D790D3-5CE5-AD8D-7107-EF49EB93FC0D}"/>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9" name="TextBox 28">
            <a:extLst>
              <a:ext uri="{FF2B5EF4-FFF2-40B4-BE49-F238E27FC236}">
                <a16:creationId xmlns:a16="http://schemas.microsoft.com/office/drawing/2014/main" id="{7E2A699B-AB39-9071-2879-45E754CC234E}"/>
              </a:ext>
            </a:extLst>
          </p:cNvPr>
          <p:cNvSpPr txBox="1"/>
          <p:nvPr/>
        </p:nvSpPr>
        <p:spPr>
          <a:xfrm>
            <a:off x="4945378" y="6469597"/>
            <a:ext cx="7039358" cy="184666"/>
          </a:xfrm>
          <a:prstGeom prst="rect">
            <a:avLst/>
          </a:prstGeom>
          <a:solidFill>
            <a:schemeClr val="bg1"/>
          </a:solidFill>
        </p:spPr>
        <p:txBody>
          <a:bodyPr wrap="square" lIns="0" tIns="0" rIns="0" bIns="0">
            <a:spAutoFit/>
          </a:bodyPr>
          <a:lstStyle/>
          <a:p>
            <a:r>
              <a:rPr lang="en-US" sz="1200" noProof="0" dirty="0">
                <a:latin typeface="Arial" panose="020B0604020202020204" pitchFamily="34" charset="0"/>
                <a:ea typeface="Meiryo UI" panose="020B0604030504040204" pitchFamily="50" charset="-128"/>
                <a:cs typeface="Arial" panose="020B0604020202020204" pitchFamily="34" charset="0"/>
              </a:rPr>
              <a:t>WHO. Introduction to Drug Utilization Research. 2003</a:t>
            </a:r>
          </a:p>
        </p:txBody>
      </p:sp>
      <p:sp>
        <p:nvSpPr>
          <p:cNvPr id="2" name="Title 1">
            <a:extLst>
              <a:ext uri="{FF2B5EF4-FFF2-40B4-BE49-F238E27FC236}">
                <a16:creationId xmlns:a16="http://schemas.microsoft.com/office/drawing/2014/main" id="{2D949A6F-CEBF-370B-97A9-F9BFF70C76DC}"/>
              </a:ext>
            </a:extLst>
          </p:cNvPr>
          <p:cNvSpPr>
            <a:spLocks noGrp="1"/>
          </p:cNvSpPr>
          <p:nvPr>
            <p:ph type="title"/>
          </p:nvPr>
        </p:nvSpPr>
        <p:spPr/>
        <p:txBody>
          <a:bodyPr/>
          <a:lstStyle/>
          <a:p>
            <a:r>
              <a:rPr lang="en-US" noProof="0" dirty="0"/>
              <a:t>Step⑧ Evaluating Results</a:t>
            </a:r>
          </a:p>
        </p:txBody>
      </p:sp>
      <p:sp>
        <p:nvSpPr>
          <p:cNvPr id="3" name="Table Placeholder 2">
            <a:extLst>
              <a:ext uri="{FF2B5EF4-FFF2-40B4-BE49-F238E27FC236}">
                <a16:creationId xmlns:a16="http://schemas.microsoft.com/office/drawing/2014/main" id="{8589A3CF-EC50-1467-BCDA-04FACB62C9C8}"/>
              </a:ext>
            </a:extLst>
          </p:cNvPr>
          <p:cNvSpPr>
            <a:spLocks noGrp="1"/>
          </p:cNvSpPr>
          <p:nvPr>
            <p:ph type="tbl" sz="quarter" idx="10"/>
          </p:nvPr>
        </p:nvSpPr>
        <p:spPr>
          <a:xfrm>
            <a:off x="4815839" y="1938130"/>
            <a:ext cx="6909021" cy="4692045"/>
          </a:xfrm>
        </p:spPr>
        <p:txBody>
          <a:bodyPr/>
          <a:lstStyle/>
          <a:p>
            <a:r>
              <a:rPr lang="en-US" noProof="0" dirty="0"/>
              <a:t>Methods for evaluating cost–effect trade-offs </a:t>
            </a:r>
            <a:r>
              <a:rPr lang="en-US" sz="1800" noProof="0" dirty="0"/>
              <a:t>(WHO. 2003)</a:t>
            </a:r>
            <a:endParaRPr lang="en-US" noProof="0" dirty="0"/>
          </a:p>
          <a:p>
            <a:pPr lvl="1"/>
            <a:r>
              <a:rPr lang="en-US" noProof="0" dirty="0"/>
              <a:t>Cost-minimization analysis</a:t>
            </a:r>
          </a:p>
          <a:p>
            <a:pPr lvl="2"/>
            <a:r>
              <a:rPr lang="en-US" noProof="0" dirty="0"/>
              <a:t>Compare costs across options and select the least costly. Requires that outcomes be equivalent across options.</a:t>
            </a:r>
          </a:p>
          <a:p>
            <a:pPr lvl="1"/>
            <a:r>
              <a:rPr lang="en-US" noProof="0" dirty="0"/>
              <a:t>Cost-benefit analysis</a:t>
            </a:r>
          </a:p>
          <a:p>
            <a:pPr lvl="2"/>
            <a:r>
              <a:rPr lang="en-US" noProof="0" dirty="0"/>
              <a:t>Compare the difference between monetized benefits and costs. Select the option with the largest net benefit. Less commonly used due to the difficulty of monetizing health outcomes.</a:t>
            </a:r>
          </a:p>
          <a:p>
            <a:pPr lvl="1"/>
            <a:r>
              <a:rPr lang="en-US" b="1" noProof="0" dirty="0"/>
              <a:t>Cot-effectiveness analysis</a:t>
            </a:r>
            <a:endParaRPr lang="en-US" noProof="0" dirty="0"/>
          </a:p>
          <a:p>
            <a:pPr lvl="2"/>
            <a:r>
              <a:rPr lang="en-US" b="1" noProof="0" dirty="0"/>
              <a:t>Compare options based on the incremental cost per incremental unit of effect.</a:t>
            </a:r>
            <a:endParaRPr lang="en-US" sz="2400" b="1" noProof="0" dirty="0"/>
          </a:p>
        </p:txBody>
      </p:sp>
      <p:sp>
        <p:nvSpPr>
          <p:cNvPr id="4" name="Slide Number Placeholder 3">
            <a:extLst>
              <a:ext uri="{FF2B5EF4-FFF2-40B4-BE49-F238E27FC236}">
                <a16:creationId xmlns:a16="http://schemas.microsoft.com/office/drawing/2014/main" id="{61054BC2-3E13-9DCB-30A0-3A19625E889F}"/>
              </a:ext>
            </a:extLst>
          </p:cNvPr>
          <p:cNvSpPr>
            <a:spLocks noGrp="1"/>
          </p:cNvSpPr>
          <p:nvPr>
            <p:ph type="sldNum" sz="quarter" idx="4"/>
          </p:nvPr>
        </p:nvSpPr>
        <p:spPr/>
        <p:txBody>
          <a:bodyPr/>
          <a:lstStyle/>
          <a:p>
            <a:fld id="{B5CEABB6-07DC-46E8-9B57-56EC44A396E5}" type="slidenum">
              <a:rPr lang="en-US" noProof="0" smtClean="0"/>
              <a:pPr/>
              <a:t>26</a:t>
            </a:fld>
            <a:endParaRPr lang="en-US" noProof="0" dirty="0"/>
          </a:p>
        </p:txBody>
      </p:sp>
      <p:sp>
        <p:nvSpPr>
          <p:cNvPr id="5" name="Table Placeholder 4">
            <a:extLst>
              <a:ext uri="{FF2B5EF4-FFF2-40B4-BE49-F238E27FC236}">
                <a16:creationId xmlns:a16="http://schemas.microsoft.com/office/drawing/2014/main" id="{1672B496-8DDD-FBD6-022D-C37255B2711D}"/>
              </a:ext>
            </a:extLst>
          </p:cNvPr>
          <p:cNvSpPr>
            <a:spLocks noGrp="1"/>
          </p:cNvSpPr>
          <p:nvPr>
            <p:ph type="tbl" sz="quarter" idx="11"/>
          </p:nvPr>
        </p:nvSpPr>
        <p:spPr/>
        <p:txBody>
          <a:bodyPr/>
          <a:lstStyle/>
          <a:p>
            <a:r>
              <a:rPr lang="en-US" noProof="0" dirty="0"/>
              <a:t>Evaluate the trade-offs between effects and costs across multiple decision options. In health economics, cost-effectiveness analysis is commonly used.</a:t>
            </a:r>
          </a:p>
        </p:txBody>
      </p:sp>
      <p:sp>
        <p:nvSpPr>
          <p:cNvPr id="40" name="Rectangle 39">
            <a:extLst>
              <a:ext uri="{FF2B5EF4-FFF2-40B4-BE49-F238E27FC236}">
                <a16:creationId xmlns:a16="http://schemas.microsoft.com/office/drawing/2014/main" id="{DD3155A9-18FB-7879-368E-8089BF918705}"/>
              </a:ext>
            </a:extLst>
          </p:cNvPr>
          <p:cNvSpPr/>
          <p:nvPr/>
        </p:nvSpPr>
        <p:spPr>
          <a:xfrm>
            <a:off x="4694922" y="1938130"/>
            <a:ext cx="120917" cy="469204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34" name="Straight Connector 33">
            <a:extLst>
              <a:ext uri="{FF2B5EF4-FFF2-40B4-BE49-F238E27FC236}">
                <a16:creationId xmlns:a16="http://schemas.microsoft.com/office/drawing/2014/main" id="{9E0A690C-3FAB-0421-CEDA-614A692A5A89}"/>
              </a:ext>
            </a:extLst>
          </p:cNvPr>
          <p:cNvCxnSpPr>
            <a:cxnSpLocks/>
            <a:stCxn id="48" idx="3"/>
            <a:endCxn id="40" idx="1"/>
          </p:cNvCxnSpPr>
          <p:nvPr/>
        </p:nvCxnSpPr>
        <p:spPr>
          <a:xfrm flipV="1">
            <a:off x="3989294" y="4284153"/>
            <a:ext cx="705628" cy="2122782"/>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E3738C64-5634-28DF-34A9-820D236BA2E1}"/>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1</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65" name="Oval 64">
            <a:extLst>
              <a:ext uri="{FF2B5EF4-FFF2-40B4-BE49-F238E27FC236}">
                <a16:creationId xmlns:a16="http://schemas.microsoft.com/office/drawing/2014/main" id="{6D9F9CC9-5D4A-6409-D7F4-07C55B521A5C}"/>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2</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66" name="Oval 65">
            <a:extLst>
              <a:ext uri="{FF2B5EF4-FFF2-40B4-BE49-F238E27FC236}">
                <a16:creationId xmlns:a16="http://schemas.microsoft.com/office/drawing/2014/main" id="{127B27CA-8ECB-3004-6F04-5A209173D938}"/>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3</a:t>
            </a:r>
          </a:p>
        </p:txBody>
      </p:sp>
      <p:sp>
        <p:nvSpPr>
          <p:cNvPr id="67" name="Oval 66">
            <a:extLst>
              <a:ext uri="{FF2B5EF4-FFF2-40B4-BE49-F238E27FC236}">
                <a16:creationId xmlns:a16="http://schemas.microsoft.com/office/drawing/2014/main" id="{C19BDCD3-01FD-14BB-1052-581E35950424}"/>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4</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68" name="Oval 67">
            <a:extLst>
              <a:ext uri="{FF2B5EF4-FFF2-40B4-BE49-F238E27FC236}">
                <a16:creationId xmlns:a16="http://schemas.microsoft.com/office/drawing/2014/main" id="{4B72E31E-DC8C-2958-624A-A31C109B8407}"/>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5</a:t>
            </a:r>
          </a:p>
        </p:txBody>
      </p:sp>
      <p:sp>
        <p:nvSpPr>
          <p:cNvPr id="69" name="Oval 68">
            <a:extLst>
              <a:ext uri="{FF2B5EF4-FFF2-40B4-BE49-F238E27FC236}">
                <a16:creationId xmlns:a16="http://schemas.microsoft.com/office/drawing/2014/main" id="{4DA26C75-9E1B-3EA6-676F-FDDCED31A994}"/>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6</a:t>
            </a:r>
          </a:p>
        </p:txBody>
      </p:sp>
      <p:sp>
        <p:nvSpPr>
          <p:cNvPr id="70" name="Oval 69">
            <a:extLst>
              <a:ext uri="{FF2B5EF4-FFF2-40B4-BE49-F238E27FC236}">
                <a16:creationId xmlns:a16="http://schemas.microsoft.com/office/drawing/2014/main" id="{BC1FCE2E-75EE-C282-F0E5-F8EE40055F76}"/>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7</a:t>
            </a:r>
          </a:p>
        </p:txBody>
      </p:sp>
      <p:sp>
        <p:nvSpPr>
          <p:cNvPr id="71" name="Oval 70">
            <a:extLst>
              <a:ext uri="{FF2B5EF4-FFF2-40B4-BE49-F238E27FC236}">
                <a16:creationId xmlns:a16="http://schemas.microsoft.com/office/drawing/2014/main" id="{436FE795-44E3-F1FA-43C9-5B64BD0E1E7F}"/>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bg1"/>
                </a:solidFill>
                <a:latin typeface="Arial" panose="020B0604020202020204" pitchFamily="34" charset="0"/>
                <a:ea typeface="Meiryo UI" panose="020B0604030504040204" pitchFamily="50" charset="-128"/>
                <a:cs typeface="Arial" panose="020B0604020202020204" pitchFamily="34" charset="0"/>
              </a:rPr>
              <a:t>8</a:t>
            </a:r>
          </a:p>
        </p:txBody>
      </p:sp>
      <p:grpSp>
        <p:nvGrpSpPr>
          <p:cNvPr id="72" name="Group 71">
            <a:extLst>
              <a:ext uri="{FF2B5EF4-FFF2-40B4-BE49-F238E27FC236}">
                <a16:creationId xmlns:a16="http://schemas.microsoft.com/office/drawing/2014/main" id="{EAC6B9DE-02D5-DFD9-D744-6D02519A666B}"/>
              </a:ext>
            </a:extLst>
          </p:cNvPr>
          <p:cNvGrpSpPr/>
          <p:nvPr/>
        </p:nvGrpSpPr>
        <p:grpSpPr>
          <a:xfrm>
            <a:off x="467139" y="108959"/>
            <a:ext cx="4197304" cy="307297"/>
            <a:chOff x="562270" y="127168"/>
            <a:chExt cx="4197304" cy="307297"/>
          </a:xfrm>
        </p:grpSpPr>
        <p:sp>
          <p:nvSpPr>
            <p:cNvPr id="73" name="Arrow: Pentagon 72">
              <a:extLst>
                <a:ext uri="{FF2B5EF4-FFF2-40B4-BE49-F238E27FC236}">
                  <a16:creationId xmlns:a16="http://schemas.microsoft.com/office/drawing/2014/main" id="{6161B680-1A4F-2160-F241-02681876A765}"/>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74" name="Arrow: Pentagon 73">
              <a:extLst>
                <a:ext uri="{FF2B5EF4-FFF2-40B4-BE49-F238E27FC236}">
                  <a16:creationId xmlns:a16="http://schemas.microsoft.com/office/drawing/2014/main" id="{2C8CEB21-B407-2209-74AB-5CCEC3509281}"/>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75" name="Arrow: Pentagon 74">
              <a:extLst>
                <a:ext uri="{FF2B5EF4-FFF2-40B4-BE49-F238E27FC236}">
                  <a16:creationId xmlns:a16="http://schemas.microsoft.com/office/drawing/2014/main" id="{08BD078D-3436-6DE9-9A77-B458B7C28A18}"/>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4952661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F0E85-5495-5246-9C4F-91AFC213C66A}"/>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7A4B722D-CEFE-6671-C546-AC2FE14BA25C}"/>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Define the problem and objectives</a:t>
            </a:r>
          </a:p>
        </p:txBody>
      </p:sp>
      <p:sp>
        <p:nvSpPr>
          <p:cNvPr id="41" name="Rectangle 40">
            <a:extLst>
              <a:ext uri="{FF2B5EF4-FFF2-40B4-BE49-F238E27FC236}">
                <a16:creationId xmlns:a16="http://schemas.microsoft.com/office/drawing/2014/main" id="{DFDBF2FC-DE64-735D-52DB-4E664D6CC3A9}"/>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Design simulation model</a:t>
            </a:r>
          </a:p>
        </p:txBody>
      </p:sp>
      <p:sp>
        <p:nvSpPr>
          <p:cNvPr id="49" name="Rectangle 48">
            <a:extLst>
              <a:ext uri="{FF2B5EF4-FFF2-40B4-BE49-F238E27FC236}">
                <a16:creationId xmlns:a16="http://schemas.microsoft.com/office/drawing/2014/main" id="{5AA81572-518F-FDF7-A2BB-5B76C38F8584}"/>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Select simulation model</a:t>
            </a:r>
          </a:p>
        </p:txBody>
      </p:sp>
      <p:sp>
        <p:nvSpPr>
          <p:cNvPr id="52" name="Rectangle 51">
            <a:extLst>
              <a:ext uri="{FF2B5EF4-FFF2-40B4-BE49-F238E27FC236}">
                <a16:creationId xmlns:a16="http://schemas.microsoft.com/office/drawing/2014/main" id="{A822C221-011C-B64F-9B4A-1A327C30E0BF}"/>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Define outcomes</a:t>
            </a:r>
          </a:p>
        </p:txBody>
      </p:sp>
      <p:sp>
        <p:nvSpPr>
          <p:cNvPr id="53" name="Rectangle 52">
            <a:extLst>
              <a:ext uri="{FF2B5EF4-FFF2-40B4-BE49-F238E27FC236}">
                <a16:creationId xmlns:a16="http://schemas.microsoft.com/office/drawing/2014/main" id="{4725AF9B-FDB7-FCF6-6C78-8351CCFD7BE6}"/>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Select model inputs</a:t>
            </a:r>
          </a:p>
        </p:txBody>
      </p:sp>
      <p:sp>
        <p:nvSpPr>
          <p:cNvPr id="55" name="Rectangle 54">
            <a:extLst>
              <a:ext uri="{FF2B5EF4-FFF2-40B4-BE49-F238E27FC236}">
                <a16:creationId xmlns:a16="http://schemas.microsoft.com/office/drawing/2014/main" id="{D80A60B0-E604-91F2-8FDB-0659F16DDA0D}"/>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Simulate multiple decision options</a:t>
            </a:r>
          </a:p>
        </p:txBody>
      </p:sp>
      <p:sp>
        <p:nvSpPr>
          <p:cNvPr id="56" name="Rectangle 55">
            <a:extLst>
              <a:ext uri="{FF2B5EF4-FFF2-40B4-BE49-F238E27FC236}">
                <a16:creationId xmlns:a16="http://schemas.microsoft.com/office/drawing/2014/main" id="{1ACDFB21-9B95-B121-35E1-8EC1B7374164}"/>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Sensitivity and scenario analyses</a:t>
            </a:r>
          </a:p>
        </p:txBody>
      </p:sp>
      <p:sp>
        <p:nvSpPr>
          <p:cNvPr id="58" name="Rectangle 57">
            <a:extLst>
              <a:ext uri="{FF2B5EF4-FFF2-40B4-BE49-F238E27FC236}">
                <a16:creationId xmlns:a16="http://schemas.microsoft.com/office/drawing/2014/main" id="{061248A1-AB60-3E27-6AB8-C3669363C661}"/>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Evaluate results</a:t>
            </a:r>
          </a:p>
        </p:txBody>
      </p:sp>
      <p:sp>
        <p:nvSpPr>
          <p:cNvPr id="59" name="Isosceles Triangle 58">
            <a:extLst>
              <a:ext uri="{FF2B5EF4-FFF2-40B4-BE49-F238E27FC236}">
                <a16:creationId xmlns:a16="http://schemas.microsoft.com/office/drawing/2014/main" id="{60024F41-6F7D-7DDD-3974-915FB10402A4}"/>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0" name="Isosceles Triangle 59">
            <a:extLst>
              <a:ext uri="{FF2B5EF4-FFF2-40B4-BE49-F238E27FC236}">
                <a16:creationId xmlns:a16="http://schemas.microsoft.com/office/drawing/2014/main" id="{4E392523-068B-9F24-E20E-DEE3E61C47AF}"/>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1" name="Isosceles Triangle 60">
            <a:extLst>
              <a:ext uri="{FF2B5EF4-FFF2-40B4-BE49-F238E27FC236}">
                <a16:creationId xmlns:a16="http://schemas.microsoft.com/office/drawing/2014/main" id="{ADE57D33-241F-C170-EFDF-7DF1A5F2F9FC}"/>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2" name="Isosceles Triangle 61">
            <a:extLst>
              <a:ext uri="{FF2B5EF4-FFF2-40B4-BE49-F238E27FC236}">
                <a16:creationId xmlns:a16="http://schemas.microsoft.com/office/drawing/2014/main" id="{8F0C0CF8-23C2-0C22-4F10-1892966B3DCD}"/>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4" name="Isosceles Triangle 63">
            <a:extLst>
              <a:ext uri="{FF2B5EF4-FFF2-40B4-BE49-F238E27FC236}">
                <a16:creationId xmlns:a16="http://schemas.microsoft.com/office/drawing/2014/main" id="{1D96F738-B646-A877-6050-6DF31CB4F8AB}"/>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5" name="Isosceles Triangle 64">
            <a:extLst>
              <a:ext uri="{FF2B5EF4-FFF2-40B4-BE49-F238E27FC236}">
                <a16:creationId xmlns:a16="http://schemas.microsoft.com/office/drawing/2014/main" id="{A4F1FB81-1102-89A2-3428-3A49301FB97E}"/>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7" name="Isosceles Triangle 66">
            <a:extLst>
              <a:ext uri="{FF2B5EF4-FFF2-40B4-BE49-F238E27FC236}">
                <a16:creationId xmlns:a16="http://schemas.microsoft.com/office/drawing/2014/main" id="{A20F2293-7D12-3CA2-601A-FD0D2FFCBCF0}"/>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72" name="Partial Circle 71">
            <a:extLst>
              <a:ext uri="{FF2B5EF4-FFF2-40B4-BE49-F238E27FC236}">
                <a16:creationId xmlns:a16="http://schemas.microsoft.com/office/drawing/2014/main" id="{FE52604E-112D-5A57-C941-088618FF835F}"/>
              </a:ext>
            </a:extLst>
          </p:cNvPr>
          <p:cNvSpPr/>
          <p:nvPr/>
        </p:nvSpPr>
        <p:spPr>
          <a:xfrm>
            <a:off x="6351748" y="4038979"/>
            <a:ext cx="1024136" cy="1037213"/>
          </a:xfrm>
          <a:prstGeom prst="pie">
            <a:avLst>
              <a:gd name="adj1" fmla="val 19616795"/>
              <a:gd name="adj2" fmla="val 21584148"/>
            </a:avLst>
          </a:prstGeom>
          <a:solidFill>
            <a:schemeClr val="accent5">
              <a:lumMod val="60000"/>
              <a:lumOff val="40000"/>
              <a:alpha val="50196"/>
            </a:schemeClr>
          </a:solidFill>
          <a:ln>
            <a:solidFill>
              <a:srgbClr val="00B0F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1"/>
              </a:solidFill>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19498F10-3079-A21A-F839-716B00028BE1}"/>
              </a:ext>
            </a:extLst>
          </p:cNvPr>
          <p:cNvSpPr>
            <a:spLocks noGrp="1"/>
          </p:cNvSpPr>
          <p:nvPr>
            <p:ph type="title"/>
          </p:nvPr>
        </p:nvSpPr>
        <p:spPr/>
        <p:txBody>
          <a:bodyPr/>
          <a:lstStyle/>
          <a:p>
            <a:r>
              <a:rPr lang="en-US" dirty="0"/>
              <a:t>Step⑧ Evaluating Results</a:t>
            </a:r>
            <a:endParaRPr lang="en-US" noProof="0" dirty="0"/>
          </a:p>
        </p:txBody>
      </p:sp>
      <p:sp>
        <p:nvSpPr>
          <p:cNvPr id="3" name="Table Placeholder 2">
            <a:extLst>
              <a:ext uri="{FF2B5EF4-FFF2-40B4-BE49-F238E27FC236}">
                <a16:creationId xmlns:a16="http://schemas.microsoft.com/office/drawing/2014/main" id="{1397C735-EB7F-06C9-B4E9-C21D5564B63D}"/>
              </a:ext>
            </a:extLst>
          </p:cNvPr>
          <p:cNvSpPr>
            <a:spLocks noGrp="1"/>
          </p:cNvSpPr>
          <p:nvPr>
            <p:ph type="tbl" sz="quarter" idx="10"/>
          </p:nvPr>
        </p:nvSpPr>
        <p:spPr>
          <a:xfrm>
            <a:off x="4815839" y="1938130"/>
            <a:ext cx="6909021" cy="4692045"/>
          </a:xfrm>
        </p:spPr>
        <p:txBody>
          <a:bodyPr/>
          <a:lstStyle/>
          <a:p>
            <a:r>
              <a:rPr lang="en-US" sz="2000" noProof="0" dirty="0"/>
              <a:t>A lower increase in cost per increase in effect is preferable.</a:t>
            </a:r>
          </a:p>
          <a:p>
            <a:pPr lvl="1"/>
            <a:r>
              <a:rPr lang="en-US" sz="1800" noProof="0" dirty="0"/>
              <a:t> Incremental Cost-Effectiveness Ratio (ICER)</a:t>
            </a:r>
          </a:p>
          <a:p>
            <a:pPr marL="914400" lvl="2" indent="0">
              <a:buNone/>
            </a:pPr>
            <a:r>
              <a:rPr lang="en-US" sz="1800" noProof="0" dirty="0"/>
              <a:t>= the slope between two options when plotting costs and effects of the options</a:t>
            </a:r>
          </a:p>
          <a:p>
            <a:pPr marL="914400" lvl="2" indent="0">
              <a:buNone/>
            </a:pPr>
            <a:endParaRPr lang="en-US" sz="1800" noProof="0" dirty="0"/>
          </a:p>
          <a:p>
            <a:pPr marL="914400" lvl="2" indent="0">
              <a:buNone/>
            </a:pPr>
            <a:endParaRPr lang="en-US" sz="1800" noProof="0" dirty="0"/>
          </a:p>
          <a:p>
            <a:pPr marL="914400" lvl="2" indent="0">
              <a:buNone/>
            </a:pPr>
            <a:endParaRPr lang="en-US" sz="1800" noProof="0" dirty="0"/>
          </a:p>
          <a:p>
            <a:pPr marL="914400" lvl="2" indent="0">
              <a:buNone/>
            </a:pPr>
            <a:endParaRPr lang="en-US" sz="1800" noProof="0" dirty="0"/>
          </a:p>
          <a:p>
            <a:pPr marL="914400" lvl="2" indent="0">
              <a:buNone/>
            </a:pPr>
            <a:endParaRPr lang="en-US" sz="1800" noProof="0" dirty="0"/>
          </a:p>
          <a:p>
            <a:pPr marL="914400" lvl="2" indent="0">
              <a:buNone/>
            </a:pPr>
            <a:endParaRPr lang="en-US" sz="1800" noProof="0" dirty="0"/>
          </a:p>
          <a:p>
            <a:pPr marL="914400" lvl="2" indent="0">
              <a:buNone/>
            </a:pPr>
            <a:endParaRPr lang="en-US" sz="1800" noProof="0" dirty="0"/>
          </a:p>
          <a:p>
            <a:pPr marL="914400" lvl="2" indent="0">
              <a:buNone/>
            </a:pPr>
            <a:endParaRPr lang="en-US" sz="1800" noProof="0" dirty="0"/>
          </a:p>
          <a:p>
            <a:pPr marL="457200" lvl="1" indent="0">
              <a:buNone/>
            </a:pPr>
            <a:endParaRPr lang="en-US" sz="1800" noProof="0" dirty="0"/>
          </a:p>
          <a:p>
            <a:pPr lvl="1"/>
            <a:r>
              <a:rPr lang="en-US" sz="1800" noProof="0" dirty="0"/>
              <a:t>In Japan, an ICER of ≤ ¥5 million per QALY is often considered cost-effective.</a:t>
            </a:r>
            <a:endParaRPr lang="en-US" sz="2000" noProof="0" dirty="0"/>
          </a:p>
          <a:p>
            <a:pPr lvl="1"/>
            <a:endParaRPr lang="en-US" sz="1800" noProof="0" dirty="0"/>
          </a:p>
          <a:p>
            <a:pPr lvl="1"/>
            <a:endParaRPr lang="en-US" sz="2000" b="1" noProof="0" dirty="0"/>
          </a:p>
        </p:txBody>
      </p:sp>
      <p:sp>
        <p:nvSpPr>
          <p:cNvPr id="4" name="Slide Number Placeholder 3">
            <a:extLst>
              <a:ext uri="{FF2B5EF4-FFF2-40B4-BE49-F238E27FC236}">
                <a16:creationId xmlns:a16="http://schemas.microsoft.com/office/drawing/2014/main" id="{93AD013A-36CB-8E5F-5EAC-5DDD47D89528}"/>
              </a:ext>
            </a:extLst>
          </p:cNvPr>
          <p:cNvSpPr>
            <a:spLocks noGrp="1"/>
          </p:cNvSpPr>
          <p:nvPr>
            <p:ph type="sldNum" sz="quarter" idx="4"/>
          </p:nvPr>
        </p:nvSpPr>
        <p:spPr/>
        <p:txBody>
          <a:bodyPr/>
          <a:lstStyle/>
          <a:p>
            <a:fld id="{B5CEABB6-07DC-46E8-9B57-56EC44A396E5}" type="slidenum">
              <a:rPr lang="en-US" noProof="0" smtClean="0"/>
              <a:pPr/>
              <a:t>27</a:t>
            </a:fld>
            <a:endParaRPr lang="en-US" noProof="0" dirty="0"/>
          </a:p>
        </p:txBody>
      </p:sp>
      <p:sp>
        <p:nvSpPr>
          <p:cNvPr id="5" name="Table Placeholder 4">
            <a:extLst>
              <a:ext uri="{FF2B5EF4-FFF2-40B4-BE49-F238E27FC236}">
                <a16:creationId xmlns:a16="http://schemas.microsoft.com/office/drawing/2014/main" id="{A8B278F6-94C3-2A65-8267-618FA301A889}"/>
              </a:ext>
            </a:extLst>
          </p:cNvPr>
          <p:cNvSpPr>
            <a:spLocks noGrp="1"/>
          </p:cNvSpPr>
          <p:nvPr>
            <p:ph type="tbl" sz="quarter" idx="11"/>
          </p:nvPr>
        </p:nvSpPr>
        <p:spPr/>
        <p:txBody>
          <a:bodyPr/>
          <a:lstStyle/>
          <a:p>
            <a:r>
              <a:rPr lang="en-US" noProof="0" dirty="0"/>
              <a:t>In cost-effectiveness analysis, the preferred option is the one with the lowest incremental cost per additional unit of effect (ICER).</a:t>
            </a:r>
          </a:p>
        </p:txBody>
      </p:sp>
      <p:cxnSp>
        <p:nvCxnSpPr>
          <p:cNvPr id="37" name="Straight Arrow Connector 36">
            <a:extLst>
              <a:ext uri="{FF2B5EF4-FFF2-40B4-BE49-F238E27FC236}">
                <a16:creationId xmlns:a16="http://schemas.microsoft.com/office/drawing/2014/main" id="{E653A91C-A327-EC10-632E-9B10EB80B229}"/>
              </a:ext>
            </a:extLst>
          </p:cNvPr>
          <p:cNvCxnSpPr>
            <a:cxnSpLocks/>
          </p:cNvCxnSpPr>
          <p:nvPr/>
        </p:nvCxnSpPr>
        <p:spPr>
          <a:xfrm>
            <a:off x="6099248" y="5214693"/>
            <a:ext cx="261674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FFB582D-F404-3F81-8B20-194CE176E339}"/>
              </a:ext>
            </a:extLst>
          </p:cNvPr>
          <p:cNvCxnSpPr>
            <a:cxnSpLocks/>
          </p:cNvCxnSpPr>
          <p:nvPr/>
        </p:nvCxnSpPr>
        <p:spPr>
          <a:xfrm flipV="1">
            <a:off x="6099248" y="3170417"/>
            <a:ext cx="0" cy="204427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DE548174-62D1-4E8D-BC66-E86A73BD2EFD}"/>
              </a:ext>
            </a:extLst>
          </p:cNvPr>
          <p:cNvSpPr/>
          <p:nvPr/>
        </p:nvSpPr>
        <p:spPr>
          <a:xfrm>
            <a:off x="6396255" y="5566504"/>
            <a:ext cx="1958799" cy="2774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Effect </a:t>
            </a: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(QALYs)</a:t>
            </a:r>
          </a:p>
        </p:txBody>
      </p:sp>
      <p:sp>
        <p:nvSpPr>
          <p:cNvPr id="44" name="Rectangle 43">
            <a:extLst>
              <a:ext uri="{FF2B5EF4-FFF2-40B4-BE49-F238E27FC236}">
                <a16:creationId xmlns:a16="http://schemas.microsoft.com/office/drawing/2014/main" id="{E8EA7018-6293-E4FE-6FB0-88982CA85D97}"/>
              </a:ext>
            </a:extLst>
          </p:cNvPr>
          <p:cNvSpPr/>
          <p:nvPr/>
        </p:nvSpPr>
        <p:spPr>
          <a:xfrm>
            <a:off x="5090144" y="4006635"/>
            <a:ext cx="241400" cy="7545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Cost</a:t>
            </a:r>
          </a:p>
        </p:txBody>
      </p:sp>
      <p:sp>
        <p:nvSpPr>
          <p:cNvPr id="45" name="Oval 44">
            <a:extLst>
              <a:ext uri="{FF2B5EF4-FFF2-40B4-BE49-F238E27FC236}">
                <a16:creationId xmlns:a16="http://schemas.microsoft.com/office/drawing/2014/main" id="{B219274D-62C8-1C4F-2C94-9C0B03313CBE}"/>
              </a:ext>
            </a:extLst>
          </p:cNvPr>
          <p:cNvSpPr/>
          <p:nvPr/>
        </p:nvSpPr>
        <p:spPr>
          <a:xfrm>
            <a:off x="6799638" y="4466197"/>
            <a:ext cx="182880" cy="18288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46" name="Rectangle 45">
            <a:extLst>
              <a:ext uri="{FF2B5EF4-FFF2-40B4-BE49-F238E27FC236}">
                <a16:creationId xmlns:a16="http://schemas.microsoft.com/office/drawing/2014/main" id="{24D4C166-BF5C-B3E5-49F2-BA724B9601F5}"/>
              </a:ext>
            </a:extLst>
          </p:cNvPr>
          <p:cNvSpPr/>
          <p:nvPr/>
        </p:nvSpPr>
        <p:spPr>
          <a:xfrm>
            <a:off x="6136219" y="4160170"/>
            <a:ext cx="877444" cy="3052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Option</a:t>
            </a: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a:t>
            </a:r>
          </a:p>
        </p:txBody>
      </p:sp>
      <p:sp>
        <p:nvSpPr>
          <p:cNvPr id="47" name="Oval 46">
            <a:extLst>
              <a:ext uri="{FF2B5EF4-FFF2-40B4-BE49-F238E27FC236}">
                <a16:creationId xmlns:a16="http://schemas.microsoft.com/office/drawing/2014/main" id="{01B52601-4E74-96CF-EE83-3FAE473C3872}"/>
              </a:ext>
            </a:extLst>
          </p:cNvPr>
          <p:cNvSpPr/>
          <p:nvPr/>
        </p:nvSpPr>
        <p:spPr>
          <a:xfrm>
            <a:off x="7868925" y="3717598"/>
            <a:ext cx="182880" cy="18288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48" name="Rectangle 47">
            <a:extLst>
              <a:ext uri="{FF2B5EF4-FFF2-40B4-BE49-F238E27FC236}">
                <a16:creationId xmlns:a16="http://schemas.microsoft.com/office/drawing/2014/main" id="{82181C00-E55C-AB14-6A6F-6C4D2734477B}"/>
              </a:ext>
            </a:extLst>
          </p:cNvPr>
          <p:cNvSpPr/>
          <p:nvPr/>
        </p:nvSpPr>
        <p:spPr>
          <a:xfrm>
            <a:off x="7521643" y="3328546"/>
            <a:ext cx="877444" cy="3052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err="1">
                <a:solidFill>
                  <a:schemeClr val="tx1"/>
                </a:solidFill>
                <a:latin typeface="Arial" panose="020B0604020202020204" pitchFamily="34" charset="0"/>
                <a:ea typeface="Meiryo UI" panose="020B0604030504040204" pitchFamily="50" charset="-128"/>
                <a:cs typeface="Arial" panose="020B0604020202020204" pitchFamily="34" charset="0"/>
              </a:rPr>
              <a:t>OptionB</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50" name="Straight Connector 49">
            <a:extLst>
              <a:ext uri="{FF2B5EF4-FFF2-40B4-BE49-F238E27FC236}">
                <a16:creationId xmlns:a16="http://schemas.microsoft.com/office/drawing/2014/main" id="{9481E762-CF81-A520-B949-F6B7647936C9}"/>
              </a:ext>
            </a:extLst>
          </p:cNvPr>
          <p:cNvCxnSpPr>
            <a:stCxn id="45" idx="4"/>
          </p:cNvCxnSpPr>
          <p:nvPr/>
        </p:nvCxnSpPr>
        <p:spPr>
          <a:xfrm>
            <a:off x="6891078" y="4649077"/>
            <a:ext cx="0" cy="565616"/>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6C26E39-3FB2-78DF-F5C5-C472380A9F3A}"/>
              </a:ext>
            </a:extLst>
          </p:cNvPr>
          <p:cNvCxnSpPr>
            <a:cxnSpLocks/>
            <a:stCxn id="47" idx="4"/>
          </p:cNvCxnSpPr>
          <p:nvPr/>
        </p:nvCxnSpPr>
        <p:spPr>
          <a:xfrm>
            <a:off x="7960365" y="3900478"/>
            <a:ext cx="0" cy="1314215"/>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E4DDAED-C229-0925-BE6F-B599A6CDC60D}"/>
              </a:ext>
            </a:extLst>
          </p:cNvPr>
          <p:cNvCxnSpPr>
            <a:cxnSpLocks/>
            <a:stCxn id="45" idx="2"/>
          </p:cNvCxnSpPr>
          <p:nvPr/>
        </p:nvCxnSpPr>
        <p:spPr>
          <a:xfrm flipV="1">
            <a:off x="6799638" y="4557585"/>
            <a:ext cx="17" cy="5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B15FCE20-4177-D065-2ED1-4F4A2E8805F5}"/>
              </a:ext>
            </a:extLst>
          </p:cNvPr>
          <p:cNvCxnSpPr>
            <a:cxnSpLocks/>
            <a:stCxn id="45" idx="2"/>
          </p:cNvCxnSpPr>
          <p:nvPr/>
        </p:nvCxnSpPr>
        <p:spPr>
          <a:xfrm flipH="1">
            <a:off x="6099248" y="4557637"/>
            <a:ext cx="700390" cy="0"/>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495565F-0249-6C63-6813-610D7E21552A}"/>
              </a:ext>
            </a:extLst>
          </p:cNvPr>
          <p:cNvCxnSpPr>
            <a:cxnSpLocks/>
            <a:stCxn id="47" idx="2"/>
          </p:cNvCxnSpPr>
          <p:nvPr/>
        </p:nvCxnSpPr>
        <p:spPr>
          <a:xfrm flipH="1">
            <a:off x="6099248" y="3809038"/>
            <a:ext cx="1769677" cy="7314"/>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0306049-3185-0313-15D4-6630C8740439}"/>
              </a:ext>
            </a:extLst>
          </p:cNvPr>
          <p:cNvCxnSpPr>
            <a:cxnSpLocks/>
            <a:stCxn id="47" idx="3"/>
            <a:endCxn id="45" idx="7"/>
          </p:cNvCxnSpPr>
          <p:nvPr/>
        </p:nvCxnSpPr>
        <p:spPr>
          <a:xfrm flipH="1">
            <a:off x="6955736" y="3873696"/>
            <a:ext cx="939971" cy="619283"/>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F892D21-53AC-9D4A-0F15-345AEF47AB99}"/>
              </a:ext>
            </a:extLst>
          </p:cNvPr>
          <p:cNvCxnSpPr>
            <a:cxnSpLocks/>
            <a:endCxn id="45" idx="6"/>
          </p:cNvCxnSpPr>
          <p:nvPr/>
        </p:nvCxnSpPr>
        <p:spPr>
          <a:xfrm flipH="1">
            <a:off x="6982518" y="4553980"/>
            <a:ext cx="977847" cy="3657"/>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F82C6344-E638-A5F4-E23D-95FCCF0B370C}"/>
              </a:ext>
            </a:extLst>
          </p:cNvPr>
          <p:cNvSpPr/>
          <p:nvPr/>
        </p:nvSpPr>
        <p:spPr>
          <a:xfrm>
            <a:off x="6447115" y="5260656"/>
            <a:ext cx="877444" cy="3052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Effect</a:t>
            </a: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a:t>
            </a:r>
          </a:p>
        </p:txBody>
      </p:sp>
      <p:sp>
        <p:nvSpPr>
          <p:cNvPr id="75" name="Rectangle 74">
            <a:extLst>
              <a:ext uri="{FF2B5EF4-FFF2-40B4-BE49-F238E27FC236}">
                <a16:creationId xmlns:a16="http://schemas.microsoft.com/office/drawing/2014/main" id="{A1DB5259-20D9-5700-AB9F-08542DBBCB21}"/>
              </a:ext>
            </a:extLst>
          </p:cNvPr>
          <p:cNvSpPr/>
          <p:nvPr/>
        </p:nvSpPr>
        <p:spPr>
          <a:xfrm>
            <a:off x="7554095" y="5260656"/>
            <a:ext cx="877444" cy="3052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err="1">
                <a:solidFill>
                  <a:schemeClr val="tx1"/>
                </a:solidFill>
                <a:latin typeface="Arial" panose="020B0604020202020204" pitchFamily="34" charset="0"/>
                <a:ea typeface="Meiryo UI" panose="020B0604030504040204" pitchFamily="50" charset="-128"/>
                <a:cs typeface="Arial" panose="020B0604020202020204" pitchFamily="34" charset="0"/>
              </a:rPr>
              <a:t>EffectB</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76" name="Rectangle 75">
            <a:extLst>
              <a:ext uri="{FF2B5EF4-FFF2-40B4-BE49-F238E27FC236}">
                <a16:creationId xmlns:a16="http://schemas.microsoft.com/office/drawing/2014/main" id="{2113FDC4-C95B-B96D-6105-F01FDE72C44C}"/>
              </a:ext>
            </a:extLst>
          </p:cNvPr>
          <p:cNvSpPr/>
          <p:nvPr/>
        </p:nvSpPr>
        <p:spPr>
          <a:xfrm>
            <a:off x="5392379" y="4379134"/>
            <a:ext cx="642211" cy="3052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err="1">
                <a:solidFill>
                  <a:schemeClr val="tx1"/>
                </a:solidFill>
                <a:latin typeface="Arial" panose="020B0604020202020204" pitchFamily="34" charset="0"/>
                <a:ea typeface="Meiryo UI" panose="020B0604030504040204" pitchFamily="50" charset="-128"/>
                <a:cs typeface="Arial" panose="020B0604020202020204" pitchFamily="34" charset="0"/>
              </a:rPr>
              <a:t>CostA</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77" name="Rectangle 76">
            <a:extLst>
              <a:ext uri="{FF2B5EF4-FFF2-40B4-BE49-F238E27FC236}">
                <a16:creationId xmlns:a16="http://schemas.microsoft.com/office/drawing/2014/main" id="{9224C181-F5E6-1C06-47D6-2047D6B8911E}"/>
              </a:ext>
            </a:extLst>
          </p:cNvPr>
          <p:cNvSpPr/>
          <p:nvPr/>
        </p:nvSpPr>
        <p:spPr>
          <a:xfrm>
            <a:off x="5392379" y="3652242"/>
            <a:ext cx="642211" cy="3052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CostB</a:t>
            </a:r>
          </a:p>
        </p:txBody>
      </p:sp>
      <p:cxnSp>
        <p:nvCxnSpPr>
          <p:cNvPr id="79" name="Straight Arrow Connector 78">
            <a:extLst>
              <a:ext uri="{FF2B5EF4-FFF2-40B4-BE49-F238E27FC236}">
                <a16:creationId xmlns:a16="http://schemas.microsoft.com/office/drawing/2014/main" id="{079E650B-768D-FCB7-6AAF-70AEFCB6A059}"/>
              </a:ext>
            </a:extLst>
          </p:cNvPr>
          <p:cNvCxnSpPr/>
          <p:nvPr/>
        </p:nvCxnSpPr>
        <p:spPr>
          <a:xfrm flipV="1">
            <a:off x="7471441" y="3914448"/>
            <a:ext cx="1643376" cy="464686"/>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A6184FEB-EAF9-ED86-2214-5C332DDC5F16}"/>
              </a:ext>
            </a:extLst>
          </p:cNvPr>
          <p:cNvSpPr/>
          <p:nvPr/>
        </p:nvSpPr>
        <p:spPr>
          <a:xfrm>
            <a:off x="9179452" y="3746146"/>
            <a:ext cx="2374860"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81" name="Rectangle 80">
            <a:extLst>
              <a:ext uri="{FF2B5EF4-FFF2-40B4-BE49-F238E27FC236}">
                <a16:creationId xmlns:a16="http://schemas.microsoft.com/office/drawing/2014/main" id="{40A8D6F5-2E87-0E7F-D332-B38B7B4601DB}"/>
              </a:ext>
            </a:extLst>
          </p:cNvPr>
          <p:cNvSpPr/>
          <p:nvPr/>
        </p:nvSpPr>
        <p:spPr>
          <a:xfrm>
            <a:off x="9070284" y="3867859"/>
            <a:ext cx="2593197" cy="2774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rial" panose="020B0604020202020204" pitchFamily="34" charset="0"/>
                <a:ea typeface="Meiryo UI" panose="020B0604030504040204" pitchFamily="50" charset="-128"/>
                <a:cs typeface="Arial" panose="020B0604020202020204" pitchFamily="34" charset="0"/>
              </a:rPr>
              <a:t>Effect</a:t>
            </a:r>
            <a:r>
              <a:rPr lang="en-US" sz="20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B　ー　</a:t>
            </a:r>
            <a:r>
              <a:rPr lang="en-US" sz="2000" b="1" dirty="0">
                <a:solidFill>
                  <a:schemeClr val="tx1"/>
                </a:solidFill>
                <a:latin typeface="Arial" panose="020B0604020202020204" pitchFamily="34" charset="0"/>
                <a:ea typeface="Meiryo UI" panose="020B0604030504040204" pitchFamily="50" charset="-128"/>
                <a:cs typeface="Arial" panose="020B0604020202020204" pitchFamily="34" charset="0"/>
              </a:rPr>
              <a:t>Effect</a:t>
            </a:r>
            <a:r>
              <a:rPr lang="en-US" sz="20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A</a:t>
            </a:r>
          </a:p>
        </p:txBody>
      </p:sp>
      <p:sp>
        <p:nvSpPr>
          <p:cNvPr id="82" name="Rectangle 81">
            <a:extLst>
              <a:ext uri="{FF2B5EF4-FFF2-40B4-BE49-F238E27FC236}">
                <a16:creationId xmlns:a16="http://schemas.microsoft.com/office/drawing/2014/main" id="{6B157249-EE96-E4CC-A5C6-D2CD2359C9EC}"/>
              </a:ext>
            </a:extLst>
          </p:cNvPr>
          <p:cNvSpPr/>
          <p:nvPr/>
        </p:nvSpPr>
        <p:spPr>
          <a:xfrm>
            <a:off x="9070284" y="3392695"/>
            <a:ext cx="2593197" cy="2774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CostB　ー　</a:t>
            </a:r>
            <a:r>
              <a:rPr lang="en-US" sz="2000" b="1" dirty="0">
                <a:solidFill>
                  <a:schemeClr val="tx1"/>
                </a:solidFill>
                <a:latin typeface="Arial" panose="020B0604020202020204" pitchFamily="34" charset="0"/>
                <a:ea typeface="Meiryo UI" panose="020B0604030504040204" pitchFamily="50" charset="-128"/>
                <a:cs typeface="Arial" panose="020B0604020202020204" pitchFamily="34" charset="0"/>
              </a:rPr>
              <a:t>Cost</a:t>
            </a:r>
            <a:r>
              <a:rPr lang="en-US" sz="20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A</a:t>
            </a:r>
          </a:p>
        </p:txBody>
      </p:sp>
      <p:sp>
        <p:nvSpPr>
          <p:cNvPr id="83" name="Rectangle 82">
            <a:extLst>
              <a:ext uri="{FF2B5EF4-FFF2-40B4-BE49-F238E27FC236}">
                <a16:creationId xmlns:a16="http://schemas.microsoft.com/office/drawing/2014/main" id="{BC7AAA1A-5681-6A8D-74B3-53A8202EE2E7}"/>
              </a:ext>
            </a:extLst>
          </p:cNvPr>
          <p:cNvSpPr/>
          <p:nvPr/>
        </p:nvSpPr>
        <p:spPr>
          <a:xfrm>
            <a:off x="4694922" y="1938130"/>
            <a:ext cx="120917" cy="469204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34" name="Straight Connector 33">
            <a:extLst>
              <a:ext uri="{FF2B5EF4-FFF2-40B4-BE49-F238E27FC236}">
                <a16:creationId xmlns:a16="http://schemas.microsoft.com/office/drawing/2014/main" id="{F53AA714-D290-87DE-F50F-4E6F35611ED8}"/>
              </a:ext>
            </a:extLst>
          </p:cNvPr>
          <p:cNvCxnSpPr>
            <a:cxnSpLocks/>
            <a:stCxn id="58" idx="3"/>
            <a:endCxn id="83" idx="1"/>
          </p:cNvCxnSpPr>
          <p:nvPr/>
        </p:nvCxnSpPr>
        <p:spPr>
          <a:xfrm flipV="1">
            <a:off x="3989294" y="4284153"/>
            <a:ext cx="705628" cy="2122782"/>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87" name="Oval 86">
            <a:extLst>
              <a:ext uri="{FF2B5EF4-FFF2-40B4-BE49-F238E27FC236}">
                <a16:creationId xmlns:a16="http://schemas.microsoft.com/office/drawing/2014/main" id="{41E6C914-6B47-0204-BDCE-30553E6B5594}"/>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1</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88" name="Oval 87">
            <a:extLst>
              <a:ext uri="{FF2B5EF4-FFF2-40B4-BE49-F238E27FC236}">
                <a16:creationId xmlns:a16="http://schemas.microsoft.com/office/drawing/2014/main" id="{90678386-010D-4DEC-FB6A-87E0D6D0C731}"/>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2</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89" name="Oval 88">
            <a:extLst>
              <a:ext uri="{FF2B5EF4-FFF2-40B4-BE49-F238E27FC236}">
                <a16:creationId xmlns:a16="http://schemas.microsoft.com/office/drawing/2014/main" id="{330E7461-B4A7-CC1E-D6D7-EC072BFE6188}"/>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3</a:t>
            </a:r>
          </a:p>
        </p:txBody>
      </p:sp>
      <p:sp>
        <p:nvSpPr>
          <p:cNvPr id="90" name="Oval 89">
            <a:extLst>
              <a:ext uri="{FF2B5EF4-FFF2-40B4-BE49-F238E27FC236}">
                <a16:creationId xmlns:a16="http://schemas.microsoft.com/office/drawing/2014/main" id="{76EFDBBA-0425-A4EB-7C40-AEFEB906C430}"/>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ea typeface="Meiryo UI" panose="020B0604030504040204" pitchFamily="50" charset="-128"/>
                <a:cs typeface="Arial" panose="020B0604020202020204" pitchFamily="34" charset="0"/>
              </a:rPr>
              <a:t>4</a:t>
            </a:r>
            <a:endPar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91" name="Oval 90">
            <a:extLst>
              <a:ext uri="{FF2B5EF4-FFF2-40B4-BE49-F238E27FC236}">
                <a16:creationId xmlns:a16="http://schemas.microsoft.com/office/drawing/2014/main" id="{40F9CF31-8A32-FAEE-4E5D-A43D3C9AFAE7}"/>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5</a:t>
            </a:r>
          </a:p>
        </p:txBody>
      </p:sp>
      <p:sp>
        <p:nvSpPr>
          <p:cNvPr id="92" name="Oval 91">
            <a:extLst>
              <a:ext uri="{FF2B5EF4-FFF2-40B4-BE49-F238E27FC236}">
                <a16:creationId xmlns:a16="http://schemas.microsoft.com/office/drawing/2014/main" id="{287662B0-BFCF-7DE9-839B-A398A9E36979}"/>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6</a:t>
            </a:r>
          </a:p>
        </p:txBody>
      </p:sp>
      <p:sp>
        <p:nvSpPr>
          <p:cNvPr id="93" name="Oval 92">
            <a:extLst>
              <a:ext uri="{FF2B5EF4-FFF2-40B4-BE49-F238E27FC236}">
                <a16:creationId xmlns:a16="http://schemas.microsoft.com/office/drawing/2014/main" id="{021F84E7-EDC6-83D3-8C3C-EC694AA3FE14}"/>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bg1"/>
                </a:solidFill>
                <a:latin typeface="Arial" panose="020B0604020202020204" pitchFamily="34" charset="0"/>
                <a:ea typeface="Meiryo UI" panose="020B0604030504040204" pitchFamily="50" charset="-128"/>
                <a:cs typeface="Arial" panose="020B0604020202020204" pitchFamily="34" charset="0"/>
              </a:rPr>
              <a:t>7</a:t>
            </a:r>
          </a:p>
        </p:txBody>
      </p:sp>
      <p:sp>
        <p:nvSpPr>
          <p:cNvPr id="94" name="Oval 93">
            <a:extLst>
              <a:ext uri="{FF2B5EF4-FFF2-40B4-BE49-F238E27FC236}">
                <a16:creationId xmlns:a16="http://schemas.microsoft.com/office/drawing/2014/main" id="{BAC7C112-3953-E437-ED18-55CD136776C2}"/>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bg1"/>
                </a:solidFill>
                <a:latin typeface="Arial" panose="020B0604020202020204" pitchFamily="34" charset="0"/>
                <a:ea typeface="Meiryo UI" panose="020B0604030504040204" pitchFamily="50" charset="-128"/>
                <a:cs typeface="Arial" panose="020B0604020202020204" pitchFamily="34" charset="0"/>
              </a:rPr>
              <a:t>8</a:t>
            </a:r>
          </a:p>
        </p:txBody>
      </p:sp>
      <p:grpSp>
        <p:nvGrpSpPr>
          <p:cNvPr id="95" name="Group 94">
            <a:extLst>
              <a:ext uri="{FF2B5EF4-FFF2-40B4-BE49-F238E27FC236}">
                <a16:creationId xmlns:a16="http://schemas.microsoft.com/office/drawing/2014/main" id="{2EFCA7DD-054A-30AC-7F74-AB3541055FBD}"/>
              </a:ext>
            </a:extLst>
          </p:cNvPr>
          <p:cNvGrpSpPr/>
          <p:nvPr/>
        </p:nvGrpSpPr>
        <p:grpSpPr>
          <a:xfrm>
            <a:off x="467139" y="108959"/>
            <a:ext cx="4197304" cy="307297"/>
            <a:chOff x="562270" y="127168"/>
            <a:chExt cx="4197304" cy="307297"/>
          </a:xfrm>
        </p:grpSpPr>
        <p:sp>
          <p:nvSpPr>
            <p:cNvPr id="96" name="Arrow: Pentagon 95">
              <a:extLst>
                <a:ext uri="{FF2B5EF4-FFF2-40B4-BE49-F238E27FC236}">
                  <a16:creationId xmlns:a16="http://schemas.microsoft.com/office/drawing/2014/main" id="{E15C8FFE-DB40-8C7A-F9D9-7C7D2F5D2953}"/>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97" name="Arrow: Pentagon 96">
              <a:extLst>
                <a:ext uri="{FF2B5EF4-FFF2-40B4-BE49-F238E27FC236}">
                  <a16:creationId xmlns:a16="http://schemas.microsoft.com/office/drawing/2014/main" id="{D50C87D7-D782-412E-63AF-EE5D5B29281F}"/>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98" name="Arrow: Pentagon 97">
              <a:extLst>
                <a:ext uri="{FF2B5EF4-FFF2-40B4-BE49-F238E27FC236}">
                  <a16:creationId xmlns:a16="http://schemas.microsoft.com/office/drawing/2014/main" id="{9160D948-E33A-C57B-A8AE-3F82264E3F89}"/>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26569674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8C2A869-BA8D-F3E6-9269-D9781533DA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D2C191-FE90-C511-3D51-A07EE051AB70}"/>
              </a:ext>
            </a:extLst>
          </p:cNvPr>
          <p:cNvSpPr>
            <a:spLocks noGrp="1"/>
          </p:cNvSpPr>
          <p:nvPr>
            <p:ph type="title"/>
          </p:nvPr>
        </p:nvSpPr>
        <p:spPr/>
        <p:txBody>
          <a:bodyPr/>
          <a:lstStyle/>
          <a:p>
            <a:r>
              <a:rPr lang="en-US" noProof="0" dirty="0"/>
              <a:t>Summary So Far</a:t>
            </a:r>
          </a:p>
        </p:txBody>
      </p:sp>
      <p:sp>
        <p:nvSpPr>
          <p:cNvPr id="3" name="Table Placeholder 2">
            <a:extLst>
              <a:ext uri="{FF2B5EF4-FFF2-40B4-BE49-F238E27FC236}">
                <a16:creationId xmlns:a16="http://schemas.microsoft.com/office/drawing/2014/main" id="{F62FD5D6-4EFB-E4F9-BB59-AC629422D6F4}"/>
              </a:ext>
            </a:extLst>
          </p:cNvPr>
          <p:cNvSpPr>
            <a:spLocks noGrp="1"/>
          </p:cNvSpPr>
          <p:nvPr>
            <p:ph type="tbl" sz="quarter" idx="10"/>
          </p:nvPr>
        </p:nvSpPr>
        <p:spPr/>
        <p:txBody>
          <a:bodyPr/>
          <a:lstStyle/>
          <a:p>
            <a:pPr>
              <a:lnSpc>
                <a:spcPct val="100000"/>
              </a:lnSpc>
            </a:pPr>
            <a:r>
              <a:rPr lang="en-US" sz="2800" noProof="0" dirty="0"/>
              <a:t>When multiple decision options exist, construct a structured model to represent the decision problem.</a:t>
            </a:r>
          </a:p>
          <a:p>
            <a:pPr>
              <a:lnSpc>
                <a:spcPct val="100000"/>
              </a:lnSpc>
            </a:pPr>
            <a:endParaRPr lang="en-US" sz="2800" noProof="0" dirty="0"/>
          </a:p>
          <a:p>
            <a:pPr>
              <a:lnSpc>
                <a:spcPct val="100000"/>
              </a:lnSpc>
            </a:pPr>
            <a:r>
              <a:rPr lang="en-US" sz="2800" noProof="0" dirty="0"/>
              <a:t>Simulate outcomes while accounting for uncertainty in key structural factors such as costs and effects.</a:t>
            </a:r>
          </a:p>
          <a:p>
            <a:pPr>
              <a:lnSpc>
                <a:spcPct val="100000"/>
              </a:lnSpc>
            </a:pPr>
            <a:endParaRPr lang="en-US" sz="2800" noProof="0" dirty="0"/>
          </a:p>
          <a:p>
            <a:pPr>
              <a:lnSpc>
                <a:spcPct val="100000"/>
              </a:lnSpc>
            </a:pPr>
            <a:r>
              <a:rPr lang="en-US" sz="2800" noProof="0" dirty="0"/>
              <a:t>Use the resulting cost–effect trade-offs to identify the option that best aligns with the decision objective.</a:t>
            </a:r>
          </a:p>
        </p:txBody>
      </p:sp>
      <p:sp>
        <p:nvSpPr>
          <p:cNvPr id="4" name="Slide Number Placeholder 3">
            <a:extLst>
              <a:ext uri="{FF2B5EF4-FFF2-40B4-BE49-F238E27FC236}">
                <a16:creationId xmlns:a16="http://schemas.microsoft.com/office/drawing/2014/main" id="{9305F219-6274-86AA-9B16-370660E92A47}"/>
              </a:ext>
            </a:extLst>
          </p:cNvPr>
          <p:cNvSpPr>
            <a:spLocks noGrp="1"/>
          </p:cNvSpPr>
          <p:nvPr>
            <p:ph type="sldNum" sz="quarter" idx="4"/>
          </p:nvPr>
        </p:nvSpPr>
        <p:spPr/>
        <p:txBody>
          <a:bodyPr/>
          <a:lstStyle/>
          <a:p>
            <a:fld id="{B5CEABB6-07DC-46E8-9B57-56EC44A396E5}" type="slidenum">
              <a:rPr lang="en-US" noProof="0" smtClean="0"/>
              <a:pPr/>
              <a:t>28</a:t>
            </a:fld>
            <a:endParaRPr lang="en-US" noProof="0" dirty="0"/>
          </a:p>
        </p:txBody>
      </p:sp>
      <p:sp>
        <p:nvSpPr>
          <p:cNvPr id="5" name="Table Placeholder 4">
            <a:extLst>
              <a:ext uri="{FF2B5EF4-FFF2-40B4-BE49-F238E27FC236}">
                <a16:creationId xmlns:a16="http://schemas.microsoft.com/office/drawing/2014/main" id="{A04C22F8-EC95-66F6-CAA1-4940AE4BD5BD}"/>
              </a:ext>
            </a:extLst>
          </p:cNvPr>
          <p:cNvSpPr>
            <a:spLocks noGrp="1"/>
          </p:cNvSpPr>
          <p:nvPr>
            <p:ph type="tbl" sz="quarter" idx="11"/>
          </p:nvPr>
        </p:nvSpPr>
        <p:spPr/>
        <p:txBody>
          <a:bodyPr/>
          <a:lstStyle/>
          <a:p>
            <a:endParaRPr lang="en-US" noProof="0" dirty="0"/>
          </a:p>
        </p:txBody>
      </p:sp>
      <p:grpSp>
        <p:nvGrpSpPr>
          <p:cNvPr id="10" name="Group 9">
            <a:extLst>
              <a:ext uri="{FF2B5EF4-FFF2-40B4-BE49-F238E27FC236}">
                <a16:creationId xmlns:a16="http://schemas.microsoft.com/office/drawing/2014/main" id="{763C3FE7-79B7-96F7-B08D-3C5AFE89893E}"/>
              </a:ext>
            </a:extLst>
          </p:cNvPr>
          <p:cNvGrpSpPr/>
          <p:nvPr/>
        </p:nvGrpSpPr>
        <p:grpSpPr>
          <a:xfrm>
            <a:off x="467139" y="108959"/>
            <a:ext cx="4197304" cy="307297"/>
            <a:chOff x="562270" y="127168"/>
            <a:chExt cx="4197304" cy="307297"/>
          </a:xfrm>
        </p:grpSpPr>
        <p:sp>
          <p:nvSpPr>
            <p:cNvPr id="11" name="Arrow: Pentagon 10">
              <a:extLst>
                <a:ext uri="{FF2B5EF4-FFF2-40B4-BE49-F238E27FC236}">
                  <a16:creationId xmlns:a16="http://schemas.microsoft.com/office/drawing/2014/main" id="{A5EBF92E-77F6-CB24-5171-65C45864D0FD}"/>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2" name="Arrow: Pentagon 11">
              <a:extLst>
                <a:ext uri="{FF2B5EF4-FFF2-40B4-BE49-F238E27FC236}">
                  <a16:creationId xmlns:a16="http://schemas.microsoft.com/office/drawing/2014/main" id="{A5B38C8F-49C9-829B-D020-969740496F1C}"/>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3" name="Arrow: Pentagon 12">
              <a:extLst>
                <a:ext uri="{FF2B5EF4-FFF2-40B4-BE49-F238E27FC236}">
                  <a16:creationId xmlns:a16="http://schemas.microsoft.com/office/drawing/2014/main" id="{EAC587A1-7653-2A99-0B33-C01CB171619B}"/>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34925039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525F8-87CC-4ED2-DEC7-6CA9624362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5363BA-1AE1-5770-3DDE-ED35F923E0C8}"/>
              </a:ext>
            </a:extLst>
          </p:cNvPr>
          <p:cNvSpPr>
            <a:spLocks noGrp="1"/>
          </p:cNvSpPr>
          <p:nvPr>
            <p:ph type="title"/>
          </p:nvPr>
        </p:nvSpPr>
        <p:spPr>
          <a:xfrm>
            <a:off x="467139" y="589724"/>
            <a:ext cx="11221278" cy="362776"/>
          </a:xfrm>
        </p:spPr>
        <p:txBody>
          <a:bodyPr/>
          <a:lstStyle/>
          <a:p>
            <a:r>
              <a:rPr lang="en-US" noProof="0" dirty="0"/>
              <a:t>Agenda</a:t>
            </a:r>
          </a:p>
        </p:txBody>
      </p:sp>
      <p:sp>
        <p:nvSpPr>
          <p:cNvPr id="4" name="Slide Number Placeholder 3">
            <a:extLst>
              <a:ext uri="{FF2B5EF4-FFF2-40B4-BE49-F238E27FC236}">
                <a16:creationId xmlns:a16="http://schemas.microsoft.com/office/drawing/2014/main" id="{F58CB9AD-7365-64F4-B449-2D8FB5246721}"/>
              </a:ext>
            </a:extLst>
          </p:cNvPr>
          <p:cNvSpPr>
            <a:spLocks noGrp="1"/>
          </p:cNvSpPr>
          <p:nvPr>
            <p:ph type="sldNum" sz="quarter" idx="4"/>
          </p:nvPr>
        </p:nvSpPr>
        <p:spPr/>
        <p:txBody>
          <a:bodyPr/>
          <a:lstStyle/>
          <a:p>
            <a:fld id="{B5CEABB6-07DC-46E8-9B57-56EC44A396E5}" type="slidenum">
              <a:rPr lang="en-US" noProof="0" smtClean="0"/>
              <a:pPr/>
              <a:t>29</a:t>
            </a:fld>
            <a:endParaRPr lang="en-US" noProof="0" dirty="0"/>
          </a:p>
        </p:txBody>
      </p:sp>
      <p:sp>
        <p:nvSpPr>
          <p:cNvPr id="5" name="Table Placeholder 4">
            <a:extLst>
              <a:ext uri="{FF2B5EF4-FFF2-40B4-BE49-F238E27FC236}">
                <a16:creationId xmlns:a16="http://schemas.microsoft.com/office/drawing/2014/main" id="{8D34B05E-180A-62BB-8C95-A72BB36242C8}"/>
              </a:ext>
            </a:extLst>
          </p:cNvPr>
          <p:cNvSpPr>
            <a:spLocks noGrp="1"/>
          </p:cNvSpPr>
          <p:nvPr>
            <p:ph type="tbl" sz="quarter" idx="11"/>
          </p:nvPr>
        </p:nvSpPr>
        <p:spPr/>
        <p:txBody>
          <a:bodyPr/>
          <a:lstStyle/>
          <a:p>
            <a:endParaRPr lang="en-US" noProof="0" dirty="0"/>
          </a:p>
        </p:txBody>
      </p:sp>
      <p:sp>
        <p:nvSpPr>
          <p:cNvPr id="6" name="Rectangle 5">
            <a:extLst>
              <a:ext uri="{FF2B5EF4-FFF2-40B4-BE49-F238E27FC236}">
                <a16:creationId xmlns:a16="http://schemas.microsoft.com/office/drawing/2014/main" id="{50952402-E81B-B1CA-D7F6-27754939D785}"/>
              </a:ext>
            </a:extLst>
          </p:cNvPr>
          <p:cNvSpPr/>
          <p:nvPr/>
        </p:nvSpPr>
        <p:spPr>
          <a:xfrm>
            <a:off x="467139" y="2064970"/>
            <a:ext cx="11221278" cy="735496"/>
          </a:xfrm>
          <a:prstGeom prst="rect">
            <a:avLst/>
          </a:prstGeom>
          <a:solidFill>
            <a:srgbClr val="D6DC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0" dirty="0">
                <a:latin typeface="Arial" panose="020B0604020202020204" pitchFamily="34" charset="0"/>
                <a:ea typeface="Meiryo UI" panose="020B0604030504040204" pitchFamily="50" charset="-128"/>
                <a:cs typeface="Arial" panose="020B0604020202020204" pitchFamily="34" charset="0"/>
              </a:rPr>
              <a:t>1. What is Decision Science, and how do we analyze decisions? </a:t>
            </a:r>
          </a:p>
        </p:txBody>
      </p:sp>
      <p:sp>
        <p:nvSpPr>
          <p:cNvPr id="7" name="Rectangle 6">
            <a:extLst>
              <a:ext uri="{FF2B5EF4-FFF2-40B4-BE49-F238E27FC236}">
                <a16:creationId xmlns:a16="http://schemas.microsoft.com/office/drawing/2014/main" id="{51AF5867-45D4-FC49-F6C9-90CDC55AC72A}"/>
              </a:ext>
            </a:extLst>
          </p:cNvPr>
          <p:cNvSpPr/>
          <p:nvPr/>
        </p:nvSpPr>
        <p:spPr>
          <a:xfrm>
            <a:off x="467139" y="3506988"/>
            <a:ext cx="11221278" cy="735496"/>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eiryo UI" panose="020B0604030504040204" pitchFamily="50" charset="-128"/>
                <a:cs typeface="Arial" panose="020B0604020202020204" pitchFamily="34" charset="0"/>
              </a:rPr>
              <a:t>2</a:t>
            </a:r>
            <a:r>
              <a:rPr lang="en-US" sz="2400" b="1" noProof="0" dirty="0">
                <a:latin typeface="Arial" panose="020B0604020202020204" pitchFamily="34" charset="0"/>
                <a:ea typeface="Meiryo UI" panose="020B0604030504040204" pitchFamily="50" charset="-128"/>
                <a:cs typeface="Arial" panose="020B0604020202020204" pitchFamily="34" charset="0"/>
              </a:rPr>
              <a:t>. Experiencing Decision Science in practice </a:t>
            </a:r>
          </a:p>
        </p:txBody>
      </p:sp>
      <p:sp>
        <p:nvSpPr>
          <p:cNvPr id="8" name="Rectangle 7">
            <a:extLst>
              <a:ext uri="{FF2B5EF4-FFF2-40B4-BE49-F238E27FC236}">
                <a16:creationId xmlns:a16="http://schemas.microsoft.com/office/drawing/2014/main" id="{D99FA3FF-8B77-A99E-2C9B-33276395E283}"/>
              </a:ext>
            </a:extLst>
          </p:cNvPr>
          <p:cNvSpPr/>
          <p:nvPr/>
        </p:nvSpPr>
        <p:spPr>
          <a:xfrm>
            <a:off x="467139" y="4949006"/>
            <a:ext cx="11221278" cy="73549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eiryo UI" panose="020B0604030504040204" pitchFamily="50" charset="-128"/>
                <a:cs typeface="Arial" panose="020B0604020202020204" pitchFamily="34" charset="0"/>
              </a:rPr>
              <a:t>3</a:t>
            </a:r>
            <a:r>
              <a:rPr lang="en-US" sz="2400" b="1" noProof="0" dirty="0">
                <a:latin typeface="Arial" panose="020B0604020202020204" pitchFamily="34" charset="0"/>
                <a:ea typeface="Meiryo UI" panose="020B0604030504040204" pitchFamily="50" charset="-128"/>
                <a:cs typeface="Arial" panose="020B0604020202020204" pitchFamily="34" charset="0"/>
              </a:rPr>
              <a:t>. Use cases of Decision Science</a:t>
            </a:r>
          </a:p>
        </p:txBody>
      </p:sp>
    </p:spTree>
    <p:extLst>
      <p:ext uri="{BB962C8B-B14F-4D97-AF65-F5344CB8AC3E}">
        <p14:creationId xmlns:p14="http://schemas.microsoft.com/office/powerpoint/2010/main" val="40936728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DCBB4-B3FA-2E60-4470-28F8402612B4}"/>
              </a:ext>
            </a:extLst>
          </p:cNvPr>
          <p:cNvSpPr>
            <a:spLocks noGrp="1"/>
          </p:cNvSpPr>
          <p:nvPr>
            <p:ph type="title"/>
          </p:nvPr>
        </p:nvSpPr>
        <p:spPr/>
        <p:txBody>
          <a:bodyPr/>
          <a:lstStyle/>
          <a:p>
            <a:r>
              <a:rPr lang="en-US" noProof="0" dirty="0"/>
              <a:t>Choosing a Flight Seat Class</a:t>
            </a:r>
          </a:p>
        </p:txBody>
      </p:sp>
      <p:sp>
        <p:nvSpPr>
          <p:cNvPr id="4" name="Slide Number Placeholder 3">
            <a:extLst>
              <a:ext uri="{FF2B5EF4-FFF2-40B4-BE49-F238E27FC236}">
                <a16:creationId xmlns:a16="http://schemas.microsoft.com/office/drawing/2014/main" id="{926A9F46-D769-BBCF-7012-39E082D159F7}"/>
              </a:ext>
            </a:extLst>
          </p:cNvPr>
          <p:cNvSpPr>
            <a:spLocks noGrp="1"/>
          </p:cNvSpPr>
          <p:nvPr>
            <p:ph type="sldNum" sz="quarter" idx="4"/>
          </p:nvPr>
        </p:nvSpPr>
        <p:spPr/>
        <p:txBody>
          <a:bodyPr/>
          <a:lstStyle/>
          <a:p>
            <a:fld id="{B5CEABB6-07DC-46E8-9B57-56EC44A396E5}" type="slidenum">
              <a:rPr lang="en-US" noProof="0" smtClean="0"/>
              <a:pPr/>
              <a:t>30</a:t>
            </a:fld>
            <a:endParaRPr lang="en-US" noProof="0" dirty="0"/>
          </a:p>
        </p:txBody>
      </p:sp>
      <p:sp>
        <p:nvSpPr>
          <p:cNvPr id="5" name="Table Placeholder 4">
            <a:extLst>
              <a:ext uri="{FF2B5EF4-FFF2-40B4-BE49-F238E27FC236}">
                <a16:creationId xmlns:a16="http://schemas.microsoft.com/office/drawing/2014/main" id="{58A91799-66FF-3EA2-403C-15FBB9205021}"/>
              </a:ext>
            </a:extLst>
          </p:cNvPr>
          <p:cNvSpPr>
            <a:spLocks noGrp="1"/>
          </p:cNvSpPr>
          <p:nvPr>
            <p:ph type="tbl" sz="quarter" idx="11"/>
          </p:nvPr>
        </p:nvSpPr>
        <p:spPr/>
        <p:txBody>
          <a:bodyPr/>
          <a:lstStyle/>
          <a:p>
            <a:r>
              <a:rPr lang="en-US" noProof="0" dirty="0"/>
              <a:t>Assume we select Delta for the previously discussed flight to Tokyo.</a:t>
            </a:r>
          </a:p>
        </p:txBody>
      </p:sp>
      <p:pic>
        <p:nvPicPr>
          <p:cNvPr id="3" name="Picture 2">
            <a:extLst>
              <a:ext uri="{FF2B5EF4-FFF2-40B4-BE49-F238E27FC236}">
                <a16:creationId xmlns:a16="http://schemas.microsoft.com/office/drawing/2014/main" id="{3BB41B42-B93B-9EE0-F000-ABA70336326D}"/>
              </a:ext>
            </a:extLst>
          </p:cNvPr>
          <p:cNvPicPr>
            <a:picLocks noChangeAspect="1"/>
          </p:cNvPicPr>
          <p:nvPr/>
        </p:nvPicPr>
        <p:blipFill>
          <a:blip r:embed="rId2"/>
          <a:stretch>
            <a:fillRect/>
          </a:stretch>
        </p:blipFill>
        <p:spPr>
          <a:xfrm>
            <a:off x="1384010" y="1614992"/>
            <a:ext cx="9423980" cy="4928497"/>
          </a:xfrm>
          <a:prstGeom prst="rect">
            <a:avLst/>
          </a:prstGeom>
        </p:spPr>
      </p:pic>
      <p:sp>
        <p:nvSpPr>
          <p:cNvPr id="13" name="Rectangle 12">
            <a:extLst>
              <a:ext uri="{FF2B5EF4-FFF2-40B4-BE49-F238E27FC236}">
                <a16:creationId xmlns:a16="http://schemas.microsoft.com/office/drawing/2014/main" id="{A6537B67-8FA4-D742-6E6E-B36DFC2B806F}"/>
              </a:ext>
            </a:extLst>
          </p:cNvPr>
          <p:cNvSpPr/>
          <p:nvPr/>
        </p:nvSpPr>
        <p:spPr>
          <a:xfrm>
            <a:off x="1209040" y="4856480"/>
            <a:ext cx="9733280" cy="908215"/>
          </a:xfrm>
          <a:prstGeom prst="rect">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Meiryo UI" panose="020B0604030504040204" pitchFamily="50" charset="-128"/>
              <a:ea typeface="Meiryo UI" panose="020B0604030504040204" pitchFamily="50" charset="-128"/>
            </a:endParaRPr>
          </a:p>
        </p:txBody>
      </p:sp>
      <p:grpSp>
        <p:nvGrpSpPr>
          <p:cNvPr id="6" name="Group 5">
            <a:extLst>
              <a:ext uri="{FF2B5EF4-FFF2-40B4-BE49-F238E27FC236}">
                <a16:creationId xmlns:a16="http://schemas.microsoft.com/office/drawing/2014/main" id="{17F73720-BB21-D7A5-0EEC-38861FA46026}"/>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371FE6AD-776A-3F00-C323-6EF430E389C5}"/>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9" name="Arrow: Pentagon 8">
              <a:extLst>
                <a:ext uri="{FF2B5EF4-FFF2-40B4-BE49-F238E27FC236}">
                  <a16:creationId xmlns:a16="http://schemas.microsoft.com/office/drawing/2014/main" id="{3C30E49A-A48F-52FB-4F22-407E88068BE3}"/>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4" name="Arrow: Pentagon 13">
              <a:extLst>
                <a:ext uri="{FF2B5EF4-FFF2-40B4-BE49-F238E27FC236}">
                  <a16:creationId xmlns:a16="http://schemas.microsoft.com/office/drawing/2014/main" id="{1EDA6AFC-49E9-AC86-DDF5-2F1B744B8330}"/>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38592015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89BFD-2B1E-CAB2-56CD-606242C1E9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2B77D7-A8A8-4423-CAE2-D27FD163B4FE}"/>
              </a:ext>
            </a:extLst>
          </p:cNvPr>
          <p:cNvSpPr>
            <a:spLocks noGrp="1"/>
          </p:cNvSpPr>
          <p:nvPr>
            <p:ph type="title"/>
          </p:nvPr>
        </p:nvSpPr>
        <p:spPr/>
        <p:txBody>
          <a:bodyPr/>
          <a:lstStyle/>
          <a:p>
            <a:r>
              <a:rPr lang="en-US" noProof="0" dirty="0"/>
              <a:t>Choosing a Flight Seat Class</a:t>
            </a:r>
          </a:p>
        </p:txBody>
      </p:sp>
      <p:sp>
        <p:nvSpPr>
          <p:cNvPr id="4" name="Slide Number Placeholder 3">
            <a:extLst>
              <a:ext uri="{FF2B5EF4-FFF2-40B4-BE49-F238E27FC236}">
                <a16:creationId xmlns:a16="http://schemas.microsoft.com/office/drawing/2014/main" id="{ABAB9FC3-D423-7F81-CCFC-FEEB82DD5362}"/>
              </a:ext>
            </a:extLst>
          </p:cNvPr>
          <p:cNvSpPr>
            <a:spLocks noGrp="1"/>
          </p:cNvSpPr>
          <p:nvPr>
            <p:ph type="sldNum" sz="quarter" idx="4"/>
          </p:nvPr>
        </p:nvSpPr>
        <p:spPr/>
        <p:txBody>
          <a:bodyPr/>
          <a:lstStyle/>
          <a:p>
            <a:fld id="{B5CEABB6-07DC-46E8-9B57-56EC44A396E5}" type="slidenum">
              <a:rPr lang="en-US" noProof="0" smtClean="0"/>
              <a:pPr/>
              <a:t>31</a:t>
            </a:fld>
            <a:endParaRPr lang="en-US" noProof="0" dirty="0"/>
          </a:p>
        </p:txBody>
      </p:sp>
      <p:sp>
        <p:nvSpPr>
          <p:cNvPr id="5" name="Table Placeholder 4">
            <a:extLst>
              <a:ext uri="{FF2B5EF4-FFF2-40B4-BE49-F238E27FC236}">
                <a16:creationId xmlns:a16="http://schemas.microsoft.com/office/drawing/2014/main" id="{E98749D0-336D-6BC0-712C-70821136E9B2}"/>
              </a:ext>
            </a:extLst>
          </p:cNvPr>
          <p:cNvSpPr>
            <a:spLocks noGrp="1"/>
          </p:cNvSpPr>
          <p:nvPr>
            <p:ph type="tbl" sz="quarter" idx="11"/>
          </p:nvPr>
        </p:nvSpPr>
        <p:spPr/>
        <p:txBody>
          <a:bodyPr/>
          <a:lstStyle/>
          <a:p>
            <a:r>
              <a:rPr lang="en-US" noProof="0" dirty="0"/>
              <a:t>Selecting one option from three seat classes.</a:t>
            </a:r>
          </a:p>
        </p:txBody>
      </p:sp>
      <p:grpSp>
        <p:nvGrpSpPr>
          <p:cNvPr id="6" name="Group 5">
            <a:extLst>
              <a:ext uri="{FF2B5EF4-FFF2-40B4-BE49-F238E27FC236}">
                <a16:creationId xmlns:a16="http://schemas.microsoft.com/office/drawing/2014/main" id="{E59DB5A0-0C0A-47AB-B524-0D9B43013B98}"/>
              </a:ext>
            </a:extLst>
          </p:cNvPr>
          <p:cNvGrpSpPr>
            <a:grpSpLocks noChangeAspect="1"/>
          </p:cNvGrpSpPr>
          <p:nvPr/>
        </p:nvGrpSpPr>
        <p:grpSpPr>
          <a:xfrm>
            <a:off x="815620" y="1937448"/>
            <a:ext cx="10560761" cy="4680000"/>
            <a:chOff x="550046" y="1438274"/>
            <a:chExt cx="11091908" cy="4915377"/>
          </a:xfrm>
        </p:grpSpPr>
        <p:pic>
          <p:nvPicPr>
            <p:cNvPr id="7" name="Picture 6">
              <a:extLst>
                <a:ext uri="{FF2B5EF4-FFF2-40B4-BE49-F238E27FC236}">
                  <a16:creationId xmlns:a16="http://schemas.microsoft.com/office/drawing/2014/main" id="{E310DAD2-D978-976A-7A27-B710D55C4741}"/>
                </a:ext>
              </a:extLst>
            </p:cNvPr>
            <p:cNvPicPr>
              <a:picLocks noChangeAspect="1"/>
            </p:cNvPicPr>
            <p:nvPr/>
          </p:nvPicPr>
          <p:blipFill>
            <a:blip r:embed="rId2"/>
            <a:srcRect t="20972" b="7354"/>
            <a:stretch/>
          </p:blipFill>
          <p:spPr>
            <a:xfrm>
              <a:off x="550046" y="1438274"/>
              <a:ext cx="11091908" cy="4915377"/>
            </a:xfrm>
            <a:prstGeom prst="rect">
              <a:avLst/>
            </a:prstGeom>
          </p:spPr>
        </p:pic>
        <p:pic>
          <p:nvPicPr>
            <p:cNvPr id="9" name="Picture 8">
              <a:extLst>
                <a:ext uri="{FF2B5EF4-FFF2-40B4-BE49-F238E27FC236}">
                  <a16:creationId xmlns:a16="http://schemas.microsoft.com/office/drawing/2014/main" id="{21FBE5A8-22AC-55EC-EDC1-DBDCDF516124}"/>
                </a:ext>
              </a:extLst>
            </p:cNvPr>
            <p:cNvPicPr>
              <a:picLocks noChangeAspect="1"/>
            </p:cNvPicPr>
            <p:nvPr/>
          </p:nvPicPr>
          <p:blipFill>
            <a:blip r:embed="rId3"/>
            <a:stretch>
              <a:fillRect/>
            </a:stretch>
          </p:blipFill>
          <p:spPr>
            <a:xfrm>
              <a:off x="1660756" y="2582601"/>
              <a:ext cx="3152353" cy="3611880"/>
            </a:xfrm>
            <a:prstGeom prst="rect">
              <a:avLst/>
            </a:prstGeom>
          </p:spPr>
        </p:pic>
      </p:grpSp>
      <p:grpSp>
        <p:nvGrpSpPr>
          <p:cNvPr id="16" name="Group 15">
            <a:extLst>
              <a:ext uri="{FF2B5EF4-FFF2-40B4-BE49-F238E27FC236}">
                <a16:creationId xmlns:a16="http://schemas.microsoft.com/office/drawing/2014/main" id="{E6915A2A-7EC8-D932-5796-9C29B954EAAD}"/>
              </a:ext>
            </a:extLst>
          </p:cNvPr>
          <p:cNvGrpSpPr/>
          <p:nvPr/>
        </p:nvGrpSpPr>
        <p:grpSpPr>
          <a:xfrm>
            <a:off x="467139" y="108959"/>
            <a:ext cx="4197304" cy="307297"/>
            <a:chOff x="562270" y="127168"/>
            <a:chExt cx="4197304" cy="307297"/>
          </a:xfrm>
        </p:grpSpPr>
        <p:sp>
          <p:nvSpPr>
            <p:cNvPr id="17" name="Arrow: Pentagon 16">
              <a:extLst>
                <a:ext uri="{FF2B5EF4-FFF2-40B4-BE49-F238E27FC236}">
                  <a16:creationId xmlns:a16="http://schemas.microsoft.com/office/drawing/2014/main" id="{30F53EBF-6260-DDA3-CD68-661A66845E4B}"/>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8" name="Arrow: Pentagon 17">
              <a:extLst>
                <a:ext uri="{FF2B5EF4-FFF2-40B4-BE49-F238E27FC236}">
                  <a16:creationId xmlns:a16="http://schemas.microsoft.com/office/drawing/2014/main" id="{2D0FFAB3-36F5-FFEE-C521-D07604C5DC97}"/>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9" name="Arrow: Pentagon 18">
              <a:extLst>
                <a:ext uri="{FF2B5EF4-FFF2-40B4-BE49-F238E27FC236}">
                  <a16:creationId xmlns:a16="http://schemas.microsoft.com/office/drawing/2014/main" id="{D9E064F0-928D-3733-6E33-A86C0C524838}"/>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20684284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917CE-0CF8-E6A1-8751-959F7014A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90906-30B6-4D95-E27E-1284690A54CE}"/>
              </a:ext>
            </a:extLst>
          </p:cNvPr>
          <p:cNvSpPr>
            <a:spLocks noGrp="1"/>
          </p:cNvSpPr>
          <p:nvPr>
            <p:ph type="title"/>
          </p:nvPr>
        </p:nvSpPr>
        <p:spPr/>
        <p:txBody>
          <a:bodyPr/>
          <a:lstStyle/>
          <a:p>
            <a:r>
              <a:rPr lang="en-US" noProof="0" dirty="0"/>
              <a:t>Choosing a Flight Seat Class</a:t>
            </a:r>
          </a:p>
        </p:txBody>
      </p:sp>
      <p:sp>
        <p:nvSpPr>
          <p:cNvPr id="4" name="Slide Number Placeholder 3">
            <a:extLst>
              <a:ext uri="{FF2B5EF4-FFF2-40B4-BE49-F238E27FC236}">
                <a16:creationId xmlns:a16="http://schemas.microsoft.com/office/drawing/2014/main" id="{DCFEA876-43A1-6FBE-ABC8-162B46948FD3}"/>
              </a:ext>
            </a:extLst>
          </p:cNvPr>
          <p:cNvSpPr>
            <a:spLocks noGrp="1"/>
          </p:cNvSpPr>
          <p:nvPr>
            <p:ph type="sldNum" sz="quarter" idx="4"/>
          </p:nvPr>
        </p:nvSpPr>
        <p:spPr/>
        <p:txBody>
          <a:bodyPr/>
          <a:lstStyle/>
          <a:p>
            <a:fld id="{B5CEABB6-07DC-46E8-9B57-56EC44A396E5}" type="slidenum">
              <a:rPr lang="en-US" noProof="0" smtClean="0"/>
              <a:pPr/>
              <a:t>32</a:t>
            </a:fld>
            <a:endParaRPr lang="en-US" noProof="0" dirty="0"/>
          </a:p>
        </p:txBody>
      </p:sp>
      <p:sp>
        <p:nvSpPr>
          <p:cNvPr id="5" name="Table Placeholder 4">
            <a:extLst>
              <a:ext uri="{FF2B5EF4-FFF2-40B4-BE49-F238E27FC236}">
                <a16:creationId xmlns:a16="http://schemas.microsoft.com/office/drawing/2014/main" id="{510BC121-A7AF-6FFA-FEFF-5FE827C9C8C4}"/>
              </a:ext>
            </a:extLst>
          </p:cNvPr>
          <p:cNvSpPr>
            <a:spLocks noGrp="1"/>
          </p:cNvSpPr>
          <p:nvPr>
            <p:ph type="tbl" sz="quarter" idx="11"/>
          </p:nvPr>
        </p:nvSpPr>
        <p:spPr/>
        <p:txBody>
          <a:bodyPr/>
          <a:lstStyle/>
          <a:p>
            <a:r>
              <a:rPr lang="en-US" noProof="0" dirty="0"/>
              <a:t>Assign simple labels for convenience.</a:t>
            </a:r>
          </a:p>
        </p:txBody>
      </p:sp>
      <p:grpSp>
        <p:nvGrpSpPr>
          <p:cNvPr id="6" name="Group 5">
            <a:extLst>
              <a:ext uri="{FF2B5EF4-FFF2-40B4-BE49-F238E27FC236}">
                <a16:creationId xmlns:a16="http://schemas.microsoft.com/office/drawing/2014/main" id="{86DD6AF4-4F40-DCCE-AB1F-21C27369CAE7}"/>
              </a:ext>
            </a:extLst>
          </p:cNvPr>
          <p:cNvGrpSpPr>
            <a:grpSpLocks noChangeAspect="1"/>
          </p:cNvGrpSpPr>
          <p:nvPr/>
        </p:nvGrpSpPr>
        <p:grpSpPr>
          <a:xfrm>
            <a:off x="815620" y="1937448"/>
            <a:ext cx="10560761" cy="4680000"/>
            <a:chOff x="550046" y="1438274"/>
            <a:chExt cx="11091908" cy="4915377"/>
          </a:xfrm>
        </p:grpSpPr>
        <p:pic>
          <p:nvPicPr>
            <p:cNvPr id="7" name="Picture 6">
              <a:extLst>
                <a:ext uri="{FF2B5EF4-FFF2-40B4-BE49-F238E27FC236}">
                  <a16:creationId xmlns:a16="http://schemas.microsoft.com/office/drawing/2014/main" id="{09548CFA-8312-21E3-0EAC-056C8125A88B}"/>
                </a:ext>
              </a:extLst>
            </p:cNvPr>
            <p:cNvPicPr>
              <a:picLocks noChangeAspect="1"/>
            </p:cNvPicPr>
            <p:nvPr/>
          </p:nvPicPr>
          <p:blipFill>
            <a:blip r:embed="rId2"/>
            <a:srcRect t="20972" b="7354"/>
            <a:stretch/>
          </p:blipFill>
          <p:spPr>
            <a:xfrm>
              <a:off x="550046" y="1438274"/>
              <a:ext cx="11091908" cy="4915377"/>
            </a:xfrm>
            <a:prstGeom prst="rect">
              <a:avLst/>
            </a:prstGeom>
          </p:spPr>
        </p:pic>
        <p:pic>
          <p:nvPicPr>
            <p:cNvPr id="9" name="Picture 8">
              <a:extLst>
                <a:ext uri="{FF2B5EF4-FFF2-40B4-BE49-F238E27FC236}">
                  <a16:creationId xmlns:a16="http://schemas.microsoft.com/office/drawing/2014/main" id="{630A4F3C-BEE5-5FA2-6410-371242C8DF7A}"/>
                </a:ext>
              </a:extLst>
            </p:cNvPr>
            <p:cNvPicPr>
              <a:picLocks noChangeAspect="1"/>
            </p:cNvPicPr>
            <p:nvPr/>
          </p:nvPicPr>
          <p:blipFill>
            <a:blip r:embed="rId3"/>
            <a:stretch>
              <a:fillRect/>
            </a:stretch>
          </p:blipFill>
          <p:spPr>
            <a:xfrm>
              <a:off x="1660756" y="2582601"/>
              <a:ext cx="3152353" cy="3611880"/>
            </a:xfrm>
            <a:prstGeom prst="rect">
              <a:avLst/>
            </a:prstGeom>
          </p:spPr>
        </p:pic>
      </p:grpSp>
      <p:sp>
        <p:nvSpPr>
          <p:cNvPr id="3" name="Rectangle 2">
            <a:extLst>
              <a:ext uri="{FF2B5EF4-FFF2-40B4-BE49-F238E27FC236}">
                <a16:creationId xmlns:a16="http://schemas.microsoft.com/office/drawing/2014/main" id="{F7F868D2-BC5E-B39E-32E2-525E8767C7EC}"/>
              </a:ext>
            </a:extLst>
          </p:cNvPr>
          <p:cNvSpPr/>
          <p:nvPr/>
        </p:nvSpPr>
        <p:spPr>
          <a:xfrm>
            <a:off x="1945532" y="3026978"/>
            <a:ext cx="2850204" cy="48470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Economy　$750</a:t>
            </a:r>
          </a:p>
        </p:txBody>
      </p:sp>
      <p:sp>
        <p:nvSpPr>
          <p:cNvPr id="13" name="Rectangle 12">
            <a:extLst>
              <a:ext uri="{FF2B5EF4-FFF2-40B4-BE49-F238E27FC236}">
                <a16:creationId xmlns:a16="http://schemas.microsoft.com/office/drawing/2014/main" id="{7E3ED788-48C8-D978-D9A8-8B5C1158EA17}"/>
              </a:ext>
            </a:extLst>
          </p:cNvPr>
          <p:cNvSpPr/>
          <p:nvPr/>
        </p:nvSpPr>
        <p:spPr>
          <a:xfrm>
            <a:off x="5058383" y="3026978"/>
            <a:ext cx="2850204" cy="48470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Business　$1200</a:t>
            </a:r>
          </a:p>
        </p:txBody>
      </p:sp>
      <p:sp>
        <p:nvSpPr>
          <p:cNvPr id="14" name="Rectangle 13">
            <a:extLst>
              <a:ext uri="{FF2B5EF4-FFF2-40B4-BE49-F238E27FC236}">
                <a16:creationId xmlns:a16="http://schemas.microsoft.com/office/drawing/2014/main" id="{6E655969-4CAD-DAD0-8070-A5F17B9284F1}"/>
              </a:ext>
            </a:extLst>
          </p:cNvPr>
          <p:cNvSpPr/>
          <p:nvPr/>
        </p:nvSpPr>
        <p:spPr>
          <a:xfrm>
            <a:off x="8092428" y="3026977"/>
            <a:ext cx="2850204" cy="48470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First class　$1500</a:t>
            </a:r>
          </a:p>
        </p:txBody>
      </p:sp>
      <p:grpSp>
        <p:nvGrpSpPr>
          <p:cNvPr id="15" name="Group 14">
            <a:extLst>
              <a:ext uri="{FF2B5EF4-FFF2-40B4-BE49-F238E27FC236}">
                <a16:creationId xmlns:a16="http://schemas.microsoft.com/office/drawing/2014/main" id="{623B24B7-C06E-6C4D-4F0D-00A6B9A312F4}"/>
              </a:ext>
            </a:extLst>
          </p:cNvPr>
          <p:cNvGrpSpPr/>
          <p:nvPr/>
        </p:nvGrpSpPr>
        <p:grpSpPr>
          <a:xfrm>
            <a:off x="467139" y="108959"/>
            <a:ext cx="4197304" cy="307297"/>
            <a:chOff x="562270" y="127168"/>
            <a:chExt cx="4197304" cy="307297"/>
          </a:xfrm>
        </p:grpSpPr>
        <p:sp>
          <p:nvSpPr>
            <p:cNvPr id="16" name="Arrow: Pentagon 15">
              <a:extLst>
                <a:ext uri="{FF2B5EF4-FFF2-40B4-BE49-F238E27FC236}">
                  <a16:creationId xmlns:a16="http://schemas.microsoft.com/office/drawing/2014/main" id="{EC4774F3-64C7-F7F7-9CC0-00D9CCC93120}"/>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7" name="Arrow: Pentagon 16">
              <a:extLst>
                <a:ext uri="{FF2B5EF4-FFF2-40B4-BE49-F238E27FC236}">
                  <a16:creationId xmlns:a16="http://schemas.microsoft.com/office/drawing/2014/main" id="{63F6708B-C0A9-19B0-C772-3EAADB1205AD}"/>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8" name="Arrow: Pentagon 17">
              <a:extLst>
                <a:ext uri="{FF2B5EF4-FFF2-40B4-BE49-F238E27FC236}">
                  <a16:creationId xmlns:a16="http://schemas.microsoft.com/office/drawing/2014/main" id="{7347FD7C-B5A1-2B03-1163-766166432040}"/>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27504514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D4E7A-5873-6FDF-AAB7-DA9B44FC93AB}"/>
              </a:ext>
            </a:extLst>
          </p:cNvPr>
          <p:cNvSpPr>
            <a:spLocks noGrp="1"/>
          </p:cNvSpPr>
          <p:nvPr>
            <p:ph type="title"/>
          </p:nvPr>
        </p:nvSpPr>
        <p:spPr/>
        <p:txBody>
          <a:bodyPr/>
          <a:lstStyle/>
          <a:p>
            <a:r>
              <a:rPr lang="en-US" noProof="0" dirty="0"/>
              <a:t>Choosing a Flight Seat Class — Objective and Outcomes</a:t>
            </a:r>
          </a:p>
        </p:txBody>
      </p:sp>
      <p:sp>
        <p:nvSpPr>
          <p:cNvPr id="3" name="Table Placeholder 2">
            <a:extLst>
              <a:ext uri="{FF2B5EF4-FFF2-40B4-BE49-F238E27FC236}">
                <a16:creationId xmlns:a16="http://schemas.microsoft.com/office/drawing/2014/main" id="{1627B3C1-02A3-1233-4718-ED739DC3DF49}"/>
              </a:ext>
            </a:extLst>
          </p:cNvPr>
          <p:cNvSpPr>
            <a:spLocks noGrp="1"/>
          </p:cNvSpPr>
          <p:nvPr>
            <p:ph type="tbl" sz="quarter" idx="10"/>
          </p:nvPr>
        </p:nvSpPr>
        <p:spPr/>
        <p:txBody>
          <a:bodyPr/>
          <a:lstStyle/>
          <a:p>
            <a:r>
              <a:rPr lang="en-US" sz="2000" noProof="0" dirty="0"/>
              <a:t>Decision problem and objective</a:t>
            </a:r>
          </a:p>
          <a:p>
            <a:pPr lvl="1"/>
            <a:r>
              <a:rPr lang="en-US" sz="2000" noProof="0" dirty="0"/>
              <a:t>For an 18-hour Boston–Tokyo flight, choose the seat class—Economy, Business, or First—that provides the greatest comfort relative to cost.</a:t>
            </a:r>
          </a:p>
          <a:p>
            <a:pPr lvl="1"/>
            <a:r>
              <a:rPr lang="en-US" sz="2000" noProof="0" dirty="0"/>
              <a:t>Although Economy is usually chosen, any class is affordable within the budget for this scenario.</a:t>
            </a:r>
          </a:p>
          <a:p>
            <a:r>
              <a:rPr lang="en-US" sz="2000" noProof="0" dirty="0"/>
              <a:t>Outcomes</a:t>
            </a:r>
          </a:p>
          <a:p>
            <a:pPr lvl="1"/>
            <a:r>
              <a:rPr lang="en-US" sz="2000" noProof="0" dirty="0"/>
              <a:t>Effect: Comfort × Time → Quality-Adjusted Hours (QAH)</a:t>
            </a:r>
          </a:p>
          <a:p>
            <a:pPr lvl="2"/>
            <a:r>
              <a:rPr lang="en-US" sz="1800" noProof="0" dirty="0"/>
              <a:t>Comfort is defined on a scale from 0 = flight canceled to 1 = extremely comfortable (a premium travel experience)</a:t>
            </a:r>
          </a:p>
          <a:p>
            <a:pPr lvl="2"/>
            <a:r>
              <a:rPr lang="en-US" sz="1800" noProof="0" dirty="0"/>
              <a:t>Cost: Airfare</a:t>
            </a:r>
          </a:p>
          <a:p>
            <a:r>
              <a:rPr lang="en-US" sz="2000" noProof="0" dirty="0"/>
              <a:t>Willingness to pay</a:t>
            </a:r>
          </a:p>
          <a:p>
            <a:pPr lvl="1"/>
            <a:r>
              <a:rPr lang="en-US" sz="2000" noProof="0" dirty="0"/>
              <a:t>Willing to pay up to $120 per QAH(i.e., per hour of an “extremely comfortable” travel experience)</a:t>
            </a:r>
          </a:p>
        </p:txBody>
      </p:sp>
      <p:sp>
        <p:nvSpPr>
          <p:cNvPr id="4" name="Slide Number Placeholder 3">
            <a:extLst>
              <a:ext uri="{FF2B5EF4-FFF2-40B4-BE49-F238E27FC236}">
                <a16:creationId xmlns:a16="http://schemas.microsoft.com/office/drawing/2014/main" id="{8D4F13CC-5097-12FB-D13D-DCE39C1AE17F}"/>
              </a:ext>
            </a:extLst>
          </p:cNvPr>
          <p:cNvSpPr>
            <a:spLocks noGrp="1"/>
          </p:cNvSpPr>
          <p:nvPr>
            <p:ph type="sldNum" sz="quarter" idx="4"/>
          </p:nvPr>
        </p:nvSpPr>
        <p:spPr/>
        <p:txBody>
          <a:bodyPr/>
          <a:lstStyle/>
          <a:p>
            <a:fld id="{B5CEABB6-07DC-46E8-9B57-56EC44A396E5}" type="slidenum">
              <a:rPr lang="en-US" noProof="0" smtClean="0"/>
              <a:pPr/>
              <a:t>33</a:t>
            </a:fld>
            <a:endParaRPr lang="en-US" noProof="0" dirty="0"/>
          </a:p>
        </p:txBody>
      </p:sp>
      <p:sp>
        <p:nvSpPr>
          <p:cNvPr id="5" name="Table Placeholder 4">
            <a:extLst>
              <a:ext uri="{FF2B5EF4-FFF2-40B4-BE49-F238E27FC236}">
                <a16:creationId xmlns:a16="http://schemas.microsoft.com/office/drawing/2014/main" id="{B376DCEB-AAE5-3D48-E1B6-63B559FBE745}"/>
              </a:ext>
            </a:extLst>
          </p:cNvPr>
          <p:cNvSpPr>
            <a:spLocks noGrp="1"/>
          </p:cNvSpPr>
          <p:nvPr>
            <p:ph type="tbl" sz="quarter" idx="11"/>
          </p:nvPr>
        </p:nvSpPr>
        <p:spPr/>
        <p:txBody>
          <a:bodyPr/>
          <a:lstStyle/>
          <a:p>
            <a:endParaRPr lang="en-US" noProof="0" dirty="0"/>
          </a:p>
        </p:txBody>
      </p:sp>
      <p:grpSp>
        <p:nvGrpSpPr>
          <p:cNvPr id="10" name="Group 9">
            <a:extLst>
              <a:ext uri="{FF2B5EF4-FFF2-40B4-BE49-F238E27FC236}">
                <a16:creationId xmlns:a16="http://schemas.microsoft.com/office/drawing/2014/main" id="{F0F2C215-FA07-85F9-053E-DD24DE30D7C7}"/>
              </a:ext>
            </a:extLst>
          </p:cNvPr>
          <p:cNvGrpSpPr/>
          <p:nvPr/>
        </p:nvGrpSpPr>
        <p:grpSpPr>
          <a:xfrm>
            <a:off x="467139" y="108959"/>
            <a:ext cx="4197304" cy="307297"/>
            <a:chOff x="562270" y="127168"/>
            <a:chExt cx="4197304" cy="307297"/>
          </a:xfrm>
        </p:grpSpPr>
        <p:sp>
          <p:nvSpPr>
            <p:cNvPr id="11" name="Arrow: Pentagon 10">
              <a:extLst>
                <a:ext uri="{FF2B5EF4-FFF2-40B4-BE49-F238E27FC236}">
                  <a16:creationId xmlns:a16="http://schemas.microsoft.com/office/drawing/2014/main" id="{799F5DA8-8186-6D9E-DCB6-E2AFC618302B}"/>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2" name="Arrow: Pentagon 11">
              <a:extLst>
                <a:ext uri="{FF2B5EF4-FFF2-40B4-BE49-F238E27FC236}">
                  <a16:creationId xmlns:a16="http://schemas.microsoft.com/office/drawing/2014/main" id="{F3A1D42C-11DA-DA80-3923-9256968B8AA9}"/>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3" name="Arrow: Pentagon 12">
              <a:extLst>
                <a:ext uri="{FF2B5EF4-FFF2-40B4-BE49-F238E27FC236}">
                  <a16:creationId xmlns:a16="http://schemas.microsoft.com/office/drawing/2014/main" id="{85D9CB8A-B2EB-B963-257D-67854E99C098}"/>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39237732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CD062-5D64-EFB3-27C8-1DD91305E0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9CFBD-188C-3667-95B0-DB6055B04FB4}"/>
              </a:ext>
            </a:extLst>
          </p:cNvPr>
          <p:cNvSpPr>
            <a:spLocks noGrp="1"/>
          </p:cNvSpPr>
          <p:nvPr>
            <p:ph type="title"/>
          </p:nvPr>
        </p:nvSpPr>
        <p:spPr/>
        <p:txBody>
          <a:bodyPr/>
          <a:lstStyle/>
          <a:p>
            <a:r>
              <a:rPr lang="en-US" noProof="0" dirty="0"/>
              <a:t>Choosing a Flight Seat Class — Structuring the Decision Problem</a:t>
            </a:r>
          </a:p>
        </p:txBody>
      </p:sp>
      <p:sp>
        <p:nvSpPr>
          <p:cNvPr id="4" name="Slide Number Placeholder 3">
            <a:extLst>
              <a:ext uri="{FF2B5EF4-FFF2-40B4-BE49-F238E27FC236}">
                <a16:creationId xmlns:a16="http://schemas.microsoft.com/office/drawing/2014/main" id="{9F76DDDE-FE3B-3E09-A514-D2B4ED59C9FB}"/>
              </a:ext>
            </a:extLst>
          </p:cNvPr>
          <p:cNvSpPr>
            <a:spLocks noGrp="1"/>
          </p:cNvSpPr>
          <p:nvPr>
            <p:ph type="sldNum" sz="quarter" idx="4"/>
          </p:nvPr>
        </p:nvSpPr>
        <p:spPr/>
        <p:txBody>
          <a:bodyPr/>
          <a:lstStyle/>
          <a:p>
            <a:fld id="{B5CEABB6-07DC-46E8-9B57-56EC44A396E5}" type="slidenum">
              <a:rPr lang="en-US" noProof="0" smtClean="0"/>
              <a:pPr/>
              <a:t>34</a:t>
            </a:fld>
            <a:endParaRPr lang="en-US" noProof="0" dirty="0"/>
          </a:p>
        </p:txBody>
      </p:sp>
      <p:sp>
        <p:nvSpPr>
          <p:cNvPr id="5" name="Table Placeholder 4">
            <a:extLst>
              <a:ext uri="{FF2B5EF4-FFF2-40B4-BE49-F238E27FC236}">
                <a16:creationId xmlns:a16="http://schemas.microsoft.com/office/drawing/2014/main" id="{280AA3B1-C793-1E15-2779-CD728EF8D2C8}"/>
              </a:ext>
            </a:extLst>
          </p:cNvPr>
          <p:cNvSpPr>
            <a:spLocks noGrp="1"/>
          </p:cNvSpPr>
          <p:nvPr>
            <p:ph type="tbl" sz="quarter" idx="11"/>
          </p:nvPr>
        </p:nvSpPr>
        <p:spPr/>
        <p:txBody>
          <a:bodyPr/>
          <a:lstStyle/>
          <a:p>
            <a:endParaRPr lang="en-US" noProof="0" dirty="0"/>
          </a:p>
        </p:txBody>
      </p:sp>
      <p:sp>
        <p:nvSpPr>
          <p:cNvPr id="12" name="Rectangle 11">
            <a:extLst>
              <a:ext uri="{FF2B5EF4-FFF2-40B4-BE49-F238E27FC236}">
                <a16:creationId xmlns:a16="http://schemas.microsoft.com/office/drawing/2014/main" id="{55712672-F396-C0DE-54C6-8275D222A7D4}"/>
              </a:ext>
            </a:extLst>
          </p:cNvPr>
          <p:cNvSpPr/>
          <p:nvPr/>
        </p:nvSpPr>
        <p:spPr>
          <a:xfrm>
            <a:off x="2725083" y="5660747"/>
            <a:ext cx="1722045" cy="2413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Economy</a:t>
            </a:r>
          </a:p>
        </p:txBody>
      </p:sp>
      <p:sp>
        <p:nvSpPr>
          <p:cNvPr id="13" name="Rectangle 12">
            <a:extLst>
              <a:ext uri="{FF2B5EF4-FFF2-40B4-BE49-F238E27FC236}">
                <a16:creationId xmlns:a16="http://schemas.microsoft.com/office/drawing/2014/main" id="{0AC4F69F-805D-333E-1836-B5F32D3158DC}"/>
              </a:ext>
            </a:extLst>
          </p:cNvPr>
          <p:cNvSpPr/>
          <p:nvPr/>
        </p:nvSpPr>
        <p:spPr>
          <a:xfrm>
            <a:off x="2197575" y="4193324"/>
            <a:ext cx="243840" cy="260714"/>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6" name="Oval 15">
            <a:extLst>
              <a:ext uri="{FF2B5EF4-FFF2-40B4-BE49-F238E27FC236}">
                <a16:creationId xmlns:a16="http://schemas.microsoft.com/office/drawing/2014/main" id="{C9292504-A0E8-8B24-1184-8F988DBF7BE0}"/>
              </a:ext>
            </a:extLst>
          </p:cNvPr>
          <p:cNvSpPr/>
          <p:nvPr/>
        </p:nvSpPr>
        <p:spPr>
          <a:xfrm>
            <a:off x="5132583" y="4179717"/>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17" name="Connector: Elbow 16">
            <a:extLst>
              <a:ext uri="{FF2B5EF4-FFF2-40B4-BE49-F238E27FC236}">
                <a16:creationId xmlns:a16="http://schemas.microsoft.com/office/drawing/2014/main" id="{A5305EE8-0B86-4AE2-F251-456A05C9F2B6}"/>
              </a:ext>
            </a:extLst>
          </p:cNvPr>
          <p:cNvCxnSpPr>
            <a:cxnSpLocks/>
            <a:stCxn id="13" idx="0"/>
            <a:endCxn id="21" idx="0"/>
          </p:cNvCxnSpPr>
          <p:nvPr/>
        </p:nvCxnSpPr>
        <p:spPr>
          <a:xfrm rot="5400000" flipH="1" flipV="1">
            <a:off x="3920980" y="1136905"/>
            <a:ext cx="1454934" cy="4657905"/>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1" name="Isosceles Triangle 20">
            <a:extLst>
              <a:ext uri="{FF2B5EF4-FFF2-40B4-BE49-F238E27FC236}">
                <a16:creationId xmlns:a16="http://schemas.microsoft.com/office/drawing/2014/main" id="{0CFBAAFC-383D-F265-F9F4-919B679B818A}"/>
              </a:ext>
            </a:extLst>
          </p:cNvPr>
          <p:cNvSpPr/>
          <p:nvPr/>
        </p:nvSpPr>
        <p:spPr>
          <a:xfrm rot="16200000">
            <a:off x="6977400" y="2601230"/>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34" name="Straight Connector 33">
            <a:extLst>
              <a:ext uri="{FF2B5EF4-FFF2-40B4-BE49-F238E27FC236}">
                <a16:creationId xmlns:a16="http://schemas.microsoft.com/office/drawing/2014/main" id="{595F958D-6012-ED8C-52E7-D7C38852A492}"/>
              </a:ext>
            </a:extLst>
          </p:cNvPr>
          <p:cNvCxnSpPr>
            <a:cxnSpLocks/>
            <a:stCxn id="13" idx="1"/>
          </p:cNvCxnSpPr>
          <p:nvPr/>
        </p:nvCxnSpPr>
        <p:spPr>
          <a:xfrm flipH="1">
            <a:off x="562170" y="4323681"/>
            <a:ext cx="163540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26310146-3B46-1819-FB29-D7CE0C340B62}"/>
              </a:ext>
            </a:extLst>
          </p:cNvPr>
          <p:cNvSpPr/>
          <p:nvPr/>
        </p:nvSpPr>
        <p:spPr>
          <a:xfrm>
            <a:off x="2725083" y="3951838"/>
            <a:ext cx="1722045"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Business</a:t>
            </a:r>
          </a:p>
        </p:txBody>
      </p:sp>
      <p:sp>
        <p:nvSpPr>
          <p:cNvPr id="36" name="Rectangle 35">
            <a:extLst>
              <a:ext uri="{FF2B5EF4-FFF2-40B4-BE49-F238E27FC236}">
                <a16:creationId xmlns:a16="http://schemas.microsoft.com/office/drawing/2014/main" id="{D3B1E942-827D-7D18-CB0C-50FACBA9386A}"/>
              </a:ext>
            </a:extLst>
          </p:cNvPr>
          <p:cNvSpPr/>
          <p:nvPr/>
        </p:nvSpPr>
        <p:spPr>
          <a:xfrm>
            <a:off x="2725083" y="2806370"/>
            <a:ext cx="1722045"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First class</a:t>
            </a:r>
          </a:p>
        </p:txBody>
      </p:sp>
      <p:sp>
        <p:nvSpPr>
          <p:cNvPr id="37" name="Rectangle 36">
            <a:extLst>
              <a:ext uri="{FF2B5EF4-FFF2-40B4-BE49-F238E27FC236}">
                <a16:creationId xmlns:a16="http://schemas.microsoft.com/office/drawing/2014/main" id="{EB5877D5-68A3-D5B7-5ECD-E143410E8D70}"/>
              </a:ext>
            </a:extLst>
          </p:cNvPr>
          <p:cNvSpPr/>
          <p:nvPr/>
        </p:nvSpPr>
        <p:spPr>
          <a:xfrm>
            <a:off x="516394" y="3744187"/>
            <a:ext cx="1635405" cy="5143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ea typeface="Meiryo UI" panose="020B0604030504040204" pitchFamily="50" charset="-128"/>
                <a:cs typeface="Arial" panose="020B0604020202020204" pitchFamily="34" charset="0"/>
              </a:rPr>
              <a:t>Choose a seat</a:t>
            </a:r>
            <a:endPar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46" name="Rectangle 45">
            <a:extLst>
              <a:ext uri="{FF2B5EF4-FFF2-40B4-BE49-F238E27FC236}">
                <a16:creationId xmlns:a16="http://schemas.microsoft.com/office/drawing/2014/main" id="{37B50A78-9EE7-87BF-ECC0-D6F9C27DB73F}"/>
              </a:ext>
            </a:extLst>
          </p:cNvPr>
          <p:cNvSpPr/>
          <p:nvPr/>
        </p:nvSpPr>
        <p:spPr>
          <a:xfrm>
            <a:off x="9316972" y="2049149"/>
            <a:ext cx="1059461" cy="3270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Cost ($)</a:t>
            </a:r>
          </a:p>
        </p:txBody>
      </p:sp>
      <p:grpSp>
        <p:nvGrpSpPr>
          <p:cNvPr id="51" name="Group 50">
            <a:extLst>
              <a:ext uri="{FF2B5EF4-FFF2-40B4-BE49-F238E27FC236}">
                <a16:creationId xmlns:a16="http://schemas.microsoft.com/office/drawing/2014/main" id="{ECA736F8-72A4-A316-48E8-7D3659A90A41}"/>
              </a:ext>
            </a:extLst>
          </p:cNvPr>
          <p:cNvGrpSpPr/>
          <p:nvPr/>
        </p:nvGrpSpPr>
        <p:grpSpPr>
          <a:xfrm>
            <a:off x="639567" y="2110711"/>
            <a:ext cx="4915051" cy="308921"/>
            <a:chOff x="4911850" y="6335733"/>
            <a:chExt cx="4450234" cy="292745"/>
          </a:xfrm>
        </p:grpSpPr>
        <p:sp>
          <p:nvSpPr>
            <p:cNvPr id="52" name="Rectangle 51">
              <a:extLst>
                <a:ext uri="{FF2B5EF4-FFF2-40B4-BE49-F238E27FC236}">
                  <a16:creationId xmlns:a16="http://schemas.microsoft.com/office/drawing/2014/main" id="{375507E0-4209-CD99-1EC0-B10E9A80B944}"/>
                </a:ext>
              </a:extLst>
            </p:cNvPr>
            <p:cNvSpPr/>
            <p:nvPr/>
          </p:nvSpPr>
          <p:spPr>
            <a:xfrm>
              <a:off x="4911850" y="6352525"/>
              <a:ext cx="243840" cy="260714"/>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3" name="Rectangle 52">
              <a:extLst>
                <a:ext uri="{FF2B5EF4-FFF2-40B4-BE49-F238E27FC236}">
                  <a16:creationId xmlns:a16="http://schemas.microsoft.com/office/drawing/2014/main" id="{929AF3AC-B103-979B-4739-8BA6CF0D6A6E}"/>
                </a:ext>
              </a:extLst>
            </p:cNvPr>
            <p:cNvSpPr/>
            <p:nvPr/>
          </p:nvSpPr>
          <p:spPr>
            <a:xfrm>
              <a:off x="5187533"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Decision</a:t>
              </a:r>
            </a:p>
          </p:txBody>
        </p:sp>
        <p:sp>
          <p:nvSpPr>
            <p:cNvPr id="54" name="Oval 53">
              <a:extLst>
                <a:ext uri="{FF2B5EF4-FFF2-40B4-BE49-F238E27FC236}">
                  <a16:creationId xmlns:a16="http://schemas.microsoft.com/office/drawing/2014/main" id="{B639097C-769A-CF96-67E1-19FB4041ED9D}"/>
                </a:ext>
              </a:extLst>
            </p:cNvPr>
            <p:cNvSpPr/>
            <p:nvPr/>
          </p:nvSpPr>
          <p:spPr>
            <a:xfrm>
              <a:off x="6258310" y="6338919"/>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5" name="Rectangle 54">
              <a:extLst>
                <a:ext uri="{FF2B5EF4-FFF2-40B4-BE49-F238E27FC236}">
                  <a16:creationId xmlns:a16="http://schemas.microsoft.com/office/drawing/2014/main" id="{47150126-04C0-2E34-197D-F6BB175DD07A}"/>
                </a:ext>
              </a:extLst>
            </p:cNvPr>
            <p:cNvSpPr/>
            <p:nvPr/>
          </p:nvSpPr>
          <p:spPr>
            <a:xfrm>
              <a:off x="6546010" y="6335733"/>
              <a:ext cx="1495274" cy="2515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Chance event</a:t>
              </a:r>
            </a:p>
          </p:txBody>
        </p:sp>
        <p:sp>
          <p:nvSpPr>
            <p:cNvPr id="56" name="Isosceles Triangle 55">
              <a:extLst>
                <a:ext uri="{FF2B5EF4-FFF2-40B4-BE49-F238E27FC236}">
                  <a16:creationId xmlns:a16="http://schemas.microsoft.com/office/drawing/2014/main" id="{811E226A-A1A8-6564-A3DA-7624E96236BD}"/>
                </a:ext>
              </a:extLst>
            </p:cNvPr>
            <p:cNvSpPr/>
            <p:nvPr/>
          </p:nvSpPr>
          <p:spPr>
            <a:xfrm rot="16200000">
              <a:off x="7990054" y="6354158"/>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7" name="Rectangle 56">
              <a:extLst>
                <a:ext uri="{FF2B5EF4-FFF2-40B4-BE49-F238E27FC236}">
                  <a16:creationId xmlns:a16="http://schemas.microsoft.com/office/drawing/2014/main" id="{B7C4DD5B-F49B-6339-9BD0-149C9B6B92D3}"/>
                </a:ext>
              </a:extLst>
            </p:cNvPr>
            <p:cNvSpPr/>
            <p:nvPr/>
          </p:nvSpPr>
          <p:spPr>
            <a:xfrm>
              <a:off x="8269374"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Outcomes</a:t>
              </a:r>
            </a:p>
          </p:txBody>
        </p:sp>
      </p:grpSp>
      <p:cxnSp>
        <p:nvCxnSpPr>
          <p:cNvPr id="70" name="Connector: Elbow 69">
            <a:extLst>
              <a:ext uri="{FF2B5EF4-FFF2-40B4-BE49-F238E27FC236}">
                <a16:creationId xmlns:a16="http://schemas.microsoft.com/office/drawing/2014/main" id="{CB9F0F95-6B82-9F65-F453-10EC8B5DB3BC}"/>
              </a:ext>
            </a:extLst>
          </p:cNvPr>
          <p:cNvCxnSpPr>
            <a:cxnSpLocks/>
            <a:stCxn id="16" idx="0"/>
            <a:endCxn id="71" idx="0"/>
          </p:cNvCxnSpPr>
          <p:nvPr/>
        </p:nvCxnSpPr>
        <p:spPr>
          <a:xfrm rot="5400000" flipH="1" flipV="1">
            <a:off x="6038048" y="3240366"/>
            <a:ext cx="171047" cy="1707657"/>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71" name="Isosceles Triangle 70">
            <a:extLst>
              <a:ext uri="{FF2B5EF4-FFF2-40B4-BE49-F238E27FC236}">
                <a16:creationId xmlns:a16="http://schemas.microsoft.com/office/drawing/2014/main" id="{2F585EC0-7CC1-C893-ECFD-66F5923FB3FE}"/>
              </a:ext>
            </a:extLst>
          </p:cNvPr>
          <p:cNvSpPr/>
          <p:nvPr/>
        </p:nvSpPr>
        <p:spPr>
          <a:xfrm rot="16200000">
            <a:off x="6977400" y="3871510"/>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72" name="Isosceles Triangle 71">
            <a:extLst>
              <a:ext uri="{FF2B5EF4-FFF2-40B4-BE49-F238E27FC236}">
                <a16:creationId xmlns:a16="http://schemas.microsoft.com/office/drawing/2014/main" id="{DC153C93-77B1-B0AC-8EE6-64181C067A86}"/>
              </a:ext>
            </a:extLst>
          </p:cNvPr>
          <p:cNvSpPr/>
          <p:nvPr/>
        </p:nvSpPr>
        <p:spPr>
          <a:xfrm rot="16200000">
            <a:off x="6977400" y="4498475"/>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73" name="Connector: Elbow 72">
            <a:extLst>
              <a:ext uri="{FF2B5EF4-FFF2-40B4-BE49-F238E27FC236}">
                <a16:creationId xmlns:a16="http://schemas.microsoft.com/office/drawing/2014/main" id="{4FB31D81-0F74-B332-5225-3D0D04CD0A6F}"/>
              </a:ext>
            </a:extLst>
          </p:cNvPr>
          <p:cNvCxnSpPr>
            <a:cxnSpLocks/>
            <a:stCxn id="16" idx="4"/>
            <a:endCxn id="72" idx="0"/>
          </p:cNvCxnSpPr>
          <p:nvPr/>
        </p:nvCxnSpPr>
        <p:spPr>
          <a:xfrm rot="16200000" flipH="1">
            <a:off x="6032772" y="3691007"/>
            <a:ext cx="181598" cy="1707657"/>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C2908B4-E021-07BB-9248-FB15929569AF}"/>
              </a:ext>
            </a:extLst>
          </p:cNvPr>
          <p:cNvCxnSpPr>
            <a:cxnSpLocks/>
            <a:stCxn id="16" idx="2"/>
            <a:endCxn id="13" idx="3"/>
          </p:cNvCxnSpPr>
          <p:nvPr/>
        </p:nvCxnSpPr>
        <p:spPr>
          <a:xfrm flipH="1">
            <a:off x="2441415" y="4316877"/>
            <a:ext cx="2691168" cy="68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Rectangle 90">
            <a:extLst>
              <a:ext uri="{FF2B5EF4-FFF2-40B4-BE49-F238E27FC236}">
                <a16:creationId xmlns:a16="http://schemas.microsoft.com/office/drawing/2014/main" id="{5E51EF7B-AA42-5FFA-84DF-50B002B87F97}"/>
              </a:ext>
            </a:extLst>
          </p:cNvPr>
          <p:cNvSpPr/>
          <p:nvPr/>
        </p:nvSpPr>
        <p:spPr>
          <a:xfrm>
            <a:off x="10580357" y="2049149"/>
            <a:ext cx="1043878" cy="3270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Comfort</a:t>
            </a:r>
          </a:p>
        </p:txBody>
      </p:sp>
      <p:cxnSp>
        <p:nvCxnSpPr>
          <p:cNvPr id="92" name="Straight Connector 91">
            <a:extLst>
              <a:ext uri="{FF2B5EF4-FFF2-40B4-BE49-F238E27FC236}">
                <a16:creationId xmlns:a16="http://schemas.microsoft.com/office/drawing/2014/main" id="{F4291498-0FCB-C2D4-B160-8C5F306C9A60}"/>
              </a:ext>
            </a:extLst>
          </p:cNvPr>
          <p:cNvCxnSpPr>
            <a:cxnSpLocks/>
          </p:cNvCxnSpPr>
          <p:nvPr/>
        </p:nvCxnSpPr>
        <p:spPr>
          <a:xfrm>
            <a:off x="9240618" y="2422048"/>
            <a:ext cx="12121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63FE1C26-4B88-727F-AF45-588AC4EA13EB}"/>
              </a:ext>
            </a:extLst>
          </p:cNvPr>
          <p:cNvCxnSpPr>
            <a:cxnSpLocks/>
          </p:cNvCxnSpPr>
          <p:nvPr/>
        </p:nvCxnSpPr>
        <p:spPr>
          <a:xfrm>
            <a:off x="10580356" y="2422048"/>
            <a:ext cx="12121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8924EC1D-846B-17B9-346E-B8BF842963C8}"/>
              </a:ext>
            </a:extLst>
          </p:cNvPr>
          <p:cNvCxnSpPr>
            <a:cxnSpLocks/>
            <a:stCxn id="13" idx="2"/>
            <a:endCxn id="98" idx="2"/>
          </p:cNvCxnSpPr>
          <p:nvPr/>
        </p:nvCxnSpPr>
        <p:spPr>
          <a:xfrm rot="16200000" flipH="1">
            <a:off x="2960102" y="3813430"/>
            <a:ext cx="1531875" cy="2813089"/>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8" name="Oval 97">
            <a:extLst>
              <a:ext uri="{FF2B5EF4-FFF2-40B4-BE49-F238E27FC236}">
                <a16:creationId xmlns:a16="http://schemas.microsoft.com/office/drawing/2014/main" id="{343580BE-D850-F1BF-3B16-B3D0E98685FD}"/>
              </a:ext>
            </a:extLst>
          </p:cNvPr>
          <p:cNvSpPr/>
          <p:nvPr/>
        </p:nvSpPr>
        <p:spPr>
          <a:xfrm>
            <a:off x="5132584" y="5848753"/>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99" name="Connector: Elbow 98">
            <a:extLst>
              <a:ext uri="{FF2B5EF4-FFF2-40B4-BE49-F238E27FC236}">
                <a16:creationId xmlns:a16="http://schemas.microsoft.com/office/drawing/2014/main" id="{C81454D4-E3C9-3B68-D9C3-1DE52ED9BFFF}"/>
              </a:ext>
            </a:extLst>
          </p:cNvPr>
          <p:cNvCxnSpPr>
            <a:cxnSpLocks/>
            <a:stCxn id="98" idx="0"/>
            <a:endCxn id="100" idx="0"/>
          </p:cNvCxnSpPr>
          <p:nvPr/>
        </p:nvCxnSpPr>
        <p:spPr>
          <a:xfrm rot="5400000" flipH="1" flipV="1">
            <a:off x="6036531" y="4907884"/>
            <a:ext cx="174082" cy="1707656"/>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00" name="Isosceles Triangle 99">
            <a:extLst>
              <a:ext uri="{FF2B5EF4-FFF2-40B4-BE49-F238E27FC236}">
                <a16:creationId xmlns:a16="http://schemas.microsoft.com/office/drawing/2014/main" id="{5029512B-EF23-28E8-AE65-BAF75FDE2675}"/>
              </a:ext>
            </a:extLst>
          </p:cNvPr>
          <p:cNvSpPr/>
          <p:nvPr/>
        </p:nvSpPr>
        <p:spPr>
          <a:xfrm rot="16200000">
            <a:off x="6977400" y="5537511"/>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01" name="Isosceles Triangle 100">
            <a:extLst>
              <a:ext uri="{FF2B5EF4-FFF2-40B4-BE49-F238E27FC236}">
                <a16:creationId xmlns:a16="http://schemas.microsoft.com/office/drawing/2014/main" id="{ADD67FBD-4366-B00E-4D48-8C4263D8197C}"/>
              </a:ext>
            </a:extLst>
          </p:cNvPr>
          <p:cNvSpPr/>
          <p:nvPr/>
        </p:nvSpPr>
        <p:spPr>
          <a:xfrm rot="16200000">
            <a:off x="6977400" y="6164476"/>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102" name="Connector: Elbow 101">
            <a:extLst>
              <a:ext uri="{FF2B5EF4-FFF2-40B4-BE49-F238E27FC236}">
                <a16:creationId xmlns:a16="http://schemas.microsoft.com/office/drawing/2014/main" id="{0821164E-EA8F-243C-725E-A775FBC7C692}"/>
              </a:ext>
            </a:extLst>
          </p:cNvPr>
          <p:cNvCxnSpPr>
            <a:cxnSpLocks/>
            <a:stCxn id="98" idx="4"/>
            <a:endCxn id="101" idx="0"/>
          </p:cNvCxnSpPr>
          <p:nvPr/>
        </p:nvCxnSpPr>
        <p:spPr>
          <a:xfrm rot="16200000" flipH="1">
            <a:off x="6034291" y="5358526"/>
            <a:ext cx="178563" cy="1707656"/>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07" name="Rectangle 106">
            <a:extLst>
              <a:ext uri="{FF2B5EF4-FFF2-40B4-BE49-F238E27FC236}">
                <a16:creationId xmlns:a16="http://schemas.microsoft.com/office/drawing/2014/main" id="{4D880654-5F1B-8561-629B-663DED91C3A6}"/>
              </a:ext>
            </a:extLst>
          </p:cNvPr>
          <p:cNvSpPr/>
          <p:nvPr/>
        </p:nvSpPr>
        <p:spPr>
          <a:xfrm>
            <a:off x="9263999" y="2587028"/>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1500</a:t>
            </a:r>
          </a:p>
        </p:txBody>
      </p:sp>
      <p:sp>
        <p:nvSpPr>
          <p:cNvPr id="108" name="Rectangle 107">
            <a:extLst>
              <a:ext uri="{FF2B5EF4-FFF2-40B4-BE49-F238E27FC236}">
                <a16:creationId xmlns:a16="http://schemas.microsoft.com/office/drawing/2014/main" id="{F04E6979-B22B-805C-610D-E85284E3617E}"/>
              </a:ext>
            </a:extLst>
          </p:cNvPr>
          <p:cNvSpPr/>
          <p:nvPr/>
        </p:nvSpPr>
        <p:spPr>
          <a:xfrm>
            <a:off x="10709893" y="2587028"/>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a:t>
            </a:r>
          </a:p>
        </p:txBody>
      </p:sp>
      <p:sp>
        <p:nvSpPr>
          <p:cNvPr id="109" name="Rectangle 108">
            <a:extLst>
              <a:ext uri="{FF2B5EF4-FFF2-40B4-BE49-F238E27FC236}">
                <a16:creationId xmlns:a16="http://schemas.microsoft.com/office/drawing/2014/main" id="{E57F932F-88B5-B999-F3F0-FBF45F044252}"/>
              </a:ext>
            </a:extLst>
          </p:cNvPr>
          <p:cNvSpPr/>
          <p:nvPr/>
        </p:nvSpPr>
        <p:spPr>
          <a:xfrm>
            <a:off x="9263999" y="3859478"/>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1200</a:t>
            </a:r>
          </a:p>
        </p:txBody>
      </p:sp>
      <p:sp>
        <p:nvSpPr>
          <p:cNvPr id="110" name="Rectangle 109">
            <a:extLst>
              <a:ext uri="{FF2B5EF4-FFF2-40B4-BE49-F238E27FC236}">
                <a16:creationId xmlns:a16="http://schemas.microsoft.com/office/drawing/2014/main" id="{D05659CA-5A0C-F2FD-6046-5DB1E94BC291}"/>
              </a:ext>
            </a:extLst>
          </p:cNvPr>
          <p:cNvSpPr/>
          <p:nvPr/>
        </p:nvSpPr>
        <p:spPr>
          <a:xfrm>
            <a:off x="10709893" y="3859478"/>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a:t>
            </a:r>
          </a:p>
        </p:txBody>
      </p:sp>
      <p:sp>
        <p:nvSpPr>
          <p:cNvPr id="111" name="Rectangle 110">
            <a:extLst>
              <a:ext uri="{FF2B5EF4-FFF2-40B4-BE49-F238E27FC236}">
                <a16:creationId xmlns:a16="http://schemas.microsoft.com/office/drawing/2014/main" id="{E8D52F4E-EFBD-D63A-152E-8B90E62B8EF0}"/>
              </a:ext>
            </a:extLst>
          </p:cNvPr>
          <p:cNvSpPr/>
          <p:nvPr/>
        </p:nvSpPr>
        <p:spPr>
          <a:xfrm>
            <a:off x="9263999" y="4498474"/>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1200</a:t>
            </a:r>
          </a:p>
        </p:txBody>
      </p:sp>
      <p:sp>
        <p:nvSpPr>
          <p:cNvPr id="112" name="Rectangle 111">
            <a:extLst>
              <a:ext uri="{FF2B5EF4-FFF2-40B4-BE49-F238E27FC236}">
                <a16:creationId xmlns:a16="http://schemas.microsoft.com/office/drawing/2014/main" id="{107292DD-1D7E-0016-479D-7E90E3456272}"/>
              </a:ext>
            </a:extLst>
          </p:cNvPr>
          <p:cNvSpPr/>
          <p:nvPr/>
        </p:nvSpPr>
        <p:spPr>
          <a:xfrm>
            <a:off x="10709893" y="4498474"/>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0.8</a:t>
            </a:r>
          </a:p>
        </p:txBody>
      </p:sp>
      <p:sp>
        <p:nvSpPr>
          <p:cNvPr id="113" name="Rectangle 112">
            <a:extLst>
              <a:ext uri="{FF2B5EF4-FFF2-40B4-BE49-F238E27FC236}">
                <a16:creationId xmlns:a16="http://schemas.microsoft.com/office/drawing/2014/main" id="{8EF52265-03E0-EA19-FD8F-F930FB74F0C7}"/>
              </a:ext>
            </a:extLst>
          </p:cNvPr>
          <p:cNvSpPr/>
          <p:nvPr/>
        </p:nvSpPr>
        <p:spPr>
          <a:xfrm>
            <a:off x="9408909" y="5537511"/>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750</a:t>
            </a:r>
          </a:p>
        </p:txBody>
      </p:sp>
      <p:sp>
        <p:nvSpPr>
          <p:cNvPr id="114" name="Rectangle 113">
            <a:extLst>
              <a:ext uri="{FF2B5EF4-FFF2-40B4-BE49-F238E27FC236}">
                <a16:creationId xmlns:a16="http://schemas.microsoft.com/office/drawing/2014/main" id="{E9A100A0-6003-A405-D4E4-7474FB9457C0}"/>
              </a:ext>
            </a:extLst>
          </p:cNvPr>
          <p:cNvSpPr/>
          <p:nvPr/>
        </p:nvSpPr>
        <p:spPr>
          <a:xfrm>
            <a:off x="10709893" y="5537511"/>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0.8</a:t>
            </a:r>
          </a:p>
        </p:txBody>
      </p:sp>
      <p:sp>
        <p:nvSpPr>
          <p:cNvPr id="115" name="Rectangle 114">
            <a:extLst>
              <a:ext uri="{FF2B5EF4-FFF2-40B4-BE49-F238E27FC236}">
                <a16:creationId xmlns:a16="http://schemas.microsoft.com/office/drawing/2014/main" id="{967B6074-2AC3-7EC9-558F-5709344D0175}"/>
              </a:ext>
            </a:extLst>
          </p:cNvPr>
          <p:cNvSpPr/>
          <p:nvPr/>
        </p:nvSpPr>
        <p:spPr>
          <a:xfrm>
            <a:off x="9408909" y="6168892"/>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750</a:t>
            </a:r>
          </a:p>
        </p:txBody>
      </p:sp>
      <p:sp>
        <p:nvSpPr>
          <p:cNvPr id="116" name="Rectangle 115">
            <a:extLst>
              <a:ext uri="{FF2B5EF4-FFF2-40B4-BE49-F238E27FC236}">
                <a16:creationId xmlns:a16="http://schemas.microsoft.com/office/drawing/2014/main" id="{5BC5BD25-24E1-BAA4-8E72-5A09520CF4B7}"/>
              </a:ext>
            </a:extLst>
          </p:cNvPr>
          <p:cNvSpPr/>
          <p:nvPr/>
        </p:nvSpPr>
        <p:spPr>
          <a:xfrm>
            <a:off x="10709893" y="6168892"/>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grpSp>
        <p:nvGrpSpPr>
          <p:cNvPr id="3" name="Group 2">
            <a:extLst>
              <a:ext uri="{FF2B5EF4-FFF2-40B4-BE49-F238E27FC236}">
                <a16:creationId xmlns:a16="http://schemas.microsoft.com/office/drawing/2014/main" id="{FA9B75D3-9562-A644-538C-5670DA0580A8}"/>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12078D44-20D0-1549-3565-E448A2E9FC79}"/>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1" name="Arrow: Pentagon 10">
              <a:extLst>
                <a:ext uri="{FF2B5EF4-FFF2-40B4-BE49-F238E27FC236}">
                  <a16:creationId xmlns:a16="http://schemas.microsoft.com/office/drawing/2014/main" id="{7343E74C-6B14-D423-72FA-4233BE68D6C2}"/>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4" name="Arrow: Pentagon 13">
              <a:extLst>
                <a:ext uri="{FF2B5EF4-FFF2-40B4-BE49-F238E27FC236}">
                  <a16:creationId xmlns:a16="http://schemas.microsoft.com/office/drawing/2014/main" id="{47AAC845-261B-6A2B-42B7-1E0639F852DC}"/>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
        <p:nvSpPr>
          <p:cNvPr id="50" name="Rectangle 49">
            <a:extLst>
              <a:ext uri="{FF2B5EF4-FFF2-40B4-BE49-F238E27FC236}">
                <a16:creationId xmlns:a16="http://schemas.microsoft.com/office/drawing/2014/main" id="{C7F2B676-6E59-964B-0B64-E1799AEBA662}"/>
              </a:ext>
            </a:extLst>
          </p:cNvPr>
          <p:cNvSpPr/>
          <p:nvPr/>
        </p:nvSpPr>
        <p:spPr>
          <a:xfrm>
            <a:off x="7307890" y="2586843"/>
            <a:ext cx="1889429" cy="2743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Comfortable seat</a:t>
            </a:r>
          </a:p>
        </p:txBody>
      </p:sp>
      <p:sp>
        <p:nvSpPr>
          <p:cNvPr id="76" name="Rectangle 75">
            <a:extLst>
              <a:ext uri="{FF2B5EF4-FFF2-40B4-BE49-F238E27FC236}">
                <a16:creationId xmlns:a16="http://schemas.microsoft.com/office/drawing/2014/main" id="{48DDE30A-1487-345B-20D4-089F5E3F4B95}"/>
              </a:ext>
            </a:extLst>
          </p:cNvPr>
          <p:cNvSpPr/>
          <p:nvPr/>
        </p:nvSpPr>
        <p:spPr>
          <a:xfrm>
            <a:off x="7307890" y="3871509"/>
            <a:ext cx="1958437" cy="2482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sz="2000" dirty="0">
                <a:solidFill>
                  <a:schemeClr val="tx1"/>
                </a:solidFill>
                <a:latin typeface="Arial" panose="020B0604020202020204" pitchFamily="34" charset="0"/>
                <a:ea typeface="Meiryo UI" panose="020B0604030504040204" pitchFamily="50" charset="-128"/>
                <a:cs typeface="Arial" panose="020B0604020202020204" pitchFamily="34" charset="0"/>
              </a:rPr>
              <a:t>Comfortable seat</a:t>
            </a:r>
          </a:p>
        </p:txBody>
      </p:sp>
      <p:sp>
        <p:nvSpPr>
          <p:cNvPr id="77" name="Rectangle 76">
            <a:extLst>
              <a:ext uri="{FF2B5EF4-FFF2-40B4-BE49-F238E27FC236}">
                <a16:creationId xmlns:a16="http://schemas.microsoft.com/office/drawing/2014/main" id="{ABCE9406-458F-9A83-5C71-A6CB5D340319}"/>
              </a:ext>
            </a:extLst>
          </p:cNvPr>
          <p:cNvSpPr/>
          <p:nvPr/>
        </p:nvSpPr>
        <p:spPr>
          <a:xfrm>
            <a:off x="7307890" y="4498474"/>
            <a:ext cx="1958437" cy="2482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Standard seat</a:t>
            </a:r>
          </a:p>
        </p:txBody>
      </p:sp>
      <p:sp>
        <p:nvSpPr>
          <p:cNvPr id="104" name="Rectangle 103">
            <a:extLst>
              <a:ext uri="{FF2B5EF4-FFF2-40B4-BE49-F238E27FC236}">
                <a16:creationId xmlns:a16="http://schemas.microsoft.com/office/drawing/2014/main" id="{1EB47551-02BE-E6A2-E98B-D1B82385C44E}"/>
              </a:ext>
            </a:extLst>
          </p:cNvPr>
          <p:cNvSpPr/>
          <p:nvPr/>
        </p:nvSpPr>
        <p:spPr>
          <a:xfrm>
            <a:off x="7307890" y="6164475"/>
            <a:ext cx="1958437" cy="2482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Bad seat</a:t>
            </a:r>
          </a:p>
        </p:txBody>
      </p:sp>
      <p:sp>
        <p:nvSpPr>
          <p:cNvPr id="105" name="Rectangle 104">
            <a:extLst>
              <a:ext uri="{FF2B5EF4-FFF2-40B4-BE49-F238E27FC236}">
                <a16:creationId xmlns:a16="http://schemas.microsoft.com/office/drawing/2014/main" id="{74F8D1C3-63AD-550E-A917-111023A9A11E}"/>
              </a:ext>
            </a:extLst>
          </p:cNvPr>
          <p:cNvSpPr/>
          <p:nvPr/>
        </p:nvSpPr>
        <p:spPr>
          <a:xfrm>
            <a:off x="7307890" y="5537510"/>
            <a:ext cx="1958437" cy="2482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Standard seat</a:t>
            </a:r>
          </a:p>
        </p:txBody>
      </p:sp>
    </p:spTree>
    <p:extLst>
      <p:ext uri="{BB962C8B-B14F-4D97-AF65-F5344CB8AC3E}">
        <p14:creationId xmlns:p14="http://schemas.microsoft.com/office/powerpoint/2010/main" val="36995131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356D2-7583-7A88-2684-C4F23E3016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39145-2E70-CBE5-D30B-D45A60E1E33C}"/>
              </a:ext>
            </a:extLst>
          </p:cNvPr>
          <p:cNvSpPr>
            <a:spLocks noGrp="1"/>
          </p:cNvSpPr>
          <p:nvPr>
            <p:ph type="title"/>
          </p:nvPr>
        </p:nvSpPr>
        <p:spPr/>
        <p:txBody>
          <a:bodyPr/>
          <a:lstStyle/>
          <a:p>
            <a:r>
              <a:rPr lang="en-US" noProof="0" dirty="0"/>
              <a:t>Choosing a Flight Seat Class — Measuring Utility</a:t>
            </a:r>
          </a:p>
        </p:txBody>
      </p:sp>
      <p:sp>
        <p:nvSpPr>
          <p:cNvPr id="3" name="Table Placeholder 2">
            <a:extLst>
              <a:ext uri="{FF2B5EF4-FFF2-40B4-BE49-F238E27FC236}">
                <a16:creationId xmlns:a16="http://schemas.microsoft.com/office/drawing/2014/main" id="{172C2FFA-14E9-949A-3ED8-49853ABAAC12}"/>
              </a:ext>
            </a:extLst>
          </p:cNvPr>
          <p:cNvSpPr>
            <a:spLocks noGrp="1"/>
          </p:cNvSpPr>
          <p:nvPr>
            <p:ph type="tbl" sz="quarter" idx="10"/>
          </p:nvPr>
        </p:nvSpPr>
        <p:spPr/>
        <p:txBody>
          <a:bodyPr/>
          <a:lstStyle/>
          <a:p>
            <a:r>
              <a:rPr lang="en-US" noProof="0" dirty="0"/>
              <a:t>Occasionally, when flying, you encounter a “bad seat.”</a:t>
            </a:r>
          </a:p>
          <a:p>
            <a:pPr lvl="1"/>
            <a:r>
              <a:rPr lang="en-US" noProof="0" dirty="0"/>
              <a:t>Seat monitor is broken (there may be workarounds)</a:t>
            </a:r>
          </a:p>
          <a:p>
            <a:pPr lvl="1"/>
            <a:r>
              <a:rPr lang="en-US" noProof="0" dirty="0"/>
              <a:t>Seat does not recline</a:t>
            </a:r>
          </a:p>
          <a:p>
            <a:pPr lvl="1"/>
            <a:r>
              <a:rPr lang="en-US" noProof="0" dirty="0"/>
              <a:t>No power outlet      etc.</a:t>
            </a:r>
          </a:p>
          <a:p>
            <a:pPr lvl="1"/>
            <a:endParaRPr lang="en-US" noProof="0" dirty="0"/>
          </a:p>
          <a:p>
            <a:r>
              <a:rPr lang="en-US" noProof="0" dirty="0"/>
              <a:t>The comfort level of a “bad seat” is likely to influence the decision.</a:t>
            </a:r>
          </a:p>
          <a:p>
            <a:endParaRPr lang="en-US" noProof="0" dirty="0"/>
          </a:p>
          <a:p>
            <a:r>
              <a:rPr lang="en-US" noProof="0" dirty="0"/>
              <a:t>Let’s design an experiment to measure the utility (comfort) of a “bad seat.”</a:t>
            </a:r>
          </a:p>
        </p:txBody>
      </p:sp>
      <p:sp>
        <p:nvSpPr>
          <p:cNvPr id="4" name="Slide Number Placeholder 3">
            <a:extLst>
              <a:ext uri="{FF2B5EF4-FFF2-40B4-BE49-F238E27FC236}">
                <a16:creationId xmlns:a16="http://schemas.microsoft.com/office/drawing/2014/main" id="{19C2351C-7A74-C8F4-3906-F4A4CED584E4}"/>
              </a:ext>
            </a:extLst>
          </p:cNvPr>
          <p:cNvSpPr>
            <a:spLocks noGrp="1"/>
          </p:cNvSpPr>
          <p:nvPr>
            <p:ph type="sldNum" sz="quarter" idx="4"/>
          </p:nvPr>
        </p:nvSpPr>
        <p:spPr/>
        <p:txBody>
          <a:bodyPr/>
          <a:lstStyle/>
          <a:p>
            <a:fld id="{B5CEABB6-07DC-46E8-9B57-56EC44A396E5}" type="slidenum">
              <a:rPr lang="en-US" noProof="0" smtClean="0"/>
              <a:pPr/>
              <a:t>35</a:t>
            </a:fld>
            <a:endParaRPr lang="en-US" noProof="0" dirty="0"/>
          </a:p>
        </p:txBody>
      </p:sp>
      <p:sp>
        <p:nvSpPr>
          <p:cNvPr id="5" name="Table Placeholder 4">
            <a:extLst>
              <a:ext uri="{FF2B5EF4-FFF2-40B4-BE49-F238E27FC236}">
                <a16:creationId xmlns:a16="http://schemas.microsoft.com/office/drawing/2014/main" id="{78B72F8E-FF0A-C8B8-F9DA-E4645443154D}"/>
              </a:ext>
            </a:extLst>
          </p:cNvPr>
          <p:cNvSpPr>
            <a:spLocks noGrp="1"/>
          </p:cNvSpPr>
          <p:nvPr>
            <p:ph type="tbl" sz="quarter" idx="11"/>
          </p:nvPr>
        </p:nvSpPr>
        <p:spPr/>
        <p:txBody>
          <a:bodyPr/>
          <a:lstStyle/>
          <a:p>
            <a:endParaRPr lang="en-US" noProof="0" dirty="0"/>
          </a:p>
        </p:txBody>
      </p:sp>
      <p:grpSp>
        <p:nvGrpSpPr>
          <p:cNvPr id="10" name="Group 9">
            <a:extLst>
              <a:ext uri="{FF2B5EF4-FFF2-40B4-BE49-F238E27FC236}">
                <a16:creationId xmlns:a16="http://schemas.microsoft.com/office/drawing/2014/main" id="{954AFC24-C63C-14D2-F5FF-5D5FE6ACB874}"/>
              </a:ext>
            </a:extLst>
          </p:cNvPr>
          <p:cNvGrpSpPr/>
          <p:nvPr/>
        </p:nvGrpSpPr>
        <p:grpSpPr>
          <a:xfrm>
            <a:off x="467139" y="108959"/>
            <a:ext cx="4197304" cy="307297"/>
            <a:chOff x="562270" y="127168"/>
            <a:chExt cx="4197304" cy="307297"/>
          </a:xfrm>
        </p:grpSpPr>
        <p:sp>
          <p:nvSpPr>
            <p:cNvPr id="11" name="Arrow: Pentagon 10">
              <a:extLst>
                <a:ext uri="{FF2B5EF4-FFF2-40B4-BE49-F238E27FC236}">
                  <a16:creationId xmlns:a16="http://schemas.microsoft.com/office/drawing/2014/main" id="{E419D830-A140-6F89-BA5E-C62E9E450D88}"/>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2" name="Arrow: Pentagon 11">
              <a:extLst>
                <a:ext uri="{FF2B5EF4-FFF2-40B4-BE49-F238E27FC236}">
                  <a16:creationId xmlns:a16="http://schemas.microsoft.com/office/drawing/2014/main" id="{7FF13B01-8343-BFBA-8C8B-6E50D0AE2A29}"/>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3" name="Arrow: Pentagon 12">
              <a:extLst>
                <a:ext uri="{FF2B5EF4-FFF2-40B4-BE49-F238E27FC236}">
                  <a16:creationId xmlns:a16="http://schemas.microsoft.com/office/drawing/2014/main" id="{F532AB05-19FF-8E08-ABE4-CBB98C003E5A}"/>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16457421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82997-005B-DEC9-CACC-1E4198A1EEB4}"/>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FE44122A-CFB4-FF5D-E0C2-4756743879E5}"/>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Lottery</a:t>
            </a:r>
          </a:p>
        </p:txBody>
      </p:sp>
      <p:sp>
        <p:nvSpPr>
          <p:cNvPr id="31" name="Rectangle 30">
            <a:extLst>
              <a:ext uri="{FF2B5EF4-FFF2-40B4-BE49-F238E27FC236}">
                <a16:creationId xmlns:a16="http://schemas.microsoft.com/office/drawing/2014/main" id="{B778A512-5D61-66B6-D25E-DBFB32F25150}"/>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“Bad seat”</a:t>
            </a:r>
          </a:p>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(Broken screen, Seat does not recline, No power outlet)</a:t>
            </a:r>
          </a:p>
        </p:txBody>
      </p:sp>
      <p:sp>
        <p:nvSpPr>
          <p:cNvPr id="2" name="Title 1">
            <a:extLst>
              <a:ext uri="{FF2B5EF4-FFF2-40B4-BE49-F238E27FC236}">
                <a16:creationId xmlns:a16="http://schemas.microsoft.com/office/drawing/2014/main" id="{4C8E5BE7-896C-1D59-7B52-F8AF07D88C32}"/>
              </a:ext>
            </a:extLst>
          </p:cNvPr>
          <p:cNvSpPr>
            <a:spLocks noGrp="1"/>
          </p:cNvSpPr>
          <p:nvPr>
            <p:ph type="title"/>
          </p:nvPr>
        </p:nvSpPr>
        <p:spPr/>
        <p:txBody>
          <a:bodyPr/>
          <a:lstStyle/>
          <a:p>
            <a:r>
              <a:rPr lang="en-US" noProof="0" dirty="0"/>
              <a:t>Measuring the Utility of a “Bad Seat”</a:t>
            </a:r>
          </a:p>
        </p:txBody>
      </p:sp>
      <p:sp>
        <p:nvSpPr>
          <p:cNvPr id="4" name="Slide Number Placeholder 3">
            <a:extLst>
              <a:ext uri="{FF2B5EF4-FFF2-40B4-BE49-F238E27FC236}">
                <a16:creationId xmlns:a16="http://schemas.microsoft.com/office/drawing/2014/main" id="{771F8BF3-5211-FFA0-37BC-F389923F1A85}"/>
              </a:ext>
            </a:extLst>
          </p:cNvPr>
          <p:cNvSpPr>
            <a:spLocks noGrp="1"/>
          </p:cNvSpPr>
          <p:nvPr>
            <p:ph type="sldNum" sz="quarter" idx="4"/>
          </p:nvPr>
        </p:nvSpPr>
        <p:spPr/>
        <p:txBody>
          <a:bodyPr/>
          <a:lstStyle/>
          <a:p>
            <a:fld id="{B5CEABB6-07DC-46E8-9B57-56EC44A396E5}" type="slidenum">
              <a:rPr lang="en-US" noProof="0" smtClean="0"/>
              <a:pPr/>
              <a:t>36</a:t>
            </a:fld>
            <a:endParaRPr lang="en-US" noProof="0" dirty="0"/>
          </a:p>
        </p:txBody>
      </p:sp>
      <p:sp>
        <p:nvSpPr>
          <p:cNvPr id="5" name="Table Placeholder 4">
            <a:extLst>
              <a:ext uri="{FF2B5EF4-FFF2-40B4-BE49-F238E27FC236}">
                <a16:creationId xmlns:a16="http://schemas.microsoft.com/office/drawing/2014/main" id="{9F0AF799-0D83-BA85-837E-A52FCE7E7E49}"/>
              </a:ext>
            </a:extLst>
          </p:cNvPr>
          <p:cNvSpPr>
            <a:spLocks noGrp="1"/>
          </p:cNvSpPr>
          <p:nvPr>
            <p:ph type="tbl" sz="quarter" idx="11"/>
          </p:nvPr>
        </p:nvSpPr>
        <p:spPr>
          <a:xfrm>
            <a:off x="467139" y="1093305"/>
            <a:ext cx="11258636" cy="735496"/>
          </a:xfrm>
        </p:spPr>
        <p:txBody>
          <a:bodyPr/>
          <a:lstStyle/>
          <a:p>
            <a:r>
              <a:rPr lang="en-US" dirty="0"/>
              <a:t>Y</a:t>
            </a:r>
            <a:r>
              <a:rPr lang="en-US" noProof="0" dirty="0" err="1"/>
              <a:t>ou</a:t>
            </a:r>
            <a:r>
              <a:rPr lang="en-US" noProof="0" dirty="0"/>
              <a:t> can choose “a lottery between First Class with probability P, or Not boarding the flight.” Raise your hand when you feel indifferent with varying P.</a:t>
            </a:r>
          </a:p>
        </p:txBody>
      </p:sp>
      <p:pic>
        <p:nvPicPr>
          <p:cNvPr id="13" name="Picture 12" descr="A black background with a black square&#10;&#10;AI-generated content may be incorrect.">
            <a:extLst>
              <a:ext uri="{FF2B5EF4-FFF2-40B4-BE49-F238E27FC236}">
                <a16:creationId xmlns:a16="http://schemas.microsoft.com/office/drawing/2014/main" id="{D88CDE30-600A-245A-A54B-7757BFEA84F8}"/>
              </a:ext>
            </a:extLst>
          </p:cNvPr>
          <p:cNvPicPr>
            <a:picLocks noChangeAspect="1"/>
          </p:cNvPicPr>
          <p:nvPr/>
        </p:nvPicPr>
        <p:blipFill>
          <a:blip r:embed="rId3"/>
          <a:stretch>
            <a:fillRect/>
          </a:stretch>
        </p:blipFill>
        <p:spPr>
          <a:xfrm>
            <a:off x="9655395" y="2727826"/>
            <a:ext cx="1709076" cy="1709076"/>
          </a:xfrm>
          <a:prstGeom prst="rect">
            <a:avLst/>
          </a:prstGeom>
        </p:spPr>
      </p:pic>
      <p:pic>
        <p:nvPicPr>
          <p:cNvPr id="15" name="Picture 14" descr="A black background with a black square&#10;&#10;AI-generated content may be incorrect.">
            <a:extLst>
              <a:ext uri="{FF2B5EF4-FFF2-40B4-BE49-F238E27FC236}">
                <a16:creationId xmlns:a16="http://schemas.microsoft.com/office/drawing/2014/main" id="{A04AF801-800D-FB7D-0636-EC8BC81B07F3}"/>
              </a:ext>
            </a:extLst>
          </p:cNvPr>
          <p:cNvPicPr>
            <a:picLocks noChangeAspect="1"/>
          </p:cNvPicPr>
          <p:nvPr/>
        </p:nvPicPr>
        <p:blipFill>
          <a:blip r:embed="rId4"/>
          <a:stretch>
            <a:fillRect/>
          </a:stretch>
        </p:blipFill>
        <p:spPr>
          <a:xfrm>
            <a:off x="6414168" y="4047559"/>
            <a:ext cx="1061482" cy="1061482"/>
          </a:xfrm>
          <a:prstGeom prst="rect">
            <a:avLst/>
          </a:prstGeom>
        </p:spPr>
      </p:pic>
      <p:pic>
        <p:nvPicPr>
          <p:cNvPr id="17" name="Picture 16" descr="A black background with a black square&#10;&#10;AI-generated content may be incorrect.">
            <a:extLst>
              <a:ext uri="{FF2B5EF4-FFF2-40B4-BE49-F238E27FC236}">
                <a16:creationId xmlns:a16="http://schemas.microsoft.com/office/drawing/2014/main" id="{09F134DD-434B-8D77-2580-93BA1909CAEA}"/>
              </a:ext>
            </a:extLst>
          </p:cNvPr>
          <p:cNvPicPr>
            <a:picLocks noChangeAspect="1"/>
          </p:cNvPicPr>
          <p:nvPr/>
        </p:nvPicPr>
        <p:blipFill>
          <a:blip r:embed="rId5"/>
          <a:stretch>
            <a:fillRect/>
          </a:stretch>
        </p:blipFill>
        <p:spPr>
          <a:xfrm>
            <a:off x="13229367" y="4202707"/>
            <a:ext cx="1432748" cy="1432748"/>
          </a:xfrm>
          <a:prstGeom prst="rect">
            <a:avLst/>
          </a:prstGeom>
        </p:spPr>
      </p:pic>
      <p:pic>
        <p:nvPicPr>
          <p:cNvPr id="19" name="Picture 18" descr="A black background with a black square&#10;&#10;AI-generated content may be incorrect.">
            <a:extLst>
              <a:ext uri="{FF2B5EF4-FFF2-40B4-BE49-F238E27FC236}">
                <a16:creationId xmlns:a16="http://schemas.microsoft.com/office/drawing/2014/main" id="{B52E75B7-214C-6FDC-5CF2-C98713BD20E0}"/>
              </a:ext>
            </a:extLst>
          </p:cNvPr>
          <p:cNvPicPr>
            <a:picLocks noChangeAspect="1"/>
          </p:cNvPicPr>
          <p:nvPr/>
        </p:nvPicPr>
        <p:blipFill>
          <a:blip r:embed="rId6"/>
          <a:stretch>
            <a:fillRect/>
          </a:stretch>
        </p:blipFill>
        <p:spPr>
          <a:xfrm>
            <a:off x="7419849" y="2893307"/>
            <a:ext cx="1412459" cy="1412459"/>
          </a:xfrm>
          <a:prstGeom prst="rect">
            <a:avLst/>
          </a:prstGeom>
        </p:spPr>
      </p:pic>
      <p:grpSp>
        <p:nvGrpSpPr>
          <p:cNvPr id="23" name="Group 22">
            <a:extLst>
              <a:ext uri="{FF2B5EF4-FFF2-40B4-BE49-F238E27FC236}">
                <a16:creationId xmlns:a16="http://schemas.microsoft.com/office/drawing/2014/main" id="{78CD914D-21F5-A75A-CA60-EF425A280AB4}"/>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A099DC4E-B42D-22DA-4FB5-7D795FA92ACE}"/>
                </a:ext>
              </a:extLst>
            </p:cNvPr>
            <p:cNvPicPr>
              <a:picLocks noChangeAspect="1"/>
            </p:cNvPicPr>
            <p:nvPr/>
          </p:nvPicPr>
          <p:blipFill>
            <a:blip r:embed="rId7"/>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E1A3087C-9B5D-F30F-D8DA-FCF0DDFCFA81}"/>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pic>
        <p:nvPicPr>
          <p:cNvPr id="25" name="Picture 24" descr="A black background with a black square&#10;&#10;AI-generated content may be incorrect.">
            <a:extLst>
              <a:ext uri="{FF2B5EF4-FFF2-40B4-BE49-F238E27FC236}">
                <a16:creationId xmlns:a16="http://schemas.microsoft.com/office/drawing/2014/main" id="{92C74FBD-7301-BFE0-EB43-9641A577100D}"/>
              </a:ext>
            </a:extLst>
          </p:cNvPr>
          <p:cNvPicPr>
            <a:picLocks noChangeAspect="1"/>
          </p:cNvPicPr>
          <p:nvPr/>
        </p:nvPicPr>
        <p:blipFill>
          <a:blip r:embed="rId8"/>
          <a:stretch>
            <a:fillRect/>
          </a:stretch>
        </p:blipFill>
        <p:spPr>
          <a:xfrm>
            <a:off x="12712235" y="2103400"/>
            <a:ext cx="1880480" cy="1880480"/>
          </a:xfrm>
          <a:prstGeom prst="rect">
            <a:avLst/>
          </a:prstGeom>
        </p:spPr>
      </p:pic>
      <p:grpSp>
        <p:nvGrpSpPr>
          <p:cNvPr id="30" name="Group 29">
            <a:extLst>
              <a:ext uri="{FF2B5EF4-FFF2-40B4-BE49-F238E27FC236}">
                <a16:creationId xmlns:a16="http://schemas.microsoft.com/office/drawing/2014/main" id="{2DBD009A-9F85-4D67-1E8E-6D42ECC87C62}"/>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5F1DF595-42EE-A12D-AFDD-3073D655467F}"/>
                </a:ext>
              </a:extLst>
            </p:cNvPr>
            <p:cNvPicPr>
              <a:picLocks noChangeAspect="1"/>
            </p:cNvPicPr>
            <p:nvPr/>
          </p:nvPicPr>
          <p:blipFill>
            <a:blip r:embed="rId9"/>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58E8C666-0648-CF41-CDFC-DA7E29FA0DDC}"/>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9" name="Rectangle 28">
              <a:extLst>
                <a:ext uri="{FF2B5EF4-FFF2-40B4-BE49-F238E27FC236}">
                  <a16:creationId xmlns:a16="http://schemas.microsoft.com/office/drawing/2014/main" id="{B55F039A-2F14-0C45-87C4-7E09880D4F45}"/>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cxnSp>
        <p:nvCxnSpPr>
          <p:cNvPr id="34" name="Straight Connector 33">
            <a:extLst>
              <a:ext uri="{FF2B5EF4-FFF2-40B4-BE49-F238E27FC236}">
                <a16:creationId xmlns:a16="http://schemas.microsoft.com/office/drawing/2014/main" id="{4407C5F9-0B92-C17F-D8B0-F58518BBC869}"/>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35C20FD4-8A45-113C-ED7B-3EDA94DD0345}"/>
              </a:ext>
            </a:extLst>
          </p:cNvPr>
          <p:cNvSpPr txBox="1"/>
          <p:nvPr/>
        </p:nvSpPr>
        <p:spPr>
          <a:xfrm>
            <a:off x="6218963"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No flight</a:t>
            </a:r>
          </a:p>
        </p:txBody>
      </p:sp>
      <p:sp>
        <p:nvSpPr>
          <p:cNvPr id="36" name="TextBox 35">
            <a:extLst>
              <a:ext uri="{FF2B5EF4-FFF2-40B4-BE49-F238E27FC236}">
                <a16:creationId xmlns:a16="http://schemas.microsoft.com/office/drawing/2014/main" id="{FF2AECDD-408A-97A0-8964-53E9CD9834D7}"/>
              </a:ext>
            </a:extLst>
          </p:cNvPr>
          <p:cNvSpPr txBox="1"/>
          <p:nvPr/>
        </p:nvSpPr>
        <p:spPr>
          <a:xfrm>
            <a:off x="9041765"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First Class</a:t>
            </a:r>
          </a:p>
        </p:txBody>
      </p:sp>
      <p:sp>
        <p:nvSpPr>
          <p:cNvPr id="37" name="Rectangle 36">
            <a:extLst>
              <a:ext uri="{FF2B5EF4-FFF2-40B4-BE49-F238E27FC236}">
                <a16:creationId xmlns:a16="http://schemas.microsoft.com/office/drawing/2014/main" id="{E1575EFB-84C7-29B1-6565-7867F6809AC2}"/>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I am indifferent between the bad seat and the lottery</a:t>
            </a:r>
          </a:p>
        </p:txBody>
      </p:sp>
      <p:sp>
        <p:nvSpPr>
          <p:cNvPr id="38" name="Thought Bubble: Cloud 37">
            <a:extLst>
              <a:ext uri="{FF2B5EF4-FFF2-40B4-BE49-F238E27FC236}">
                <a16:creationId xmlns:a16="http://schemas.microsoft.com/office/drawing/2014/main" id="{9AF854D5-878B-6747-7924-F8FEC6DE24C7}"/>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40" name="Thought Bubble: Cloud 39">
            <a:extLst>
              <a:ext uri="{FF2B5EF4-FFF2-40B4-BE49-F238E27FC236}">
                <a16:creationId xmlns:a16="http://schemas.microsoft.com/office/drawing/2014/main" id="{1BB3A832-0AFE-E1A0-58C4-D60C07DF6B3F}"/>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3" name="TextBox 2">
            <a:extLst>
              <a:ext uri="{FF2B5EF4-FFF2-40B4-BE49-F238E27FC236}">
                <a16:creationId xmlns:a16="http://schemas.microsoft.com/office/drawing/2014/main" id="{792B4AA7-5B6F-2C88-B8DC-C209194A4E60}"/>
              </a:ext>
            </a:extLst>
          </p:cNvPr>
          <p:cNvSpPr txBox="1"/>
          <p:nvPr/>
        </p:nvSpPr>
        <p:spPr>
          <a:xfrm>
            <a:off x="9608079" y="4853154"/>
            <a:ext cx="2103120" cy="492443"/>
          </a:xfrm>
          <a:prstGeom prst="rect">
            <a:avLst/>
          </a:prstGeom>
          <a:noFill/>
        </p:spPr>
        <p:txBody>
          <a:bodyPr wrap="square" lIns="0" tIns="0" rIns="0" bIns="0">
            <a:spAutoFit/>
          </a:bodyPr>
          <a:lstStyle/>
          <a:p>
            <a:pPr algn="r"/>
            <a:r>
              <a:rPr lang="en-US" sz="3200" b="1" noProof="0" dirty="0">
                <a:latin typeface="Arial" panose="020B0604020202020204" pitchFamily="34" charset="0"/>
                <a:ea typeface="Meiryo" panose="020B0604030504040204" pitchFamily="34" charset="-128"/>
                <a:cs typeface="Arial" panose="020B0604020202020204" pitchFamily="34" charset="0"/>
              </a:rPr>
              <a:t>P％</a:t>
            </a:r>
          </a:p>
        </p:txBody>
      </p:sp>
      <p:sp>
        <p:nvSpPr>
          <p:cNvPr id="6" name="TextBox 5">
            <a:extLst>
              <a:ext uri="{FF2B5EF4-FFF2-40B4-BE49-F238E27FC236}">
                <a16:creationId xmlns:a16="http://schemas.microsoft.com/office/drawing/2014/main" id="{165FB9AE-0ECE-CB22-229B-18CE000B149F}"/>
              </a:ext>
            </a:extLst>
          </p:cNvPr>
          <p:cNvSpPr txBox="1"/>
          <p:nvPr/>
        </p:nvSpPr>
        <p:spPr>
          <a:xfrm>
            <a:off x="7233785" y="4853154"/>
            <a:ext cx="1721445" cy="492443"/>
          </a:xfrm>
          <a:prstGeom prst="rect">
            <a:avLst/>
          </a:prstGeom>
          <a:noFill/>
        </p:spPr>
        <p:txBody>
          <a:bodyPr wrap="square" lIns="0" tIns="0" rIns="0" bIns="0">
            <a:spAutoFit/>
          </a:bodyPr>
          <a:lstStyle/>
          <a:p>
            <a:pPr algn="r"/>
            <a:r>
              <a:rPr lang="en-US" sz="3200" b="1" noProof="0" dirty="0">
                <a:latin typeface="Arial" panose="020B0604020202020204" pitchFamily="34" charset="0"/>
                <a:ea typeface="Meiryo" panose="020B0604030504040204" pitchFamily="34" charset="-128"/>
                <a:cs typeface="Arial" panose="020B0604020202020204" pitchFamily="34" charset="0"/>
              </a:rPr>
              <a:t>100-P％</a:t>
            </a:r>
          </a:p>
        </p:txBody>
      </p:sp>
      <p:grpSp>
        <p:nvGrpSpPr>
          <p:cNvPr id="7" name="Group 6">
            <a:extLst>
              <a:ext uri="{FF2B5EF4-FFF2-40B4-BE49-F238E27FC236}">
                <a16:creationId xmlns:a16="http://schemas.microsoft.com/office/drawing/2014/main" id="{BAD8854A-4B86-0CB2-996D-104E39D970F0}"/>
              </a:ext>
            </a:extLst>
          </p:cNvPr>
          <p:cNvGrpSpPr/>
          <p:nvPr/>
        </p:nvGrpSpPr>
        <p:grpSpPr>
          <a:xfrm>
            <a:off x="467139" y="108959"/>
            <a:ext cx="4197304" cy="307297"/>
            <a:chOff x="562270" y="127168"/>
            <a:chExt cx="4197304" cy="307297"/>
          </a:xfrm>
        </p:grpSpPr>
        <p:sp>
          <p:nvSpPr>
            <p:cNvPr id="9" name="Arrow: Pentagon 8">
              <a:extLst>
                <a:ext uri="{FF2B5EF4-FFF2-40B4-BE49-F238E27FC236}">
                  <a16:creationId xmlns:a16="http://schemas.microsoft.com/office/drawing/2014/main" id="{AEAC7C58-D215-2D64-331C-CBDFA9599B2E}"/>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4" name="Arrow: Pentagon 13">
              <a:extLst>
                <a:ext uri="{FF2B5EF4-FFF2-40B4-BE49-F238E27FC236}">
                  <a16:creationId xmlns:a16="http://schemas.microsoft.com/office/drawing/2014/main" id="{AEE9CDA9-EC85-65B8-64EC-C9D2411F9917}"/>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6" name="Arrow: Pentagon 15">
              <a:extLst>
                <a:ext uri="{FF2B5EF4-FFF2-40B4-BE49-F238E27FC236}">
                  <a16:creationId xmlns:a16="http://schemas.microsoft.com/office/drawing/2014/main" id="{D3999898-4CB1-A864-DA4A-43CDE9C90C2A}"/>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4482245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48E7F-7D1E-FA74-8720-104736366A0C}"/>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7D9D9FD5-3813-AAA7-F0BB-708B6B2FC374}"/>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Lottery</a:t>
            </a:r>
          </a:p>
        </p:txBody>
      </p:sp>
      <p:sp>
        <p:nvSpPr>
          <p:cNvPr id="31" name="Rectangle 30">
            <a:extLst>
              <a:ext uri="{FF2B5EF4-FFF2-40B4-BE49-F238E27FC236}">
                <a16:creationId xmlns:a16="http://schemas.microsoft.com/office/drawing/2014/main" id="{FC82053E-891A-D4F4-A5E5-A76E3E4E47F1}"/>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“Bad seat”</a:t>
            </a:r>
          </a:p>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(Broken screen, Seat does not recline, No power outlet)</a:t>
            </a:r>
          </a:p>
        </p:txBody>
      </p:sp>
      <p:sp>
        <p:nvSpPr>
          <p:cNvPr id="2" name="Title 1">
            <a:extLst>
              <a:ext uri="{FF2B5EF4-FFF2-40B4-BE49-F238E27FC236}">
                <a16:creationId xmlns:a16="http://schemas.microsoft.com/office/drawing/2014/main" id="{A5448B9A-C69D-9A42-5682-02B0FAF78CE5}"/>
              </a:ext>
            </a:extLst>
          </p:cNvPr>
          <p:cNvSpPr>
            <a:spLocks noGrp="1"/>
          </p:cNvSpPr>
          <p:nvPr>
            <p:ph type="title"/>
          </p:nvPr>
        </p:nvSpPr>
        <p:spPr/>
        <p:txBody>
          <a:bodyPr/>
          <a:lstStyle/>
          <a:p>
            <a:r>
              <a:rPr lang="en-US" noProof="0" dirty="0"/>
              <a:t>Measuring the Utility of a “Bad Seat”</a:t>
            </a:r>
          </a:p>
        </p:txBody>
      </p:sp>
      <p:sp>
        <p:nvSpPr>
          <p:cNvPr id="4" name="Slide Number Placeholder 3">
            <a:extLst>
              <a:ext uri="{FF2B5EF4-FFF2-40B4-BE49-F238E27FC236}">
                <a16:creationId xmlns:a16="http://schemas.microsoft.com/office/drawing/2014/main" id="{8456CF96-3B53-2231-5640-B22037AB1C22}"/>
              </a:ext>
            </a:extLst>
          </p:cNvPr>
          <p:cNvSpPr>
            <a:spLocks noGrp="1"/>
          </p:cNvSpPr>
          <p:nvPr>
            <p:ph type="sldNum" sz="quarter" idx="4"/>
          </p:nvPr>
        </p:nvSpPr>
        <p:spPr/>
        <p:txBody>
          <a:bodyPr/>
          <a:lstStyle/>
          <a:p>
            <a:fld id="{B5CEABB6-07DC-46E8-9B57-56EC44A396E5}" type="slidenum">
              <a:rPr lang="en-US" noProof="0" smtClean="0"/>
              <a:pPr/>
              <a:t>37</a:t>
            </a:fld>
            <a:endParaRPr lang="en-US" noProof="0" dirty="0"/>
          </a:p>
        </p:txBody>
      </p:sp>
      <p:sp>
        <p:nvSpPr>
          <p:cNvPr id="5" name="Table Placeholder 4">
            <a:extLst>
              <a:ext uri="{FF2B5EF4-FFF2-40B4-BE49-F238E27FC236}">
                <a16:creationId xmlns:a16="http://schemas.microsoft.com/office/drawing/2014/main" id="{60834075-D14D-C6BD-6A6B-A5AEBB252F5D}"/>
              </a:ext>
            </a:extLst>
          </p:cNvPr>
          <p:cNvSpPr>
            <a:spLocks noGrp="1"/>
          </p:cNvSpPr>
          <p:nvPr>
            <p:ph type="tbl" sz="quarter" idx="11"/>
          </p:nvPr>
        </p:nvSpPr>
        <p:spPr>
          <a:xfrm>
            <a:off x="467139" y="1093305"/>
            <a:ext cx="11258636" cy="735496"/>
          </a:xfrm>
        </p:spPr>
        <p:txBody>
          <a:bodyPr/>
          <a:lstStyle/>
          <a:p>
            <a:r>
              <a:rPr lang="en-US" dirty="0"/>
              <a:t>Please r</a:t>
            </a:r>
            <a:r>
              <a:rPr lang="en-US" noProof="0" dirty="0" err="1"/>
              <a:t>aise</a:t>
            </a:r>
            <a:r>
              <a:rPr lang="en-US" noProof="0" dirty="0"/>
              <a:t> your hand when you feel indifferent with varying P.</a:t>
            </a:r>
          </a:p>
        </p:txBody>
      </p:sp>
      <p:pic>
        <p:nvPicPr>
          <p:cNvPr id="13" name="Picture 12" descr="A black background with a black square&#10;&#10;AI-generated content may be incorrect.">
            <a:extLst>
              <a:ext uri="{FF2B5EF4-FFF2-40B4-BE49-F238E27FC236}">
                <a16:creationId xmlns:a16="http://schemas.microsoft.com/office/drawing/2014/main" id="{03659831-3338-DCCA-3AC1-8932D1061E2E}"/>
              </a:ext>
            </a:extLst>
          </p:cNvPr>
          <p:cNvPicPr>
            <a:picLocks noChangeAspect="1"/>
          </p:cNvPicPr>
          <p:nvPr/>
        </p:nvPicPr>
        <p:blipFill>
          <a:blip r:embed="rId3"/>
          <a:stretch>
            <a:fillRect/>
          </a:stretch>
        </p:blipFill>
        <p:spPr>
          <a:xfrm>
            <a:off x="9655395" y="2727826"/>
            <a:ext cx="1709076" cy="1709076"/>
          </a:xfrm>
          <a:prstGeom prst="rect">
            <a:avLst/>
          </a:prstGeom>
        </p:spPr>
      </p:pic>
      <p:pic>
        <p:nvPicPr>
          <p:cNvPr id="15" name="Picture 14" descr="A black background with a black square&#10;&#10;AI-generated content may be incorrect.">
            <a:extLst>
              <a:ext uri="{FF2B5EF4-FFF2-40B4-BE49-F238E27FC236}">
                <a16:creationId xmlns:a16="http://schemas.microsoft.com/office/drawing/2014/main" id="{99B1FC0A-B8A2-19FF-36E1-44B374ABE74B}"/>
              </a:ext>
            </a:extLst>
          </p:cNvPr>
          <p:cNvPicPr>
            <a:picLocks noChangeAspect="1"/>
          </p:cNvPicPr>
          <p:nvPr/>
        </p:nvPicPr>
        <p:blipFill>
          <a:blip r:embed="rId4"/>
          <a:stretch>
            <a:fillRect/>
          </a:stretch>
        </p:blipFill>
        <p:spPr>
          <a:xfrm>
            <a:off x="6414168" y="4047559"/>
            <a:ext cx="1061482" cy="1061482"/>
          </a:xfrm>
          <a:prstGeom prst="rect">
            <a:avLst/>
          </a:prstGeom>
        </p:spPr>
      </p:pic>
      <p:pic>
        <p:nvPicPr>
          <p:cNvPr id="19" name="Picture 18" descr="A black background with a black square&#10;&#10;AI-generated content may be incorrect.">
            <a:extLst>
              <a:ext uri="{FF2B5EF4-FFF2-40B4-BE49-F238E27FC236}">
                <a16:creationId xmlns:a16="http://schemas.microsoft.com/office/drawing/2014/main" id="{15458483-CE1A-41E4-F821-7E0F6855B58D}"/>
              </a:ext>
            </a:extLst>
          </p:cNvPr>
          <p:cNvPicPr>
            <a:picLocks noChangeAspect="1"/>
          </p:cNvPicPr>
          <p:nvPr/>
        </p:nvPicPr>
        <p:blipFill>
          <a:blip r:embed="rId5"/>
          <a:stretch>
            <a:fillRect/>
          </a:stretch>
        </p:blipFill>
        <p:spPr>
          <a:xfrm>
            <a:off x="7419849" y="2893307"/>
            <a:ext cx="1412459" cy="1412459"/>
          </a:xfrm>
          <a:prstGeom prst="rect">
            <a:avLst/>
          </a:prstGeom>
        </p:spPr>
      </p:pic>
      <p:grpSp>
        <p:nvGrpSpPr>
          <p:cNvPr id="23" name="Group 22">
            <a:extLst>
              <a:ext uri="{FF2B5EF4-FFF2-40B4-BE49-F238E27FC236}">
                <a16:creationId xmlns:a16="http://schemas.microsoft.com/office/drawing/2014/main" id="{D056F56F-9376-C1C6-1A5D-397533710124}"/>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F0F366AB-2C33-3EC9-2D54-B7146B5A8C91}"/>
                </a:ext>
              </a:extLst>
            </p:cNvPr>
            <p:cNvPicPr>
              <a:picLocks noChangeAspect="1"/>
            </p:cNvPicPr>
            <p:nvPr/>
          </p:nvPicPr>
          <p:blipFill>
            <a:blip r:embed="rId6"/>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E4F2E0F9-8281-0193-8CC6-A9ACC6DB3DF7}"/>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grpSp>
        <p:nvGrpSpPr>
          <p:cNvPr id="30" name="Group 29">
            <a:extLst>
              <a:ext uri="{FF2B5EF4-FFF2-40B4-BE49-F238E27FC236}">
                <a16:creationId xmlns:a16="http://schemas.microsoft.com/office/drawing/2014/main" id="{358502B8-03AC-4FB4-4D79-CF59758AE579}"/>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2D75F071-B1B0-7FBB-8DB6-D98294101983}"/>
                </a:ext>
              </a:extLst>
            </p:cNvPr>
            <p:cNvPicPr>
              <a:picLocks noChangeAspect="1"/>
            </p:cNvPicPr>
            <p:nvPr/>
          </p:nvPicPr>
          <p:blipFill>
            <a:blip r:embed="rId7"/>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26F8DF26-3512-568F-1C38-5CF1F2F03F23}"/>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9" name="Rectangle 28">
              <a:extLst>
                <a:ext uri="{FF2B5EF4-FFF2-40B4-BE49-F238E27FC236}">
                  <a16:creationId xmlns:a16="http://schemas.microsoft.com/office/drawing/2014/main" id="{72167DF3-4C44-8FA0-B41D-42F6105EFE7D}"/>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cxnSp>
        <p:nvCxnSpPr>
          <p:cNvPr id="34" name="Straight Connector 33">
            <a:extLst>
              <a:ext uri="{FF2B5EF4-FFF2-40B4-BE49-F238E27FC236}">
                <a16:creationId xmlns:a16="http://schemas.microsoft.com/office/drawing/2014/main" id="{BBCC7717-48E7-4160-F30E-D9AE5FAADED8}"/>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C153196-B8E4-7A05-7C82-D8A04D799B87}"/>
              </a:ext>
            </a:extLst>
          </p:cNvPr>
          <p:cNvSpPr txBox="1"/>
          <p:nvPr/>
        </p:nvSpPr>
        <p:spPr>
          <a:xfrm>
            <a:off x="6218963"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No flight</a:t>
            </a:r>
          </a:p>
        </p:txBody>
      </p:sp>
      <p:sp>
        <p:nvSpPr>
          <p:cNvPr id="36" name="TextBox 35">
            <a:extLst>
              <a:ext uri="{FF2B5EF4-FFF2-40B4-BE49-F238E27FC236}">
                <a16:creationId xmlns:a16="http://schemas.microsoft.com/office/drawing/2014/main" id="{A68C5812-F687-6D2B-D381-CC2A1AFEA333}"/>
              </a:ext>
            </a:extLst>
          </p:cNvPr>
          <p:cNvSpPr txBox="1"/>
          <p:nvPr/>
        </p:nvSpPr>
        <p:spPr>
          <a:xfrm>
            <a:off x="9041765"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First Class</a:t>
            </a:r>
          </a:p>
        </p:txBody>
      </p:sp>
      <p:sp>
        <p:nvSpPr>
          <p:cNvPr id="37" name="Rectangle 36">
            <a:extLst>
              <a:ext uri="{FF2B5EF4-FFF2-40B4-BE49-F238E27FC236}">
                <a16:creationId xmlns:a16="http://schemas.microsoft.com/office/drawing/2014/main" id="{1B67A6FB-00DF-AB90-F6E4-E286219D1A26}"/>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I am indifferent between the bad seat and the lottery</a:t>
            </a:r>
          </a:p>
        </p:txBody>
      </p:sp>
      <p:sp>
        <p:nvSpPr>
          <p:cNvPr id="38" name="Thought Bubble: Cloud 37">
            <a:extLst>
              <a:ext uri="{FF2B5EF4-FFF2-40B4-BE49-F238E27FC236}">
                <a16:creationId xmlns:a16="http://schemas.microsoft.com/office/drawing/2014/main" id="{66F680FE-6B13-E8B6-20AF-186E43155B22}"/>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40" name="Thought Bubble: Cloud 39">
            <a:extLst>
              <a:ext uri="{FF2B5EF4-FFF2-40B4-BE49-F238E27FC236}">
                <a16:creationId xmlns:a16="http://schemas.microsoft.com/office/drawing/2014/main" id="{130912EB-47FD-42B2-1503-4230E0C1CDBF}"/>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3" name="TextBox 2">
            <a:extLst>
              <a:ext uri="{FF2B5EF4-FFF2-40B4-BE49-F238E27FC236}">
                <a16:creationId xmlns:a16="http://schemas.microsoft.com/office/drawing/2014/main" id="{C126DE07-2572-97D3-4EAD-44E588DA0405}"/>
              </a:ext>
            </a:extLst>
          </p:cNvPr>
          <p:cNvSpPr txBox="1"/>
          <p:nvPr/>
        </p:nvSpPr>
        <p:spPr>
          <a:xfrm>
            <a:off x="9608079" y="4853154"/>
            <a:ext cx="2103120" cy="492443"/>
          </a:xfrm>
          <a:prstGeom prst="rect">
            <a:avLst/>
          </a:prstGeom>
          <a:noFill/>
        </p:spPr>
        <p:txBody>
          <a:bodyPr wrap="square" lIns="0" tIns="0" rIns="0" bIns="0">
            <a:spAutoFit/>
          </a:bodyPr>
          <a:lstStyle/>
          <a:p>
            <a:pPr algn="r"/>
            <a:r>
              <a:rPr lang="en-US" sz="3200" b="1" dirty="0">
                <a:latin typeface="Arial" panose="020B0604020202020204" pitchFamily="34" charset="0"/>
                <a:ea typeface="Meiryo" panose="020B0604030504040204" pitchFamily="34" charset="-128"/>
                <a:cs typeface="Arial" panose="020B0604020202020204" pitchFamily="34" charset="0"/>
              </a:rPr>
              <a:t>100</a:t>
            </a:r>
            <a:r>
              <a:rPr lang="en-US" sz="3200" b="1" noProof="0" dirty="0">
                <a:latin typeface="Arial" panose="020B0604020202020204" pitchFamily="34" charset="0"/>
                <a:ea typeface="Meiryo" panose="020B0604030504040204" pitchFamily="34" charset="-128"/>
                <a:cs typeface="Arial" panose="020B0604020202020204" pitchFamily="34" charset="0"/>
              </a:rPr>
              <a:t>％</a:t>
            </a:r>
          </a:p>
        </p:txBody>
      </p:sp>
      <p:sp>
        <p:nvSpPr>
          <p:cNvPr id="6" name="TextBox 5">
            <a:extLst>
              <a:ext uri="{FF2B5EF4-FFF2-40B4-BE49-F238E27FC236}">
                <a16:creationId xmlns:a16="http://schemas.microsoft.com/office/drawing/2014/main" id="{60D04831-D37E-304F-D539-C89E8B1B0725}"/>
              </a:ext>
            </a:extLst>
          </p:cNvPr>
          <p:cNvSpPr txBox="1"/>
          <p:nvPr/>
        </p:nvSpPr>
        <p:spPr>
          <a:xfrm>
            <a:off x="7233785" y="4853154"/>
            <a:ext cx="1721445" cy="492443"/>
          </a:xfrm>
          <a:prstGeom prst="rect">
            <a:avLst/>
          </a:prstGeom>
          <a:noFill/>
        </p:spPr>
        <p:txBody>
          <a:bodyPr wrap="square" lIns="0" tIns="0" rIns="0" bIns="0">
            <a:spAutoFit/>
          </a:bodyPr>
          <a:lstStyle/>
          <a:p>
            <a:pPr algn="r"/>
            <a:r>
              <a:rPr lang="en-US" sz="3200" b="1" dirty="0">
                <a:latin typeface="Arial" panose="020B0604020202020204" pitchFamily="34" charset="0"/>
                <a:ea typeface="Meiryo" panose="020B0604030504040204" pitchFamily="34" charset="-128"/>
                <a:cs typeface="Arial" panose="020B0604020202020204" pitchFamily="34" charset="0"/>
              </a:rPr>
              <a:t>0</a:t>
            </a:r>
            <a:r>
              <a:rPr lang="en-US" sz="3200" b="1" noProof="0" dirty="0">
                <a:latin typeface="Arial" panose="020B0604020202020204" pitchFamily="34" charset="0"/>
                <a:ea typeface="Meiryo" panose="020B0604030504040204" pitchFamily="34" charset="-128"/>
                <a:cs typeface="Arial" panose="020B0604020202020204" pitchFamily="34" charset="0"/>
              </a:rPr>
              <a:t>％</a:t>
            </a:r>
          </a:p>
        </p:txBody>
      </p:sp>
      <p:grpSp>
        <p:nvGrpSpPr>
          <p:cNvPr id="7" name="Group 6">
            <a:extLst>
              <a:ext uri="{FF2B5EF4-FFF2-40B4-BE49-F238E27FC236}">
                <a16:creationId xmlns:a16="http://schemas.microsoft.com/office/drawing/2014/main" id="{9028BD78-B078-B79B-8576-08FE4B4C55F9}"/>
              </a:ext>
            </a:extLst>
          </p:cNvPr>
          <p:cNvGrpSpPr/>
          <p:nvPr/>
        </p:nvGrpSpPr>
        <p:grpSpPr>
          <a:xfrm>
            <a:off x="467139" y="108959"/>
            <a:ext cx="4197304" cy="307297"/>
            <a:chOff x="562270" y="127168"/>
            <a:chExt cx="4197304" cy="307297"/>
          </a:xfrm>
        </p:grpSpPr>
        <p:sp>
          <p:nvSpPr>
            <p:cNvPr id="9" name="Arrow: Pentagon 8">
              <a:extLst>
                <a:ext uri="{FF2B5EF4-FFF2-40B4-BE49-F238E27FC236}">
                  <a16:creationId xmlns:a16="http://schemas.microsoft.com/office/drawing/2014/main" id="{5EA4779D-5D04-21C5-C691-1363181719D2}"/>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4" name="Arrow: Pentagon 13">
              <a:extLst>
                <a:ext uri="{FF2B5EF4-FFF2-40B4-BE49-F238E27FC236}">
                  <a16:creationId xmlns:a16="http://schemas.microsoft.com/office/drawing/2014/main" id="{C14F4720-549A-083B-E195-E6F57B7B27F8}"/>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6" name="Arrow: Pentagon 15">
              <a:extLst>
                <a:ext uri="{FF2B5EF4-FFF2-40B4-BE49-F238E27FC236}">
                  <a16:creationId xmlns:a16="http://schemas.microsoft.com/office/drawing/2014/main" id="{BAEB2042-3FC8-C43A-CBE6-EB5C5B16D298}"/>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33775723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D4060-9608-63F7-B7D9-515345D94139}"/>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A17DBFAD-1BBB-D791-43C0-11F895062AB5}"/>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Lottery</a:t>
            </a:r>
          </a:p>
        </p:txBody>
      </p:sp>
      <p:sp>
        <p:nvSpPr>
          <p:cNvPr id="31" name="Rectangle 30">
            <a:extLst>
              <a:ext uri="{FF2B5EF4-FFF2-40B4-BE49-F238E27FC236}">
                <a16:creationId xmlns:a16="http://schemas.microsoft.com/office/drawing/2014/main" id="{50506912-1FB9-6E8B-8596-51028F40C490}"/>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“Bad seat”</a:t>
            </a:r>
          </a:p>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(Broken screen, Seat does not recline, No power outlet)</a:t>
            </a:r>
          </a:p>
        </p:txBody>
      </p:sp>
      <p:sp>
        <p:nvSpPr>
          <p:cNvPr id="2" name="Title 1">
            <a:extLst>
              <a:ext uri="{FF2B5EF4-FFF2-40B4-BE49-F238E27FC236}">
                <a16:creationId xmlns:a16="http://schemas.microsoft.com/office/drawing/2014/main" id="{C95649EC-A6D9-F676-8E8E-5497D6A27D9F}"/>
              </a:ext>
            </a:extLst>
          </p:cNvPr>
          <p:cNvSpPr>
            <a:spLocks noGrp="1"/>
          </p:cNvSpPr>
          <p:nvPr>
            <p:ph type="title"/>
          </p:nvPr>
        </p:nvSpPr>
        <p:spPr/>
        <p:txBody>
          <a:bodyPr/>
          <a:lstStyle/>
          <a:p>
            <a:r>
              <a:rPr lang="en-US" noProof="0" dirty="0"/>
              <a:t>Measuring the Utility of a “Bad Seat”</a:t>
            </a:r>
          </a:p>
        </p:txBody>
      </p:sp>
      <p:sp>
        <p:nvSpPr>
          <p:cNvPr id="4" name="Slide Number Placeholder 3">
            <a:extLst>
              <a:ext uri="{FF2B5EF4-FFF2-40B4-BE49-F238E27FC236}">
                <a16:creationId xmlns:a16="http://schemas.microsoft.com/office/drawing/2014/main" id="{3B21881D-B731-94CC-2AF5-B63F35638EF1}"/>
              </a:ext>
            </a:extLst>
          </p:cNvPr>
          <p:cNvSpPr>
            <a:spLocks noGrp="1"/>
          </p:cNvSpPr>
          <p:nvPr>
            <p:ph type="sldNum" sz="quarter" idx="4"/>
          </p:nvPr>
        </p:nvSpPr>
        <p:spPr/>
        <p:txBody>
          <a:bodyPr/>
          <a:lstStyle/>
          <a:p>
            <a:fld id="{B5CEABB6-07DC-46E8-9B57-56EC44A396E5}" type="slidenum">
              <a:rPr lang="en-US" noProof="0" smtClean="0"/>
              <a:pPr/>
              <a:t>38</a:t>
            </a:fld>
            <a:endParaRPr lang="en-US" noProof="0" dirty="0"/>
          </a:p>
        </p:txBody>
      </p:sp>
      <p:sp>
        <p:nvSpPr>
          <p:cNvPr id="5" name="Table Placeholder 4">
            <a:extLst>
              <a:ext uri="{FF2B5EF4-FFF2-40B4-BE49-F238E27FC236}">
                <a16:creationId xmlns:a16="http://schemas.microsoft.com/office/drawing/2014/main" id="{15119BA1-7360-2738-40C7-91D672175D57}"/>
              </a:ext>
            </a:extLst>
          </p:cNvPr>
          <p:cNvSpPr>
            <a:spLocks noGrp="1"/>
          </p:cNvSpPr>
          <p:nvPr>
            <p:ph type="tbl" sz="quarter" idx="11"/>
          </p:nvPr>
        </p:nvSpPr>
        <p:spPr>
          <a:xfrm>
            <a:off x="467139" y="1093305"/>
            <a:ext cx="11258636" cy="735496"/>
          </a:xfrm>
        </p:spPr>
        <p:txBody>
          <a:bodyPr/>
          <a:lstStyle/>
          <a:p>
            <a:r>
              <a:rPr lang="en-US" dirty="0"/>
              <a:t>Please r</a:t>
            </a:r>
            <a:r>
              <a:rPr lang="en-US" noProof="0" dirty="0" err="1"/>
              <a:t>aise</a:t>
            </a:r>
            <a:r>
              <a:rPr lang="en-US" noProof="0" dirty="0"/>
              <a:t> your hand when you feel indifferent with varying P.</a:t>
            </a:r>
          </a:p>
        </p:txBody>
      </p:sp>
      <p:pic>
        <p:nvPicPr>
          <p:cNvPr id="13" name="Picture 12" descr="A black background with a black square&#10;&#10;AI-generated content may be incorrect.">
            <a:extLst>
              <a:ext uri="{FF2B5EF4-FFF2-40B4-BE49-F238E27FC236}">
                <a16:creationId xmlns:a16="http://schemas.microsoft.com/office/drawing/2014/main" id="{80719C3F-A55B-4E3A-20AF-72A48F9A31BB}"/>
              </a:ext>
            </a:extLst>
          </p:cNvPr>
          <p:cNvPicPr>
            <a:picLocks noChangeAspect="1"/>
          </p:cNvPicPr>
          <p:nvPr/>
        </p:nvPicPr>
        <p:blipFill>
          <a:blip r:embed="rId3"/>
          <a:stretch>
            <a:fillRect/>
          </a:stretch>
        </p:blipFill>
        <p:spPr>
          <a:xfrm>
            <a:off x="9655395" y="2727826"/>
            <a:ext cx="1709076" cy="1709076"/>
          </a:xfrm>
          <a:prstGeom prst="rect">
            <a:avLst/>
          </a:prstGeom>
        </p:spPr>
      </p:pic>
      <p:pic>
        <p:nvPicPr>
          <p:cNvPr id="15" name="Picture 14" descr="A black background with a black square&#10;&#10;AI-generated content may be incorrect.">
            <a:extLst>
              <a:ext uri="{FF2B5EF4-FFF2-40B4-BE49-F238E27FC236}">
                <a16:creationId xmlns:a16="http://schemas.microsoft.com/office/drawing/2014/main" id="{DEA01BD4-74B1-2FCC-E2F2-26C6384484BD}"/>
              </a:ext>
            </a:extLst>
          </p:cNvPr>
          <p:cNvPicPr>
            <a:picLocks noChangeAspect="1"/>
          </p:cNvPicPr>
          <p:nvPr/>
        </p:nvPicPr>
        <p:blipFill>
          <a:blip r:embed="rId4"/>
          <a:stretch>
            <a:fillRect/>
          </a:stretch>
        </p:blipFill>
        <p:spPr>
          <a:xfrm>
            <a:off x="6414168" y="4047559"/>
            <a:ext cx="1061482" cy="1061482"/>
          </a:xfrm>
          <a:prstGeom prst="rect">
            <a:avLst/>
          </a:prstGeom>
        </p:spPr>
      </p:pic>
      <p:pic>
        <p:nvPicPr>
          <p:cNvPr id="19" name="Picture 18" descr="A black background with a black square&#10;&#10;AI-generated content may be incorrect.">
            <a:extLst>
              <a:ext uri="{FF2B5EF4-FFF2-40B4-BE49-F238E27FC236}">
                <a16:creationId xmlns:a16="http://schemas.microsoft.com/office/drawing/2014/main" id="{BE192E1E-F622-6DE8-421D-B7E21CFB2031}"/>
              </a:ext>
            </a:extLst>
          </p:cNvPr>
          <p:cNvPicPr>
            <a:picLocks noChangeAspect="1"/>
          </p:cNvPicPr>
          <p:nvPr/>
        </p:nvPicPr>
        <p:blipFill>
          <a:blip r:embed="rId5"/>
          <a:stretch>
            <a:fillRect/>
          </a:stretch>
        </p:blipFill>
        <p:spPr>
          <a:xfrm>
            <a:off x="7419849" y="2893307"/>
            <a:ext cx="1412459" cy="1412459"/>
          </a:xfrm>
          <a:prstGeom prst="rect">
            <a:avLst/>
          </a:prstGeom>
        </p:spPr>
      </p:pic>
      <p:grpSp>
        <p:nvGrpSpPr>
          <p:cNvPr id="23" name="Group 22">
            <a:extLst>
              <a:ext uri="{FF2B5EF4-FFF2-40B4-BE49-F238E27FC236}">
                <a16:creationId xmlns:a16="http://schemas.microsoft.com/office/drawing/2014/main" id="{E53B6E05-6F61-51BE-492B-89D450BF24CB}"/>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F9406356-5FAA-1620-E3D8-99985CE0C95C}"/>
                </a:ext>
              </a:extLst>
            </p:cNvPr>
            <p:cNvPicPr>
              <a:picLocks noChangeAspect="1"/>
            </p:cNvPicPr>
            <p:nvPr/>
          </p:nvPicPr>
          <p:blipFill>
            <a:blip r:embed="rId6"/>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614F15C1-ABC0-DB62-4D2C-7CF4103C826B}"/>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grpSp>
        <p:nvGrpSpPr>
          <p:cNvPr id="30" name="Group 29">
            <a:extLst>
              <a:ext uri="{FF2B5EF4-FFF2-40B4-BE49-F238E27FC236}">
                <a16:creationId xmlns:a16="http://schemas.microsoft.com/office/drawing/2014/main" id="{EEFEF095-9700-B13D-0B32-3D185E4538DF}"/>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D342EC24-25D5-0A5E-DE18-DDA642A99108}"/>
                </a:ext>
              </a:extLst>
            </p:cNvPr>
            <p:cNvPicPr>
              <a:picLocks noChangeAspect="1"/>
            </p:cNvPicPr>
            <p:nvPr/>
          </p:nvPicPr>
          <p:blipFill>
            <a:blip r:embed="rId7"/>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CAC47A1B-59D6-BCF2-32A9-4AA6530F0CF8}"/>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9" name="Rectangle 28">
              <a:extLst>
                <a:ext uri="{FF2B5EF4-FFF2-40B4-BE49-F238E27FC236}">
                  <a16:creationId xmlns:a16="http://schemas.microsoft.com/office/drawing/2014/main" id="{03134FE8-41C5-A6B3-838D-AE6DE7AA9BAD}"/>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cxnSp>
        <p:nvCxnSpPr>
          <p:cNvPr id="34" name="Straight Connector 33">
            <a:extLst>
              <a:ext uri="{FF2B5EF4-FFF2-40B4-BE49-F238E27FC236}">
                <a16:creationId xmlns:a16="http://schemas.microsoft.com/office/drawing/2014/main" id="{48CE752C-F036-5DF9-C2CE-1B758B929117}"/>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6E3B58F-8B56-0EBE-FAA4-1516F8A7E41D}"/>
              </a:ext>
            </a:extLst>
          </p:cNvPr>
          <p:cNvSpPr txBox="1"/>
          <p:nvPr/>
        </p:nvSpPr>
        <p:spPr>
          <a:xfrm>
            <a:off x="6218963"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No flight</a:t>
            </a:r>
          </a:p>
        </p:txBody>
      </p:sp>
      <p:sp>
        <p:nvSpPr>
          <p:cNvPr id="36" name="TextBox 35">
            <a:extLst>
              <a:ext uri="{FF2B5EF4-FFF2-40B4-BE49-F238E27FC236}">
                <a16:creationId xmlns:a16="http://schemas.microsoft.com/office/drawing/2014/main" id="{D1B72736-8979-1DA7-EE01-890780A4FF76}"/>
              </a:ext>
            </a:extLst>
          </p:cNvPr>
          <p:cNvSpPr txBox="1"/>
          <p:nvPr/>
        </p:nvSpPr>
        <p:spPr>
          <a:xfrm>
            <a:off x="9041765"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First Class</a:t>
            </a:r>
          </a:p>
        </p:txBody>
      </p:sp>
      <p:sp>
        <p:nvSpPr>
          <p:cNvPr id="37" name="Rectangle 36">
            <a:extLst>
              <a:ext uri="{FF2B5EF4-FFF2-40B4-BE49-F238E27FC236}">
                <a16:creationId xmlns:a16="http://schemas.microsoft.com/office/drawing/2014/main" id="{6B8F5D6D-C596-5D51-B7C0-898D5C397A02}"/>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I am indifferent between the bad seat and the lottery</a:t>
            </a:r>
          </a:p>
        </p:txBody>
      </p:sp>
      <p:sp>
        <p:nvSpPr>
          <p:cNvPr id="38" name="Thought Bubble: Cloud 37">
            <a:extLst>
              <a:ext uri="{FF2B5EF4-FFF2-40B4-BE49-F238E27FC236}">
                <a16:creationId xmlns:a16="http://schemas.microsoft.com/office/drawing/2014/main" id="{497F06EF-2CB3-E16F-B519-32E8B872E9D8}"/>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40" name="Thought Bubble: Cloud 39">
            <a:extLst>
              <a:ext uri="{FF2B5EF4-FFF2-40B4-BE49-F238E27FC236}">
                <a16:creationId xmlns:a16="http://schemas.microsoft.com/office/drawing/2014/main" id="{2E715313-4172-D4D9-A052-446FE55B1241}"/>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3" name="TextBox 2">
            <a:extLst>
              <a:ext uri="{FF2B5EF4-FFF2-40B4-BE49-F238E27FC236}">
                <a16:creationId xmlns:a16="http://schemas.microsoft.com/office/drawing/2014/main" id="{1ECB7BAA-EF59-B0C8-337D-1B9769F133C1}"/>
              </a:ext>
            </a:extLst>
          </p:cNvPr>
          <p:cNvSpPr txBox="1"/>
          <p:nvPr/>
        </p:nvSpPr>
        <p:spPr>
          <a:xfrm>
            <a:off x="9608079" y="4853154"/>
            <a:ext cx="2103120" cy="492443"/>
          </a:xfrm>
          <a:prstGeom prst="rect">
            <a:avLst/>
          </a:prstGeom>
          <a:noFill/>
        </p:spPr>
        <p:txBody>
          <a:bodyPr wrap="square" lIns="0" tIns="0" rIns="0" bIns="0">
            <a:spAutoFit/>
          </a:bodyPr>
          <a:lstStyle/>
          <a:p>
            <a:pPr algn="r"/>
            <a:r>
              <a:rPr lang="en-US" sz="3200" b="1" dirty="0">
                <a:latin typeface="Arial" panose="020B0604020202020204" pitchFamily="34" charset="0"/>
                <a:ea typeface="Meiryo" panose="020B0604030504040204" pitchFamily="34" charset="-128"/>
                <a:cs typeface="Arial" panose="020B0604020202020204" pitchFamily="34" charset="0"/>
              </a:rPr>
              <a:t>90</a:t>
            </a:r>
            <a:r>
              <a:rPr lang="en-US" sz="3200" b="1" noProof="0" dirty="0">
                <a:latin typeface="Arial" panose="020B0604020202020204" pitchFamily="34" charset="0"/>
                <a:ea typeface="Meiryo" panose="020B0604030504040204" pitchFamily="34" charset="-128"/>
                <a:cs typeface="Arial" panose="020B0604020202020204" pitchFamily="34" charset="0"/>
              </a:rPr>
              <a:t>％</a:t>
            </a:r>
          </a:p>
        </p:txBody>
      </p:sp>
      <p:sp>
        <p:nvSpPr>
          <p:cNvPr id="6" name="TextBox 5">
            <a:extLst>
              <a:ext uri="{FF2B5EF4-FFF2-40B4-BE49-F238E27FC236}">
                <a16:creationId xmlns:a16="http://schemas.microsoft.com/office/drawing/2014/main" id="{27755885-F64E-A8D3-D0AE-97512D536F7A}"/>
              </a:ext>
            </a:extLst>
          </p:cNvPr>
          <p:cNvSpPr txBox="1"/>
          <p:nvPr/>
        </p:nvSpPr>
        <p:spPr>
          <a:xfrm>
            <a:off x="7233785" y="4853154"/>
            <a:ext cx="1721445" cy="492443"/>
          </a:xfrm>
          <a:prstGeom prst="rect">
            <a:avLst/>
          </a:prstGeom>
          <a:noFill/>
        </p:spPr>
        <p:txBody>
          <a:bodyPr wrap="square" lIns="0" tIns="0" rIns="0" bIns="0">
            <a:spAutoFit/>
          </a:bodyPr>
          <a:lstStyle/>
          <a:p>
            <a:pPr algn="r"/>
            <a:r>
              <a:rPr lang="en-US" sz="3200" b="1" dirty="0">
                <a:latin typeface="Arial" panose="020B0604020202020204" pitchFamily="34" charset="0"/>
                <a:ea typeface="Meiryo" panose="020B0604030504040204" pitchFamily="34" charset="-128"/>
                <a:cs typeface="Arial" panose="020B0604020202020204" pitchFamily="34" charset="0"/>
              </a:rPr>
              <a:t>10</a:t>
            </a:r>
            <a:r>
              <a:rPr lang="en-US" sz="3200" b="1" noProof="0" dirty="0">
                <a:latin typeface="Arial" panose="020B0604020202020204" pitchFamily="34" charset="0"/>
                <a:ea typeface="Meiryo" panose="020B0604030504040204" pitchFamily="34" charset="-128"/>
                <a:cs typeface="Arial" panose="020B0604020202020204" pitchFamily="34" charset="0"/>
              </a:rPr>
              <a:t>％</a:t>
            </a:r>
          </a:p>
        </p:txBody>
      </p:sp>
      <p:grpSp>
        <p:nvGrpSpPr>
          <p:cNvPr id="7" name="Group 6">
            <a:extLst>
              <a:ext uri="{FF2B5EF4-FFF2-40B4-BE49-F238E27FC236}">
                <a16:creationId xmlns:a16="http://schemas.microsoft.com/office/drawing/2014/main" id="{D0371810-4135-DFB4-9CDE-0982ACAFB72E}"/>
              </a:ext>
            </a:extLst>
          </p:cNvPr>
          <p:cNvGrpSpPr/>
          <p:nvPr/>
        </p:nvGrpSpPr>
        <p:grpSpPr>
          <a:xfrm>
            <a:off x="467139" y="108959"/>
            <a:ext cx="4197304" cy="307297"/>
            <a:chOff x="562270" y="127168"/>
            <a:chExt cx="4197304" cy="307297"/>
          </a:xfrm>
        </p:grpSpPr>
        <p:sp>
          <p:nvSpPr>
            <p:cNvPr id="9" name="Arrow: Pentagon 8">
              <a:extLst>
                <a:ext uri="{FF2B5EF4-FFF2-40B4-BE49-F238E27FC236}">
                  <a16:creationId xmlns:a16="http://schemas.microsoft.com/office/drawing/2014/main" id="{CDBB5E16-09BA-D36A-3038-CD98DB9CB965}"/>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4" name="Arrow: Pentagon 13">
              <a:extLst>
                <a:ext uri="{FF2B5EF4-FFF2-40B4-BE49-F238E27FC236}">
                  <a16:creationId xmlns:a16="http://schemas.microsoft.com/office/drawing/2014/main" id="{B5A0571F-07B3-C094-A6F6-E43020D3F553}"/>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6" name="Arrow: Pentagon 15">
              <a:extLst>
                <a:ext uri="{FF2B5EF4-FFF2-40B4-BE49-F238E27FC236}">
                  <a16:creationId xmlns:a16="http://schemas.microsoft.com/office/drawing/2014/main" id="{F835649D-3E55-CEA2-7AEC-F9A07116EFFA}"/>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12906007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9E418-A903-35A8-6B3A-07529027D6D4}"/>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4508D613-D489-DFA5-A276-411ECA6FFA34}"/>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Lottery</a:t>
            </a:r>
          </a:p>
        </p:txBody>
      </p:sp>
      <p:sp>
        <p:nvSpPr>
          <p:cNvPr id="31" name="Rectangle 30">
            <a:extLst>
              <a:ext uri="{FF2B5EF4-FFF2-40B4-BE49-F238E27FC236}">
                <a16:creationId xmlns:a16="http://schemas.microsoft.com/office/drawing/2014/main" id="{311CBA4B-B789-3A62-92AF-4849FFAB0B78}"/>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“Bad seat”</a:t>
            </a:r>
          </a:p>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(Broken screen, Seat does not recline, No power outlet)</a:t>
            </a:r>
          </a:p>
        </p:txBody>
      </p:sp>
      <p:sp>
        <p:nvSpPr>
          <p:cNvPr id="2" name="Title 1">
            <a:extLst>
              <a:ext uri="{FF2B5EF4-FFF2-40B4-BE49-F238E27FC236}">
                <a16:creationId xmlns:a16="http://schemas.microsoft.com/office/drawing/2014/main" id="{93C44BA0-8103-F64C-6F55-ACA3E8EE6D70}"/>
              </a:ext>
            </a:extLst>
          </p:cNvPr>
          <p:cNvSpPr>
            <a:spLocks noGrp="1"/>
          </p:cNvSpPr>
          <p:nvPr>
            <p:ph type="title"/>
          </p:nvPr>
        </p:nvSpPr>
        <p:spPr/>
        <p:txBody>
          <a:bodyPr/>
          <a:lstStyle/>
          <a:p>
            <a:r>
              <a:rPr lang="en-US" noProof="0" dirty="0"/>
              <a:t>Measuring the Utility of a “Bad Seat”</a:t>
            </a:r>
          </a:p>
        </p:txBody>
      </p:sp>
      <p:sp>
        <p:nvSpPr>
          <p:cNvPr id="4" name="Slide Number Placeholder 3">
            <a:extLst>
              <a:ext uri="{FF2B5EF4-FFF2-40B4-BE49-F238E27FC236}">
                <a16:creationId xmlns:a16="http://schemas.microsoft.com/office/drawing/2014/main" id="{AFA4E6DC-A895-8578-2AF0-65B04447332D}"/>
              </a:ext>
            </a:extLst>
          </p:cNvPr>
          <p:cNvSpPr>
            <a:spLocks noGrp="1"/>
          </p:cNvSpPr>
          <p:nvPr>
            <p:ph type="sldNum" sz="quarter" idx="4"/>
          </p:nvPr>
        </p:nvSpPr>
        <p:spPr/>
        <p:txBody>
          <a:bodyPr/>
          <a:lstStyle/>
          <a:p>
            <a:fld id="{B5CEABB6-07DC-46E8-9B57-56EC44A396E5}" type="slidenum">
              <a:rPr lang="en-US" noProof="0" smtClean="0"/>
              <a:pPr/>
              <a:t>39</a:t>
            </a:fld>
            <a:endParaRPr lang="en-US" noProof="0" dirty="0"/>
          </a:p>
        </p:txBody>
      </p:sp>
      <p:sp>
        <p:nvSpPr>
          <p:cNvPr id="5" name="Table Placeholder 4">
            <a:extLst>
              <a:ext uri="{FF2B5EF4-FFF2-40B4-BE49-F238E27FC236}">
                <a16:creationId xmlns:a16="http://schemas.microsoft.com/office/drawing/2014/main" id="{0151EE09-6AF8-C9CA-3872-4FCFDFBA286A}"/>
              </a:ext>
            </a:extLst>
          </p:cNvPr>
          <p:cNvSpPr>
            <a:spLocks noGrp="1"/>
          </p:cNvSpPr>
          <p:nvPr>
            <p:ph type="tbl" sz="quarter" idx="11"/>
          </p:nvPr>
        </p:nvSpPr>
        <p:spPr>
          <a:xfrm>
            <a:off x="467139" y="1093305"/>
            <a:ext cx="11258636" cy="735496"/>
          </a:xfrm>
        </p:spPr>
        <p:txBody>
          <a:bodyPr/>
          <a:lstStyle/>
          <a:p>
            <a:r>
              <a:rPr lang="en-US" dirty="0"/>
              <a:t>Please r</a:t>
            </a:r>
            <a:r>
              <a:rPr lang="en-US" noProof="0" dirty="0" err="1"/>
              <a:t>aise</a:t>
            </a:r>
            <a:r>
              <a:rPr lang="en-US" noProof="0" dirty="0"/>
              <a:t> your hand when you feel indifferent with varying P.</a:t>
            </a:r>
          </a:p>
        </p:txBody>
      </p:sp>
      <p:pic>
        <p:nvPicPr>
          <p:cNvPr id="13" name="Picture 12" descr="A black background with a black square&#10;&#10;AI-generated content may be incorrect.">
            <a:extLst>
              <a:ext uri="{FF2B5EF4-FFF2-40B4-BE49-F238E27FC236}">
                <a16:creationId xmlns:a16="http://schemas.microsoft.com/office/drawing/2014/main" id="{23B89B13-43B4-E748-8BC4-355CD6287042}"/>
              </a:ext>
            </a:extLst>
          </p:cNvPr>
          <p:cNvPicPr>
            <a:picLocks noChangeAspect="1"/>
          </p:cNvPicPr>
          <p:nvPr/>
        </p:nvPicPr>
        <p:blipFill>
          <a:blip r:embed="rId3"/>
          <a:stretch>
            <a:fillRect/>
          </a:stretch>
        </p:blipFill>
        <p:spPr>
          <a:xfrm>
            <a:off x="9655395" y="2727826"/>
            <a:ext cx="1709076" cy="1709076"/>
          </a:xfrm>
          <a:prstGeom prst="rect">
            <a:avLst/>
          </a:prstGeom>
        </p:spPr>
      </p:pic>
      <p:pic>
        <p:nvPicPr>
          <p:cNvPr id="15" name="Picture 14" descr="A black background with a black square&#10;&#10;AI-generated content may be incorrect.">
            <a:extLst>
              <a:ext uri="{FF2B5EF4-FFF2-40B4-BE49-F238E27FC236}">
                <a16:creationId xmlns:a16="http://schemas.microsoft.com/office/drawing/2014/main" id="{B0E73634-23AE-F3CF-3E18-1F606CD4F1F6}"/>
              </a:ext>
            </a:extLst>
          </p:cNvPr>
          <p:cNvPicPr>
            <a:picLocks noChangeAspect="1"/>
          </p:cNvPicPr>
          <p:nvPr/>
        </p:nvPicPr>
        <p:blipFill>
          <a:blip r:embed="rId4"/>
          <a:stretch>
            <a:fillRect/>
          </a:stretch>
        </p:blipFill>
        <p:spPr>
          <a:xfrm>
            <a:off x="6414168" y="4047559"/>
            <a:ext cx="1061482" cy="1061482"/>
          </a:xfrm>
          <a:prstGeom prst="rect">
            <a:avLst/>
          </a:prstGeom>
        </p:spPr>
      </p:pic>
      <p:pic>
        <p:nvPicPr>
          <p:cNvPr id="19" name="Picture 18" descr="A black background with a black square&#10;&#10;AI-generated content may be incorrect.">
            <a:extLst>
              <a:ext uri="{FF2B5EF4-FFF2-40B4-BE49-F238E27FC236}">
                <a16:creationId xmlns:a16="http://schemas.microsoft.com/office/drawing/2014/main" id="{33247F72-D287-64EE-990B-6425B5CC474D}"/>
              </a:ext>
            </a:extLst>
          </p:cNvPr>
          <p:cNvPicPr>
            <a:picLocks noChangeAspect="1"/>
          </p:cNvPicPr>
          <p:nvPr/>
        </p:nvPicPr>
        <p:blipFill>
          <a:blip r:embed="rId5"/>
          <a:stretch>
            <a:fillRect/>
          </a:stretch>
        </p:blipFill>
        <p:spPr>
          <a:xfrm>
            <a:off x="7419849" y="2893307"/>
            <a:ext cx="1412459" cy="1412459"/>
          </a:xfrm>
          <a:prstGeom prst="rect">
            <a:avLst/>
          </a:prstGeom>
        </p:spPr>
      </p:pic>
      <p:grpSp>
        <p:nvGrpSpPr>
          <p:cNvPr id="23" name="Group 22">
            <a:extLst>
              <a:ext uri="{FF2B5EF4-FFF2-40B4-BE49-F238E27FC236}">
                <a16:creationId xmlns:a16="http://schemas.microsoft.com/office/drawing/2014/main" id="{4D457612-D153-DAF1-C980-1DD4CC5AD0C6}"/>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755315CA-95FD-1249-7731-27CD108D42D4}"/>
                </a:ext>
              </a:extLst>
            </p:cNvPr>
            <p:cNvPicPr>
              <a:picLocks noChangeAspect="1"/>
            </p:cNvPicPr>
            <p:nvPr/>
          </p:nvPicPr>
          <p:blipFill>
            <a:blip r:embed="rId6"/>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6D7CAAD1-B48B-B51B-D340-7442B3F2D5ED}"/>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grpSp>
        <p:nvGrpSpPr>
          <p:cNvPr id="30" name="Group 29">
            <a:extLst>
              <a:ext uri="{FF2B5EF4-FFF2-40B4-BE49-F238E27FC236}">
                <a16:creationId xmlns:a16="http://schemas.microsoft.com/office/drawing/2014/main" id="{DACAF27D-C904-CA25-9583-240B894FFD19}"/>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1EE83AA4-E8A0-5891-EBF6-866A9A0115EC}"/>
                </a:ext>
              </a:extLst>
            </p:cNvPr>
            <p:cNvPicPr>
              <a:picLocks noChangeAspect="1"/>
            </p:cNvPicPr>
            <p:nvPr/>
          </p:nvPicPr>
          <p:blipFill>
            <a:blip r:embed="rId7"/>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718D6A77-7F7A-31DE-FEC8-3C61CDE6F063}"/>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9" name="Rectangle 28">
              <a:extLst>
                <a:ext uri="{FF2B5EF4-FFF2-40B4-BE49-F238E27FC236}">
                  <a16:creationId xmlns:a16="http://schemas.microsoft.com/office/drawing/2014/main" id="{29A2CE3A-5D8E-772C-2426-3AAEAA1C5080}"/>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cxnSp>
        <p:nvCxnSpPr>
          <p:cNvPr id="34" name="Straight Connector 33">
            <a:extLst>
              <a:ext uri="{FF2B5EF4-FFF2-40B4-BE49-F238E27FC236}">
                <a16:creationId xmlns:a16="http://schemas.microsoft.com/office/drawing/2014/main" id="{7188BF35-2F2F-E951-836E-EE1F83634607}"/>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AB3E528A-D5F8-C823-AA5B-1A450159A812}"/>
              </a:ext>
            </a:extLst>
          </p:cNvPr>
          <p:cNvSpPr txBox="1"/>
          <p:nvPr/>
        </p:nvSpPr>
        <p:spPr>
          <a:xfrm>
            <a:off x="6218963"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No flight</a:t>
            </a:r>
          </a:p>
        </p:txBody>
      </p:sp>
      <p:sp>
        <p:nvSpPr>
          <p:cNvPr id="36" name="TextBox 35">
            <a:extLst>
              <a:ext uri="{FF2B5EF4-FFF2-40B4-BE49-F238E27FC236}">
                <a16:creationId xmlns:a16="http://schemas.microsoft.com/office/drawing/2014/main" id="{557F65F2-EB82-08A3-4AF9-7E156BE5AA9A}"/>
              </a:ext>
            </a:extLst>
          </p:cNvPr>
          <p:cNvSpPr txBox="1"/>
          <p:nvPr/>
        </p:nvSpPr>
        <p:spPr>
          <a:xfrm>
            <a:off x="9041765"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First Class</a:t>
            </a:r>
          </a:p>
        </p:txBody>
      </p:sp>
      <p:sp>
        <p:nvSpPr>
          <p:cNvPr id="37" name="Rectangle 36">
            <a:extLst>
              <a:ext uri="{FF2B5EF4-FFF2-40B4-BE49-F238E27FC236}">
                <a16:creationId xmlns:a16="http://schemas.microsoft.com/office/drawing/2014/main" id="{40AA6BA9-BB81-4833-D8FC-812A0EE138E4}"/>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I am indifferent between the bad seat and the lottery</a:t>
            </a:r>
          </a:p>
        </p:txBody>
      </p:sp>
      <p:sp>
        <p:nvSpPr>
          <p:cNvPr id="38" name="Thought Bubble: Cloud 37">
            <a:extLst>
              <a:ext uri="{FF2B5EF4-FFF2-40B4-BE49-F238E27FC236}">
                <a16:creationId xmlns:a16="http://schemas.microsoft.com/office/drawing/2014/main" id="{C81840CA-E626-C58B-4374-75BE312A381B}"/>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40" name="Thought Bubble: Cloud 39">
            <a:extLst>
              <a:ext uri="{FF2B5EF4-FFF2-40B4-BE49-F238E27FC236}">
                <a16:creationId xmlns:a16="http://schemas.microsoft.com/office/drawing/2014/main" id="{9AB32F40-8287-EA92-F0A3-07B0657628A0}"/>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3" name="TextBox 2">
            <a:extLst>
              <a:ext uri="{FF2B5EF4-FFF2-40B4-BE49-F238E27FC236}">
                <a16:creationId xmlns:a16="http://schemas.microsoft.com/office/drawing/2014/main" id="{F8604B8E-4CCC-21AA-4AE2-562E3F346E18}"/>
              </a:ext>
            </a:extLst>
          </p:cNvPr>
          <p:cNvSpPr txBox="1"/>
          <p:nvPr/>
        </p:nvSpPr>
        <p:spPr>
          <a:xfrm>
            <a:off x="9608079" y="4853154"/>
            <a:ext cx="2103120" cy="492443"/>
          </a:xfrm>
          <a:prstGeom prst="rect">
            <a:avLst/>
          </a:prstGeom>
          <a:noFill/>
        </p:spPr>
        <p:txBody>
          <a:bodyPr wrap="square" lIns="0" tIns="0" rIns="0" bIns="0">
            <a:spAutoFit/>
          </a:bodyPr>
          <a:lstStyle/>
          <a:p>
            <a:pPr algn="r"/>
            <a:r>
              <a:rPr lang="en-US" sz="3200" b="1" dirty="0">
                <a:latin typeface="Arial" panose="020B0604020202020204" pitchFamily="34" charset="0"/>
                <a:ea typeface="Meiryo" panose="020B0604030504040204" pitchFamily="34" charset="-128"/>
                <a:cs typeface="Arial" panose="020B0604020202020204" pitchFamily="34" charset="0"/>
              </a:rPr>
              <a:t>80</a:t>
            </a:r>
            <a:r>
              <a:rPr lang="en-US" sz="3200" b="1" noProof="0" dirty="0">
                <a:latin typeface="Arial" panose="020B0604020202020204" pitchFamily="34" charset="0"/>
                <a:ea typeface="Meiryo" panose="020B0604030504040204" pitchFamily="34" charset="-128"/>
                <a:cs typeface="Arial" panose="020B0604020202020204" pitchFamily="34" charset="0"/>
              </a:rPr>
              <a:t>％</a:t>
            </a:r>
          </a:p>
        </p:txBody>
      </p:sp>
      <p:sp>
        <p:nvSpPr>
          <p:cNvPr id="6" name="TextBox 5">
            <a:extLst>
              <a:ext uri="{FF2B5EF4-FFF2-40B4-BE49-F238E27FC236}">
                <a16:creationId xmlns:a16="http://schemas.microsoft.com/office/drawing/2014/main" id="{BF3941D0-F5D5-5956-A6BA-4430FAB70B22}"/>
              </a:ext>
            </a:extLst>
          </p:cNvPr>
          <p:cNvSpPr txBox="1"/>
          <p:nvPr/>
        </p:nvSpPr>
        <p:spPr>
          <a:xfrm>
            <a:off x="7233785" y="4853154"/>
            <a:ext cx="1721445" cy="492443"/>
          </a:xfrm>
          <a:prstGeom prst="rect">
            <a:avLst/>
          </a:prstGeom>
          <a:noFill/>
        </p:spPr>
        <p:txBody>
          <a:bodyPr wrap="square" lIns="0" tIns="0" rIns="0" bIns="0">
            <a:spAutoFit/>
          </a:bodyPr>
          <a:lstStyle/>
          <a:p>
            <a:pPr algn="r"/>
            <a:r>
              <a:rPr lang="en-US" sz="3200" b="1" dirty="0">
                <a:latin typeface="Arial" panose="020B0604020202020204" pitchFamily="34" charset="0"/>
                <a:ea typeface="Meiryo" panose="020B0604030504040204" pitchFamily="34" charset="-128"/>
                <a:cs typeface="Arial" panose="020B0604020202020204" pitchFamily="34" charset="0"/>
              </a:rPr>
              <a:t>20</a:t>
            </a:r>
            <a:r>
              <a:rPr lang="en-US" sz="3200" b="1" noProof="0" dirty="0">
                <a:latin typeface="Arial" panose="020B0604020202020204" pitchFamily="34" charset="0"/>
                <a:ea typeface="Meiryo" panose="020B0604030504040204" pitchFamily="34" charset="-128"/>
                <a:cs typeface="Arial" panose="020B0604020202020204" pitchFamily="34" charset="0"/>
              </a:rPr>
              <a:t>％</a:t>
            </a:r>
          </a:p>
        </p:txBody>
      </p:sp>
      <p:grpSp>
        <p:nvGrpSpPr>
          <p:cNvPr id="7" name="Group 6">
            <a:extLst>
              <a:ext uri="{FF2B5EF4-FFF2-40B4-BE49-F238E27FC236}">
                <a16:creationId xmlns:a16="http://schemas.microsoft.com/office/drawing/2014/main" id="{03482C06-D064-4F32-97E5-B59A65C78429}"/>
              </a:ext>
            </a:extLst>
          </p:cNvPr>
          <p:cNvGrpSpPr/>
          <p:nvPr/>
        </p:nvGrpSpPr>
        <p:grpSpPr>
          <a:xfrm>
            <a:off x="467139" y="108959"/>
            <a:ext cx="4197304" cy="307297"/>
            <a:chOff x="562270" y="127168"/>
            <a:chExt cx="4197304" cy="307297"/>
          </a:xfrm>
        </p:grpSpPr>
        <p:sp>
          <p:nvSpPr>
            <p:cNvPr id="9" name="Arrow: Pentagon 8">
              <a:extLst>
                <a:ext uri="{FF2B5EF4-FFF2-40B4-BE49-F238E27FC236}">
                  <a16:creationId xmlns:a16="http://schemas.microsoft.com/office/drawing/2014/main" id="{00652B51-25D1-92BD-9AC1-7807A0450A84}"/>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4" name="Arrow: Pentagon 13">
              <a:extLst>
                <a:ext uri="{FF2B5EF4-FFF2-40B4-BE49-F238E27FC236}">
                  <a16:creationId xmlns:a16="http://schemas.microsoft.com/office/drawing/2014/main" id="{3A9A73D5-56EC-DF01-752C-5408CCCEFD29}"/>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6" name="Arrow: Pentagon 15">
              <a:extLst>
                <a:ext uri="{FF2B5EF4-FFF2-40B4-BE49-F238E27FC236}">
                  <a16:creationId xmlns:a16="http://schemas.microsoft.com/office/drawing/2014/main" id="{363DA93D-135B-2910-FCFB-49EF02A4448B}"/>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35812908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65549-D284-6E08-64E8-D57384BBAA22}"/>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ACD102A1-FD98-B298-FF02-0B05CD316A1A}"/>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Lottery</a:t>
            </a:r>
          </a:p>
        </p:txBody>
      </p:sp>
      <p:sp>
        <p:nvSpPr>
          <p:cNvPr id="31" name="Rectangle 30">
            <a:extLst>
              <a:ext uri="{FF2B5EF4-FFF2-40B4-BE49-F238E27FC236}">
                <a16:creationId xmlns:a16="http://schemas.microsoft.com/office/drawing/2014/main" id="{2D69932B-A50B-3E4E-1ED7-3647FBBA5F5B}"/>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“Bad seat”</a:t>
            </a:r>
          </a:p>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(Broken screen, Seat does not recline, No power outlet)</a:t>
            </a:r>
          </a:p>
        </p:txBody>
      </p:sp>
      <p:sp>
        <p:nvSpPr>
          <p:cNvPr id="2" name="Title 1">
            <a:extLst>
              <a:ext uri="{FF2B5EF4-FFF2-40B4-BE49-F238E27FC236}">
                <a16:creationId xmlns:a16="http://schemas.microsoft.com/office/drawing/2014/main" id="{151E66BC-4388-F19F-E5D5-9ADDB11506F3}"/>
              </a:ext>
            </a:extLst>
          </p:cNvPr>
          <p:cNvSpPr>
            <a:spLocks noGrp="1"/>
          </p:cNvSpPr>
          <p:nvPr>
            <p:ph type="title"/>
          </p:nvPr>
        </p:nvSpPr>
        <p:spPr/>
        <p:txBody>
          <a:bodyPr/>
          <a:lstStyle/>
          <a:p>
            <a:r>
              <a:rPr lang="en-US" noProof="0" dirty="0"/>
              <a:t>Measuring the Utility of a “Bad Seat”</a:t>
            </a:r>
          </a:p>
        </p:txBody>
      </p:sp>
      <p:sp>
        <p:nvSpPr>
          <p:cNvPr id="4" name="Slide Number Placeholder 3">
            <a:extLst>
              <a:ext uri="{FF2B5EF4-FFF2-40B4-BE49-F238E27FC236}">
                <a16:creationId xmlns:a16="http://schemas.microsoft.com/office/drawing/2014/main" id="{0BA89F1D-0211-4B79-2A0F-8647404822D2}"/>
              </a:ext>
            </a:extLst>
          </p:cNvPr>
          <p:cNvSpPr>
            <a:spLocks noGrp="1"/>
          </p:cNvSpPr>
          <p:nvPr>
            <p:ph type="sldNum" sz="quarter" idx="4"/>
          </p:nvPr>
        </p:nvSpPr>
        <p:spPr/>
        <p:txBody>
          <a:bodyPr/>
          <a:lstStyle/>
          <a:p>
            <a:fld id="{B5CEABB6-07DC-46E8-9B57-56EC44A396E5}" type="slidenum">
              <a:rPr lang="en-US" noProof="0" smtClean="0"/>
              <a:pPr/>
              <a:t>40</a:t>
            </a:fld>
            <a:endParaRPr lang="en-US" noProof="0" dirty="0"/>
          </a:p>
        </p:txBody>
      </p:sp>
      <p:sp>
        <p:nvSpPr>
          <p:cNvPr id="5" name="Table Placeholder 4">
            <a:extLst>
              <a:ext uri="{FF2B5EF4-FFF2-40B4-BE49-F238E27FC236}">
                <a16:creationId xmlns:a16="http://schemas.microsoft.com/office/drawing/2014/main" id="{C853E61A-1654-7809-623F-9A341FF90131}"/>
              </a:ext>
            </a:extLst>
          </p:cNvPr>
          <p:cNvSpPr>
            <a:spLocks noGrp="1"/>
          </p:cNvSpPr>
          <p:nvPr>
            <p:ph type="tbl" sz="quarter" idx="11"/>
          </p:nvPr>
        </p:nvSpPr>
        <p:spPr>
          <a:xfrm>
            <a:off x="467139" y="1093305"/>
            <a:ext cx="11258636" cy="735496"/>
          </a:xfrm>
        </p:spPr>
        <p:txBody>
          <a:bodyPr/>
          <a:lstStyle/>
          <a:p>
            <a:r>
              <a:rPr lang="en-US" dirty="0"/>
              <a:t>Please r</a:t>
            </a:r>
            <a:r>
              <a:rPr lang="en-US" noProof="0" dirty="0" err="1"/>
              <a:t>aise</a:t>
            </a:r>
            <a:r>
              <a:rPr lang="en-US" noProof="0" dirty="0"/>
              <a:t> your hand when you feel indifferent with varying P.</a:t>
            </a:r>
          </a:p>
        </p:txBody>
      </p:sp>
      <p:pic>
        <p:nvPicPr>
          <p:cNvPr id="13" name="Picture 12" descr="A black background with a black square&#10;&#10;AI-generated content may be incorrect.">
            <a:extLst>
              <a:ext uri="{FF2B5EF4-FFF2-40B4-BE49-F238E27FC236}">
                <a16:creationId xmlns:a16="http://schemas.microsoft.com/office/drawing/2014/main" id="{F83FF8F5-025B-40BD-EDAC-A2DD56CE508C}"/>
              </a:ext>
            </a:extLst>
          </p:cNvPr>
          <p:cNvPicPr>
            <a:picLocks noChangeAspect="1"/>
          </p:cNvPicPr>
          <p:nvPr/>
        </p:nvPicPr>
        <p:blipFill>
          <a:blip r:embed="rId3"/>
          <a:stretch>
            <a:fillRect/>
          </a:stretch>
        </p:blipFill>
        <p:spPr>
          <a:xfrm>
            <a:off x="9655395" y="2727826"/>
            <a:ext cx="1709076" cy="1709076"/>
          </a:xfrm>
          <a:prstGeom prst="rect">
            <a:avLst/>
          </a:prstGeom>
        </p:spPr>
      </p:pic>
      <p:pic>
        <p:nvPicPr>
          <p:cNvPr id="15" name="Picture 14" descr="A black background with a black square&#10;&#10;AI-generated content may be incorrect.">
            <a:extLst>
              <a:ext uri="{FF2B5EF4-FFF2-40B4-BE49-F238E27FC236}">
                <a16:creationId xmlns:a16="http://schemas.microsoft.com/office/drawing/2014/main" id="{E11C3AFC-1E79-58A2-D774-E11A76828383}"/>
              </a:ext>
            </a:extLst>
          </p:cNvPr>
          <p:cNvPicPr>
            <a:picLocks noChangeAspect="1"/>
          </p:cNvPicPr>
          <p:nvPr/>
        </p:nvPicPr>
        <p:blipFill>
          <a:blip r:embed="rId4"/>
          <a:stretch>
            <a:fillRect/>
          </a:stretch>
        </p:blipFill>
        <p:spPr>
          <a:xfrm>
            <a:off x="6414168" y="4047559"/>
            <a:ext cx="1061482" cy="1061482"/>
          </a:xfrm>
          <a:prstGeom prst="rect">
            <a:avLst/>
          </a:prstGeom>
        </p:spPr>
      </p:pic>
      <p:pic>
        <p:nvPicPr>
          <p:cNvPr id="19" name="Picture 18" descr="A black background with a black square&#10;&#10;AI-generated content may be incorrect.">
            <a:extLst>
              <a:ext uri="{FF2B5EF4-FFF2-40B4-BE49-F238E27FC236}">
                <a16:creationId xmlns:a16="http://schemas.microsoft.com/office/drawing/2014/main" id="{5BA791F2-AE4D-64C9-F52D-28E1A97F6E01}"/>
              </a:ext>
            </a:extLst>
          </p:cNvPr>
          <p:cNvPicPr>
            <a:picLocks noChangeAspect="1"/>
          </p:cNvPicPr>
          <p:nvPr/>
        </p:nvPicPr>
        <p:blipFill>
          <a:blip r:embed="rId5"/>
          <a:stretch>
            <a:fillRect/>
          </a:stretch>
        </p:blipFill>
        <p:spPr>
          <a:xfrm>
            <a:off x="7419849" y="2893307"/>
            <a:ext cx="1412459" cy="1412459"/>
          </a:xfrm>
          <a:prstGeom prst="rect">
            <a:avLst/>
          </a:prstGeom>
        </p:spPr>
      </p:pic>
      <p:grpSp>
        <p:nvGrpSpPr>
          <p:cNvPr id="23" name="Group 22">
            <a:extLst>
              <a:ext uri="{FF2B5EF4-FFF2-40B4-BE49-F238E27FC236}">
                <a16:creationId xmlns:a16="http://schemas.microsoft.com/office/drawing/2014/main" id="{C636C44C-D5F8-9757-B74B-2A9FF48319C6}"/>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58065953-0EC4-127A-2AE1-8CCE43BF75DE}"/>
                </a:ext>
              </a:extLst>
            </p:cNvPr>
            <p:cNvPicPr>
              <a:picLocks noChangeAspect="1"/>
            </p:cNvPicPr>
            <p:nvPr/>
          </p:nvPicPr>
          <p:blipFill>
            <a:blip r:embed="rId6"/>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AF1FFAC3-4D24-2251-4CAC-A3F3BBA71237}"/>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grpSp>
        <p:nvGrpSpPr>
          <p:cNvPr id="30" name="Group 29">
            <a:extLst>
              <a:ext uri="{FF2B5EF4-FFF2-40B4-BE49-F238E27FC236}">
                <a16:creationId xmlns:a16="http://schemas.microsoft.com/office/drawing/2014/main" id="{4C04E01A-331E-AF29-210B-ECF925AF7841}"/>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EE390F2A-16AE-319D-B697-E22BE856DAD9}"/>
                </a:ext>
              </a:extLst>
            </p:cNvPr>
            <p:cNvPicPr>
              <a:picLocks noChangeAspect="1"/>
            </p:cNvPicPr>
            <p:nvPr/>
          </p:nvPicPr>
          <p:blipFill>
            <a:blip r:embed="rId7"/>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35D8F733-240A-4D74-C209-4C85E3ACD2D3}"/>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9" name="Rectangle 28">
              <a:extLst>
                <a:ext uri="{FF2B5EF4-FFF2-40B4-BE49-F238E27FC236}">
                  <a16:creationId xmlns:a16="http://schemas.microsoft.com/office/drawing/2014/main" id="{325AF994-2584-C7E2-7ED1-79B3AAECCAA3}"/>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cxnSp>
        <p:nvCxnSpPr>
          <p:cNvPr id="34" name="Straight Connector 33">
            <a:extLst>
              <a:ext uri="{FF2B5EF4-FFF2-40B4-BE49-F238E27FC236}">
                <a16:creationId xmlns:a16="http://schemas.microsoft.com/office/drawing/2014/main" id="{A2667396-473E-A767-7A9B-7EC5F6045672}"/>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4880B376-8054-D52D-4B85-ED8F5C85A2CA}"/>
              </a:ext>
            </a:extLst>
          </p:cNvPr>
          <p:cNvSpPr txBox="1"/>
          <p:nvPr/>
        </p:nvSpPr>
        <p:spPr>
          <a:xfrm>
            <a:off x="6218963"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No flight</a:t>
            </a:r>
          </a:p>
        </p:txBody>
      </p:sp>
      <p:sp>
        <p:nvSpPr>
          <p:cNvPr id="36" name="TextBox 35">
            <a:extLst>
              <a:ext uri="{FF2B5EF4-FFF2-40B4-BE49-F238E27FC236}">
                <a16:creationId xmlns:a16="http://schemas.microsoft.com/office/drawing/2014/main" id="{DB2CE944-E865-FC11-2DD9-8BA8F5F15352}"/>
              </a:ext>
            </a:extLst>
          </p:cNvPr>
          <p:cNvSpPr txBox="1"/>
          <p:nvPr/>
        </p:nvSpPr>
        <p:spPr>
          <a:xfrm>
            <a:off x="9041765"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First Class</a:t>
            </a:r>
          </a:p>
        </p:txBody>
      </p:sp>
      <p:sp>
        <p:nvSpPr>
          <p:cNvPr id="37" name="Rectangle 36">
            <a:extLst>
              <a:ext uri="{FF2B5EF4-FFF2-40B4-BE49-F238E27FC236}">
                <a16:creationId xmlns:a16="http://schemas.microsoft.com/office/drawing/2014/main" id="{BE43BB9E-A0A3-A096-F6B0-85C4CBD8A9D9}"/>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I am indifferent between the bad seat and the lottery</a:t>
            </a:r>
          </a:p>
        </p:txBody>
      </p:sp>
      <p:sp>
        <p:nvSpPr>
          <p:cNvPr id="38" name="Thought Bubble: Cloud 37">
            <a:extLst>
              <a:ext uri="{FF2B5EF4-FFF2-40B4-BE49-F238E27FC236}">
                <a16:creationId xmlns:a16="http://schemas.microsoft.com/office/drawing/2014/main" id="{60AC68F4-E57C-ACE8-5A4B-F180FD27C3D5}"/>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40" name="Thought Bubble: Cloud 39">
            <a:extLst>
              <a:ext uri="{FF2B5EF4-FFF2-40B4-BE49-F238E27FC236}">
                <a16:creationId xmlns:a16="http://schemas.microsoft.com/office/drawing/2014/main" id="{CD0ABD49-5D40-BDE0-9A13-C85F7C220FF3}"/>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3" name="TextBox 2">
            <a:extLst>
              <a:ext uri="{FF2B5EF4-FFF2-40B4-BE49-F238E27FC236}">
                <a16:creationId xmlns:a16="http://schemas.microsoft.com/office/drawing/2014/main" id="{1D5C8312-7C9A-2330-5834-E644B1A24262}"/>
              </a:ext>
            </a:extLst>
          </p:cNvPr>
          <p:cNvSpPr txBox="1"/>
          <p:nvPr/>
        </p:nvSpPr>
        <p:spPr>
          <a:xfrm>
            <a:off x="9608079" y="4853154"/>
            <a:ext cx="2103120" cy="492443"/>
          </a:xfrm>
          <a:prstGeom prst="rect">
            <a:avLst/>
          </a:prstGeom>
          <a:noFill/>
        </p:spPr>
        <p:txBody>
          <a:bodyPr wrap="square" lIns="0" tIns="0" rIns="0" bIns="0">
            <a:spAutoFit/>
          </a:bodyPr>
          <a:lstStyle/>
          <a:p>
            <a:pPr algn="r"/>
            <a:r>
              <a:rPr lang="en-US" sz="3200" b="1" dirty="0">
                <a:latin typeface="Arial" panose="020B0604020202020204" pitchFamily="34" charset="0"/>
                <a:ea typeface="Meiryo" panose="020B0604030504040204" pitchFamily="34" charset="-128"/>
                <a:cs typeface="Arial" panose="020B0604020202020204" pitchFamily="34" charset="0"/>
              </a:rPr>
              <a:t>70</a:t>
            </a:r>
            <a:r>
              <a:rPr lang="en-US" sz="3200" b="1" noProof="0" dirty="0">
                <a:latin typeface="Arial" panose="020B0604020202020204" pitchFamily="34" charset="0"/>
                <a:ea typeface="Meiryo" panose="020B0604030504040204" pitchFamily="34" charset="-128"/>
                <a:cs typeface="Arial" panose="020B0604020202020204" pitchFamily="34" charset="0"/>
              </a:rPr>
              <a:t>％</a:t>
            </a:r>
          </a:p>
        </p:txBody>
      </p:sp>
      <p:sp>
        <p:nvSpPr>
          <p:cNvPr id="6" name="TextBox 5">
            <a:extLst>
              <a:ext uri="{FF2B5EF4-FFF2-40B4-BE49-F238E27FC236}">
                <a16:creationId xmlns:a16="http://schemas.microsoft.com/office/drawing/2014/main" id="{65C6B6BC-4B2A-64DF-F7F2-4233287C08A3}"/>
              </a:ext>
            </a:extLst>
          </p:cNvPr>
          <p:cNvSpPr txBox="1"/>
          <p:nvPr/>
        </p:nvSpPr>
        <p:spPr>
          <a:xfrm>
            <a:off x="7233785" y="4853154"/>
            <a:ext cx="1721445" cy="492443"/>
          </a:xfrm>
          <a:prstGeom prst="rect">
            <a:avLst/>
          </a:prstGeom>
          <a:noFill/>
        </p:spPr>
        <p:txBody>
          <a:bodyPr wrap="square" lIns="0" tIns="0" rIns="0" bIns="0">
            <a:spAutoFit/>
          </a:bodyPr>
          <a:lstStyle/>
          <a:p>
            <a:pPr algn="r"/>
            <a:r>
              <a:rPr lang="en-US" sz="3200" b="1" dirty="0">
                <a:latin typeface="Arial" panose="020B0604020202020204" pitchFamily="34" charset="0"/>
                <a:ea typeface="Meiryo" panose="020B0604030504040204" pitchFamily="34" charset="-128"/>
                <a:cs typeface="Arial" panose="020B0604020202020204" pitchFamily="34" charset="0"/>
              </a:rPr>
              <a:t>30</a:t>
            </a:r>
            <a:r>
              <a:rPr lang="en-US" sz="3200" b="1" noProof="0" dirty="0">
                <a:latin typeface="Arial" panose="020B0604020202020204" pitchFamily="34" charset="0"/>
                <a:ea typeface="Meiryo" panose="020B0604030504040204" pitchFamily="34" charset="-128"/>
                <a:cs typeface="Arial" panose="020B0604020202020204" pitchFamily="34" charset="0"/>
              </a:rPr>
              <a:t>％</a:t>
            </a:r>
          </a:p>
        </p:txBody>
      </p:sp>
      <p:grpSp>
        <p:nvGrpSpPr>
          <p:cNvPr id="7" name="Group 6">
            <a:extLst>
              <a:ext uri="{FF2B5EF4-FFF2-40B4-BE49-F238E27FC236}">
                <a16:creationId xmlns:a16="http://schemas.microsoft.com/office/drawing/2014/main" id="{D751029D-DF58-188D-B16C-6932B1E759CE}"/>
              </a:ext>
            </a:extLst>
          </p:cNvPr>
          <p:cNvGrpSpPr/>
          <p:nvPr/>
        </p:nvGrpSpPr>
        <p:grpSpPr>
          <a:xfrm>
            <a:off x="467139" y="108959"/>
            <a:ext cx="4197304" cy="307297"/>
            <a:chOff x="562270" y="127168"/>
            <a:chExt cx="4197304" cy="307297"/>
          </a:xfrm>
        </p:grpSpPr>
        <p:sp>
          <p:nvSpPr>
            <p:cNvPr id="9" name="Arrow: Pentagon 8">
              <a:extLst>
                <a:ext uri="{FF2B5EF4-FFF2-40B4-BE49-F238E27FC236}">
                  <a16:creationId xmlns:a16="http://schemas.microsoft.com/office/drawing/2014/main" id="{3539E020-83AF-FD0D-6177-386B700391AE}"/>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4" name="Arrow: Pentagon 13">
              <a:extLst>
                <a:ext uri="{FF2B5EF4-FFF2-40B4-BE49-F238E27FC236}">
                  <a16:creationId xmlns:a16="http://schemas.microsoft.com/office/drawing/2014/main" id="{6B3C9CD9-4F29-D5AD-F575-55A2D538C7C0}"/>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6" name="Arrow: Pentagon 15">
              <a:extLst>
                <a:ext uri="{FF2B5EF4-FFF2-40B4-BE49-F238E27FC236}">
                  <a16:creationId xmlns:a16="http://schemas.microsoft.com/office/drawing/2014/main" id="{079942CE-6249-823A-62DC-39990B4FC100}"/>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11977284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58994-77DA-6A72-73C2-C9E487DBB9FC}"/>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A60B1107-332E-323E-0BAD-6ACAB290A7CD}"/>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Lottery</a:t>
            </a:r>
          </a:p>
        </p:txBody>
      </p:sp>
      <p:sp>
        <p:nvSpPr>
          <p:cNvPr id="31" name="Rectangle 30">
            <a:extLst>
              <a:ext uri="{FF2B5EF4-FFF2-40B4-BE49-F238E27FC236}">
                <a16:creationId xmlns:a16="http://schemas.microsoft.com/office/drawing/2014/main" id="{F7896F01-D8BE-0093-AFE8-56EA2682E4D1}"/>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“Bad seat”</a:t>
            </a:r>
          </a:p>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(Broken screen, Seat does not recline, No power outlet)</a:t>
            </a:r>
          </a:p>
        </p:txBody>
      </p:sp>
      <p:sp>
        <p:nvSpPr>
          <p:cNvPr id="2" name="Title 1">
            <a:extLst>
              <a:ext uri="{FF2B5EF4-FFF2-40B4-BE49-F238E27FC236}">
                <a16:creationId xmlns:a16="http://schemas.microsoft.com/office/drawing/2014/main" id="{7FE01AFE-E8A2-11FF-AB61-4A0708818B6E}"/>
              </a:ext>
            </a:extLst>
          </p:cNvPr>
          <p:cNvSpPr>
            <a:spLocks noGrp="1"/>
          </p:cNvSpPr>
          <p:nvPr>
            <p:ph type="title"/>
          </p:nvPr>
        </p:nvSpPr>
        <p:spPr/>
        <p:txBody>
          <a:bodyPr/>
          <a:lstStyle/>
          <a:p>
            <a:r>
              <a:rPr lang="en-US" noProof="0" dirty="0"/>
              <a:t>Measuring the Utility of a “Bad Seat”</a:t>
            </a:r>
          </a:p>
        </p:txBody>
      </p:sp>
      <p:sp>
        <p:nvSpPr>
          <p:cNvPr id="4" name="Slide Number Placeholder 3">
            <a:extLst>
              <a:ext uri="{FF2B5EF4-FFF2-40B4-BE49-F238E27FC236}">
                <a16:creationId xmlns:a16="http://schemas.microsoft.com/office/drawing/2014/main" id="{4009B7C8-E220-A49F-25A0-C1D326484B45}"/>
              </a:ext>
            </a:extLst>
          </p:cNvPr>
          <p:cNvSpPr>
            <a:spLocks noGrp="1"/>
          </p:cNvSpPr>
          <p:nvPr>
            <p:ph type="sldNum" sz="quarter" idx="4"/>
          </p:nvPr>
        </p:nvSpPr>
        <p:spPr/>
        <p:txBody>
          <a:bodyPr/>
          <a:lstStyle/>
          <a:p>
            <a:fld id="{B5CEABB6-07DC-46E8-9B57-56EC44A396E5}" type="slidenum">
              <a:rPr lang="en-US" noProof="0" smtClean="0"/>
              <a:pPr/>
              <a:t>41</a:t>
            </a:fld>
            <a:endParaRPr lang="en-US" noProof="0" dirty="0"/>
          </a:p>
        </p:txBody>
      </p:sp>
      <p:sp>
        <p:nvSpPr>
          <p:cNvPr id="5" name="Table Placeholder 4">
            <a:extLst>
              <a:ext uri="{FF2B5EF4-FFF2-40B4-BE49-F238E27FC236}">
                <a16:creationId xmlns:a16="http://schemas.microsoft.com/office/drawing/2014/main" id="{1D8B89CD-F44B-C457-FEA6-3E494F7B15C0}"/>
              </a:ext>
            </a:extLst>
          </p:cNvPr>
          <p:cNvSpPr>
            <a:spLocks noGrp="1"/>
          </p:cNvSpPr>
          <p:nvPr>
            <p:ph type="tbl" sz="quarter" idx="11"/>
          </p:nvPr>
        </p:nvSpPr>
        <p:spPr>
          <a:xfrm>
            <a:off x="467139" y="1093305"/>
            <a:ext cx="11258636" cy="735496"/>
          </a:xfrm>
        </p:spPr>
        <p:txBody>
          <a:bodyPr/>
          <a:lstStyle/>
          <a:p>
            <a:r>
              <a:rPr lang="en-US" dirty="0"/>
              <a:t>Please r</a:t>
            </a:r>
            <a:r>
              <a:rPr lang="en-US" noProof="0" dirty="0" err="1"/>
              <a:t>aise</a:t>
            </a:r>
            <a:r>
              <a:rPr lang="en-US" noProof="0" dirty="0"/>
              <a:t> your hand when you feel indifferent with varying P.</a:t>
            </a:r>
          </a:p>
        </p:txBody>
      </p:sp>
      <p:pic>
        <p:nvPicPr>
          <p:cNvPr id="13" name="Picture 12" descr="A black background with a black square&#10;&#10;AI-generated content may be incorrect.">
            <a:extLst>
              <a:ext uri="{FF2B5EF4-FFF2-40B4-BE49-F238E27FC236}">
                <a16:creationId xmlns:a16="http://schemas.microsoft.com/office/drawing/2014/main" id="{B3B7E986-E51A-D0E6-7480-70D2E99EB68C}"/>
              </a:ext>
            </a:extLst>
          </p:cNvPr>
          <p:cNvPicPr>
            <a:picLocks noChangeAspect="1"/>
          </p:cNvPicPr>
          <p:nvPr/>
        </p:nvPicPr>
        <p:blipFill>
          <a:blip r:embed="rId3"/>
          <a:stretch>
            <a:fillRect/>
          </a:stretch>
        </p:blipFill>
        <p:spPr>
          <a:xfrm>
            <a:off x="9655395" y="2727826"/>
            <a:ext cx="1709076" cy="1709076"/>
          </a:xfrm>
          <a:prstGeom prst="rect">
            <a:avLst/>
          </a:prstGeom>
        </p:spPr>
      </p:pic>
      <p:pic>
        <p:nvPicPr>
          <p:cNvPr id="15" name="Picture 14" descr="A black background with a black square&#10;&#10;AI-generated content may be incorrect.">
            <a:extLst>
              <a:ext uri="{FF2B5EF4-FFF2-40B4-BE49-F238E27FC236}">
                <a16:creationId xmlns:a16="http://schemas.microsoft.com/office/drawing/2014/main" id="{8EF07315-BC4D-9158-ED43-ABB88A484921}"/>
              </a:ext>
            </a:extLst>
          </p:cNvPr>
          <p:cNvPicPr>
            <a:picLocks noChangeAspect="1"/>
          </p:cNvPicPr>
          <p:nvPr/>
        </p:nvPicPr>
        <p:blipFill>
          <a:blip r:embed="rId4"/>
          <a:stretch>
            <a:fillRect/>
          </a:stretch>
        </p:blipFill>
        <p:spPr>
          <a:xfrm>
            <a:off x="6414168" y="4047559"/>
            <a:ext cx="1061482" cy="1061482"/>
          </a:xfrm>
          <a:prstGeom prst="rect">
            <a:avLst/>
          </a:prstGeom>
        </p:spPr>
      </p:pic>
      <p:pic>
        <p:nvPicPr>
          <p:cNvPr id="19" name="Picture 18" descr="A black background with a black square&#10;&#10;AI-generated content may be incorrect.">
            <a:extLst>
              <a:ext uri="{FF2B5EF4-FFF2-40B4-BE49-F238E27FC236}">
                <a16:creationId xmlns:a16="http://schemas.microsoft.com/office/drawing/2014/main" id="{18429666-8808-3EF8-7A99-81A1A1D657B1}"/>
              </a:ext>
            </a:extLst>
          </p:cNvPr>
          <p:cNvPicPr>
            <a:picLocks noChangeAspect="1"/>
          </p:cNvPicPr>
          <p:nvPr/>
        </p:nvPicPr>
        <p:blipFill>
          <a:blip r:embed="rId5"/>
          <a:stretch>
            <a:fillRect/>
          </a:stretch>
        </p:blipFill>
        <p:spPr>
          <a:xfrm>
            <a:off x="7419849" y="2893307"/>
            <a:ext cx="1412459" cy="1412459"/>
          </a:xfrm>
          <a:prstGeom prst="rect">
            <a:avLst/>
          </a:prstGeom>
        </p:spPr>
      </p:pic>
      <p:grpSp>
        <p:nvGrpSpPr>
          <p:cNvPr id="23" name="Group 22">
            <a:extLst>
              <a:ext uri="{FF2B5EF4-FFF2-40B4-BE49-F238E27FC236}">
                <a16:creationId xmlns:a16="http://schemas.microsoft.com/office/drawing/2014/main" id="{BB79ECF0-8063-CCE6-567E-9C942B5D336E}"/>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A8246861-004E-1BFD-40A9-58369947F9C9}"/>
                </a:ext>
              </a:extLst>
            </p:cNvPr>
            <p:cNvPicPr>
              <a:picLocks noChangeAspect="1"/>
            </p:cNvPicPr>
            <p:nvPr/>
          </p:nvPicPr>
          <p:blipFill>
            <a:blip r:embed="rId6"/>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005E934B-0A35-19D6-CAE4-91AF0C3A28F5}"/>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grpSp>
        <p:nvGrpSpPr>
          <p:cNvPr id="30" name="Group 29">
            <a:extLst>
              <a:ext uri="{FF2B5EF4-FFF2-40B4-BE49-F238E27FC236}">
                <a16:creationId xmlns:a16="http://schemas.microsoft.com/office/drawing/2014/main" id="{87AC56BA-DA59-A805-8BE9-F72E788662BA}"/>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A24FA8F2-16AD-48C8-B086-9599597353FC}"/>
                </a:ext>
              </a:extLst>
            </p:cNvPr>
            <p:cNvPicPr>
              <a:picLocks noChangeAspect="1"/>
            </p:cNvPicPr>
            <p:nvPr/>
          </p:nvPicPr>
          <p:blipFill>
            <a:blip r:embed="rId7"/>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3B52ABFD-9651-DAB3-67A9-6978FE7AABD8}"/>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9" name="Rectangle 28">
              <a:extLst>
                <a:ext uri="{FF2B5EF4-FFF2-40B4-BE49-F238E27FC236}">
                  <a16:creationId xmlns:a16="http://schemas.microsoft.com/office/drawing/2014/main" id="{C1617D85-E566-5CD4-FF34-2F0F0F5D3637}"/>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cxnSp>
        <p:nvCxnSpPr>
          <p:cNvPr id="34" name="Straight Connector 33">
            <a:extLst>
              <a:ext uri="{FF2B5EF4-FFF2-40B4-BE49-F238E27FC236}">
                <a16:creationId xmlns:a16="http://schemas.microsoft.com/office/drawing/2014/main" id="{7745D13B-E5DF-FB2C-E9F7-3573F54AF09A}"/>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C69E0113-4DD3-BC2A-47AE-3C5F4D9C87C2}"/>
              </a:ext>
            </a:extLst>
          </p:cNvPr>
          <p:cNvSpPr txBox="1"/>
          <p:nvPr/>
        </p:nvSpPr>
        <p:spPr>
          <a:xfrm>
            <a:off x="6218963"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No flight</a:t>
            </a:r>
          </a:p>
        </p:txBody>
      </p:sp>
      <p:sp>
        <p:nvSpPr>
          <p:cNvPr id="36" name="TextBox 35">
            <a:extLst>
              <a:ext uri="{FF2B5EF4-FFF2-40B4-BE49-F238E27FC236}">
                <a16:creationId xmlns:a16="http://schemas.microsoft.com/office/drawing/2014/main" id="{E0D97B02-FF0E-DFE0-5E65-EC0E8AC5BC5C}"/>
              </a:ext>
            </a:extLst>
          </p:cNvPr>
          <p:cNvSpPr txBox="1"/>
          <p:nvPr/>
        </p:nvSpPr>
        <p:spPr>
          <a:xfrm>
            <a:off x="9041765"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First Class</a:t>
            </a:r>
          </a:p>
        </p:txBody>
      </p:sp>
      <p:sp>
        <p:nvSpPr>
          <p:cNvPr id="37" name="Rectangle 36">
            <a:extLst>
              <a:ext uri="{FF2B5EF4-FFF2-40B4-BE49-F238E27FC236}">
                <a16:creationId xmlns:a16="http://schemas.microsoft.com/office/drawing/2014/main" id="{EC209635-C893-037F-9719-AC966FD6E685}"/>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I am indifferent between the bad seat and the lottery</a:t>
            </a:r>
          </a:p>
        </p:txBody>
      </p:sp>
      <p:sp>
        <p:nvSpPr>
          <p:cNvPr id="38" name="Thought Bubble: Cloud 37">
            <a:extLst>
              <a:ext uri="{FF2B5EF4-FFF2-40B4-BE49-F238E27FC236}">
                <a16:creationId xmlns:a16="http://schemas.microsoft.com/office/drawing/2014/main" id="{EB5FED98-3913-333A-A6EF-78665A2A3B40}"/>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40" name="Thought Bubble: Cloud 39">
            <a:extLst>
              <a:ext uri="{FF2B5EF4-FFF2-40B4-BE49-F238E27FC236}">
                <a16:creationId xmlns:a16="http://schemas.microsoft.com/office/drawing/2014/main" id="{4982185F-39ED-4743-CB2D-3C75BE0F08F9}"/>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3" name="TextBox 2">
            <a:extLst>
              <a:ext uri="{FF2B5EF4-FFF2-40B4-BE49-F238E27FC236}">
                <a16:creationId xmlns:a16="http://schemas.microsoft.com/office/drawing/2014/main" id="{9F7F8680-1D50-2098-B9E2-900168E9F83E}"/>
              </a:ext>
            </a:extLst>
          </p:cNvPr>
          <p:cNvSpPr txBox="1"/>
          <p:nvPr/>
        </p:nvSpPr>
        <p:spPr>
          <a:xfrm>
            <a:off x="9608079" y="4853154"/>
            <a:ext cx="2103120" cy="492443"/>
          </a:xfrm>
          <a:prstGeom prst="rect">
            <a:avLst/>
          </a:prstGeom>
          <a:noFill/>
        </p:spPr>
        <p:txBody>
          <a:bodyPr wrap="square" lIns="0" tIns="0" rIns="0" bIns="0">
            <a:spAutoFit/>
          </a:bodyPr>
          <a:lstStyle/>
          <a:p>
            <a:pPr algn="r"/>
            <a:r>
              <a:rPr lang="en-US" sz="3200" b="1" dirty="0">
                <a:latin typeface="Arial" panose="020B0604020202020204" pitchFamily="34" charset="0"/>
                <a:ea typeface="Meiryo" panose="020B0604030504040204" pitchFamily="34" charset="-128"/>
                <a:cs typeface="Arial" panose="020B0604020202020204" pitchFamily="34" charset="0"/>
              </a:rPr>
              <a:t>60</a:t>
            </a:r>
            <a:r>
              <a:rPr lang="en-US" sz="3200" b="1" noProof="0" dirty="0">
                <a:latin typeface="Arial" panose="020B0604020202020204" pitchFamily="34" charset="0"/>
                <a:ea typeface="Meiryo" panose="020B0604030504040204" pitchFamily="34" charset="-128"/>
                <a:cs typeface="Arial" panose="020B0604020202020204" pitchFamily="34" charset="0"/>
              </a:rPr>
              <a:t>％</a:t>
            </a:r>
          </a:p>
        </p:txBody>
      </p:sp>
      <p:sp>
        <p:nvSpPr>
          <p:cNvPr id="6" name="TextBox 5">
            <a:extLst>
              <a:ext uri="{FF2B5EF4-FFF2-40B4-BE49-F238E27FC236}">
                <a16:creationId xmlns:a16="http://schemas.microsoft.com/office/drawing/2014/main" id="{D6A7ED60-EC8F-4496-7059-9DE73019F09F}"/>
              </a:ext>
            </a:extLst>
          </p:cNvPr>
          <p:cNvSpPr txBox="1"/>
          <p:nvPr/>
        </p:nvSpPr>
        <p:spPr>
          <a:xfrm>
            <a:off x="7233785" y="4853154"/>
            <a:ext cx="1721445" cy="492443"/>
          </a:xfrm>
          <a:prstGeom prst="rect">
            <a:avLst/>
          </a:prstGeom>
          <a:noFill/>
        </p:spPr>
        <p:txBody>
          <a:bodyPr wrap="square" lIns="0" tIns="0" rIns="0" bIns="0">
            <a:spAutoFit/>
          </a:bodyPr>
          <a:lstStyle/>
          <a:p>
            <a:pPr algn="r"/>
            <a:r>
              <a:rPr lang="en-US" sz="3200" b="1" dirty="0">
                <a:latin typeface="Arial" panose="020B0604020202020204" pitchFamily="34" charset="0"/>
                <a:ea typeface="Meiryo" panose="020B0604030504040204" pitchFamily="34" charset="-128"/>
                <a:cs typeface="Arial" panose="020B0604020202020204" pitchFamily="34" charset="0"/>
              </a:rPr>
              <a:t>40</a:t>
            </a:r>
            <a:r>
              <a:rPr lang="en-US" sz="3200" b="1" noProof="0" dirty="0">
                <a:latin typeface="Arial" panose="020B0604020202020204" pitchFamily="34" charset="0"/>
                <a:ea typeface="Meiryo" panose="020B0604030504040204" pitchFamily="34" charset="-128"/>
                <a:cs typeface="Arial" panose="020B0604020202020204" pitchFamily="34" charset="0"/>
              </a:rPr>
              <a:t>％</a:t>
            </a:r>
          </a:p>
        </p:txBody>
      </p:sp>
      <p:grpSp>
        <p:nvGrpSpPr>
          <p:cNvPr id="7" name="Group 6">
            <a:extLst>
              <a:ext uri="{FF2B5EF4-FFF2-40B4-BE49-F238E27FC236}">
                <a16:creationId xmlns:a16="http://schemas.microsoft.com/office/drawing/2014/main" id="{362BBC82-E938-E6F0-4269-1988A90517C0}"/>
              </a:ext>
            </a:extLst>
          </p:cNvPr>
          <p:cNvGrpSpPr/>
          <p:nvPr/>
        </p:nvGrpSpPr>
        <p:grpSpPr>
          <a:xfrm>
            <a:off x="467139" y="108959"/>
            <a:ext cx="4197304" cy="307297"/>
            <a:chOff x="562270" y="127168"/>
            <a:chExt cx="4197304" cy="307297"/>
          </a:xfrm>
        </p:grpSpPr>
        <p:sp>
          <p:nvSpPr>
            <p:cNvPr id="9" name="Arrow: Pentagon 8">
              <a:extLst>
                <a:ext uri="{FF2B5EF4-FFF2-40B4-BE49-F238E27FC236}">
                  <a16:creationId xmlns:a16="http://schemas.microsoft.com/office/drawing/2014/main" id="{457171E0-63A9-F790-A1FD-D0C710ECB927}"/>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4" name="Arrow: Pentagon 13">
              <a:extLst>
                <a:ext uri="{FF2B5EF4-FFF2-40B4-BE49-F238E27FC236}">
                  <a16:creationId xmlns:a16="http://schemas.microsoft.com/office/drawing/2014/main" id="{A51F9797-B6B6-7A02-41B0-824E95CC5144}"/>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6" name="Arrow: Pentagon 15">
              <a:extLst>
                <a:ext uri="{FF2B5EF4-FFF2-40B4-BE49-F238E27FC236}">
                  <a16:creationId xmlns:a16="http://schemas.microsoft.com/office/drawing/2014/main" id="{BDDD3640-34F9-C364-F977-68FF95D00F36}"/>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28267981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497B9-90C5-8085-32F7-05B5476266C6}"/>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46145988-E92E-809E-5E26-D71B7A56EE56}"/>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Lottery</a:t>
            </a:r>
          </a:p>
        </p:txBody>
      </p:sp>
      <p:sp>
        <p:nvSpPr>
          <p:cNvPr id="31" name="Rectangle 30">
            <a:extLst>
              <a:ext uri="{FF2B5EF4-FFF2-40B4-BE49-F238E27FC236}">
                <a16:creationId xmlns:a16="http://schemas.microsoft.com/office/drawing/2014/main" id="{38DC3764-43D1-A476-7888-A096289B3526}"/>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“Bad seat”</a:t>
            </a:r>
          </a:p>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(Broken screen, Seat does not recline, No power outlet)</a:t>
            </a:r>
          </a:p>
        </p:txBody>
      </p:sp>
      <p:sp>
        <p:nvSpPr>
          <p:cNvPr id="2" name="Title 1">
            <a:extLst>
              <a:ext uri="{FF2B5EF4-FFF2-40B4-BE49-F238E27FC236}">
                <a16:creationId xmlns:a16="http://schemas.microsoft.com/office/drawing/2014/main" id="{8027C301-119B-4737-984F-8EDA8083DACC}"/>
              </a:ext>
            </a:extLst>
          </p:cNvPr>
          <p:cNvSpPr>
            <a:spLocks noGrp="1"/>
          </p:cNvSpPr>
          <p:nvPr>
            <p:ph type="title"/>
          </p:nvPr>
        </p:nvSpPr>
        <p:spPr/>
        <p:txBody>
          <a:bodyPr/>
          <a:lstStyle/>
          <a:p>
            <a:r>
              <a:rPr lang="en-US" noProof="0" dirty="0"/>
              <a:t>Measuring the Utility of a “Bad Seat”</a:t>
            </a:r>
          </a:p>
        </p:txBody>
      </p:sp>
      <p:sp>
        <p:nvSpPr>
          <p:cNvPr id="4" name="Slide Number Placeholder 3">
            <a:extLst>
              <a:ext uri="{FF2B5EF4-FFF2-40B4-BE49-F238E27FC236}">
                <a16:creationId xmlns:a16="http://schemas.microsoft.com/office/drawing/2014/main" id="{03B11FBD-766B-CBA8-411A-810B138ADA6F}"/>
              </a:ext>
            </a:extLst>
          </p:cNvPr>
          <p:cNvSpPr>
            <a:spLocks noGrp="1"/>
          </p:cNvSpPr>
          <p:nvPr>
            <p:ph type="sldNum" sz="quarter" idx="4"/>
          </p:nvPr>
        </p:nvSpPr>
        <p:spPr/>
        <p:txBody>
          <a:bodyPr/>
          <a:lstStyle/>
          <a:p>
            <a:fld id="{B5CEABB6-07DC-46E8-9B57-56EC44A396E5}" type="slidenum">
              <a:rPr lang="en-US" noProof="0" smtClean="0"/>
              <a:pPr/>
              <a:t>42</a:t>
            </a:fld>
            <a:endParaRPr lang="en-US" noProof="0" dirty="0"/>
          </a:p>
        </p:txBody>
      </p:sp>
      <p:sp>
        <p:nvSpPr>
          <p:cNvPr id="5" name="Table Placeholder 4">
            <a:extLst>
              <a:ext uri="{FF2B5EF4-FFF2-40B4-BE49-F238E27FC236}">
                <a16:creationId xmlns:a16="http://schemas.microsoft.com/office/drawing/2014/main" id="{C6A899D9-FC96-C2A2-E704-EF2A364E5408}"/>
              </a:ext>
            </a:extLst>
          </p:cNvPr>
          <p:cNvSpPr>
            <a:spLocks noGrp="1"/>
          </p:cNvSpPr>
          <p:nvPr>
            <p:ph type="tbl" sz="quarter" idx="11"/>
          </p:nvPr>
        </p:nvSpPr>
        <p:spPr>
          <a:xfrm>
            <a:off x="467139" y="1093305"/>
            <a:ext cx="11258636" cy="735496"/>
          </a:xfrm>
        </p:spPr>
        <p:txBody>
          <a:bodyPr/>
          <a:lstStyle/>
          <a:p>
            <a:r>
              <a:rPr lang="en-US" dirty="0"/>
              <a:t>Please r</a:t>
            </a:r>
            <a:r>
              <a:rPr lang="en-US" noProof="0" dirty="0" err="1"/>
              <a:t>aise</a:t>
            </a:r>
            <a:r>
              <a:rPr lang="en-US" noProof="0" dirty="0"/>
              <a:t> your hand when you feel indifferent with varying P.</a:t>
            </a:r>
          </a:p>
        </p:txBody>
      </p:sp>
      <p:pic>
        <p:nvPicPr>
          <p:cNvPr id="13" name="Picture 12" descr="A black background with a black square&#10;&#10;AI-generated content may be incorrect.">
            <a:extLst>
              <a:ext uri="{FF2B5EF4-FFF2-40B4-BE49-F238E27FC236}">
                <a16:creationId xmlns:a16="http://schemas.microsoft.com/office/drawing/2014/main" id="{60C68DCF-9461-24BE-8456-B0C8DB9905DD}"/>
              </a:ext>
            </a:extLst>
          </p:cNvPr>
          <p:cNvPicPr>
            <a:picLocks noChangeAspect="1"/>
          </p:cNvPicPr>
          <p:nvPr/>
        </p:nvPicPr>
        <p:blipFill>
          <a:blip r:embed="rId3"/>
          <a:stretch>
            <a:fillRect/>
          </a:stretch>
        </p:blipFill>
        <p:spPr>
          <a:xfrm>
            <a:off x="9655395" y="2727826"/>
            <a:ext cx="1709076" cy="1709076"/>
          </a:xfrm>
          <a:prstGeom prst="rect">
            <a:avLst/>
          </a:prstGeom>
        </p:spPr>
      </p:pic>
      <p:pic>
        <p:nvPicPr>
          <p:cNvPr id="15" name="Picture 14" descr="A black background with a black square&#10;&#10;AI-generated content may be incorrect.">
            <a:extLst>
              <a:ext uri="{FF2B5EF4-FFF2-40B4-BE49-F238E27FC236}">
                <a16:creationId xmlns:a16="http://schemas.microsoft.com/office/drawing/2014/main" id="{3657F6C6-E59A-8350-EE41-98851F626FAE}"/>
              </a:ext>
            </a:extLst>
          </p:cNvPr>
          <p:cNvPicPr>
            <a:picLocks noChangeAspect="1"/>
          </p:cNvPicPr>
          <p:nvPr/>
        </p:nvPicPr>
        <p:blipFill>
          <a:blip r:embed="rId4"/>
          <a:stretch>
            <a:fillRect/>
          </a:stretch>
        </p:blipFill>
        <p:spPr>
          <a:xfrm>
            <a:off x="6414168" y="4047559"/>
            <a:ext cx="1061482" cy="1061482"/>
          </a:xfrm>
          <a:prstGeom prst="rect">
            <a:avLst/>
          </a:prstGeom>
        </p:spPr>
      </p:pic>
      <p:pic>
        <p:nvPicPr>
          <p:cNvPr id="19" name="Picture 18" descr="A black background with a black square&#10;&#10;AI-generated content may be incorrect.">
            <a:extLst>
              <a:ext uri="{FF2B5EF4-FFF2-40B4-BE49-F238E27FC236}">
                <a16:creationId xmlns:a16="http://schemas.microsoft.com/office/drawing/2014/main" id="{B6F9D845-6A7E-6DF5-EEE0-ABBA3FE08D67}"/>
              </a:ext>
            </a:extLst>
          </p:cNvPr>
          <p:cNvPicPr>
            <a:picLocks noChangeAspect="1"/>
          </p:cNvPicPr>
          <p:nvPr/>
        </p:nvPicPr>
        <p:blipFill>
          <a:blip r:embed="rId5"/>
          <a:stretch>
            <a:fillRect/>
          </a:stretch>
        </p:blipFill>
        <p:spPr>
          <a:xfrm>
            <a:off x="7419849" y="2893307"/>
            <a:ext cx="1412459" cy="1412459"/>
          </a:xfrm>
          <a:prstGeom prst="rect">
            <a:avLst/>
          </a:prstGeom>
        </p:spPr>
      </p:pic>
      <p:grpSp>
        <p:nvGrpSpPr>
          <p:cNvPr id="23" name="Group 22">
            <a:extLst>
              <a:ext uri="{FF2B5EF4-FFF2-40B4-BE49-F238E27FC236}">
                <a16:creationId xmlns:a16="http://schemas.microsoft.com/office/drawing/2014/main" id="{D274D67F-3617-0862-CDBA-2873E86B6A72}"/>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D16FEE2E-E943-2157-6B98-A05E00BE7020}"/>
                </a:ext>
              </a:extLst>
            </p:cNvPr>
            <p:cNvPicPr>
              <a:picLocks noChangeAspect="1"/>
            </p:cNvPicPr>
            <p:nvPr/>
          </p:nvPicPr>
          <p:blipFill>
            <a:blip r:embed="rId6"/>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E2C3B8B8-C481-9DF0-E6DF-DCF24F1A32D5}"/>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grpSp>
        <p:nvGrpSpPr>
          <p:cNvPr id="30" name="Group 29">
            <a:extLst>
              <a:ext uri="{FF2B5EF4-FFF2-40B4-BE49-F238E27FC236}">
                <a16:creationId xmlns:a16="http://schemas.microsoft.com/office/drawing/2014/main" id="{459501B6-49C5-3D0A-D52A-11F916A320AA}"/>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83CAC809-8508-1A35-26FC-7F71E280EB10}"/>
                </a:ext>
              </a:extLst>
            </p:cNvPr>
            <p:cNvPicPr>
              <a:picLocks noChangeAspect="1"/>
            </p:cNvPicPr>
            <p:nvPr/>
          </p:nvPicPr>
          <p:blipFill>
            <a:blip r:embed="rId7"/>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3D03A981-E074-26CF-A37E-420AE4DC676D}"/>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9" name="Rectangle 28">
              <a:extLst>
                <a:ext uri="{FF2B5EF4-FFF2-40B4-BE49-F238E27FC236}">
                  <a16:creationId xmlns:a16="http://schemas.microsoft.com/office/drawing/2014/main" id="{C07AF486-FED5-42C5-8EE1-028FB23C9AFB}"/>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cxnSp>
        <p:nvCxnSpPr>
          <p:cNvPr id="34" name="Straight Connector 33">
            <a:extLst>
              <a:ext uri="{FF2B5EF4-FFF2-40B4-BE49-F238E27FC236}">
                <a16:creationId xmlns:a16="http://schemas.microsoft.com/office/drawing/2014/main" id="{F0C5CF8A-87E1-76E9-E76B-2E926AF0466F}"/>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4230E1AC-D9A6-083B-BAE9-6F53BEF73FC0}"/>
              </a:ext>
            </a:extLst>
          </p:cNvPr>
          <p:cNvSpPr txBox="1"/>
          <p:nvPr/>
        </p:nvSpPr>
        <p:spPr>
          <a:xfrm>
            <a:off x="6218963"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No flight</a:t>
            </a:r>
          </a:p>
        </p:txBody>
      </p:sp>
      <p:sp>
        <p:nvSpPr>
          <p:cNvPr id="36" name="TextBox 35">
            <a:extLst>
              <a:ext uri="{FF2B5EF4-FFF2-40B4-BE49-F238E27FC236}">
                <a16:creationId xmlns:a16="http://schemas.microsoft.com/office/drawing/2014/main" id="{2E4FD786-641C-8EA9-FC96-A8C75D0512F2}"/>
              </a:ext>
            </a:extLst>
          </p:cNvPr>
          <p:cNvSpPr txBox="1"/>
          <p:nvPr/>
        </p:nvSpPr>
        <p:spPr>
          <a:xfrm>
            <a:off x="9041765"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First Class</a:t>
            </a:r>
          </a:p>
        </p:txBody>
      </p:sp>
      <p:sp>
        <p:nvSpPr>
          <p:cNvPr id="37" name="Rectangle 36">
            <a:extLst>
              <a:ext uri="{FF2B5EF4-FFF2-40B4-BE49-F238E27FC236}">
                <a16:creationId xmlns:a16="http://schemas.microsoft.com/office/drawing/2014/main" id="{E34C9207-858D-21F3-82C3-749E5B31A320}"/>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I am indifferent between the bad seat and the lottery</a:t>
            </a:r>
          </a:p>
        </p:txBody>
      </p:sp>
      <p:sp>
        <p:nvSpPr>
          <p:cNvPr id="38" name="Thought Bubble: Cloud 37">
            <a:extLst>
              <a:ext uri="{FF2B5EF4-FFF2-40B4-BE49-F238E27FC236}">
                <a16:creationId xmlns:a16="http://schemas.microsoft.com/office/drawing/2014/main" id="{B637FEC3-BCDA-959E-00C2-13D8E1F91732}"/>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40" name="Thought Bubble: Cloud 39">
            <a:extLst>
              <a:ext uri="{FF2B5EF4-FFF2-40B4-BE49-F238E27FC236}">
                <a16:creationId xmlns:a16="http://schemas.microsoft.com/office/drawing/2014/main" id="{D5A55E18-EADB-6F84-AD0E-2DF104D3E359}"/>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3" name="TextBox 2">
            <a:extLst>
              <a:ext uri="{FF2B5EF4-FFF2-40B4-BE49-F238E27FC236}">
                <a16:creationId xmlns:a16="http://schemas.microsoft.com/office/drawing/2014/main" id="{6DA8AA9B-80A8-17C4-987F-D2A50E93852E}"/>
              </a:ext>
            </a:extLst>
          </p:cNvPr>
          <p:cNvSpPr txBox="1"/>
          <p:nvPr/>
        </p:nvSpPr>
        <p:spPr>
          <a:xfrm>
            <a:off x="9608079" y="4853154"/>
            <a:ext cx="2103120" cy="492443"/>
          </a:xfrm>
          <a:prstGeom prst="rect">
            <a:avLst/>
          </a:prstGeom>
          <a:noFill/>
        </p:spPr>
        <p:txBody>
          <a:bodyPr wrap="square" lIns="0" tIns="0" rIns="0" bIns="0">
            <a:spAutoFit/>
          </a:bodyPr>
          <a:lstStyle/>
          <a:p>
            <a:pPr algn="r"/>
            <a:r>
              <a:rPr lang="en-US" sz="3200" b="1" dirty="0">
                <a:latin typeface="Arial" panose="020B0604020202020204" pitchFamily="34" charset="0"/>
                <a:ea typeface="Meiryo" panose="020B0604030504040204" pitchFamily="34" charset="-128"/>
                <a:cs typeface="Arial" panose="020B0604020202020204" pitchFamily="34" charset="0"/>
              </a:rPr>
              <a:t>50</a:t>
            </a:r>
            <a:r>
              <a:rPr lang="en-US" sz="3200" b="1" noProof="0" dirty="0">
                <a:latin typeface="Arial" panose="020B0604020202020204" pitchFamily="34" charset="0"/>
                <a:ea typeface="Meiryo" panose="020B0604030504040204" pitchFamily="34" charset="-128"/>
                <a:cs typeface="Arial" panose="020B0604020202020204" pitchFamily="34" charset="0"/>
              </a:rPr>
              <a:t>％</a:t>
            </a:r>
          </a:p>
        </p:txBody>
      </p:sp>
      <p:sp>
        <p:nvSpPr>
          <p:cNvPr id="6" name="TextBox 5">
            <a:extLst>
              <a:ext uri="{FF2B5EF4-FFF2-40B4-BE49-F238E27FC236}">
                <a16:creationId xmlns:a16="http://schemas.microsoft.com/office/drawing/2014/main" id="{DA06F2E6-8816-4A0F-83F2-78796491A979}"/>
              </a:ext>
            </a:extLst>
          </p:cNvPr>
          <p:cNvSpPr txBox="1"/>
          <p:nvPr/>
        </p:nvSpPr>
        <p:spPr>
          <a:xfrm>
            <a:off x="7233785" y="4853154"/>
            <a:ext cx="1721445" cy="492443"/>
          </a:xfrm>
          <a:prstGeom prst="rect">
            <a:avLst/>
          </a:prstGeom>
          <a:noFill/>
        </p:spPr>
        <p:txBody>
          <a:bodyPr wrap="square" lIns="0" tIns="0" rIns="0" bIns="0">
            <a:spAutoFit/>
          </a:bodyPr>
          <a:lstStyle/>
          <a:p>
            <a:pPr algn="r"/>
            <a:r>
              <a:rPr lang="en-US" sz="3200" b="1" dirty="0">
                <a:latin typeface="Arial" panose="020B0604020202020204" pitchFamily="34" charset="0"/>
                <a:ea typeface="Meiryo" panose="020B0604030504040204" pitchFamily="34" charset="-128"/>
                <a:cs typeface="Arial" panose="020B0604020202020204" pitchFamily="34" charset="0"/>
              </a:rPr>
              <a:t>50</a:t>
            </a:r>
            <a:r>
              <a:rPr lang="en-US" sz="3200" b="1" noProof="0" dirty="0">
                <a:latin typeface="Arial" panose="020B0604020202020204" pitchFamily="34" charset="0"/>
                <a:ea typeface="Meiryo" panose="020B0604030504040204" pitchFamily="34" charset="-128"/>
                <a:cs typeface="Arial" panose="020B0604020202020204" pitchFamily="34" charset="0"/>
              </a:rPr>
              <a:t>％</a:t>
            </a:r>
          </a:p>
        </p:txBody>
      </p:sp>
      <p:grpSp>
        <p:nvGrpSpPr>
          <p:cNvPr id="7" name="Group 6">
            <a:extLst>
              <a:ext uri="{FF2B5EF4-FFF2-40B4-BE49-F238E27FC236}">
                <a16:creationId xmlns:a16="http://schemas.microsoft.com/office/drawing/2014/main" id="{D02C60A8-BD53-AD4C-BCE6-C830072DA231}"/>
              </a:ext>
            </a:extLst>
          </p:cNvPr>
          <p:cNvGrpSpPr/>
          <p:nvPr/>
        </p:nvGrpSpPr>
        <p:grpSpPr>
          <a:xfrm>
            <a:off x="467139" y="108959"/>
            <a:ext cx="4197304" cy="307297"/>
            <a:chOff x="562270" y="127168"/>
            <a:chExt cx="4197304" cy="307297"/>
          </a:xfrm>
        </p:grpSpPr>
        <p:sp>
          <p:nvSpPr>
            <p:cNvPr id="9" name="Arrow: Pentagon 8">
              <a:extLst>
                <a:ext uri="{FF2B5EF4-FFF2-40B4-BE49-F238E27FC236}">
                  <a16:creationId xmlns:a16="http://schemas.microsoft.com/office/drawing/2014/main" id="{6A62F123-CCD0-9A69-ACE5-63242E4E8578}"/>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4" name="Arrow: Pentagon 13">
              <a:extLst>
                <a:ext uri="{FF2B5EF4-FFF2-40B4-BE49-F238E27FC236}">
                  <a16:creationId xmlns:a16="http://schemas.microsoft.com/office/drawing/2014/main" id="{F606A8A3-BC2A-F591-91E1-EF7990B9B07C}"/>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6" name="Arrow: Pentagon 15">
              <a:extLst>
                <a:ext uri="{FF2B5EF4-FFF2-40B4-BE49-F238E27FC236}">
                  <a16:creationId xmlns:a16="http://schemas.microsoft.com/office/drawing/2014/main" id="{674BC65D-9E25-FADB-FC41-C145ADD8F0E2}"/>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27048974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AD217-E949-3931-054A-8815E2A04D13}"/>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2ADDA913-F7E4-C3B8-C5A4-519002CADE10}"/>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Lottery</a:t>
            </a:r>
          </a:p>
        </p:txBody>
      </p:sp>
      <p:sp>
        <p:nvSpPr>
          <p:cNvPr id="31" name="Rectangle 30">
            <a:extLst>
              <a:ext uri="{FF2B5EF4-FFF2-40B4-BE49-F238E27FC236}">
                <a16:creationId xmlns:a16="http://schemas.microsoft.com/office/drawing/2014/main" id="{02808D30-3E59-9F19-C6E1-BEF540F6C45E}"/>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“Bad seat”</a:t>
            </a:r>
          </a:p>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(Broken screen, Seat does not recline, No power outlet)</a:t>
            </a:r>
          </a:p>
        </p:txBody>
      </p:sp>
      <p:sp>
        <p:nvSpPr>
          <p:cNvPr id="2" name="Title 1">
            <a:extLst>
              <a:ext uri="{FF2B5EF4-FFF2-40B4-BE49-F238E27FC236}">
                <a16:creationId xmlns:a16="http://schemas.microsoft.com/office/drawing/2014/main" id="{D9B4DD45-CFDF-4DE2-5C05-A67CA51919AA}"/>
              </a:ext>
            </a:extLst>
          </p:cNvPr>
          <p:cNvSpPr>
            <a:spLocks noGrp="1"/>
          </p:cNvSpPr>
          <p:nvPr>
            <p:ph type="title"/>
          </p:nvPr>
        </p:nvSpPr>
        <p:spPr/>
        <p:txBody>
          <a:bodyPr/>
          <a:lstStyle/>
          <a:p>
            <a:r>
              <a:rPr lang="en-US" noProof="0" dirty="0"/>
              <a:t>Measuring the Utility of a “Bad Seat”</a:t>
            </a:r>
          </a:p>
        </p:txBody>
      </p:sp>
      <p:sp>
        <p:nvSpPr>
          <p:cNvPr id="4" name="Slide Number Placeholder 3">
            <a:extLst>
              <a:ext uri="{FF2B5EF4-FFF2-40B4-BE49-F238E27FC236}">
                <a16:creationId xmlns:a16="http://schemas.microsoft.com/office/drawing/2014/main" id="{F1F3C79D-A8AE-7D5E-07A4-684D96172DB6}"/>
              </a:ext>
            </a:extLst>
          </p:cNvPr>
          <p:cNvSpPr>
            <a:spLocks noGrp="1"/>
          </p:cNvSpPr>
          <p:nvPr>
            <p:ph type="sldNum" sz="quarter" idx="4"/>
          </p:nvPr>
        </p:nvSpPr>
        <p:spPr/>
        <p:txBody>
          <a:bodyPr/>
          <a:lstStyle/>
          <a:p>
            <a:fld id="{B5CEABB6-07DC-46E8-9B57-56EC44A396E5}" type="slidenum">
              <a:rPr lang="en-US" noProof="0" smtClean="0"/>
              <a:pPr/>
              <a:t>43</a:t>
            </a:fld>
            <a:endParaRPr lang="en-US" noProof="0" dirty="0"/>
          </a:p>
        </p:txBody>
      </p:sp>
      <p:sp>
        <p:nvSpPr>
          <p:cNvPr id="5" name="Table Placeholder 4">
            <a:extLst>
              <a:ext uri="{FF2B5EF4-FFF2-40B4-BE49-F238E27FC236}">
                <a16:creationId xmlns:a16="http://schemas.microsoft.com/office/drawing/2014/main" id="{235B63F6-FF49-79A6-4F60-952FC095B6AB}"/>
              </a:ext>
            </a:extLst>
          </p:cNvPr>
          <p:cNvSpPr>
            <a:spLocks noGrp="1"/>
          </p:cNvSpPr>
          <p:nvPr>
            <p:ph type="tbl" sz="quarter" idx="11"/>
          </p:nvPr>
        </p:nvSpPr>
        <p:spPr>
          <a:xfrm>
            <a:off x="467139" y="1093305"/>
            <a:ext cx="11258636" cy="735496"/>
          </a:xfrm>
        </p:spPr>
        <p:txBody>
          <a:bodyPr/>
          <a:lstStyle/>
          <a:p>
            <a:r>
              <a:rPr lang="en-US" dirty="0"/>
              <a:t>Please r</a:t>
            </a:r>
            <a:r>
              <a:rPr lang="en-US" noProof="0" dirty="0" err="1"/>
              <a:t>aise</a:t>
            </a:r>
            <a:r>
              <a:rPr lang="en-US" noProof="0" dirty="0"/>
              <a:t> your hand when you feel indifferent with varying P.</a:t>
            </a:r>
          </a:p>
        </p:txBody>
      </p:sp>
      <p:pic>
        <p:nvPicPr>
          <p:cNvPr id="13" name="Picture 12" descr="A black background with a black square&#10;&#10;AI-generated content may be incorrect.">
            <a:extLst>
              <a:ext uri="{FF2B5EF4-FFF2-40B4-BE49-F238E27FC236}">
                <a16:creationId xmlns:a16="http://schemas.microsoft.com/office/drawing/2014/main" id="{7B47C38C-D8A1-A29E-20AF-D7DA0A009398}"/>
              </a:ext>
            </a:extLst>
          </p:cNvPr>
          <p:cNvPicPr>
            <a:picLocks noChangeAspect="1"/>
          </p:cNvPicPr>
          <p:nvPr/>
        </p:nvPicPr>
        <p:blipFill>
          <a:blip r:embed="rId3"/>
          <a:stretch>
            <a:fillRect/>
          </a:stretch>
        </p:blipFill>
        <p:spPr>
          <a:xfrm>
            <a:off x="9655395" y="2727826"/>
            <a:ext cx="1709076" cy="1709076"/>
          </a:xfrm>
          <a:prstGeom prst="rect">
            <a:avLst/>
          </a:prstGeom>
        </p:spPr>
      </p:pic>
      <p:pic>
        <p:nvPicPr>
          <p:cNvPr id="15" name="Picture 14" descr="A black background with a black square&#10;&#10;AI-generated content may be incorrect.">
            <a:extLst>
              <a:ext uri="{FF2B5EF4-FFF2-40B4-BE49-F238E27FC236}">
                <a16:creationId xmlns:a16="http://schemas.microsoft.com/office/drawing/2014/main" id="{079F01BE-3C1D-DAC5-7074-F8B514805A3D}"/>
              </a:ext>
            </a:extLst>
          </p:cNvPr>
          <p:cNvPicPr>
            <a:picLocks noChangeAspect="1"/>
          </p:cNvPicPr>
          <p:nvPr/>
        </p:nvPicPr>
        <p:blipFill>
          <a:blip r:embed="rId4"/>
          <a:stretch>
            <a:fillRect/>
          </a:stretch>
        </p:blipFill>
        <p:spPr>
          <a:xfrm>
            <a:off x="6414168" y="4047559"/>
            <a:ext cx="1061482" cy="1061482"/>
          </a:xfrm>
          <a:prstGeom prst="rect">
            <a:avLst/>
          </a:prstGeom>
        </p:spPr>
      </p:pic>
      <p:pic>
        <p:nvPicPr>
          <p:cNvPr id="19" name="Picture 18" descr="A black background with a black square&#10;&#10;AI-generated content may be incorrect.">
            <a:extLst>
              <a:ext uri="{FF2B5EF4-FFF2-40B4-BE49-F238E27FC236}">
                <a16:creationId xmlns:a16="http://schemas.microsoft.com/office/drawing/2014/main" id="{EC8E0990-9826-2853-F2F0-4A16D94946CF}"/>
              </a:ext>
            </a:extLst>
          </p:cNvPr>
          <p:cNvPicPr>
            <a:picLocks noChangeAspect="1"/>
          </p:cNvPicPr>
          <p:nvPr/>
        </p:nvPicPr>
        <p:blipFill>
          <a:blip r:embed="rId5"/>
          <a:stretch>
            <a:fillRect/>
          </a:stretch>
        </p:blipFill>
        <p:spPr>
          <a:xfrm>
            <a:off x="7419849" y="2893307"/>
            <a:ext cx="1412459" cy="1412459"/>
          </a:xfrm>
          <a:prstGeom prst="rect">
            <a:avLst/>
          </a:prstGeom>
        </p:spPr>
      </p:pic>
      <p:grpSp>
        <p:nvGrpSpPr>
          <p:cNvPr id="23" name="Group 22">
            <a:extLst>
              <a:ext uri="{FF2B5EF4-FFF2-40B4-BE49-F238E27FC236}">
                <a16:creationId xmlns:a16="http://schemas.microsoft.com/office/drawing/2014/main" id="{69FB94C2-F22F-5117-2413-189F1D79052D}"/>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9E6B3B43-4033-297E-C0CC-A272AFFC1D9C}"/>
                </a:ext>
              </a:extLst>
            </p:cNvPr>
            <p:cNvPicPr>
              <a:picLocks noChangeAspect="1"/>
            </p:cNvPicPr>
            <p:nvPr/>
          </p:nvPicPr>
          <p:blipFill>
            <a:blip r:embed="rId6"/>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6E894ECB-F095-8129-9BCD-62AC28794E68}"/>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grpSp>
        <p:nvGrpSpPr>
          <p:cNvPr id="30" name="Group 29">
            <a:extLst>
              <a:ext uri="{FF2B5EF4-FFF2-40B4-BE49-F238E27FC236}">
                <a16:creationId xmlns:a16="http://schemas.microsoft.com/office/drawing/2014/main" id="{E7DAE894-4EAE-8F85-2061-5AE21CC50EAE}"/>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93843DF8-00A6-7D0E-3789-967EEE4BBF27}"/>
                </a:ext>
              </a:extLst>
            </p:cNvPr>
            <p:cNvPicPr>
              <a:picLocks noChangeAspect="1"/>
            </p:cNvPicPr>
            <p:nvPr/>
          </p:nvPicPr>
          <p:blipFill>
            <a:blip r:embed="rId7"/>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08895D10-9AF7-B8F0-997D-2E3E97F03376}"/>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9" name="Rectangle 28">
              <a:extLst>
                <a:ext uri="{FF2B5EF4-FFF2-40B4-BE49-F238E27FC236}">
                  <a16:creationId xmlns:a16="http://schemas.microsoft.com/office/drawing/2014/main" id="{95882FCE-E285-88C8-440A-48149738E85C}"/>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cxnSp>
        <p:nvCxnSpPr>
          <p:cNvPr id="34" name="Straight Connector 33">
            <a:extLst>
              <a:ext uri="{FF2B5EF4-FFF2-40B4-BE49-F238E27FC236}">
                <a16:creationId xmlns:a16="http://schemas.microsoft.com/office/drawing/2014/main" id="{A3213E00-A8D8-D990-473C-4F42FB8A1682}"/>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BCF673F4-7129-4A50-0281-A7D0D5AD6BC2}"/>
              </a:ext>
            </a:extLst>
          </p:cNvPr>
          <p:cNvSpPr txBox="1"/>
          <p:nvPr/>
        </p:nvSpPr>
        <p:spPr>
          <a:xfrm>
            <a:off x="6218963"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No flight</a:t>
            </a:r>
          </a:p>
        </p:txBody>
      </p:sp>
      <p:sp>
        <p:nvSpPr>
          <p:cNvPr id="36" name="TextBox 35">
            <a:extLst>
              <a:ext uri="{FF2B5EF4-FFF2-40B4-BE49-F238E27FC236}">
                <a16:creationId xmlns:a16="http://schemas.microsoft.com/office/drawing/2014/main" id="{7F23F651-372B-48F7-66EE-31AEAAE5A1EF}"/>
              </a:ext>
            </a:extLst>
          </p:cNvPr>
          <p:cNvSpPr txBox="1"/>
          <p:nvPr/>
        </p:nvSpPr>
        <p:spPr>
          <a:xfrm>
            <a:off x="9041765"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First Class</a:t>
            </a:r>
          </a:p>
        </p:txBody>
      </p:sp>
      <p:sp>
        <p:nvSpPr>
          <p:cNvPr id="37" name="Rectangle 36">
            <a:extLst>
              <a:ext uri="{FF2B5EF4-FFF2-40B4-BE49-F238E27FC236}">
                <a16:creationId xmlns:a16="http://schemas.microsoft.com/office/drawing/2014/main" id="{C70FEC6D-5E7C-4A62-74EA-9C285B5BB653}"/>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I am indifferent between the bad seat and the lottery</a:t>
            </a:r>
          </a:p>
        </p:txBody>
      </p:sp>
      <p:sp>
        <p:nvSpPr>
          <p:cNvPr id="38" name="Thought Bubble: Cloud 37">
            <a:extLst>
              <a:ext uri="{FF2B5EF4-FFF2-40B4-BE49-F238E27FC236}">
                <a16:creationId xmlns:a16="http://schemas.microsoft.com/office/drawing/2014/main" id="{10E522B3-EDB2-3BEE-68AC-9B7A0A4348AC}"/>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40" name="Thought Bubble: Cloud 39">
            <a:extLst>
              <a:ext uri="{FF2B5EF4-FFF2-40B4-BE49-F238E27FC236}">
                <a16:creationId xmlns:a16="http://schemas.microsoft.com/office/drawing/2014/main" id="{C4B91D08-A86C-4B05-A93A-0175D6F8FE7B}"/>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3" name="TextBox 2">
            <a:extLst>
              <a:ext uri="{FF2B5EF4-FFF2-40B4-BE49-F238E27FC236}">
                <a16:creationId xmlns:a16="http://schemas.microsoft.com/office/drawing/2014/main" id="{C1A78F4E-8890-514A-27EA-5CC9D42D260E}"/>
              </a:ext>
            </a:extLst>
          </p:cNvPr>
          <p:cNvSpPr txBox="1"/>
          <p:nvPr/>
        </p:nvSpPr>
        <p:spPr>
          <a:xfrm>
            <a:off x="9608079" y="4853154"/>
            <a:ext cx="2103120" cy="492443"/>
          </a:xfrm>
          <a:prstGeom prst="rect">
            <a:avLst/>
          </a:prstGeom>
          <a:noFill/>
        </p:spPr>
        <p:txBody>
          <a:bodyPr wrap="square" lIns="0" tIns="0" rIns="0" bIns="0">
            <a:spAutoFit/>
          </a:bodyPr>
          <a:lstStyle/>
          <a:p>
            <a:pPr algn="r"/>
            <a:r>
              <a:rPr lang="en-US" sz="3200" b="1" dirty="0">
                <a:latin typeface="Arial" panose="020B0604020202020204" pitchFamily="34" charset="0"/>
                <a:ea typeface="Meiryo" panose="020B0604030504040204" pitchFamily="34" charset="-128"/>
                <a:cs typeface="Arial" panose="020B0604020202020204" pitchFamily="34" charset="0"/>
              </a:rPr>
              <a:t>40</a:t>
            </a:r>
            <a:r>
              <a:rPr lang="en-US" sz="3200" b="1" noProof="0" dirty="0">
                <a:latin typeface="Arial" panose="020B0604020202020204" pitchFamily="34" charset="0"/>
                <a:ea typeface="Meiryo" panose="020B0604030504040204" pitchFamily="34" charset="-128"/>
                <a:cs typeface="Arial" panose="020B0604020202020204" pitchFamily="34" charset="0"/>
              </a:rPr>
              <a:t>％</a:t>
            </a:r>
          </a:p>
        </p:txBody>
      </p:sp>
      <p:sp>
        <p:nvSpPr>
          <p:cNvPr id="6" name="TextBox 5">
            <a:extLst>
              <a:ext uri="{FF2B5EF4-FFF2-40B4-BE49-F238E27FC236}">
                <a16:creationId xmlns:a16="http://schemas.microsoft.com/office/drawing/2014/main" id="{2FDE4A48-251A-5F77-CAE7-D3A62CA6C0E1}"/>
              </a:ext>
            </a:extLst>
          </p:cNvPr>
          <p:cNvSpPr txBox="1"/>
          <p:nvPr/>
        </p:nvSpPr>
        <p:spPr>
          <a:xfrm>
            <a:off x="7233785" y="4853154"/>
            <a:ext cx="1721445" cy="492443"/>
          </a:xfrm>
          <a:prstGeom prst="rect">
            <a:avLst/>
          </a:prstGeom>
          <a:noFill/>
        </p:spPr>
        <p:txBody>
          <a:bodyPr wrap="square" lIns="0" tIns="0" rIns="0" bIns="0">
            <a:spAutoFit/>
          </a:bodyPr>
          <a:lstStyle/>
          <a:p>
            <a:pPr algn="r"/>
            <a:r>
              <a:rPr lang="en-US" sz="3200" b="1" dirty="0">
                <a:latin typeface="Arial" panose="020B0604020202020204" pitchFamily="34" charset="0"/>
                <a:ea typeface="Meiryo" panose="020B0604030504040204" pitchFamily="34" charset="-128"/>
                <a:cs typeface="Arial" panose="020B0604020202020204" pitchFamily="34" charset="0"/>
              </a:rPr>
              <a:t>60</a:t>
            </a:r>
            <a:r>
              <a:rPr lang="en-US" sz="3200" b="1" noProof="0" dirty="0">
                <a:latin typeface="Arial" panose="020B0604020202020204" pitchFamily="34" charset="0"/>
                <a:ea typeface="Meiryo" panose="020B0604030504040204" pitchFamily="34" charset="-128"/>
                <a:cs typeface="Arial" panose="020B0604020202020204" pitchFamily="34" charset="0"/>
              </a:rPr>
              <a:t>％</a:t>
            </a:r>
          </a:p>
        </p:txBody>
      </p:sp>
      <p:grpSp>
        <p:nvGrpSpPr>
          <p:cNvPr id="7" name="Group 6">
            <a:extLst>
              <a:ext uri="{FF2B5EF4-FFF2-40B4-BE49-F238E27FC236}">
                <a16:creationId xmlns:a16="http://schemas.microsoft.com/office/drawing/2014/main" id="{562A67A5-CADD-27FF-1A5F-2DC6C17861F9}"/>
              </a:ext>
            </a:extLst>
          </p:cNvPr>
          <p:cNvGrpSpPr/>
          <p:nvPr/>
        </p:nvGrpSpPr>
        <p:grpSpPr>
          <a:xfrm>
            <a:off x="467139" y="108959"/>
            <a:ext cx="4197304" cy="307297"/>
            <a:chOff x="562270" y="127168"/>
            <a:chExt cx="4197304" cy="307297"/>
          </a:xfrm>
        </p:grpSpPr>
        <p:sp>
          <p:nvSpPr>
            <p:cNvPr id="9" name="Arrow: Pentagon 8">
              <a:extLst>
                <a:ext uri="{FF2B5EF4-FFF2-40B4-BE49-F238E27FC236}">
                  <a16:creationId xmlns:a16="http://schemas.microsoft.com/office/drawing/2014/main" id="{181AD9F4-CC25-0122-D960-9B5BCE4B549B}"/>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4" name="Arrow: Pentagon 13">
              <a:extLst>
                <a:ext uri="{FF2B5EF4-FFF2-40B4-BE49-F238E27FC236}">
                  <a16:creationId xmlns:a16="http://schemas.microsoft.com/office/drawing/2014/main" id="{40A4DF53-9056-B9F1-3145-E46C0E4A6C23}"/>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6" name="Arrow: Pentagon 15">
              <a:extLst>
                <a:ext uri="{FF2B5EF4-FFF2-40B4-BE49-F238E27FC236}">
                  <a16:creationId xmlns:a16="http://schemas.microsoft.com/office/drawing/2014/main" id="{952F3105-2FD9-3A18-BE8C-0808867541CD}"/>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8760999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5C6CE-0D60-40A1-15BE-11596E41A814}"/>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2C6FB719-2255-FE29-D1E9-9719C7B49EA7}"/>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Lottery</a:t>
            </a:r>
          </a:p>
        </p:txBody>
      </p:sp>
      <p:sp>
        <p:nvSpPr>
          <p:cNvPr id="31" name="Rectangle 30">
            <a:extLst>
              <a:ext uri="{FF2B5EF4-FFF2-40B4-BE49-F238E27FC236}">
                <a16:creationId xmlns:a16="http://schemas.microsoft.com/office/drawing/2014/main" id="{85E895EC-071E-91C4-17E0-B366B1515CA0}"/>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“Bad seat”</a:t>
            </a:r>
          </a:p>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(Broken screen, Seat does not recline, No power outlet)</a:t>
            </a:r>
          </a:p>
        </p:txBody>
      </p:sp>
      <p:sp>
        <p:nvSpPr>
          <p:cNvPr id="2" name="Title 1">
            <a:extLst>
              <a:ext uri="{FF2B5EF4-FFF2-40B4-BE49-F238E27FC236}">
                <a16:creationId xmlns:a16="http://schemas.microsoft.com/office/drawing/2014/main" id="{02631B52-8C91-8111-FC7A-2E90E138A114}"/>
              </a:ext>
            </a:extLst>
          </p:cNvPr>
          <p:cNvSpPr>
            <a:spLocks noGrp="1"/>
          </p:cNvSpPr>
          <p:nvPr>
            <p:ph type="title"/>
          </p:nvPr>
        </p:nvSpPr>
        <p:spPr/>
        <p:txBody>
          <a:bodyPr/>
          <a:lstStyle/>
          <a:p>
            <a:r>
              <a:rPr lang="en-US" noProof="0" dirty="0"/>
              <a:t>Measuring the Utility of a “Bad Seat”</a:t>
            </a:r>
          </a:p>
        </p:txBody>
      </p:sp>
      <p:sp>
        <p:nvSpPr>
          <p:cNvPr id="4" name="Slide Number Placeholder 3">
            <a:extLst>
              <a:ext uri="{FF2B5EF4-FFF2-40B4-BE49-F238E27FC236}">
                <a16:creationId xmlns:a16="http://schemas.microsoft.com/office/drawing/2014/main" id="{2E47BF0E-FEEE-860B-A3D0-135EC9B1F30C}"/>
              </a:ext>
            </a:extLst>
          </p:cNvPr>
          <p:cNvSpPr>
            <a:spLocks noGrp="1"/>
          </p:cNvSpPr>
          <p:nvPr>
            <p:ph type="sldNum" sz="quarter" idx="4"/>
          </p:nvPr>
        </p:nvSpPr>
        <p:spPr/>
        <p:txBody>
          <a:bodyPr/>
          <a:lstStyle/>
          <a:p>
            <a:fld id="{B5CEABB6-07DC-46E8-9B57-56EC44A396E5}" type="slidenum">
              <a:rPr lang="en-US" noProof="0" smtClean="0"/>
              <a:pPr/>
              <a:t>44</a:t>
            </a:fld>
            <a:endParaRPr lang="en-US" noProof="0" dirty="0"/>
          </a:p>
        </p:txBody>
      </p:sp>
      <p:sp>
        <p:nvSpPr>
          <p:cNvPr id="5" name="Table Placeholder 4">
            <a:extLst>
              <a:ext uri="{FF2B5EF4-FFF2-40B4-BE49-F238E27FC236}">
                <a16:creationId xmlns:a16="http://schemas.microsoft.com/office/drawing/2014/main" id="{6353B9AE-E79A-5454-AE88-EA8BFD244C60}"/>
              </a:ext>
            </a:extLst>
          </p:cNvPr>
          <p:cNvSpPr>
            <a:spLocks noGrp="1"/>
          </p:cNvSpPr>
          <p:nvPr>
            <p:ph type="tbl" sz="quarter" idx="11"/>
          </p:nvPr>
        </p:nvSpPr>
        <p:spPr>
          <a:xfrm>
            <a:off x="467139" y="1093305"/>
            <a:ext cx="11258636" cy="735496"/>
          </a:xfrm>
        </p:spPr>
        <p:txBody>
          <a:bodyPr/>
          <a:lstStyle/>
          <a:p>
            <a:r>
              <a:rPr lang="en-US" dirty="0"/>
              <a:t>Please r</a:t>
            </a:r>
            <a:r>
              <a:rPr lang="en-US" noProof="0" dirty="0" err="1"/>
              <a:t>aise</a:t>
            </a:r>
            <a:r>
              <a:rPr lang="en-US" noProof="0" dirty="0"/>
              <a:t> your hand when you feel indifferent with varying P.</a:t>
            </a:r>
          </a:p>
        </p:txBody>
      </p:sp>
      <p:pic>
        <p:nvPicPr>
          <p:cNvPr id="13" name="Picture 12" descr="A black background with a black square&#10;&#10;AI-generated content may be incorrect.">
            <a:extLst>
              <a:ext uri="{FF2B5EF4-FFF2-40B4-BE49-F238E27FC236}">
                <a16:creationId xmlns:a16="http://schemas.microsoft.com/office/drawing/2014/main" id="{8D8328BF-D961-ACF3-DC45-4133B29A6E05}"/>
              </a:ext>
            </a:extLst>
          </p:cNvPr>
          <p:cNvPicPr>
            <a:picLocks noChangeAspect="1"/>
          </p:cNvPicPr>
          <p:nvPr/>
        </p:nvPicPr>
        <p:blipFill>
          <a:blip r:embed="rId3"/>
          <a:stretch>
            <a:fillRect/>
          </a:stretch>
        </p:blipFill>
        <p:spPr>
          <a:xfrm>
            <a:off x="9655395" y="2727826"/>
            <a:ext cx="1709076" cy="1709076"/>
          </a:xfrm>
          <a:prstGeom prst="rect">
            <a:avLst/>
          </a:prstGeom>
        </p:spPr>
      </p:pic>
      <p:pic>
        <p:nvPicPr>
          <p:cNvPr id="15" name="Picture 14" descr="A black background with a black square&#10;&#10;AI-generated content may be incorrect.">
            <a:extLst>
              <a:ext uri="{FF2B5EF4-FFF2-40B4-BE49-F238E27FC236}">
                <a16:creationId xmlns:a16="http://schemas.microsoft.com/office/drawing/2014/main" id="{EE4FE434-1CB7-A19C-63FA-B76727596F5E}"/>
              </a:ext>
            </a:extLst>
          </p:cNvPr>
          <p:cNvPicPr>
            <a:picLocks noChangeAspect="1"/>
          </p:cNvPicPr>
          <p:nvPr/>
        </p:nvPicPr>
        <p:blipFill>
          <a:blip r:embed="rId4"/>
          <a:stretch>
            <a:fillRect/>
          </a:stretch>
        </p:blipFill>
        <p:spPr>
          <a:xfrm>
            <a:off x="6414168" y="4047559"/>
            <a:ext cx="1061482" cy="1061482"/>
          </a:xfrm>
          <a:prstGeom prst="rect">
            <a:avLst/>
          </a:prstGeom>
        </p:spPr>
      </p:pic>
      <p:pic>
        <p:nvPicPr>
          <p:cNvPr id="19" name="Picture 18" descr="A black background with a black square&#10;&#10;AI-generated content may be incorrect.">
            <a:extLst>
              <a:ext uri="{FF2B5EF4-FFF2-40B4-BE49-F238E27FC236}">
                <a16:creationId xmlns:a16="http://schemas.microsoft.com/office/drawing/2014/main" id="{11AE27E3-898D-65C4-FF22-7181495BF54A}"/>
              </a:ext>
            </a:extLst>
          </p:cNvPr>
          <p:cNvPicPr>
            <a:picLocks noChangeAspect="1"/>
          </p:cNvPicPr>
          <p:nvPr/>
        </p:nvPicPr>
        <p:blipFill>
          <a:blip r:embed="rId5"/>
          <a:stretch>
            <a:fillRect/>
          </a:stretch>
        </p:blipFill>
        <p:spPr>
          <a:xfrm>
            <a:off x="7419849" y="2893307"/>
            <a:ext cx="1412459" cy="1412459"/>
          </a:xfrm>
          <a:prstGeom prst="rect">
            <a:avLst/>
          </a:prstGeom>
        </p:spPr>
      </p:pic>
      <p:grpSp>
        <p:nvGrpSpPr>
          <p:cNvPr id="23" name="Group 22">
            <a:extLst>
              <a:ext uri="{FF2B5EF4-FFF2-40B4-BE49-F238E27FC236}">
                <a16:creationId xmlns:a16="http://schemas.microsoft.com/office/drawing/2014/main" id="{5ED1B0D3-FC78-3FB5-7D66-26BA2C190F51}"/>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F627502C-AABA-1742-1E41-3A102AD4D464}"/>
                </a:ext>
              </a:extLst>
            </p:cNvPr>
            <p:cNvPicPr>
              <a:picLocks noChangeAspect="1"/>
            </p:cNvPicPr>
            <p:nvPr/>
          </p:nvPicPr>
          <p:blipFill>
            <a:blip r:embed="rId6"/>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DC64E7C5-2EAD-9DD8-D010-5DA390F24A2B}"/>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grpSp>
        <p:nvGrpSpPr>
          <p:cNvPr id="30" name="Group 29">
            <a:extLst>
              <a:ext uri="{FF2B5EF4-FFF2-40B4-BE49-F238E27FC236}">
                <a16:creationId xmlns:a16="http://schemas.microsoft.com/office/drawing/2014/main" id="{1F336430-B52F-02B0-6D5D-47A0B91000BD}"/>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52C2A4DC-3CD5-A090-A04E-5F062A1E0510}"/>
                </a:ext>
              </a:extLst>
            </p:cNvPr>
            <p:cNvPicPr>
              <a:picLocks noChangeAspect="1"/>
            </p:cNvPicPr>
            <p:nvPr/>
          </p:nvPicPr>
          <p:blipFill>
            <a:blip r:embed="rId7"/>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C800753D-D41E-1291-CC9E-95C9DBECFFDF}"/>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9" name="Rectangle 28">
              <a:extLst>
                <a:ext uri="{FF2B5EF4-FFF2-40B4-BE49-F238E27FC236}">
                  <a16:creationId xmlns:a16="http://schemas.microsoft.com/office/drawing/2014/main" id="{CFC893C4-8472-33D8-E286-8763B7F08755}"/>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cxnSp>
        <p:nvCxnSpPr>
          <p:cNvPr id="34" name="Straight Connector 33">
            <a:extLst>
              <a:ext uri="{FF2B5EF4-FFF2-40B4-BE49-F238E27FC236}">
                <a16:creationId xmlns:a16="http://schemas.microsoft.com/office/drawing/2014/main" id="{848AA751-9360-F9DD-ADF8-19FDCD71B9CB}"/>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2BF09836-0EA1-BEC6-24D1-E6B245314C64}"/>
              </a:ext>
            </a:extLst>
          </p:cNvPr>
          <p:cNvSpPr txBox="1"/>
          <p:nvPr/>
        </p:nvSpPr>
        <p:spPr>
          <a:xfrm>
            <a:off x="6218963"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No flight</a:t>
            </a:r>
          </a:p>
        </p:txBody>
      </p:sp>
      <p:sp>
        <p:nvSpPr>
          <p:cNvPr id="36" name="TextBox 35">
            <a:extLst>
              <a:ext uri="{FF2B5EF4-FFF2-40B4-BE49-F238E27FC236}">
                <a16:creationId xmlns:a16="http://schemas.microsoft.com/office/drawing/2014/main" id="{C81CFF01-A1C3-4F76-7CEA-A881EEA4095B}"/>
              </a:ext>
            </a:extLst>
          </p:cNvPr>
          <p:cNvSpPr txBox="1"/>
          <p:nvPr/>
        </p:nvSpPr>
        <p:spPr>
          <a:xfrm>
            <a:off x="9041765"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First Class</a:t>
            </a:r>
          </a:p>
        </p:txBody>
      </p:sp>
      <p:sp>
        <p:nvSpPr>
          <p:cNvPr id="37" name="Rectangle 36">
            <a:extLst>
              <a:ext uri="{FF2B5EF4-FFF2-40B4-BE49-F238E27FC236}">
                <a16:creationId xmlns:a16="http://schemas.microsoft.com/office/drawing/2014/main" id="{1AAA25BB-D6C6-023B-3941-07E6AC3A5E2E}"/>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I am indifferent between the bad seat and the lottery</a:t>
            </a:r>
          </a:p>
        </p:txBody>
      </p:sp>
      <p:sp>
        <p:nvSpPr>
          <p:cNvPr id="38" name="Thought Bubble: Cloud 37">
            <a:extLst>
              <a:ext uri="{FF2B5EF4-FFF2-40B4-BE49-F238E27FC236}">
                <a16:creationId xmlns:a16="http://schemas.microsoft.com/office/drawing/2014/main" id="{C79DC036-D117-15CC-F6BC-BC58534A2759}"/>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40" name="Thought Bubble: Cloud 39">
            <a:extLst>
              <a:ext uri="{FF2B5EF4-FFF2-40B4-BE49-F238E27FC236}">
                <a16:creationId xmlns:a16="http://schemas.microsoft.com/office/drawing/2014/main" id="{03379FC9-BF0A-97A3-D83E-B41243E75091}"/>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3" name="TextBox 2">
            <a:extLst>
              <a:ext uri="{FF2B5EF4-FFF2-40B4-BE49-F238E27FC236}">
                <a16:creationId xmlns:a16="http://schemas.microsoft.com/office/drawing/2014/main" id="{3B99B2B2-C419-DECA-0798-96200833A398}"/>
              </a:ext>
            </a:extLst>
          </p:cNvPr>
          <p:cNvSpPr txBox="1"/>
          <p:nvPr/>
        </p:nvSpPr>
        <p:spPr>
          <a:xfrm>
            <a:off x="9608079" y="4853154"/>
            <a:ext cx="2103120" cy="492443"/>
          </a:xfrm>
          <a:prstGeom prst="rect">
            <a:avLst/>
          </a:prstGeom>
          <a:noFill/>
        </p:spPr>
        <p:txBody>
          <a:bodyPr wrap="square" lIns="0" tIns="0" rIns="0" bIns="0">
            <a:spAutoFit/>
          </a:bodyPr>
          <a:lstStyle/>
          <a:p>
            <a:pPr algn="r"/>
            <a:r>
              <a:rPr lang="en-US" sz="3200" b="1" dirty="0">
                <a:latin typeface="Arial" panose="020B0604020202020204" pitchFamily="34" charset="0"/>
                <a:ea typeface="Meiryo" panose="020B0604030504040204" pitchFamily="34" charset="-128"/>
                <a:cs typeface="Arial" panose="020B0604020202020204" pitchFamily="34" charset="0"/>
              </a:rPr>
              <a:t>30</a:t>
            </a:r>
            <a:r>
              <a:rPr lang="en-US" sz="3200" b="1" noProof="0" dirty="0">
                <a:latin typeface="Arial" panose="020B0604020202020204" pitchFamily="34" charset="0"/>
                <a:ea typeface="Meiryo" panose="020B0604030504040204" pitchFamily="34" charset="-128"/>
                <a:cs typeface="Arial" panose="020B0604020202020204" pitchFamily="34" charset="0"/>
              </a:rPr>
              <a:t>％</a:t>
            </a:r>
          </a:p>
        </p:txBody>
      </p:sp>
      <p:sp>
        <p:nvSpPr>
          <p:cNvPr id="6" name="TextBox 5">
            <a:extLst>
              <a:ext uri="{FF2B5EF4-FFF2-40B4-BE49-F238E27FC236}">
                <a16:creationId xmlns:a16="http://schemas.microsoft.com/office/drawing/2014/main" id="{86DA3C5B-7CC0-9E74-54B8-60DCEECB0DB6}"/>
              </a:ext>
            </a:extLst>
          </p:cNvPr>
          <p:cNvSpPr txBox="1"/>
          <p:nvPr/>
        </p:nvSpPr>
        <p:spPr>
          <a:xfrm>
            <a:off x="7233785" y="4853154"/>
            <a:ext cx="1721445" cy="492443"/>
          </a:xfrm>
          <a:prstGeom prst="rect">
            <a:avLst/>
          </a:prstGeom>
          <a:noFill/>
        </p:spPr>
        <p:txBody>
          <a:bodyPr wrap="square" lIns="0" tIns="0" rIns="0" bIns="0">
            <a:spAutoFit/>
          </a:bodyPr>
          <a:lstStyle/>
          <a:p>
            <a:pPr algn="r"/>
            <a:r>
              <a:rPr lang="en-US" sz="3200" b="1" dirty="0">
                <a:latin typeface="Arial" panose="020B0604020202020204" pitchFamily="34" charset="0"/>
                <a:ea typeface="Meiryo" panose="020B0604030504040204" pitchFamily="34" charset="-128"/>
                <a:cs typeface="Arial" panose="020B0604020202020204" pitchFamily="34" charset="0"/>
              </a:rPr>
              <a:t>70</a:t>
            </a:r>
            <a:r>
              <a:rPr lang="en-US" sz="3200" b="1" noProof="0" dirty="0">
                <a:latin typeface="Arial" panose="020B0604020202020204" pitchFamily="34" charset="0"/>
                <a:ea typeface="Meiryo" panose="020B0604030504040204" pitchFamily="34" charset="-128"/>
                <a:cs typeface="Arial" panose="020B0604020202020204" pitchFamily="34" charset="0"/>
              </a:rPr>
              <a:t>％</a:t>
            </a:r>
          </a:p>
        </p:txBody>
      </p:sp>
      <p:grpSp>
        <p:nvGrpSpPr>
          <p:cNvPr id="7" name="Group 6">
            <a:extLst>
              <a:ext uri="{FF2B5EF4-FFF2-40B4-BE49-F238E27FC236}">
                <a16:creationId xmlns:a16="http://schemas.microsoft.com/office/drawing/2014/main" id="{0D82FD79-4241-240C-7C49-80C10CAEA3AB}"/>
              </a:ext>
            </a:extLst>
          </p:cNvPr>
          <p:cNvGrpSpPr/>
          <p:nvPr/>
        </p:nvGrpSpPr>
        <p:grpSpPr>
          <a:xfrm>
            <a:off x="467139" y="108959"/>
            <a:ext cx="4197304" cy="307297"/>
            <a:chOff x="562270" y="127168"/>
            <a:chExt cx="4197304" cy="307297"/>
          </a:xfrm>
        </p:grpSpPr>
        <p:sp>
          <p:nvSpPr>
            <p:cNvPr id="9" name="Arrow: Pentagon 8">
              <a:extLst>
                <a:ext uri="{FF2B5EF4-FFF2-40B4-BE49-F238E27FC236}">
                  <a16:creationId xmlns:a16="http://schemas.microsoft.com/office/drawing/2014/main" id="{BE3AEAC6-CD07-7968-A73C-BA23D15E0E68}"/>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4" name="Arrow: Pentagon 13">
              <a:extLst>
                <a:ext uri="{FF2B5EF4-FFF2-40B4-BE49-F238E27FC236}">
                  <a16:creationId xmlns:a16="http://schemas.microsoft.com/office/drawing/2014/main" id="{24CB07AB-FBAE-5089-97C5-62A3F186CF46}"/>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6" name="Arrow: Pentagon 15">
              <a:extLst>
                <a:ext uri="{FF2B5EF4-FFF2-40B4-BE49-F238E27FC236}">
                  <a16:creationId xmlns:a16="http://schemas.microsoft.com/office/drawing/2014/main" id="{FC26CB65-97EF-F4FD-0DBF-BDDBB7B6CC92}"/>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31978915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823C9-6F3A-099D-14BE-B9F616AB2203}"/>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666A9B2C-3A18-64C7-6581-52CEA9D8CFE6}"/>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Lottery</a:t>
            </a:r>
          </a:p>
        </p:txBody>
      </p:sp>
      <p:sp>
        <p:nvSpPr>
          <p:cNvPr id="31" name="Rectangle 30">
            <a:extLst>
              <a:ext uri="{FF2B5EF4-FFF2-40B4-BE49-F238E27FC236}">
                <a16:creationId xmlns:a16="http://schemas.microsoft.com/office/drawing/2014/main" id="{EF6F524C-6112-FF97-3EC6-532E8097D294}"/>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“Bad seat”</a:t>
            </a:r>
          </a:p>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(Broken screen, Seat does not recline, No power outlet)</a:t>
            </a:r>
          </a:p>
        </p:txBody>
      </p:sp>
      <p:sp>
        <p:nvSpPr>
          <p:cNvPr id="2" name="Title 1">
            <a:extLst>
              <a:ext uri="{FF2B5EF4-FFF2-40B4-BE49-F238E27FC236}">
                <a16:creationId xmlns:a16="http://schemas.microsoft.com/office/drawing/2014/main" id="{346CDC3A-369F-D43F-5577-00497978DD06}"/>
              </a:ext>
            </a:extLst>
          </p:cNvPr>
          <p:cNvSpPr>
            <a:spLocks noGrp="1"/>
          </p:cNvSpPr>
          <p:nvPr>
            <p:ph type="title"/>
          </p:nvPr>
        </p:nvSpPr>
        <p:spPr/>
        <p:txBody>
          <a:bodyPr/>
          <a:lstStyle/>
          <a:p>
            <a:r>
              <a:rPr lang="en-US" noProof="0" dirty="0"/>
              <a:t>Measuring the Utility of a “Bad Seat”</a:t>
            </a:r>
          </a:p>
        </p:txBody>
      </p:sp>
      <p:sp>
        <p:nvSpPr>
          <p:cNvPr id="4" name="Slide Number Placeholder 3">
            <a:extLst>
              <a:ext uri="{FF2B5EF4-FFF2-40B4-BE49-F238E27FC236}">
                <a16:creationId xmlns:a16="http://schemas.microsoft.com/office/drawing/2014/main" id="{1ABB3F57-5952-F92F-E1C9-EB09A26C8D8C}"/>
              </a:ext>
            </a:extLst>
          </p:cNvPr>
          <p:cNvSpPr>
            <a:spLocks noGrp="1"/>
          </p:cNvSpPr>
          <p:nvPr>
            <p:ph type="sldNum" sz="quarter" idx="4"/>
          </p:nvPr>
        </p:nvSpPr>
        <p:spPr/>
        <p:txBody>
          <a:bodyPr/>
          <a:lstStyle/>
          <a:p>
            <a:fld id="{B5CEABB6-07DC-46E8-9B57-56EC44A396E5}" type="slidenum">
              <a:rPr lang="en-US" noProof="0" smtClean="0"/>
              <a:pPr/>
              <a:t>45</a:t>
            </a:fld>
            <a:endParaRPr lang="en-US" noProof="0" dirty="0"/>
          </a:p>
        </p:txBody>
      </p:sp>
      <p:sp>
        <p:nvSpPr>
          <p:cNvPr id="5" name="Table Placeholder 4">
            <a:extLst>
              <a:ext uri="{FF2B5EF4-FFF2-40B4-BE49-F238E27FC236}">
                <a16:creationId xmlns:a16="http://schemas.microsoft.com/office/drawing/2014/main" id="{FAF86B26-A0E0-6F81-CD9A-CBA18E77ED6E}"/>
              </a:ext>
            </a:extLst>
          </p:cNvPr>
          <p:cNvSpPr>
            <a:spLocks noGrp="1"/>
          </p:cNvSpPr>
          <p:nvPr>
            <p:ph type="tbl" sz="quarter" idx="11"/>
          </p:nvPr>
        </p:nvSpPr>
        <p:spPr>
          <a:xfrm>
            <a:off x="467139" y="1093305"/>
            <a:ext cx="11258636" cy="735496"/>
          </a:xfrm>
        </p:spPr>
        <p:txBody>
          <a:bodyPr/>
          <a:lstStyle/>
          <a:p>
            <a:r>
              <a:rPr lang="en-US" dirty="0"/>
              <a:t>Please r</a:t>
            </a:r>
            <a:r>
              <a:rPr lang="en-US" noProof="0" dirty="0" err="1"/>
              <a:t>aise</a:t>
            </a:r>
            <a:r>
              <a:rPr lang="en-US" noProof="0" dirty="0"/>
              <a:t> your hand when you feel indifferent with varying P.</a:t>
            </a:r>
          </a:p>
        </p:txBody>
      </p:sp>
      <p:pic>
        <p:nvPicPr>
          <p:cNvPr id="13" name="Picture 12" descr="A black background with a black square&#10;&#10;AI-generated content may be incorrect.">
            <a:extLst>
              <a:ext uri="{FF2B5EF4-FFF2-40B4-BE49-F238E27FC236}">
                <a16:creationId xmlns:a16="http://schemas.microsoft.com/office/drawing/2014/main" id="{9F0C228B-691A-2F91-EEEA-563456B0C2FE}"/>
              </a:ext>
            </a:extLst>
          </p:cNvPr>
          <p:cNvPicPr>
            <a:picLocks noChangeAspect="1"/>
          </p:cNvPicPr>
          <p:nvPr/>
        </p:nvPicPr>
        <p:blipFill>
          <a:blip r:embed="rId3"/>
          <a:stretch>
            <a:fillRect/>
          </a:stretch>
        </p:blipFill>
        <p:spPr>
          <a:xfrm>
            <a:off x="9655395" y="2727826"/>
            <a:ext cx="1709076" cy="1709076"/>
          </a:xfrm>
          <a:prstGeom prst="rect">
            <a:avLst/>
          </a:prstGeom>
        </p:spPr>
      </p:pic>
      <p:pic>
        <p:nvPicPr>
          <p:cNvPr id="15" name="Picture 14" descr="A black background with a black square&#10;&#10;AI-generated content may be incorrect.">
            <a:extLst>
              <a:ext uri="{FF2B5EF4-FFF2-40B4-BE49-F238E27FC236}">
                <a16:creationId xmlns:a16="http://schemas.microsoft.com/office/drawing/2014/main" id="{6958F1EE-D8B2-E002-0801-F701BC3F8B62}"/>
              </a:ext>
            </a:extLst>
          </p:cNvPr>
          <p:cNvPicPr>
            <a:picLocks noChangeAspect="1"/>
          </p:cNvPicPr>
          <p:nvPr/>
        </p:nvPicPr>
        <p:blipFill>
          <a:blip r:embed="rId4"/>
          <a:stretch>
            <a:fillRect/>
          </a:stretch>
        </p:blipFill>
        <p:spPr>
          <a:xfrm>
            <a:off x="6414168" y="4047559"/>
            <a:ext cx="1061482" cy="1061482"/>
          </a:xfrm>
          <a:prstGeom prst="rect">
            <a:avLst/>
          </a:prstGeom>
        </p:spPr>
      </p:pic>
      <p:pic>
        <p:nvPicPr>
          <p:cNvPr id="19" name="Picture 18" descr="A black background with a black square&#10;&#10;AI-generated content may be incorrect.">
            <a:extLst>
              <a:ext uri="{FF2B5EF4-FFF2-40B4-BE49-F238E27FC236}">
                <a16:creationId xmlns:a16="http://schemas.microsoft.com/office/drawing/2014/main" id="{1DE1F27F-2490-DBCD-4B86-D2441BF12716}"/>
              </a:ext>
            </a:extLst>
          </p:cNvPr>
          <p:cNvPicPr>
            <a:picLocks noChangeAspect="1"/>
          </p:cNvPicPr>
          <p:nvPr/>
        </p:nvPicPr>
        <p:blipFill>
          <a:blip r:embed="rId5"/>
          <a:stretch>
            <a:fillRect/>
          </a:stretch>
        </p:blipFill>
        <p:spPr>
          <a:xfrm>
            <a:off x="7419849" y="2893307"/>
            <a:ext cx="1412459" cy="1412459"/>
          </a:xfrm>
          <a:prstGeom prst="rect">
            <a:avLst/>
          </a:prstGeom>
        </p:spPr>
      </p:pic>
      <p:grpSp>
        <p:nvGrpSpPr>
          <p:cNvPr id="23" name="Group 22">
            <a:extLst>
              <a:ext uri="{FF2B5EF4-FFF2-40B4-BE49-F238E27FC236}">
                <a16:creationId xmlns:a16="http://schemas.microsoft.com/office/drawing/2014/main" id="{BF74CB08-1ADD-5053-661B-34263D2CC3B4}"/>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8228C453-C03A-66E9-F803-A0094317D3C8}"/>
                </a:ext>
              </a:extLst>
            </p:cNvPr>
            <p:cNvPicPr>
              <a:picLocks noChangeAspect="1"/>
            </p:cNvPicPr>
            <p:nvPr/>
          </p:nvPicPr>
          <p:blipFill>
            <a:blip r:embed="rId6"/>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B99DC6AF-A27F-2941-9598-A702844E9D13}"/>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grpSp>
        <p:nvGrpSpPr>
          <p:cNvPr id="30" name="Group 29">
            <a:extLst>
              <a:ext uri="{FF2B5EF4-FFF2-40B4-BE49-F238E27FC236}">
                <a16:creationId xmlns:a16="http://schemas.microsoft.com/office/drawing/2014/main" id="{E24A61CD-CE04-DFE9-1FA6-989FC093EC8C}"/>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4566A585-F3BA-7C4A-FA08-76A33E938FCE}"/>
                </a:ext>
              </a:extLst>
            </p:cNvPr>
            <p:cNvPicPr>
              <a:picLocks noChangeAspect="1"/>
            </p:cNvPicPr>
            <p:nvPr/>
          </p:nvPicPr>
          <p:blipFill>
            <a:blip r:embed="rId7"/>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3D8B59C4-E3A7-04CC-3DF5-88755CC05F18}"/>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9" name="Rectangle 28">
              <a:extLst>
                <a:ext uri="{FF2B5EF4-FFF2-40B4-BE49-F238E27FC236}">
                  <a16:creationId xmlns:a16="http://schemas.microsoft.com/office/drawing/2014/main" id="{222BCC7E-5957-C696-4113-81ED04228AF3}"/>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cxnSp>
        <p:nvCxnSpPr>
          <p:cNvPr id="34" name="Straight Connector 33">
            <a:extLst>
              <a:ext uri="{FF2B5EF4-FFF2-40B4-BE49-F238E27FC236}">
                <a16:creationId xmlns:a16="http://schemas.microsoft.com/office/drawing/2014/main" id="{C29727FE-E87F-2F4F-7534-E6B06F178516}"/>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A965A64B-201F-19F2-200E-BF2F1C04362B}"/>
              </a:ext>
            </a:extLst>
          </p:cNvPr>
          <p:cNvSpPr txBox="1"/>
          <p:nvPr/>
        </p:nvSpPr>
        <p:spPr>
          <a:xfrm>
            <a:off x="6218963"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No flight</a:t>
            </a:r>
          </a:p>
        </p:txBody>
      </p:sp>
      <p:sp>
        <p:nvSpPr>
          <p:cNvPr id="36" name="TextBox 35">
            <a:extLst>
              <a:ext uri="{FF2B5EF4-FFF2-40B4-BE49-F238E27FC236}">
                <a16:creationId xmlns:a16="http://schemas.microsoft.com/office/drawing/2014/main" id="{4AA9D135-3A24-6EC7-7A15-B9E14B810376}"/>
              </a:ext>
            </a:extLst>
          </p:cNvPr>
          <p:cNvSpPr txBox="1"/>
          <p:nvPr/>
        </p:nvSpPr>
        <p:spPr>
          <a:xfrm>
            <a:off x="9041765"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First Class</a:t>
            </a:r>
          </a:p>
        </p:txBody>
      </p:sp>
      <p:sp>
        <p:nvSpPr>
          <p:cNvPr id="37" name="Rectangle 36">
            <a:extLst>
              <a:ext uri="{FF2B5EF4-FFF2-40B4-BE49-F238E27FC236}">
                <a16:creationId xmlns:a16="http://schemas.microsoft.com/office/drawing/2014/main" id="{1CE543EE-F0F1-0BD7-C356-D08CB04AFB83}"/>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I am indifferent between the bad seat and the lottery</a:t>
            </a:r>
          </a:p>
        </p:txBody>
      </p:sp>
      <p:sp>
        <p:nvSpPr>
          <p:cNvPr id="38" name="Thought Bubble: Cloud 37">
            <a:extLst>
              <a:ext uri="{FF2B5EF4-FFF2-40B4-BE49-F238E27FC236}">
                <a16:creationId xmlns:a16="http://schemas.microsoft.com/office/drawing/2014/main" id="{4130B1F2-B389-5231-93AA-2BBA2BF33BBE}"/>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40" name="Thought Bubble: Cloud 39">
            <a:extLst>
              <a:ext uri="{FF2B5EF4-FFF2-40B4-BE49-F238E27FC236}">
                <a16:creationId xmlns:a16="http://schemas.microsoft.com/office/drawing/2014/main" id="{335AA6F8-DC6F-876A-5769-B5553B10B102}"/>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3" name="TextBox 2">
            <a:extLst>
              <a:ext uri="{FF2B5EF4-FFF2-40B4-BE49-F238E27FC236}">
                <a16:creationId xmlns:a16="http://schemas.microsoft.com/office/drawing/2014/main" id="{BD7F67B2-DDE9-8781-2FAA-6A573EA82E60}"/>
              </a:ext>
            </a:extLst>
          </p:cNvPr>
          <p:cNvSpPr txBox="1"/>
          <p:nvPr/>
        </p:nvSpPr>
        <p:spPr>
          <a:xfrm>
            <a:off x="9608079" y="4853154"/>
            <a:ext cx="2103120" cy="492443"/>
          </a:xfrm>
          <a:prstGeom prst="rect">
            <a:avLst/>
          </a:prstGeom>
          <a:noFill/>
        </p:spPr>
        <p:txBody>
          <a:bodyPr wrap="square" lIns="0" tIns="0" rIns="0" bIns="0">
            <a:spAutoFit/>
          </a:bodyPr>
          <a:lstStyle/>
          <a:p>
            <a:pPr algn="r"/>
            <a:r>
              <a:rPr lang="en-US" sz="3200" b="1" dirty="0">
                <a:latin typeface="Arial" panose="020B0604020202020204" pitchFamily="34" charset="0"/>
                <a:ea typeface="Meiryo" panose="020B0604030504040204" pitchFamily="34" charset="-128"/>
                <a:cs typeface="Arial" panose="020B0604020202020204" pitchFamily="34" charset="0"/>
              </a:rPr>
              <a:t>20</a:t>
            </a:r>
            <a:r>
              <a:rPr lang="en-US" sz="3200" b="1" noProof="0" dirty="0">
                <a:latin typeface="Arial" panose="020B0604020202020204" pitchFamily="34" charset="0"/>
                <a:ea typeface="Meiryo" panose="020B0604030504040204" pitchFamily="34" charset="-128"/>
                <a:cs typeface="Arial" panose="020B0604020202020204" pitchFamily="34" charset="0"/>
              </a:rPr>
              <a:t>％</a:t>
            </a:r>
          </a:p>
        </p:txBody>
      </p:sp>
      <p:sp>
        <p:nvSpPr>
          <p:cNvPr id="6" name="TextBox 5">
            <a:extLst>
              <a:ext uri="{FF2B5EF4-FFF2-40B4-BE49-F238E27FC236}">
                <a16:creationId xmlns:a16="http://schemas.microsoft.com/office/drawing/2014/main" id="{8479D58E-B159-0A4D-16B4-F82137FD62BF}"/>
              </a:ext>
            </a:extLst>
          </p:cNvPr>
          <p:cNvSpPr txBox="1"/>
          <p:nvPr/>
        </p:nvSpPr>
        <p:spPr>
          <a:xfrm>
            <a:off x="7233785" y="4853154"/>
            <a:ext cx="1721445" cy="492443"/>
          </a:xfrm>
          <a:prstGeom prst="rect">
            <a:avLst/>
          </a:prstGeom>
          <a:noFill/>
        </p:spPr>
        <p:txBody>
          <a:bodyPr wrap="square" lIns="0" tIns="0" rIns="0" bIns="0">
            <a:spAutoFit/>
          </a:bodyPr>
          <a:lstStyle/>
          <a:p>
            <a:pPr algn="r"/>
            <a:r>
              <a:rPr lang="en-US" sz="3200" b="1" dirty="0">
                <a:latin typeface="Arial" panose="020B0604020202020204" pitchFamily="34" charset="0"/>
                <a:ea typeface="Meiryo" panose="020B0604030504040204" pitchFamily="34" charset="-128"/>
                <a:cs typeface="Arial" panose="020B0604020202020204" pitchFamily="34" charset="0"/>
              </a:rPr>
              <a:t>80</a:t>
            </a:r>
            <a:r>
              <a:rPr lang="en-US" sz="3200" b="1" noProof="0" dirty="0">
                <a:latin typeface="Arial" panose="020B0604020202020204" pitchFamily="34" charset="0"/>
                <a:ea typeface="Meiryo" panose="020B0604030504040204" pitchFamily="34" charset="-128"/>
                <a:cs typeface="Arial" panose="020B0604020202020204" pitchFamily="34" charset="0"/>
              </a:rPr>
              <a:t>％</a:t>
            </a:r>
          </a:p>
        </p:txBody>
      </p:sp>
      <p:grpSp>
        <p:nvGrpSpPr>
          <p:cNvPr id="7" name="Group 6">
            <a:extLst>
              <a:ext uri="{FF2B5EF4-FFF2-40B4-BE49-F238E27FC236}">
                <a16:creationId xmlns:a16="http://schemas.microsoft.com/office/drawing/2014/main" id="{1FD79059-224B-3B33-9B52-07210A9827A3}"/>
              </a:ext>
            </a:extLst>
          </p:cNvPr>
          <p:cNvGrpSpPr/>
          <p:nvPr/>
        </p:nvGrpSpPr>
        <p:grpSpPr>
          <a:xfrm>
            <a:off x="467139" y="108959"/>
            <a:ext cx="4197304" cy="307297"/>
            <a:chOff x="562270" y="127168"/>
            <a:chExt cx="4197304" cy="307297"/>
          </a:xfrm>
        </p:grpSpPr>
        <p:sp>
          <p:nvSpPr>
            <p:cNvPr id="9" name="Arrow: Pentagon 8">
              <a:extLst>
                <a:ext uri="{FF2B5EF4-FFF2-40B4-BE49-F238E27FC236}">
                  <a16:creationId xmlns:a16="http://schemas.microsoft.com/office/drawing/2014/main" id="{2D0F397D-E749-4E0B-1C20-6DFEB0104837}"/>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4" name="Arrow: Pentagon 13">
              <a:extLst>
                <a:ext uri="{FF2B5EF4-FFF2-40B4-BE49-F238E27FC236}">
                  <a16:creationId xmlns:a16="http://schemas.microsoft.com/office/drawing/2014/main" id="{FCBB0895-D7FE-72D2-CBBB-33216F6B8005}"/>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6" name="Arrow: Pentagon 15">
              <a:extLst>
                <a:ext uri="{FF2B5EF4-FFF2-40B4-BE49-F238E27FC236}">
                  <a16:creationId xmlns:a16="http://schemas.microsoft.com/office/drawing/2014/main" id="{B52FA71B-CCCB-D2F0-B412-6EC61948D0D1}"/>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34344695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2E41C-842A-C5C6-ACAB-4721FCB947FF}"/>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2E77DB6B-46D2-4303-97CD-4D7DEE6CFEA0}"/>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Lottery</a:t>
            </a:r>
          </a:p>
        </p:txBody>
      </p:sp>
      <p:sp>
        <p:nvSpPr>
          <p:cNvPr id="31" name="Rectangle 30">
            <a:extLst>
              <a:ext uri="{FF2B5EF4-FFF2-40B4-BE49-F238E27FC236}">
                <a16:creationId xmlns:a16="http://schemas.microsoft.com/office/drawing/2014/main" id="{FDC5CEDE-5949-DA80-0103-01D1C886C852}"/>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“Bad seat”</a:t>
            </a:r>
          </a:p>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(Broken screen, Seat does not recline, No power outlet)</a:t>
            </a:r>
          </a:p>
        </p:txBody>
      </p:sp>
      <p:sp>
        <p:nvSpPr>
          <p:cNvPr id="2" name="Title 1">
            <a:extLst>
              <a:ext uri="{FF2B5EF4-FFF2-40B4-BE49-F238E27FC236}">
                <a16:creationId xmlns:a16="http://schemas.microsoft.com/office/drawing/2014/main" id="{A7B2A045-C5C3-EE7E-A887-3DE81CA45101}"/>
              </a:ext>
            </a:extLst>
          </p:cNvPr>
          <p:cNvSpPr>
            <a:spLocks noGrp="1"/>
          </p:cNvSpPr>
          <p:nvPr>
            <p:ph type="title"/>
          </p:nvPr>
        </p:nvSpPr>
        <p:spPr/>
        <p:txBody>
          <a:bodyPr/>
          <a:lstStyle/>
          <a:p>
            <a:r>
              <a:rPr lang="en-US" noProof="0" dirty="0"/>
              <a:t>Measuring the Utility of a “Bad Seat”</a:t>
            </a:r>
          </a:p>
        </p:txBody>
      </p:sp>
      <p:sp>
        <p:nvSpPr>
          <p:cNvPr id="4" name="Slide Number Placeholder 3">
            <a:extLst>
              <a:ext uri="{FF2B5EF4-FFF2-40B4-BE49-F238E27FC236}">
                <a16:creationId xmlns:a16="http://schemas.microsoft.com/office/drawing/2014/main" id="{CC36B100-0BDE-5732-B851-8F29D7DEEBB5}"/>
              </a:ext>
            </a:extLst>
          </p:cNvPr>
          <p:cNvSpPr>
            <a:spLocks noGrp="1"/>
          </p:cNvSpPr>
          <p:nvPr>
            <p:ph type="sldNum" sz="quarter" idx="4"/>
          </p:nvPr>
        </p:nvSpPr>
        <p:spPr/>
        <p:txBody>
          <a:bodyPr/>
          <a:lstStyle/>
          <a:p>
            <a:fld id="{B5CEABB6-07DC-46E8-9B57-56EC44A396E5}" type="slidenum">
              <a:rPr lang="en-US" noProof="0" smtClean="0"/>
              <a:pPr/>
              <a:t>46</a:t>
            </a:fld>
            <a:endParaRPr lang="en-US" noProof="0" dirty="0"/>
          </a:p>
        </p:txBody>
      </p:sp>
      <p:sp>
        <p:nvSpPr>
          <p:cNvPr id="5" name="Table Placeholder 4">
            <a:extLst>
              <a:ext uri="{FF2B5EF4-FFF2-40B4-BE49-F238E27FC236}">
                <a16:creationId xmlns:a16="http://schemas.microsoft.com/office/drawing/2014/main" id="{B85A18B3-79F8-9194-3564-FFB6DB65C992}"/>
              </a:ext>
            </a:extLst>
          </p:cNvPr>
          <p:cNvSpPr>
            <a:spLocks noGrp="1"/>
          </p:cNvSpPr>
          <p:nvPr>
            <p:ph type="tbl" sz="quarter" idx="11"/>
          </p:nvPr>
        </p:nvSpPr>
        <p:spPr>
          <a:xfrm>
            <a:off x="467139" y="1093305"/>
            <a:ext cx="11258636" cy="735496"/>
          </a:xfrm>
        </p:spPr>
        <p:txBody>
          <a:bodyPr/>
          <a:lstStyle/>
          <a:p>
            <a:r>
              <a:rPr lang="en-US" dirty="0"/>
              <a:t>Please r</a:t>
            </a:r>
            <a:r>
              <a:rPr lang="en-US" noProof="0" dirty="0" err="1"/>
              <a:t>aise</a:t>
            </a:r>
            <a:r>
              <a:rPr lang="en-US" noProof="0" dirty="0"/>
              <a:t> your hand when you feel indifferent with varying P.</a:t>
            </a:r>
          </a:p>
        </p:txBody>
      </p:sp>
      <p:pic>
        <p:nvPicPr>
          <p:cNvPr id="13" name="Picture 12" descr="A black background with a black square&#10;&#10;AI-generated content may be incorrect.">
            <a:extLst>
              <a:ext uri="{FF2B5EF4-FFF2-40B4-BE49-F238E27FC236}">
                <a16:creationId xmlns:a16="http://schemas.microsoft.com/office/drawing/2014/main" id="{499AF67C-4B3F-9DD1-6716-20A0BB38C9C2}"/>
              </a:ext>
            </a:extLst>
          </p:cNvPr>
          <p:cNvPicPr>
            <a:picLocks noChangeAspect="1"/>
          </p:cNvPicPr>
          <p:nvPr/>
        </p:nvPicPr>
        <p:blipFill>
          <a:blip r:embed="rId3"/>
          <a:stretch>
            <a:fillRect/>
          </a:stretch>
        </p:blipFill>
        <p:spPr>
          <a:xfrm>
            <a:off x="9655395" y="2727826"/>
            <a:ext cx="1709076" cy="1709076"/>
          </a:xfrm>
          <a:prstGeom prst="rect">
            <a:avLst/>
          </a:prstGeom>
        </p:spPr>
      </p:pic>
      <p:pic>
        <p:nvPicPr>
          <p:cNvPr id="15" name="Picture 14" descr="A black background with a black square&#10;&#10;AI-generated content may be incorrect.">
            <a:extLst>
              <a:ext uri="{FF2B5EF4-FFF2-40B4-BE49-F238E27FC236}">
                <a16:creationId xmlns:a16="http://schemas.microsoft.com/office/drawing/2014/main" id="{7DBF93B3-087D-86CC-F48E-4F6291D101BC}"/>
              </a:ext>
            </a:extLst>
          </p:cNvPr>
          <p:cNvPicPr>
            <a:picLocks noChangeAspect="1"/>
          </p:cNvPicPr>
          <p:nvPr/>
        </p:nvPicPr>
        <p:blipFill>
          <a:blip r:embed="rId4"/>
          <a:stretch>
            <a:fillRect/>
          </a:stretch>
        </p:blipFill>
        <p:spPr>
          <a:xfrm>
            <a:off x="6414168" y="4047559"/>
            <a:ext cx="1061482" cy="1061482"/>
          </a:xfrm>
          <a:prstGeom prst="rect">
            <a:avLst/>
          </a:prstGeom>
        </p:spPr>
      </p:pic>
      <p:pic>
        <p:nvPicPr>
          <p:cNvPr id="19" name="Picture 18" descr="A black background with a black square&#10;&#10;AI-generated content may be incorrect.">
            <a:extLst>
              <a:ext uri="{FF2B5EF4-FFF2-40B4-BE49-F238E27FC236}">
                <a16:creationId xmlns:a16="http://schemas.microsoft.com/office/drawing/2014/main" id="{544F2904-A5CF-E00E-469C-EA0EC7CEAA16}"/>
              </a:ext>
            </a:extLst>
          </p:cNvPr>
          <p:cNvPicPr>
            <a:picLocks noChangeAspect="1"/>
          </p:cNvPicPr>
          <p:nvPr/>
        </p:nvPicPr>
        <p:blipFill>
          <a:blip r:embed="rId5"/>
          <a:stretch>
            <a:fillRect/>
          </a:stretch>
        </p:blipFill>
        <p:spPr>
          <a:xfrm>
            <a:off x="7419849" y="2893307"/>
            <a:ext cx="1412459" cy="1412459"/>
          </a:xfrm>
          <a:prstGeom prst="rect">
            <a:avLst/>
          </a:prstGeom>
        </p:spPr>
      </p:pic>
      <p:grpSp>
        <p:nvGrpSpPr>
          <p:cNvPr id="23" name="Group 22">
            <a:extLst>
              <a:ext uri="{FF2B5EF4-FFF2-40B4-BE49-F238E27FC236}">
                <a16:creationId xmlns:a16="http://schemas.microsoft.com/office/drawing/2014/main" id="{63922F0A-8A78-DC3B-FB1C-8ED063D9757A}"/>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1BA3199C-EE4C-664F-BD0D-63E993FEE4A4}"/>
                </a:ext>
              </a:extLst>
            </p:cNvPr>
            <p:cNvPicPr>
              <a:picLocks noChangeAspect="1"/>
            </p:cNvPicPr>
            <p:nvPr/>
          </p:nvPicPr>
          <p:blipFill>
            <a:blip r:embed="rId6"/>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BD1B2026-FD3E-3965-6B37-3138B60B8286}"/>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grpSp>
        <p:nvGrpSpPr>
          <p:cNvPr id="30" name="Group 29">
            <a:extLst>
              <a:ext uri="{FF2B5EF4-FFF2-40B4-BE49-F238E27FC236}">
                <a16:creationId xmlns:a16="http://schemas.microsoft.com/office/drawing/2014/main" id="{F4175ED4-3B4A-2FA6-A342-CD0F3B012ED4}"/>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C8DC76D1-F9D7-7649-9937-BF1774663EFE}"/>
                </a:ext>
              </a:extLst>
            </p:cNvPr>
            <p:cNvPicPr>
              <a:picLocks noChangeAspect="1"/>
            </p:cNvPicPr>
            <p:nvPr/>
          </p:nvPicPr>
          <p:blipFill>
            <a:blip r:embed="rId7"/>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BCD1810A-F9B9-6828-7BD2-3C561A09456A}"/>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9" name="Rectangle 28">
              <a:extLst>
                <a:ext uri="{FF2B5EF4-FFF2-40B4-BE49-F238E27FC236}">
                  <a16:creationId xmlns:a16="http://schemas.microsoft.com/office/drawing/2014/main" id="{8E7AF92E-108A-5E09-B048-74BF465F0CC6}"/>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cxnSp>
        <p:nvCxnSpPr>
          <p:cNvPr id="34" name="Straight Connector 33">
            <a:extLst>
              <a:ext uri="{FF2B5EF4-FFF2-40B4-BE49-F238E27FC236}">
                <a16:creationId xmlns:a16="http://schemas.microsoft.com/office/drawing/2014/main" id="{F5CA3EE6-D262-FD41-1352-62918B6849DD}"/>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39C8F680-3156-7F1C-A7F3-AAF5DBD6112A}"/>
              </a:ext>
            </a:extLst>
          </p:cNvPr>
          <p:cNvSpPr txBox="1"/>
          <p:nvPr/>
        </p:nvSpPr>
        <p:spPr>
          <a:xfrm>
            <a:off x="6218963"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No flight</a:t>
            </a:r>
          </a:p>
        </p:txBody>
      </p:sp>
      <p:sp>
        <p:nvSpPr>
          <p:cNvPr id="36" name="TextBox 35">
            <a:extLst>
              <a:ext uri="{FF2B5EF4-FFF2-40B4-BE49-F238E27FC236}">
                <a16:creationId xmlns:a16="http://schemas.microsoft.com/office/drawing/2014/main" id="{AE3D596A-1649-8626-5B1B-C5AC09785CAB}"/>
              </a:ext>
            </a:extLst>
          </p:cNvPr>
          <p:cNvSpPr txBox="1"/>
          <p:nvPr/>
        </p:nvSpPr>
        <p:spPr>
          <a:xfrm>
            <a:off x="9041765"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First Class</a:t>
            </a:r>
          </a:p>
        </p:txBody>
      </p:sp>
      <p:sp>
        <p:nvSpPr>
          <p:cNvPr id="37" name="Rectangle 36">
            <a:extLst>
              <a:ext uri="{FF2B5EF4-FFF2-40B4-BE49-F238E27FC236}">
                <a16:creationId xmlns:a16="http://schemas.microsoft.com/office/drawing/2014/main" id="{29FCF98B-9604-7BB0-AB06-612F4C6E99B7}"/>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I am indifferent between the bad seat and the lottery</a:t>
            </a:r>
          </a:p>
        </p:txBody>
      </p:sp>
      <p:sp>
        <p:nvSpPr>
          <p:cNvPr id="38" name="Thought Bubble: Cloud 37">
            <a:extLst>
              <a:ext uri="{FF2B5EF4-FFF2-40B4-BE49-F238E27FC236}">
                <a16:creationId xmlns:a16="http://schemas.microsoft.com/office/drawing/2014/main" id="{398AF53C-E040-C4B6-D935-E123D5904C7D}"/>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40" name="Thought Bubble: Cloud 39">
            <a:extLst>
              <a:ext uri="{FF2B5EF4-FFF2-40B4-BE49-F238E27FC236}">
                <a16:creationId xmlns:a16="http://schemas.microsoft.com/office/drawing/2014/main" id="{CE2FECD1-1A47-F947-8D55-7C4E950526DF}"/>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3" name="TextBox 2">
            <a:extLst>
              <a:ext uri="{FF2B5EF4-FFF2-40B4-BE49-F238E27FC236}">
                <a16:creationId xmlns:a16="http://schemas.microsoft.com/office/drawing/2014/main" id="{20B434CE-E667-F7A3-4567-DD1E369D2F3A}"/>
              </a:ext>
            </a:extLst>
          </p:cNvPr>
          <p:cNvSpPr txBox="1"/>
          <p:nvPr/>
        </p:nvSpPr>
        <p:spPr>
          <a:xfrm>
            <a:off x="9608079" y="4853154"/>
            <a:ext cx="2103120" cy="492443"/>
          </a:xfrm>
          <a:prstGeom prst="rect">
            <a:avLst/>
          </a:prstGeom>
          <a:noFill/>
        </p:spPr>
        <p:txBody>
          <a:bodyPr wrap="square" lIns="0" tIns="0" rIns="0" bIns="0">
            <a:spAutoFit/>
          </a:bodyPr>
          <a:lstStyle/>
          <a:p>
            <a:pPr algn="r"/>
            <a:r>
              <a:rPr lang="en-US" sz="3200" b="1" dirty="0">
                <a:latin typeface="Arial" panose="020B0604020202020204" pitchFamily="34" charset="0"/>
                <a:ea typeface="Meiryo" panose="020B0604030504040204" pitchFamily="34" charset="-128"/>
                <a:cs typeface="Arial" panose="020B0604020202020204" pitchFamily="34" charset="0"/>
              </a:rPr>
              <a:t>10</a:t>
            </a:r>
            <a:r>
              <a:rPr lang="en-US" sz="3200" b="1" noProof="0" dirty="0">
                <a:latin typeface="Arial" panose="020B0604020202020204" pitchFamily="34" charset="0"/>
                <a:ea typeface="Meiryo" panose="020B0604030504040204" pitchFamily="34" charset="-128"/>
                <a:cs typeface="Arial" panose="020B0604020202020204" pitchFamily="34" charset="0"/>
              </a:rPr>
              <a:t>％</a:t>
            </a:r>
          </a:p>
        </p:txBody>
      </p:sp>
      <p:sp>
        <p:nvSpPr>
          <p:cNvPr id="6" name="TextBox 5">
            <a:extLst>
              <a:ext uri="{FF2B5EF4-FFF2-40B4-BE49-F238E27FC236}">
                <a16:creationId xmlns:a16="http://schemas.microsoft.com/office/drawing/2014/main" id="{27A9AA9E-455F-107A-0464-EC04A52DDDB6}"/>
              </a:ext>
            </a:extLst>
          </p:cNvPr>
          <p:cNvSpPr txBox="1"/>
          <p:nvPr/>
        </p:nvSpPr>
        <p:spPr>
          <a:xfrm>
            <a:off x="7233785" y="4853154"/>
            <a:ext cx="1721445" cy="492443"/>
          </a:xfrm>
          <a:prstGeom prst="rect">
            <a:avLst/>
          </a:prstGeom>
          <a:noFill/>
        </p:spPr>
        <p:txBody>
          <a:bodyPr wrap="square" lIns="0" tIns="0" rIns="0" bIns="0">
            <a:spAutoFit/>
          </a:bodyPr>
          <a:lstStyle/>
          <a:p>
            <a:pPr algn="r"/>
            <a:r>
              <a:rPr lang="en-US" sz="3200" b="1" dirty="0">
                <a:latin typeface="Arial" panose="020B0604020202020204" pitchFamily="34" charset="0"/>
                <a:ea typeface="Meiryo" panose="020B0604030504040204" pitchFamily="34" charset="-128"/>
                <a:cs typeface="Arial" panose="020B0604020202020204" pitchFamily="34" charset="0"/>
              </a:rPr>
              <a:t>90</a:t>
            </a:r>
            <a:r>
              <a:rPr lang="en-US" sz="3200" b="1" noProof="0" dirty="0">
                <a:latin typeface="Arial" panose="020B0604020202020204" pitchFamily="34" charset="0"/>
                <a:ea typeface="Meiryo" panose="020B0604030504040204" pitchFamily="34" charset="-128"/>
                <a:cs typeface="Arial" panose="020B0604020202020204" pitchFamily="34" charset="0"/>
              </a:rPr>
              <a:t>％</a:t>
            </a:r>
          </a:p>
        </p:txBody>
      </p:sp>
      <p:grpSp>
        <p:nvGrpSpPr>
          <p:cNvPr id="7" name="Group 6">
            <a:extLst>
              <a:ext uri="{FF2B5EF4-FFF2-40B4-BE49-F238E27FC236}">
                <a16:creationId xmlns:a16="http://schemas.microsoft.com/office/drawing/2014/main" id="{838C80FE-121B-5E0A-0E58-B7561A6D85FD}"/>
              </a:ext>
            </a:extLst>
          </p:cNvPr>
          <p:cNvGrpSpPr/>
          <p:nvPr/>
        </p:nvGrpSpPr>
        <p:grpSpPr>
          <a:xfrm>
            <a:off x="467139" y="108959"/>
            <a:ext cx="4197304" cy="307297"/>
            <a:chOff x="562270" y="127168"/>
            <a:chExt cx="4197304" cy="307297"/>
          </a:xfrm>
        </p:grpSpPr>
        <p:sp>
          <p:nvSpPr>
            <p:cNvPr id="9" name="Arrow: Pentagon 8">
              <a:extLst>
                <a:ext uri="{FF2B5EF4-FFF2-40B4-BE49-F238E27FC236}">
                  <a16:creationId xmlns:a16="http://schemas.microsoft.com/office/drawing/2014/main" id="{A095EDC6-9EC6-AD3F-0DBC-6C5161F35B8A}"/>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4" name="Arrow: Pentagon 13">
              <a:extLst>
                <a:ext uri="{FF2B5EF4-FFF2-40B4-BE49-F238E27FC236}">
                  <a16:creationId xmlns:a16="http://schemas.microsoft.com/office/drawing/2014/main" id="{4A1C24AA-1E71-7B74-ED84-D047F2A3F1E5}"/>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6" name="Arrow: Pentagon 15">
              <a:extLst>
                <a:ext uri="{FF2B5EF4-FFF2-40B4-BE49-F238E27FC236}">
                  <a16:creationId xmlns:a16="http://schemas.microsoft.com/office/drawing/2014/main" id="{C9598630-94B1-28B8-E98E-2C9268BE0AC2}"/>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14044512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0378C-2143-EE8D-EA06-56857968639F}"/>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99A4373E-03CB-A318-8170-72A74EC29E0E}"/>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Lottery</a:t>
            </a:r>
          </a:p>
        </p:txBody>
      </p:sp>
      <p:sp>
        <p:nvSpPr>
          <p:cNvPr id="31" name="Rectangle 30">
            <a:extLst>
              <a:ext uri="{FF2B5EF4-FFF2-40B4-BE49-F238E27FC236}">
                <a16:creationId xmlns:a16="http://schemas.microsoft.com/office/drawing/2014/main" id="{2E48B3A7-8CB8-2202-396B-E7206130FEBF}"/>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“Bad seat”</a:t>
            </a:r>
          </a:p>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(Broken screen, Seat does not recline, No power outlet)</a:t>
            </a:r>
          </a:p>
        </p:txBody>
      </p:sp>
      <p:sp>
        <p:nvSpPr>
          <p:cNvPr id="2" name="Title 1">
            <a:extLst>
              <a:ext uri="{FF2B5EF4-FFF2-40B4-BE49-F238E27FC236}">
                <a16:creationId xmlns:a16="http://schemas.microsoft.com/office/drawing/2014/main" id="{B7E7AB62-66C9-8BD9-1FD5-26FB5B7314C8}"/>
              </a:ext>
            </a:extLst>
          </p:cNvPr>
          <p:cNvSpPr>
            <a:spLocks noGrp="1"/>
          </p:cNvSpPr>
          <p:nvPr>
            <p:ph type="title"/>
          </p:nvPr>
        </p:nvSpPr>
        <p:spPr/>
        <p:txBody>
          <a:bodyPr/>
          <a:lstStyle/>
          <a:p>
            <a:r>
              <a:rPr lang="en-US" noProof="0" dirty="0"/>
              <a:t>Measuring the Utility of a “Bad Seat”</a:t>
            </a:r>
          </a:p>
        </p:txBody>
      </p:sp>
      <p:sp>
        <p:nvSpPr>
          <p:cNvPr id="4" name="Slide Number Placeholder 3">
            <a:extLst>
              <a:ext uri="{FF2B5EF4-FFF2-40B4-BE49-F238E27FC236}">
                <a16:creationId xmlns:a16="http://schemas.microsoft.com/office/drawing/2014/main" id="{4B89AF68-3333-A1ED-9987-27283CA5A44F}"/>
              </a:ext>
            </a:extLst>
          </p:cNvPr>
          <p:cNvSpPr>
            <a:spLocks noGrp="1"/>
          </p:cNvSpPr>
          <p:nvPr>
            <p:ph type="sldNum" sz="quarter" idx="4"/>
          </p:nvPr>
        </p:nvSpPr>
        <p:spPr/>
        <p:txBody>
          <a:bodyPr/>
          <a:lstStyle/>
          <a:p>
            <a:fld id="{B5CEABB6-07DC-46E8-9B57-56EC44A396E5}" type="slidenum">
              <a:rPr lang="en-US" noProof="0" smtClean="0"/>
              <a:pPr/>
              <a:t>47</a:t>
            </a:fld>
            <a:endParaRPr lang="en-US" noProof="0" dirty="0"/>
          </a:p>
        </p:txBody>
      </p:sp>
      <p:sp>
        <p:nvSpPr>
          <p:cNvPr id="5" name="Table Placeholder 4">
            <a:extLst>
              <a:ext uri="{FF2B5EF4-FFF2-40B4-BE49-F238E27FC236}">
                <a16:creationId xmlns:a16="http://schemas.microsoft.com/office/drawing/2014/main" id="{406585C1-C375-049C-8D82-B54BD7BD0D64}"/>
              </a:ext>
            </a:extLst>
          </p:cNvPr>
          <p:cNvSpPr>
            <a:spLocks noGrp="1"/>
          </p:cNvSpPr>
          <p:nvPr>
            <p:ph type="tbl" sz="quarter" idx="11"/>
          </p:nvPr>
        </p:nvSpPr>
        <p:spPr>
          <a:xfrm>
            <a:off x="467139" y="1093305"/>
            <a:ext cx="11258636" cy="735496"/>
          </a:xfrm>
        </p:spPr>
        <p:txBody>
          <a:bodyPr/>
          <a:lstStyle/>
          <a:p>
            <a:r>
              <a:rPr lang="en-US" dirty="0"/>
              <a:t>Please r</a:t>
            </a:r>
            <a:r>
              <a:rPr lang="en-US" noProof="0" dirty="0" err="1"/>
              <a:t>aise</a:t>
            </a:r>
            <a:r>
              <a:rPr lang="en-US" noProof="0" dirty="0"/>
              <a:t> your hand when you feel indifferent with varying P.</a:t>
            </a:r>
          </a:p>
        </p:txBody>
      </p:sp>
      <p:pic>
        <p:nvPicPr>
          <p:cNvPr id="13" name="Picture 12" descr="A black background with a black square&#10;&#10;AI-generated content may be incorrect.">
            <a:extLst>
              <a:ext uri="{FF2B5EF4-FFF2-40B4-BE49-F238E27FC236}">
                <a16:creationId xmlns:a16="http://schemas.microsoft.com/office/drawing/2014/main" id="{0DBD69DA-2A13-A56A-04E1-A6A43703230C}"/>
              </a:ext>
            </a:extLst>
          </p:cNvPr>
          <p:cNvPicPr>
            <a:picLocks noChangeAspect="1"/>
          </p:cNvPicPr>
          <p:nvPr/>
        </p:nvPicPr>
        <p:blipFill>
          <a:blip r:embed="rId3"/>
          <a:stretch>
            <a:fillRect/>
          </a:stretch>
        </p:blipFill>
        <p:spPr>
          <a:xfrm>
            <a:off x="9655395" y="2727826"/>
            <a:ext cx="1709076" cy="1709076"/>
          </a:xfrm>
          <a:prstGeom prst="rect">
            <a:avLst/>
          </a:prstGeom>
        </p:spPr>
      </p:pic>
      <p:pic>
        <p:nvPicPr>
          <p:cNvPr id="15" name="Picture 14" descr="A black background with a black square&#10;&#10;AI-generated content may be incorrect.">
            <a:extLst>
              <a:ext uri="{FF2B5EF4-FFF2-40B4-BE49-F238E27FC236}">
                <a16:creationId xmlns:a16="http://schemas.microsoft.com/office/drawing/2014/main" id="{F5D7E1A0-66C7-6C66-E54C-5BF8F37A3DFF}"/>
              </a:ext>
            </a:extLst>
          </p:cNvPr>
          <p:cNvPicPr>
            <a:picLocks noChangeAspect="1"/>
          </p:cNvPicPr>
          <p:nvPr/>
        </p:nvPicPr>
        <p:blipFill>
          <a:blip r:embed="rId4"/>
          <a:stretch>
            <a:fillRect/>
          </a:stretch>
        </p:blipFill>
        <p:spPr>
          <a:xfrm>
            <a:off x="6414168" y="4047559"/>
            <a:ext cx="1061482" cy="1061482"/>
          </a:xfrm>
          <a:prstGeom prst="rect">
            <a:avLst/>
          </a:prstGeom>
        </p:spPr>
      </p:pic>
      <p:pic>
        <p:nvPicPr>
          <p:cNvPr id="19" name="Picture 18" descr="A black background with a black square&#10;&#10;AI-generated content may be incorrect.">
            <a:extLst>
              <a:ext uri="{FF2B5EF4-FFF2-40B4-BE49-F238E27FC236}">
                <a16:creationId xmlns:a16="http://schemas.microsoft.com/office/drawing/2014/main" id="{2D95007B-2346-F4FF-A184-B7AD0E4915FC}"/>
              </a:ext>
            </a:extLst>
          </p:cNvPr>
          <p:cNvPicPr>
            <a:picLocks noChangeAspect="1"/>
          </p:cNvPicPr>
          <p:nvPr/>
        </p:nvPicPr>
        <p:blipFill>
          <a:blip r:embed="rId5"/>
          <a:stretch>
            <a:fillRect/>
          </a:stretch>
        </p:blipFill>
        <p:spPr>
          <a:xfrm>
            <a:off x="7419849" y="2893307"/>
            <a:ext cx="1412459" cy="1412459"/>
          </a:xfrm>
          <a:prstGeom prst="rect">
            <a:avLst/>
          </a:prstGeom>
        </p:spPr>
      </p:pic>
      <p:grpSp>
        <p:nvGrpSpPr>
          <p:cNvPr id="23" name="Group 22">
            <a:extLst>
              <a:ext uri="{FF2B5EF4-FFF2-40B4-BE49-F238E27FC236}">
                <a16:creationId xmlns:a16="http://schemas.microsoft.com/office/drawing/2014/main" id="{2B782368-FC5D-8AFB-B163-CFD1A9F34422}"/>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CBAB2038-C2BA-0485-0231-84A8545934CC}"/>
                </a:ext>
              </a:extLst>
            </p:cNvPr>
            <p:cNvPicPr>
              <a:picLocks noChangeAspect="1"/>
            </p:cNvPicPr>
            <p:nvPr/>
          </p:nvPicPr>
          <p:blipFill>
            <a:blip r:embed="rId6"/>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FE4E1772-4ECB-9036-A9E7-2AD608C82E03}"/>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grpSp>
        <p:nvGrpSpPr>
          <p:cNvPr id="30" name="Group 29">
            <a:extLst>
              <a:ext uri="{FF2B5EF4-FFF2-40B4-BE49-F238E27FC236}">
                <a16:creationId xmlns:a16="http://schemas.microsoft.com/office/drawing/2014/main" id="{E29CCCB2-377F-D961-6F6C-B40854CEE5E9}"/>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529B0B42-9F59-24D6-8DF0-C89CFEAD1006}"/>
                </a:ext>
              </a:extLst>
            </p:cNvPr>
            <p:cNvPicPr>
              <a:picLocks noChangeAspect="1"/>
            </p:cNvPicPr>
            <p:nvPr/>
          </p:nvPicPr>
          <p:blipFill>
            <a:blip r:embed="rId7"/>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144008AF-368A-8D4E-C293-067064C5C68E}"/>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9" name="Rectangle 28">
              <a:extLst>
                <a:ext uri="{FF2B5EF4-FFF2-40B4-BE49-F238E27FC236}">
                  <a16:creationId xmlns:a16="http://schemas.microsoft.com/office/drawing/2014/main" id="{00B6A6E6-4CE6-8F91-AC4F-4A90157191BB}"/>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cxnSp>
        <p:nvCxnSpPr>
          <p:cNvPr id="34" name="Straight Connector 33">
            <a:extLst>
              <a:ext uri="{FF2B5EF4-FFF2-40B4-BE49-F238E27FC236}">
                <a16:creationId xmlns:a16="http://schemas.microsoft.com/office/drawing/2014/main" id="{3624F354-59AA-5A30-9EE3-BB2C0BB023C8}"/>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436338F1-A79D-2067-1711-C65FAE3FDE7A}"/>
              </a:ext>
            </a:extLst>
          </p:cNvPr>
          <p:cNvSpPr txBox="1"/>
          <p:nvPr/>
        </p:nvSpPr>
        <p:spPr>
          <a:xfrm>
            <a:off x="6218963"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No flight</a:t>
            </a:r>
          </a:p>
        </p:txBody>
      </p:sp>
      <p:sp>
        <p:nvSpPr>
          <p:cNvPr id="36" name="TextBox 35">
            <a:extLst>
              <a:ext uri="{FF2B5EF4-FFF2-40B4-BE49-F238E27FC236}">
                <a16:creationId xmlns:a16="http://schemas.microsoft.com/office/drawing/2014/main" id="{A436E7D4-8AD4-8F73-F2D2-D0E047593BF6}"/>
              </a:ext>
            </a:extLst>
          </p:cNvPr>
          <p:cNvSpPr txBox="1"/>
          <p:nvPr/>
        </p:nvSpPr>
        <p:spPr>
          <a:xfrm>
            <a:off x="9041765"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First Class</a:t>
            </a:r>
          </a:p>
        </p:txBody>
      </p:sp>
      <p:sp>
        <p:nvSpPr>
          <p:cNvPr id="37" name="Rectangle 36">
            <a:extLst>
              <a:ext uri="{FF2B5EF4-FFF2-40B4-BE49-F238E27FC236}">
                <a16:creationId xmlns:a16="http://schemas.microsoft.com/office/drawing/2014/main" id="{AEFF8037-0EF0-BC42-EC86-8953AA30C4B0}"/>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I am indifferent between the bad seat and the lottery</a:t>
            </a:r>
          </a:p>
        </p:txBody>
      </p:sp>
      <p:sp>
        <p:nvSpPr>
          <p:cNvPr id="38" name="Thought Bubble: Cloud 37">
            <a:extLst>
              <a:ext uri="{FF2B5EF4-FFF2-40B4-BE49-F238E27FC236}">
                <a16:creationId xmlns:a16="http://schemas.microsoft.com/office/drawing/2014/main" id="{F57A601B-151B-7F42-2A86-2C0B346D90D9}"/>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40" name="Thought Bubble: Cloud 39">
            <a:extLst>
              <a:ext uri="{FF2B5EF4-FFF2-40B4-BE49-F238E27FC236}">
                <a16:creationId xmlns:a16="http://schemas.microsoft.com/office/drawing/2014/main" id="{66714EB2-0EED-CDF1-DB67-0DDAC9EE5D7C}"/>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3" name="TextBox 2">
            <a:extLst>
              <a:ext uri="{FF2B5EF4-FFF2-40B4-BE49-F238E27FC236}">
                <a16:creationId xmlns:a16="http://schemas.microsoft.com/office/drawing/2014/main" id="{5A391CEE-F738-A88F-F3C8-7006A294126F}"/>
              </a:ext>
            </a:extLst>
          </p:cNvPr>
          <p:cNvSpPr txBox="1"/>
          <p:nvPr/>
        </p:nvSpPr>
        <p:spPr>
          <a:xfrm>
            <a:off x="9608079" y="4853154"/>
            <a:ext cx="2103120" cy="492443"/>
          </a:xfrm>
          <a:prstGeom prst="rect">
            <a:avLst/>
          </a:prstGeom>
          <a:noFill/>
        </p:spPr>
        <p:txBody>
          <a:bodyPr wrap="square" lIns="0" tIns="0" rIns="0" bIns="0">
            <a:spAutoFit/>
          </a:bodyPr>
          <a:lstStyle/>
          <a:p>
            <a:pPr algn="r"/>
            <a:r>
              <a:rPr lang="en-US" sz="3200" b="1" dirty="0">
                <a:latin typeface="Arial" panose="020B0604020202020204" pitchFamily="34" charset="0"/>
                <a:ea typeface="Meiryo" panose="020B0604030504040204" pitchFamily="34" charset="-128"/>
                <a:cs typeface="Arial" panose="020B0604020202020204" pitchFamily="34" charset="0"/>
              </a:rPr>
              <a:t>0</a:t>
            </a:r>
            <a:r>
              <a:rPr lang="en-US" sz="3200" b="1" noProof="0" dirty="0">
                <a:latin typeface="Arial" panose="020B0604020202020204" pitchFamily="34" charset="0"/>
                <a:ea typeface="Meiryo" panose="020B0604030504040204" pitchFamily="34" charset="-128"/>
                <a:cs typeface="Arial" panose="020B0604020202020204" pitchFamily="34" charset="0"/>
              </a:rPr>
              <a:t>％</a:t>
            </a:r>
          </a:p>
        </p:txBody>
      </p:sp>
      <p:sp>
        <p:nvSpPr>
          <p:cNvPr id="6" name="TextBox 5">
            <a:extLst>
              <a:ext uri="{FF2B5EF4-FFF2-40B4-BE49-F238E27FC236}">
                <a16:creationId xmlns:a16="http://schemas.microsoft.com/office/drawing/2014/main" id="{AD3C7098-A709-36BB-E543-3CD4F25C8B0A}"/>
              </a:ext>
            </a:extLst>
          </p:cNvPr>
          <p:cNvSpPr txBox="1"/>
          <p:nvPr/>
        </p:nvSpPr>
        <p:spPr>
          <a:xfrm>
            <a:off x="7233785" y="4853154"/>
            <a:ext cx="1721445" cy="492443"/>
          </a:xfrm>
          <a:prstGeom prst="rect">
            <a:avLst/>
          </a:prstGeom>
          <a:noFill/>
        </p:spPr>
        <p:txBody>
          <a:bodyPr wrap="square" lIns="0" tIns="0" rIns="0" bIns="0">
            <a:spAutoFit/>
          </a:bodyPr>
          <a:lstStyle/>
          <a:p>
            <a:pPr algn="r"/>
            <a:r>
              <a:rPr lang="en-US" sz="3200" b="1" dirty="0">
                <a:latin typeface="Arial" panose="020B0604020202020204" pitchFamily="34" charset="0"/>
                <a:ea typeface="Meiryo" panose="020B0604030504040204" pitchFamily="34" charset="-128"/>
                <a:cs typeface="Arial" panose="020B0604020202020204" pitchFamily="34" charset="0"/>
              </a:rPr>
              <a:t>100</a:t>
            </a:r>
            <a:r>
              <a:rPr lang="en-US" sz="3200" b="1" noProof="0" dirty="0">
                <a:latin typeface="Arial" panose="020B0604020202020204" pitchFamily="34" charset="0"/>
                <a:ea typeface="Meiryo" panose="020B0604030504040204" pitchFamily="34" charset="-128"/>
                <a:cs typeface="Arial" panose="020B0604020202020204" pitchFamily="34" charset="0"/>
              </a:rPr>
              <a:t>％</a:t>
            </a:r>
          </a:p>
        </p:txBody>
      </p:sp>
      <p:grpSp>
        <p:nvGrpSpPr>
          <p:cNvPr id="7" name="Group 6">
            <a:extLst>
              <a:ext uri="{FF2B5EF4-FFF2-40B4-BE49-F238E27FC236}">
                <a16:creationId xmlns:a16="http://schemas.microsoft.com/office/drawing/2014/main" id="{3A9C9E35-5B8B-E6D9-3DD7-76128EAEF80C}"/>
              </a:ext>
            </a:extLst>
          </p:cNvPr>
          <p:cNvGrpSpPr/>
          <p:nvPr/>
        </p:nvGrpSpPr>
        <p:grpSpPr>
          <a:xfrm>
            <a:off x="467139" y="108959"/>
            <a:ext cx="4197304" cy="307297"/>
            <a:chOff x="562270" y="127168"/>
            <a:chExt cx="4197304" cy="307297"/>
          </a:xfrm>
        </p:grpSpPr>
        <p:sp>
          <p:nvSpPr>
            <p:cNvPr id="9" name="Arrow: Pentagon 8">
              <a:extLst>
                <a:ext uri="{FF2B5EF4-FFF2-40B4-BE49-F238E27FC236}">
                  <a16:creationId xmlns:a16="http://schemas.microsoft.com/office/drawing/2014/main" id="{FAFE7565-CF99-1E71-CC9A-DB48BC4229E2}"/>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4" name="Arrow: Pentagon 13">
              <a:extLst>
                <a:ext uri="{FF2B5EF4-FFF2-40B4-BE49-F238E27FC236}">
                  <a16:creationId xmlns:a16="http://schemas.microsoft.com/office/drawing/2014/main" id="{12899984-0E91-EED5-DD5C-F523634275CD}"/>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6" name="Arrow: Pentagon 15">
              <a:extLst>
                <a:ext uri="{FF2B5EF4-FFF2-40B4-BE49-F238E27FC236}">
                  <a16:creationId xmlns:a16="http://schemas.microsoft.com/office/drawing/2014/main" id="{4178CAEB-8805-8FED-7F57-9A25E4850E31}"/>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11600137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8176B-EE9C-93F9-262D-95501EBBD0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153245-AE01-B378-7367-B397950E035D}"/>
              </a:ext>
            </a:extLst>
          </p:cNvPr>
          <p:cNvSpPr>
            <a:spLocks noGrp="1"/>
          </p:cNvSpPr>
          <p:nvPr>
            <p:ph type="title"/>
          </p:nvPr>
        </p:nvSpPr>
        <p:spPr/>
        <p:txBody>
          <a:bodyPr/>
          <a:lstStyle/>
          <a:p>
            <a:r>
              <a:rPr lang="en-US" noProof="0" dirty="0"/>
              <a:t>Measuring the Utility of a “Bad Seat”</a:t>
            </a:r>
          </a:p>
        </p:txBody>
      </p:sp>
      <p:sp>
        <p:nvSpPr>
          <p:cNvPr id="4" name="Slide Number Placeholder 3">
            <a:extLst>
              <a:ext uri="{FF2B5EF4-FFF2-40B4-BE49-F238E27FC236}">
                <a16:creationId xmlns:a16="http://schemas.microsoft.com/office/drawing/2014/main" id="{9A2831A3-D488-3177-7848-E286EAB136A2}"/>
              </a:ext>
            </a:extLst>
          </p:cNvPr>
          <p:cNvSpPr>
            <a:spLocks noGrp="1"/>
          </p:cNvSpPr>
          <p:nvPr>
            <p:ph type="sldNum" sz="quarter" idx="4"/>
          </p:nvPr>
        </p:nvSpPr>
        <p:spPr/>
        <p:txBody>
          <a:bodyPr/>
          <a:lstStyle/>
          <a:p>
            <a:fld id="{B5CEABB6-07DC-46E8-9B57-56EC44A396E5}" type="slidenum">
              <a:rPr lang="en-US" noProof="0" smtClean="0"/>
              <a:pPr/>
              <a:t>48</a:t>
            </a:fld>
            <a:endParaRPr lang="en-US" noProof="0" dirty="0"/>
          </a:p>
        </p:txBody>
      </p:sp>
      <p:sp>
        <p:nvSpPr>
          <p:cNvPr id="5" name="Table Placeholder 4">
            <a:extLst>
              <a:ext uri="{FF2B5EF4-FFF2-40B4-BE49-F238E27FC236}">
                <a16:creationId xmlns:a16="http://schemas.microsoft.com/office/drawing/2014/main" id="{F7585261-90D5-30E1-3891-ADD4970ABB6F}"/>
              </a:ext>
            </a:extLst>
          </p:cNvPr>
          <p:cNvSpPr>
            <a:spLocks noGrp="1"/>
          </p:cNvSpPr>
          <p:nvPr>
            <p:ph type="tbl" sz="quarter" idx="11"/>
          </p:nvPr>
        </p:nvSpPr>
        <p:spPr/>
        <p:txBody>
          <a:bodyPr/>
          <a:lstStyle/>
          <a:p>
            <a:r>
              <a:rPr lang="en-US" noProof="0" dirty="0"/>
              <a:t>When you are indifferent, the utility of the bad seat equals the expected utility of the lottery — this is the Standard Gamble method.</a:t>
            </a:r>
          </a:p>
        </p:txBody>
      </p:sp>
      <p:sp>
        <p:nvSpPr>
          <p:cNvPr id="37" name="Rectangle 36">
            <a:extLst>
              <a:ext uri="{FF2B5EF4-FFF2-40B4-BE49-F238E27FC236}">
                <a16:creationId xmlns:a16="http://schemas.microsoft.com/office/drawing/2014/main" id="{23CA13AF-FB22-7695-F64F-21DD5EF0549C}"/>
              </a:ext>
            </a:extLst>
          </p:cNvPr>
          <p:cNvSpPr/>
          <p:nvPr/>
        </p:nvSpPr>
        <p:spPr>
          <a:xfrm>
            <a:off x="466220" y="5516804"/>
            <a:ext cx="5503422" cy="1043999"/>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Utility of a “Bad Seat” × 100%</a:t>
            </a:r>
          </a:p>
        </p:txBody>
      </p:sp>
      <p:sp>
        <p:nvSpPr>
          <p:cNvPr id="7" name="Rectangle 6">
            <a:extLst>
              <a:ext uri="{FF2B5EF4-FFF2-40B4-BE49-F238E27FC236}">
                <a16:creationId xmlns:a16="http://schemas.microsoft.com/office/drawing/2014/main" id="{AF2B3474-1B29-85C5-D923-C96B2479ADCD}"/>
              </a:ext>
            </a:extLst>
          </p:cNvPr>
          <p:cNvSpPr/>
          <p:nvPr/>
        </p:nvSpPr>
        <p:spPr>
          <a:xfrm>
            <a:off x="6342434" y="5516804"/>
            <a:ext cx="2489874" cy="1043999"/>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0 × (100-P%)</a:t>
            </a:r>
          </a:p>
        </p:txBody>
      </p:sp>
      <p:sp>
        <p:nvSpPr>
          <p:cNvPr id="9" name="Rectangle 8">
            <a:extLst>
              <a:ext uri="{FF2B5EF4-FFF2-40B4-BE49-F238E27FC236}">
                <a16:creationId xmlns:a16="http://schemas.microsoft.com/office/drawing/2014/main" id="{24FFAA6C-50AA-1D4F-A461-0CE97144BDC6}"/>
              </a:ext>
            </a:extLst>
          </p:cNvPr>
          <p:cNvSpPr/>
          <p:nvPr/>
        </p:nvSpPr>
        <p:spPr>
          <a:xfrm>
            <a:off x="9114816" y="5516804"/>
            <a:ext cx="2489875" cy="1043999"/>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1 × P%</a:t>
            </a:r>
          </a:p>
        </p:txBody>
      </p:sp>
      <p:sp>
        <p:nvSpPr>
          <p:cNvPr id="14" name="Oval 13">
            <a:extLst>
              <a:ext uri="{FF2B5EF4-FFF2-40B4-BE49-F238E27FC236}">
                <a16:creationId xmlns:a16="http://schemas.microsoft.com/office/drawing/2014/main" id="{23CE6A5A-1BD4-1EB7-D5FE-0101CD1CA3C8}"/>
              </a:ext>
            </a:extLst>
          </p:cNvPr>
          <p:cNvSpPr/>
          <p:nvPr/>
        </p:nvSpPr>
        <p:spPr>
          <a:xfrm>
            <a:off x="5917959" y="5810203"/>
            <a:ext cx="457200" cy="457200"/>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16" name="Oval 15">
            <a:extLst>
              <a:ext uri="{FF2B5EF4-FFF2-40B4-BE49-F238E27FC236}">
                <a16:creationId xmlns:a16="http://schemas.microsoft.com/office/drawing/2014/main" id="{9558617C-E364-08E0-D601-F1BF706C3864}"/>
              </a:ext>
            </a:extLst>
          </p:cNvPr>
          <p:cNvSpPr/>
          <p:nvPr/>
        </p:nvSpPr>
        <p:spPr>
          <a:xfrm>
            <a:off x="8757610" y="5810203"/>
            <a:ext cx="457200" cy="457200"/>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17" name="Rectangle 16">
            <a:extLst>
              <a:ext uri="{FF2B5EF4-FFF2-40B4-BE49-F238E27FC236}">
                <a16:creationId xmlns:a16="http://schemas.microsoft.com/office/drawing/2014/main" id="{D64282FF-C555-C067-9684-99816D6236BF}"/>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Lottery</a:t>
            </a:r>
          </a:p>
        </p:txBody>
      </p:sp>
      <p:sp>
        <p:nvSpPr>
          <p:cNvPr id="18" name="Rectangle 17">
            <a:extLst>
              <a:ext uri="{FF2B5EF4-FFF2-40B4-BE49-F238E27FC236}">
                <a16:creationId xmlns:a16="http://schemas.microsoft.com/office/drawing/2014/main" id="{71941AC9-E234-1494-98F3-1E7A4220E974}"/>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“Bad seat”</a:t>
            </a:r>
          </a:p>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(Broken screen, Seat does not recline, No power outlet)</a:t>
            </a:r>
          </a:p>
        </p:txBody>
      </p:sp>
      <p:pic>
        <p:nvPicPr>
          <p:cNvPr id="20" name="Picture 19" descr="A black background with a black square&#10;&#10;AI-generated content may be incorrect.">
            <a:extLst>
              <a:ext uri="{FF2B5EF4-FFF2-40B4-BE49-F238E27FC236}">
                <a16:creationId xmlns:a16="http://schemas.microsoft.com/office/drawing/2014/main" id="{37BE5CFD-B0E6-AF95-1068-8D7C1171C5AA}"/>
              </a:ext>
            </a:extLst>
          </p:cNvPr>
          <p:cNvPicPr>
            <a:picLocks noChangeAspect="1"/>
          </p:cNvPicPr>
          <p:nvPr/>
        </p:nvPicPr>
        <p:blipFill>
          <a:blip r:embed="rId3"/>
          <a:stretch>
            <a:fillRect/>
          </a:stretch>
        </p:blipFill>
        <p:spPr>
          <a:xfrm>
            <a:off x="9655395" y="2727826"/>
            <a:ext cx="1709076" cy="1709076"/>
          </a:xfrm>
          <a:prstGeom prst="rect">
            <a:avLst/>
          </a:prstGeom>
        </p:spPr>
      </p:pic>
      <p:pic>
        <p:nvPicPr>
          <p:cNvPr id="24" name="Picture 23" descr="A black background with a black square&#10;&#10;AI-generated content may be incorrect.">
            <a:extLst>
              <a:ext uri="{FF2B5EF4-FFF2-40B4-BE49-F238E27FC236}">
                <a16:creationId xmlns:a16="http://schemas.microsoft.com/office/drawing/2014/main" id="{F4864618-39CC-4063-0783-DDFB06BC165E}"/>
              </a:ext>
            </a:extLst>
          </p:cNvPr>
          <p:cNvPicPr>
            <a:picLocks noChangeAspect="1"/>
          </p:cNvPicPr>
          <p:nvPr/>
        </p:nvPicPr>
        <p:blipFill>
          <a:blip r:embed="rId4"/>
          <a:stretch>
            <a:fillRect/>
          </a:stretch>
        </p:blipFill>
        <p:spPr>
          <a:xfrm>
            <a:off x="6414168" y="4047559"/>
            <a:ext cx="1061482" cy="1061482"/>
          </a:xfrm>
          <a:prstGeom prst="rect">
            <a:avLst/>
          </a:prstGeom>
        </p:spPr>
      </p:pic>
      <p:pic>
        <p:nvPicPr>
          <p:cNvPr id="25" name="Picture 24" descr="A black background with a black square&#10;&#10;AI-generated content may be incorrect.">
            <a:extLst>
              <a:ext uri="{FF2B5EF4-FFF2-40B4-BE49-F238E27FC236}">
                <a16:creationId xmlns:a16="http://schemas.microsoft.com/office/drawing/2014/main" id="{CD10510D-4116-0608-C17C-0324B02FAAE0}"/>
              </a:ext>
            </a:extLst>
          </p:cNvPr>
          <p:cNvPicPr>
            <a:picLocks noChangeAspect="1"/>
          </p:cNvPicPr>
          <p:nvPr/>
        </p:nvPicPr>
        <p:blipFill>
          <a:blip r:embed="rId5"/>
          <a:stretch>
            <a:fillRect/>
          </a:stretch>
        </p:blipFill>
        <p:spPr>
          <a:xfrm>
            <a:off x="7419849" y="2893307"/>
            <a:ext cx="1412459" cy="1412459"/>
          </a:xfrm>
          <a:prstGeom prst="rect">
            <a:avLst/>
          </a:prstGeom>
        </p:spPr>
      </p:pic>
      <p:grpSp>
        <p:nvGrpSpPr>
          <p:cNvPr id="26" name="Group 25">
            <a:extLst>
              <a:ext uri="{FF2B5EF4-FFF2-40B4-BE49-F238E27FC236}">
                <a16:creationId xmlns:a16="http://schemas.microsoft.com/office/drawing/2014/main" id="{23CC68C4-9375-19FF-2474-9B7ABE6BFEF2}"/>
              </a:ext>
            </a:extLst>
          </p:cNvPr>
          <p:cNvGrpSpPr/>
          <p:nvPr/>
        </p:nvGrpSpPr>
        <p:grpSpPr>
          <a:xfrm>
            <a:off x="858465" y="3477941"/>
            <a:ext cx="1657636" cy="1657636"/>
            <a:chOff x="1546294" y="2665495"/>
            <a:chExt cx="1657636" cy="1657636"/>
          </a:xfrm>
        </p:grpSpPr>
        <p:pic>
          <p:nvPicPr>
            <p:cNvPr id="33" name="Picture 32" descr="A black background with a black square&#10;&#10;AI-generated content may be incorrect.">
              <a:extLst>
                <a:ext uri="{FF2B5EF4-FFF2-40B4-BE49-F238E27FC236}">
                  <a16:creationId xmlns:a16="http://schemas.microsoft.com/office/drawing/2014/main" id="{31282FAD-B9D3-89F7-1864-712220EE265F}"/>
                </a:ext>
              </a:extLst>
            </p:cNvPr>
            <p:cNvPicPr>
              <a:picLocks noChangeAspect="1"/>
            </p:cNvPicPr>
            <p:nvPr/>
          </p:nvPicPr>
          <p:blipFill>
            <a:blip r:embed="rId6"/>
            <a:stretch>
              <a:fillRect/>
            </a:stretch>
          </p:blipFill>
          <p:spPr>
            <a:xfrm>
              <a:off x="1546294" y="2665495"/>
              <a:ext cx="1657636" cy="1657636"/>
            </a:xfrm>
            <a:prstGeom prst="rect">
              <a:avLst/>
            </a:prstGeom>
          </p:spPr>
        </p:pic>
        <p:sp>
          <p:nvSpPr>
            <p:cNvPr id="39" name="Rectangle: Rounded Corners 38">
              <a:extLst>
                <a:ext uri="{FF2B5EF4-FFF2-40B4-BE49-F238E27FC236}">
                  <a16:creationId xmlns:a16="http://schemas.microsoft.com/office/drawing/2014/main" id="{7DF0C724-7BBF-5561-DE0D-F3EDC39191D5}"/>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grpSp>
        <p:nvGrpSpPr>
          <p:cNvPr id="41" name="Group 40">
            <a:extLst>
              <a:ext uri="{FF2B5EF4-FFF2-40B4-BE49-F238E27FC236}">
                <a16:creationId xmlns:a16="http://schemas.microsoft.com/office/drawing/2014/main" id="{084174B7-5CC2-39CE-0651-C03F8F95C01C}"/>
              </a:ext>
            </a:extLst>
          </p:cNvPr>
          <p:cNvGrpSpPr/>
          <p:nvPr/>
        </p:nvGrpSpPr>
        <p:grpSpPr>
          <a:xfrm>
            <a:off x="3390096" y="3255199"/>
            <a:ext cx="2103120" cy="2103120"/>
            <a:chOff x="2289307" y="1894224"/>
            <a:chExt cx="4877481" cy="4877481"/>
          </a:xfrm>
        </p:grpSpPr>
        <p:pic>
          <p:nvPicPr>
            <p:cNvPr id="42" name="Picture 41" descr="A black background with a black square&#10;&#10;AI-generated content may be incorrect.">
              <a:extLst>
                <a:ext uri="{FF2B5EF4-FFF2-40B4-BE49-F238E27FC236}">
                  <a16:creationId xmlns:a16="http://schemas.microsoft.com/office/drawing/2014/main" id="{A995FEA6-4F06-C021-26E5-9FAE12E05B35}"/>
                </a:ext>
              </a:extLst>
            </p:cNvPr>
            <p:cNvPicPr>
              <a:picLocks noChangeAspect="1"/>
            </p:cNvPicPr>
            <p:nvPr/>
          </p:nvPicPr>
          <p:blipFill>
            <a:blip r:embed="rId7"/>
            <a:stretch>
              <a:fillRect/>
            </a:stretch>
          </p:blipFill>
          <p:spPr>
            <a:xfrm>
              <a:off x="2289307" y="1894224"/>
              <a:ext cx="4877481" cy="4877481"/>
            </a:xfrm>
            <a:prstGeom prst="rect">
              <a:avLst/>
            </a:prstGeom>
          </p:spPr>
        </p:pic>
        <p:sp>
          <p:nvSpPr>
            <p:cNvPr id="43" name="Rectangle 42">
              <a:extLst>
                <a:ext uri="{FF2B5EF4-FFF2-40B4-BE49-F238E27FC236}">
                  <a16:creationId xmlns:a16="http://schemas.microsoft.com/office/drawing/2014/main" id="{8518DE20-EA4A-A229-359F-A95F58CAA00A}"/>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44" name="Rectangle 43">
              <a:extLst>
                <a:ext uri="{FF2B5EF4-FFF2-40B4-BE49-F238E27FC236}">
                  <a16:creationId xmlns:a16="http://schemas.microsoft.com/office/drawing/2014/main" id="{B8D5AA1E-4E51-CBBB-8D09-ADB71C7C29A5}"/>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cxnSp>
        <p:nvCxnSpPr>
          <p:cNvPr id="45" name="Straight Connector 44">
            <a:extLst>
              <a:ext uri="{FF2B5EF4-FFF2-40B4-BE49-F238E27FC236}">
                <a16:creationId xmlns:a16="http://schemas.microsoft.com/office/drawing/2014/main" id="{C4706C6B-5E2E-BDC4-2CA1-7FA871448C10}"/>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7EFCC81A-0B5E-B327-F1B8-A7D0C68D6D4A}"/>
              </a:ext>
            </a:extLst>
          </p:cNvPr>
          <p:cNvSpPr txBox="1"/>
          <p:nvPr/>
        </p:nvSpPr>
        <p:spPr>
          <a:xfrm>
            <a:off x="6218963"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No flight</a:t>
            </a:r>
          </a:p>
        </p:txBody>
      </p:sp>
      <p:sp>
        <p:nvSpPr>
          <p:cNvPr id="47" name="TextBox 46">
            <a:extLst>
              <a:ext uri="{FF2B5EF4-FFF2-40B4-BE49-F238E27FC236}">
                <a16:creationId xmlns:a16="http://schemas.microsoft.com/office/drawing/2014/main" id="{49F51592-6CEC-363C-B9FF-CD776489CAC9}"/>
              </a:ext>
            </a:extLst>
          </p:cNvPr>
          <p:cNvSpPr txBox="1"/>
          <p:nvPr/>
        </p:nvSpPr>
        <p:spPr>
          <a:xfrm>
            <a:off x="9041765" y="2298078"/>
            <a:ext cx="2684015" cy="369332"/>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First Class</a:t>
            </a:r>
          </a:p>
        </p:txBody>
      </p:sp>
      <p:sp>
        <p:nvSpPr>
          <p:cNvPr id="48" name="Thought Bubble: Cloud 47">
            <a:extLst>
              <a:ext uri="{FF2B5EF4-FFF2-40B4-BE49-F238E27FC236}">
                <a16:creationId xmlns:a16="http://schemas.microsoft.com/office/drawing/2014/main" id="{118BE48D-234B-BC51-8AFA-CBAEA324608B}"/>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49" name="Thought Bubble: Cloud 48">
            <a:extLst>
              <a:ext uri="{FF2B5EF4-FFF2-40B4-BE49-F238E27FC236}">
                <a16:creationId xmlns:a16="http://schemas.microsoft.com/office/drawing/2014/main" id="{787B5EEE-0DE8-2B1A-4C64-F920F48E99B3}"/>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50" name="TextBox 49">
            <a:extLst>
              <a:ext uri="{FF2B5EF4-FFF2-40B4-BE49-F238E27FC236}">
                <a16:creationId xmlns:a16="http://schemas.microsoft.com/office/drawing/2014/main" id="{D0D37300-3662-1E48-CB81-78DED0982933}"/>
              </a:ext>
            </a:extLst>
          </p:cNvPr>
          <p:cNvSpPr txBox="1"/>
          <p:nvPr/>
        </p:nvSpPr>
        <p:spPr>
          <a:xfrm>
            <a:off x="9608079" y="4853154"/>
            <a:ext cx="2103120" cy="492443"/>
          </a:xfrm>
          <a:prstGeom prst="rect">
            <a:avLst/>
          </a:prstGeom>
          <a:noFill/>
        </p:spPr>
        <p:txBody>
          <a:bodyPr wrap="square" lIns="0" tIns="0" rIns="0" bIns="0">
            <a:spAutoFit/>
          </a:bodyPr>
          <a:lstStyle/>
          <a:p>
            <a:pPr algn="r"/>
            <a:r>
              <a:rPr lang="en-US" sz="3200" b="1" noProof="0" dirty="0">
                <a:latin typeface="Arial" panose="020B0604020202020204" pitchFamily="34" charset="0"/>
                <a:ea typeface="Meiryo" panose="020B0604030504040204" pitchFamily="34" charset="-128"/>
                <a:cs typeface="Arial" panose="020B0604020202020204" pitchFamily="34" charset="0"/>
              </a:rPr>
              <a:t>P％</a:t>
            </a:r>
          </a:p>
        </p:txBody>
      </p:sp>
      <p:sp>
        <p:nvSpPr>
          <p:cNvPr id="51" name="TextBox 50">
            <a:extLst>
              <a:ext uri="{FF2B5EF4-FFF2-40B4-BE49-F238E27FC236}">
                <a16:creationId xmlns:a16="http://schemas.microsoft.com/office/drawing/2014/main" id="{49D734C7-68A5-B183-B9CB-AC1EFA0FB5C8}"/>
              </a:ext>
            </a:extLst>
          </p:cNvPr>
          <p:cNvSpPr txBox="1"/>
          <p:nvPr/>
        </p:nvSpPr>
        <p:spPr>
          <a:xfrm>
            <a:off x="7233785" y="4853154"/>
            <a:ext cx="1721445" cy="492443"/>
          </a:xfrm>
          <a:prstGeom prst="rect">
            <a:avLst/>
          </a:prstGeom>
          <a:noFill/>
        </p:spPr>
        <p:txBody>
          <a:bodyPr wrap="square" lIns="0" tIns="0" rIns="0" bIns="0">
            <a:spAutoFit/>
          </a:bodyPr>
          <a:lstStyle/>
          <a:p>
            <a:pPr algn="r"/>
            <a:r>
              <a:rPr lang="en-US" sz="3200" b="1" noProof="0" dirty="0">
                <a:latin typeface="Arial" panose="020B0604020202020204" pitchFamily="34" charset="0"/>
                <a:ea typeface="Meiryo" panose="020B0604030504040204" pitchFamily="34" charset="-128"/>
                <a:cs typeface="Arial" panose="020B0604020202020204" pitchFamily="34" charset="0"/>
              </a:rPr>
              <a:t>100-P％</a:t>
            </a:r>
          </a:p>
        </p:txBody>
      </p:sp>
      <p:grpSp>
        <p:nvGrpSpPr>
          <p:cNvPr id="52" name="Group 51">
            <a:extLst>
              <a:ext uri="{FF2B5EF4-FFF2-40B4-BE49-F238E27FC236}">
                <a16:creationId xmlns:a16="http://schemas.microsoft.com/office/drawing/2014/main" id="{895EDBDC-4E0C-A949-CFCC-3393A7C34A96}"/>
              </a:ext>
            </a:extLst>
          </p:cNvPr>
          <p:cNvGrpSpPr/>
          <p:nvPr/>
        </p:nvGrpSpPr>
        <p:grpSpPr>
          <a:xfrm>
            <a:off x="467139" y="108959"/>
            <a:ext cx="4197304" cy="307297"/>
            <a:chOff x="562270" y="127168"/>
            <a:chExt cx="4197304" cy="307297"/>
          </a:xfrm>
        </p:grpSpPr>
        <p:sp>
          <p:nvSpPr>
            <p:cNvPr id="53" name="Arrow: Pentagon 52">
              <a:extLst>
                <a:ext uri="{FF2B5EF4-FFF2-40B4-BE49-F238E27FC236}">
                  <a16:creationId xmlns:a16="http://schemas.microsoft.com/office/drawing/2014/main" id="{33CBBA2B-9F9F-2DF7-F985-D19BC53A7A62}"/>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54" name="Arrow: Pentagon 53">
              <a:extLst>
                <a:ext uri="{FF2B5EF4-FFF2-40B4-BE49-F238E27FC236}">
                  <a16:creationId xmlns:a16="http://schemas.microsoft.com/office/drawing/2014/main" id="{9D01E6C7-5EC4-63C1-4C62-44022C18D961}"/>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55" name="Arrow: Pentagon 54">
              <a:extLst>
                <a:ext uri="{FF2B5EF4-FFF2-40B4-BE49-F238E27FC236}">
                  <a16:creationId xmlns:a16="http://schemas.microsoft.com/office/drawing/2014/main" id="{7BF54488-13A6-5DBD-58C5-DAA9EFF546EA}"/>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1990292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A94BC-BFA1-0848-63F9-62174BCE9F38}"/>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7D9D1CF3-6162-7FC6-5978-C5BED71D83FD}"/>
              </a:ext>
            </a:extLst>
          </p:cNvPr>
          <p:cNvSpPr/>
          <p:nvPr/>
        </p:nvSpPr>
        <p:spPr>
          <a:xfrm>
            <a:off x="5451623" y="5971600"/>
            <a:ext cx="1651154"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30%</a:t>
            </a:r>
          </a:p>
        </p:txBody>
      </p:sp>
      <p:sp>
        <p:nvSpPr>
          <p:cNvPr id="11" name="Rectangle 10">
            <a:extLst>
              <a:ext uri="{FF2B5EF4-FFF2-40B4-BE49-F238E27FC236}">
                <a16:creationId xmlns:a16="http://schemas.microsoft.com/office/drawing/2014/main" id="{FB5E5439-6410-17BB-A499-59A91D78EAD9}"/>
              </a:ext>
            </a:extLst>
          </p:cNvPr>
          <p:cNvSpPr/>
          <p:nvPr/>
        </p:nvSpPr>
        <p:spPr>
          <a:xfrm>
            <a:off x="5451623" y="5338818"/>
            <a:ext cx="1651154"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70%</a:t>
            </a:r>
          </a:p>
        </p:txBody>
      </p:sp>
      <p:sp>
        <p:nvSpPr>
          <p:cNvPr id="3" name="Rectangle 2">
            <a:extLst>
              <a:ext uri="{FF2B5EF4-FFF2-40B4-BE49-F238E27FC236}">
                <a16:creationId xmlns:a16="http://schemas.microsoft.com/office/drawing/2014/main" id="{1D331EDE-9052-F9B3-78F7-5D1AC65FE73E}"/>
              </a:ext>
            </a:extLst>
          </p:cNvPr>
          <p:cNvSpPr/>
          <p:nvPr/>
        </p:nvSpPr>
        <p:spPr>
          <a:xfrm>
            <a:off x="5451623" y="3686482"/>
            <a:ext cx="1651154"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80%</a:t>
            </a:r>
          </a:p>
        </p:txBody>
      </p:sp>
      <p:sp>
        <p:nvSpPr>
          <p:cNvPr id="2" name="Title 1">
            <a:extLst>
              <a:ext uri="{FF2B5EF4-FFF2-40B4-BE49-F238E27FC236}">
                <a16:creationId xmlns:a16="http://schemas.microsoft.com/office/drawing/2014/main" id="{5EC818CB-E715-3AA0-A9A8-26A3D9DE5010}"/>
              </a:ext>
            </a:extLst>
          </p:cNvPr>
          <p:cNvSpPr>
            <a:spLocks noGrp="1"/>
          </p:cNvSpPr>
          <p:nvPr>
            <p:ph type="title"/>
          </p:nvPr>
        </p:nvSpPr>
        <p:spPr/>
        <p:txBody>
          <a:bodyPr/>
          <a:lstStyle/>
          <a:p>
            <a:r>
              <a:rPr lang="en-US" noProof="0" dirty="0"/>
              <a:t>Choosing a Flight Seat Class — Plugging in Model Inputs</a:t>
            </a:r>
          </a:p>
        </p:txBody>
      </p:sp>
      <p:sp>
        <p:nvSpPr>
          <p:cNvPr id="4" name="Slide Number Placeholder 3">
            <a:extLst>
              <a:ext uri="{FF2B5EF4-FFF2-40B4-BE49-F238E27FC236}">
                <a16:creationId xmlns:a16="http://schemas.microsoft.com/office/drawing/2014/main" id="{BCD758A5-CC6E-3ED5-27F8-51F07CC6E593}"/>
              </a:ext>
            </a:extLst>
          </p:cNvPr>
          <p:cNvSpPr>
            <a:spLocks noGrp="1"/>
          </p:cNvSpPr>
          <p:nvPr>
            <p:ph type="sldNum" sz="quarter" idx="4"/>
          </p:nvPr>
        </p:nvSpPr>
        <p:spPr/>
        <p:txBody>
          <a:bodyPr/>
          <a:lstStyle/>
          <a:p>
            <a:fld id="{B5CEABB6-07DC-46E8-9B57-56EC44A396E5}" type="slidenum">
              <a:rPr lang="en-US" noProof="0" smtClean="0"/>
              <a:pPr/>
              <a:t>49</a:t>
            </a:fld>
            <a:endParaRPr lang="en-US" noProof="0" dirty="0"/>
          </a:p>
        </p:txBody>
      </p:sp>
      <p:sp>
        <p:nvSpPr>
          <p:cNvPr id="5" name="Table Placeholder 4">
            <a:extLst>
              <a:ext uri="{FF2B5EF4-FFF2-40B4-BE49-F238E27FC236}">
                <a16:creationId xmlns:a16="http://schemas.microsoft.com/office/drawing/2014/main" id="{60F9813E-F480-1E18-D661-CCD6ECB94B35}"/>
              </a:ext>
            </a:extLst>
          </p:cNvPr>
          <p:cNvSpPr>
            <a:spLocks noGrp="1"/>
          </p:cNvSpPr>
          <p:nvPr>
            <p:ph type="tbl" sz="quarter" idx="11"/>
          </p:nvPr>
        </p:nvSpPr>
        <p:spPr/>
        <p:txBody>
          <a:bodyPr/>
          <a:lstStyle/>
          <a:p>
            <a:r>
              <a:rPr lang="en-US" noProof="0" dirty="0"/>
              <a:t>Assume the following values have been obtained.</a:t>
            </a:r>
          </a:p>
        </p:txBody>
      </p:sp>
      <p:sp>
        <p:nvSpPr>
          <p:cNvPr id="116" name="Rectangle 115">
            <a:extLst>
              <a:ext uri="{FF2B5EF4-FFF2-40B4-BE49-F238E27FC236}">
                <a16:creationId xmlns:a16="http://schemas.microsoft.com/office/drawing/2014/main" id="{90C44B06-58F1-62AF-E110-1595C93C4322}"/>
              </a:ext>
            </a:extLst>
          </p:cNvPr>
          <p:cNvSpPr/>
          <p:nvPr/>
        </p:nvSpPr>
        <p:spPr>
          <a:xfrm>
            <a:off x="10709893" y="6168892"/>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0.5</a:t>
            </a:r>
          </a:p>
        </p:txBody>
      </p:sp>
      <p:sp>
        <p:nvSpPr>
          <p:cNvPr id="10" name="Rectangle 9">
            <a:extLst>
              <a:ext uri="{FF2B5EF4-FFF2-40B4-BE49-F238E27FC236}">
                <a16:creationId xmlns:a16="http://schemas.microsoft.com/office/drawing/2014/main" id="{D9382F00-4939-7302-3C2E-F7A74737BFD8}"/>
              </a:ext>
            </a:extLst>
          </p:cNvPr>
          <p:cNvSpPr/>
          <p:nvPr/>
        </p:nvSpPr>
        <p:spPr>
          <a:xfrm>
            <a:off x="5451623" y="4320186"/>
            <a:ext cx="1651154"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20%</a:t>
            </a:r>
          </a:p>
        </p:txBody>
      </p:sp>
      <p:grpSp>
        <p:nvGrpSpPr>
          <p:cNvPr id="15" name="Group 14">
            <a:extLst>
              <a:ext uri="{FF2B5EF4-FFF2-40B4-BE49-F238E27FC236}">
                <a16:creationId xmlns:a16="http://schemas.microsoft.com/office/drawing/2014/main" id="{A684380B-0744-40EF-5B9C-EA0477506B40}"/>
              </a:ext>
            </a:extLst>
          </p:cNvPr>
          <p:cNvGrpSpPr/>
          <p:nvPr/>
        </p:nvGrpSpPr>
        <p:grpSpPr>
          <a:xfrm>
            <a:off x="467139" y="108959"/>
            <a:ext cx="4197304" cy="307297"/>
            <a:chOff x="562270" y="127168"/>
            <a:chExt cx="4197304" cy="307297"/>
          </a:xfrm>
        </p:grpSpPr>
        <p:sp>
          <p:nvSpPr>
            <p:cNvPr id="18" name="Arrow: Pentagon 17">
              <a:extLst>
                <a:ext uri="{FF2B5EF4-FFF2-40B4-BE49-F238E27FC236}">
                  <a16:creationId xmlns:a16="http://schemas.microsoft.com/office/drawing/2014/main" id="{5B64B6CF-1223-9516-638B-9D749CA8BF2A}"/>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9" name="Arrow: Pentagon 18">
              <a:extLst>
                <a:ext uri="{FF2B5EF4-FFF2-40B4-BE49-F238E27FC236}">
                  <a16:creationId xmlns:a16="http://schemas.microsoft.com/office/drawing/2014/main" id="{C7C214C1-E830-7343-1901-259F808BF6DA}"/>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20" name="Arrow: Pentagon 19">
              <a:extLst>
                <a:ext uri="{FF2B5EF4-FFF2-40B4-BE49-F238E27FC236}">
                  <a16:creationId xmlns:a16="http://schemas.microsoft.com/office/drawing/2014/main" id="{8215AC79-34B9-DD56-5DEA-4178B3564F66}"/>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
        <p:nvSpPr>
          <p:cNvPr id="22" name="Rectangle 21">
            <a:extLst>
              <a:ext uri="{FF2B5EF4-FFF2-40B4-BE49-F238E27FC236}">
                <a16:creationId xmlns:a16="http://schemas.microsoft.com/office/drawing/2014/main" id="{579838DC-C6C6-FF74-EA43-18AAD49126E4}"/>
              </a:ext>
            </a:extLst>
          </p:cNvPr>
          <p:cNvSpPr/>
          <p:nvPr/>
        </p:nvSpPr>
        <p:spPr>
          <a:xfrm>
            <a:off x="2725083" y="5660747"/>
            <a:ext cx="1722045" cy="2413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Economy</a:t>
            </a:r>
          </a:p>
        </p:txBody>
      </p:sp>
      <p:sp>
        <p:nvSpPr>
          <p:cNvPr id="23" name="Rectangle 22">
            <a:extLst>
              <a:ext uri="{FF2B5EF4-FFF2-40B4-BE49-F238E27FC236}">
                <a16:creationId xmlns:a16="http://schemas.microsoft.com/office/drawing/2014/main" id="{3CBC4635-0EDE-B081-A5B7-B3189EB6EF4B}"/>
              </a:ext>
            </a:extLst>
          </p:cNvPr>
          <p:cNvSpPr/>
          <p:nvPr/>
        </p:nvSpPr>
        <p:spPr>
          <a:xfrm>
            <a:off x="2197575" y="4193324"/>
            <a:ext cx="243840" cy="260714"/>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4" name="Oval 23">
            <a:extLst>
              <a:ext uri="{FF2B5EF4-FFF2-40B4-BE49-F238E27FC236}">
                <a16:creationId xmlns:a16="http://schemas.microsoft.com/office/drawing/2014/main" id="{17254C93-4938-6B3D-38D4-D1D0B6454B1C}"/>
              </a:ext>
            </a:extLst>
          </p:cNvPr>
          <p:cNvSpPr/>
          <p:nvPr/>
        </p:nvSpPr>
        <p:spPr>
          <a:xfrm>
            <a:off x="5132583" y="4179717"/>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25" name="Connector: Elbow 24">
            <a:extLst>
              <a:ext uri="{FF2B5EF4-FFF2-40B4-BE49-F238E27FC236}">
                <a16:creationId xmlns:a16="http://schemas.microsoft.com/office/drawing/2014/main" id="{DDB2A2B9-FE07-EAB2-22AF-FEEBBA0FD3FE}"/>
              </a:ext>
            </a:extLst>
          </p:cNvPr>
          <p:cNvCxnSpPr>
            <a:cxnSpLocks/>
            <a:stCxn id="23" idx="0"/>
            <a:endCxn id="26" idx="0"/>
          </p:cNvCxnSpPr>
          <p:nvPr/>
        </p:nvCxnSpPr>
        <p:spPr>
          <a:xfrm rot="5400000" flipH="1" flipV="1">
            <a:off x="3920980" y="1136905"/>
            <a:ext cx="1454934" cy="4657905"/>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6" name="Isosceles Triangle 25">
            <a:extLst>
              <a:ext uri="{FF2B5EF4-FFF2-40B4-BE49-F238E27FC236}">
                <a16:creationId xmlns:a16="http://schemas.microsoft.com/office/drawing/2014/main" id="{52EC36D4-B093-D6F4-7C86-D38D7289F65D}"/>
              </a:ext>
            </a:extLst>
          </p:cNvPr>
          <p:cNvSpPr/>
          <p:nvPr/>
        </p:nvSpPr>
        <p:spPr>
          <a:xfrm rot="16200000">
            <a:off x="6977400" y="2601230"/>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27" name="Straight Connector 26">
            <a:extLst>
              <a:ext uri="{FF2B5EF4-FFF2-40B4-BE49-F238E27FC236}">
                <a16:creationId xmlns:a16="http://schemas.microsoft.com/office/drawing/2014/main" id="{ABB8B2B0-22FE-85C2-C6C6-289DB9FB7B53}"/>
              </a:ext>
            </a:extLst>
          </p:cNvPr>
          <p:cNvCxnSpPr>
            <a:cxnSpLocks/>
            <a:stCxn id="23" idx="1"/>
          </p:cNvCxnSpPr>
          <p:nvPr/>
        </p:nvCxnSpPr>
        <p:spPr>
          <a:xfrm flipH="1">
            <a:off x="562170" y="4323681"/>
            <a:ext cx="163540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DAA7EDB9-466A-5367-05FF-C8E0ADACC035}"/>
              </a:ext>
            </a:extLst>
          </p:cNvPr>
          <p:cNvSpPr/>
          <p:nvPr/>
        </p:nvSpPr>
        <p:spPr>
          <a:xfrm>
            <a:off x="2725083" y="3951838"/>
            <a:ext cx="1722045"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Business</a:t>
            </a:r>
          </a:p>
        </p:txBody>
      </p:sp>
      <p:sp>
        <p:nvSpPr>
          <p:cNvPr id="29" name="Rectangle 28">
            <a:extLst>
              <a:ext uri="{FF2B5EF4-FFF2-40B4-BE49-F238E27FC236}">
                <a16:creationId xmlns:a16="http://schemas.microsoft.com/office/drawing/2014/main" id="{9E771DD2-9A11-3657-3FC2-82DC9C551255}"/>
              </a:ext>
            </a:extLst>
          </p:cNvPr>
          <p:cNvSpPr/>
          <p:nvPr/>
        </p:nvSpPr>
        <p:spPr>
          <a:xfrm>
            <a:off x="2725083" y="2806370"/>
            <a:ext cx="1722045"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First class</a:t>
            </a:r>
          </a:p>
        </p:txBody>
      </p:sp>
      <p:sp>
        <p:nvSpPr>
          <p:cNvPr id="30" name="Rectangle 29">
            <a:extLst>
              <a:ext uri="{FF2B5EF4-FFF2-40B4-BE49-F238E27FC236}">
                <a16:creationId xmlns:a16="http://schemas.microsoft.com/office/drawing/2014/main" id="{B389F54A-566A-46CC-7D3A-AAF72BC9E6F4}"/>
              </a:ext>
            </a:extLst>
          </p:cNvPr>
          <p:cNvSpPr/>
          <p:nvPr/>
        </p:nvSpPr>
        <p:spPr>
          <a:xfrm>
            <a:off x="516394" y="3744187"/>
            <a:ext cx="1635405" cy="5143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ea typeface="Meiryo UI" panose="020B0604030504040204" pitchFamily="50" charset="-128"/>
                <a:cs typeface="Arial" panose="020B0604020202020204" pitchFamily="34" charset="0"/>
              </a:rPr>
              <a:t>Choose a seat</a:t>
            </a:r>
            <a:endPar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1" name="Rectangle 30">
            <a:extLst>
              <a:ext uri="{FF2B5EF4-FFF2-40B4-BE49-F238E27FC236}">
                <a16:creationId xmlns:a16="http://schemas.microsoft.com/office/drawing/2014/main" id="{5DD1EDAC-A410-D3FA-4393-D04BC90B47FA}"/>
              </a:ext>
            </a:extLst>
          </p:cNvPr>
          <p:cNvSpPr/>
          <p:nvPr/>
        </p:nvSpPr>
        <p:spPr>
          <a:xfrm>
            <a:off x="9316972" y="2049149"/>
            <a:ext cx="1059461" cy="3270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Cost ($)</a:t>
            </a:r>
          </a:p>
        </p:txBody>
      </p:sp>
      <p:grpSp>
        <p:nvGrpSpPr>
          <p:cNvPr id="32" name="Group 31">
            <a:extLst>
              <a:ext uri="{FF2B5EF4-FFF2-40B4-BE49-F238E27FC236}">
                <a16:creationId xmlns:a16="http://schemas.microsoft.com/office/drawing/2014/main" id="{463BDCC6-797A-6357-3FAC-8FB97FF6B4E8}"/>
              </a:ext>
            </a:extLst>
          </p:cNvPr>
          <p:cNvGrpSpPr/>
          <p:nvPr/>
        </p:nvGrpSpPr>
        <p:grpSpPr>
          <a:xfrm>
            <a:off x="639567" y="2110711"/>
            <a:ext cx="4915051" cy="308921"/>
            <a:chOff x="4911850" y="6335733"/>
            <a:chExt cx="4450234" cy="292745"/>
          </a:xfrm>
        </p:grpSpPr>
        <p:sp>
          <p:nvSpPr>
            <p:cNvPr id="33" name="Rectangle 32">
              <a:extLst>
                <a:ext uri="{FF2B5EF4-FFF2-40B4-BE49-F238E27FC236}">
                  <a16:creationId xmlns:a16="http://schemas.microsoft.com/office/drawing/2014/main" id="{218B5564-8F79-B84E-4B26-47BB785213F6}"/>
                </a:ext>
              </a:extLst>
            </p:cNvPr>
            <p:cNvSpPr/>
            <p:nvPr/>
          </p:nvSpPr>
          <p:spPr>
            <a:xfrm>
              <a:off x="4911850" y="6352525"/>
              <a:ext cx="243840" cy="260714"/>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8" name="Rectangle 37">
              <a:extLst>
                <a:ext uri="{FF2B5EF4-FFF2-40B4-BE49-F238E27FC236}">
                  <a16:creationId xmlns:a16="http://schemas.microsoft.com/office/drawing/2014/main" id="{EE210736-D848-8FC6-0BFC-CBF362CF8EC1}"/>
                </a:ext>
              </a:extLst>
            </p:cNvPr>
            <p:cNvSpPr/>
            <p:nvPr/>
          </p:nvSpPr>
          <p:spPr>
            <a:xfrm>
              <a:off x="5187533"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Decision</a:t>
              </a:r>
            </a:p>
          </p:txBody>
        </p:sp>
        <p:sp>
          <p:nvSpPr>
            <p:cNvPr id="39" name="Oval 38">
              <a:extLst>
                <a:ext uri="{FF2B5EF4-FFF2-40B4-BE49-F238E27FC236}">
                  <a16:creationId xmlns:a16="http://schemas.microsoft.com/office/drawing/2014/main" id="{F1046825-1269-CAE8-B9A3-A2D5E6B0CBC9}"/>
                </a:ext>
              </a:extLst>
            </p:cNvPr>
            <p:cNvSpPr/>
            <p:nvPr/>
          </p:nvSpPr>
          <p:spPr>
            <a:xfrm>
              <a:off x="6258310" y="6338919"/>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40" name="Rectangle 39">
              <a:extLst>
                <a:ext uri="{FF2B5EF4-FFF2-40B4-BE49-F238E27FC236}">
                  <a16:creationId xmlns:a16="http://schemas.microsoft.com/office/drawing/2014/main" id="{A612B3B0-CF1B-3F0D-C980-CF235D37D83C}"/>
                </a:ext>
              </a:extLst>
            </p:cNvPr>
            <p:cNvSpPr/>
            <p:nvPr/>
          </p:nvSpPr>
          <p:spPr>
            <a:xfrm>
              <a:off x="6546010" y="6335733"/>
              <a:ext cx="1495274" cy="2515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Chance event</a:t>
              </a:r>
            </a:p>
          </p:txBody>
        </p:sp>
        <p:sp>
          <p:nvSpPr>
            <p:cNvPr id="41" name="Isosceles Triangle 40">
              <a:extLst>
                <a:ext uri="{FF2B5EF4-FFF2-40B4-BE49-F238E27FC236}">
                  <a16:creationId xmlns:a16="http://schemas.microsoft.com/office/drawing/2014/main" id="{FF5FB20D-D4C9-D806-C6E9-AF46C074701C}"/>
                </a:ext>
              </a:extLst>
            </p:cNvPr>
            <p:cNvSpPr/>
            <p:nvPr/>
          </p:nvSpPr>
          <p:spPr>
            <a:xfrm rot="16200000">
              <a:off x="7990054" y="6354158"/>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42" name="Rectangle 41">
              <a:extLst>
                <a:ext uri="{FF2B5EF4-FFF2-40B4-BE49-F238E27FC236}">
                  <a16:creationId xmlns:a16="http://schemas.microsoft.com/office/drawing/2014/main" id="{9F3A75FA-172D-5055-EF11-3C7A15AEE1E1}"/>
                </a:ext>
              </a:extLst>
            </p:cNvPr>
            <p:cNvSpPr/>
            <p:nvPr/>
          </p:nvSpPr>
          <p:spPr>
            <a:xfrm>
              <a:off x="8269374"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Outcomes</a:t>
              </a:r>
            </a:p>
          </p:txBody>
        </p:sp>
      </p:grpSp>
      <p:cxnSp>
        <p:nvCxnSpPr>
          <p:cNvPr id="43" name="Connector: Elbow 42">
            <a:extLst>
              <a:ext uri="{FF2B5EF4-FFF2-40B4-BE49-F238E27FC236}">
                <a16:creationId xmlns:a16="http://schemas.microsoft.com/office/drawing/2014/main" id="{02D7A1B3-2C2D-BCEB-59F2-0849CA0FC2E7}"/>
              </a:ext>
            </a:extLst>
          </p:cNvPr>
          <p:cNvCxnSpPr>
            <a:cxnSpLocks/>
            <a:stCxn id="24" idx="0"/>
            <a:endCxn id="44" idx="0"/>
          </p:cNvCxnSpPr>
          <p:nvPr/>
        </p:nvCxnSpPr>
        <p:spPr>
          <a:xfrm rot="5400000" flipH="1" flipV="1">
            <a:off x="6038048" y="3240366"/>
            <a:ext cx="171047" cy="1707657"/>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44" name="Isosceles Triangle 43">
            <a:extLst>
              <a:ext uri="{FF2B5EF4-FFF2-40B4-BE49-F238E27FC236}">
                <a16:creationId xmlns:a16="http://schemas.microsoft.com/office/drawing/2014/main" id="{A5ED8E78-8698-0860-74CF-B17CDE32709F}"/>
              </a:ext>
            </a:extLst>
          </p:cNvPr>
          <p:cNvSpPr/>
          <p:nvPr/>
        </p:nvSpPr>
        <p:spPr>
          <a:xfrm rot="16200000">
            <a:off x="6977400" y="3871510"/>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45" name="Isosceles Triangle 44">
            <a:extLst>
              <a:ext uri="{FF2B5EF4-FFF2-40B4-BE49-F238E27FC236}">
                <a16:creationId xmlns:a16="http://schemas.microsoft.com/office/drawing/2014/main" id="{C42B3E84-2461-A523-B438-BA153856FB5A}"/>
              </a:ext>
            </a:extLst>
          </p:cNvPr>
          <p:cNvSpPr/>
          <p:nvPr/>
        </p:nvSpPr>
        <p:spPr>
          <a:xfrm rot="16200000">
            <a:off x="6977400" y="4498475"/>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47" name="Connector: Elbow 46">
            <a:extLst>
              <a:ext uri="{FF2B5EF4-FFF2-40B4-BE49-F238E27FC236}">
                <a16:creationId xmlns:a16="http://schemas.microsoft.com/office/drawing/2014/main" id="{19982F97-B518-3C89-5048-52DCBC7E4346}"/>
              </a:ext>
            </a:extLst>
          </p:cNvPr>
          <p:cNvCxnSpPr>
            <a:cxnSpLocks/>
            <a:stCxn id="24" idx="4"/>
            <a:endCxn id="45" idx="0"/>
          </p:cNvCxnSpPr>
          <p:nvPr/>
        </p:nvCxnSpPr>
        <p:spPr>
          <a:xfrm rot="16200000" flipH="1">
            <a:off x="6032772" y="3691007"/>
            <a:ext cx="181598" cy="1707657"/>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BCCCF4B-D4FE-8E5B-5504-9D97B2ECE49C}"/>
              </a:ext>
            </a:extLst>
          </p:cNvPr>
          <p:cNvCxnSpPr>
            <a:cxnSpLocks/>
            <a:stCxn id="24" idx="2"/>
            <a:endCxn id="23" idx="3"/>
          </p:cNvCxnSpPr>
          <p:nvPr/>
        </p:nvCxnSpPr>
        <p:spPr>
          <a:xfrm flipH="1">
            <a:off x="2441415" y="4316877"/>
            <a:ext cx="2691168" cy="68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8C3A2992-D632-8A61-950B-4E4E50895D7B}"/>
              </a:ext>
            </a:extLst>
          </p:cNvPr>
          <p:cNvSpPr/>
          <p:nvPr/>
        </p:nvSpPr>
        <p:spPr>
          <a:xfrm>
            <a:off x="10580357" y="2049149"/>
            <a:ext cx="1043878" cy="3270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Comfort</a:t>
            </a:r>
          </a:p>
        </p:txBody>
      </p:sp>
      <p:cxnSp>
        <p:nvCxnSpPr>
          <p:cNvPr id="58" name="Straight Connector 57">
            <a:extLst>
              <a:ext uri="{FF2B5EF4-FFF2-40B4-BE49-F238E27FC236}">
                <a16:creationId xmlns:a16="http://schemas.microsoft.com/office/drawing/2014/main" id="{7DAEE02A-1484-876B-0603-52D2928CB463}"/>
              </a:ext>
            </a:extLst>
          </p:cNvPr>
          <p:cNvCxnSpPr>
            <a:cxnSpLocks/>
          </p:cNvCxnSpPr>
          <p:nvPr/>
        </p:nvCxnSpPr>
        <p:spPr>
          <a:xfrm>
            <a:off x="9240618" y="2422048"/>
            <a:ext cx="12121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CD70877D-6F79-CF8D-CBAD-DD7DE41882C0}"/>
              </a:ext>
            </a:extLst>
          </p:cNvPr>
          <p:cNvCxnSpPr>
            <a:cxnSpLocks/>
          </p:cNvCxnSpPr>
          <p:nvPr/>
        </p:nvCxnSpPr>
        <p:spPr>
          <a:xfrm>
            <a:off x="10580356" y="2422048"/>
            <a:ext cx="12121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D8327CE2-53B6-059C-74BF-3541A1314250}"/>
              </a:ext>
            </a:extLst>
          </p:cNvPr>
          <p:cNvCxnSpPr>
            <a:cxnSpLocks/>
            <a:stCxn id="23" idx="2"/>
            <a:endCxn id="61" idx="2"/>
          </p:cNvCxnSpPr>
          <p:nvPr/>
        </p:nvCxnSpPr>
        <p:spPr>
          <a:xfrm rot="16200000" flipH="1">
            <a:off x="2960102" y="3813430"/>
            <a:ext cx="1531875" cy="2813089"/>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99D65A7F-E58C-62A1-F18A-0437A390CCC3}"/>
              </a:ext>
            </a:extLst>
          </p:cNvPr>
          <p:cNvSpPr/>
          <p:nvPr/>
        </p:nvSpPr>
        <p:spPr>
          <a:xfrm>
            <a:off x="5132584" y="5848753"/>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62" name="Connector: Elbow 61">
            <a:extLst>
              <a:ext uri="{FF2B5EF4-FFF2-40B4-BE49-F238E27FC236}">
                <a16:creationId xmlns:a16="http://schemas.microsoft.com/office/drawing/2014/main" id="{C5D0773A-7B4D-E071-20DB-EE05D62D6D73}"/>
              </a:ext>
            </a:extLst>
          </p:cNvPr>
          <p:cNvCxnSpPr>
            <a:cxnSpLocks/>
            <a:stCxn id="61" idx="0"/>
            <a:endCxn id="63" idx="0"/>
          </p:cNvCxnSpPr>
          <p:nvPr/>
        </p:nvCxnSpPr>
        <p:spPr>
          <a:xfrm rot="5400000" flipH="1" flipV="1">
            <a:off x="6036531" y="4907884"/>
            <a:ext cx="174082" cy="1707656"/>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63" name="Isosceles Triangle 62">
            <a:extLst>
              <a:ext uri="{FF2B5EF4-FFF2-40B4-BE49-F238E27FC236}">
                <a16:creationId xmlns:a16="http://schemas.microsoft.com/office/drawing/2014/main" id="{F7F3DBDC-4B8C-E96F-7C74-9FAC1AEF1367}"/>
              </a:ext>
            </a:extLst>
          </p:cNvPr>
          <p:cNvSpPr/>
          <p:nvPr/>
        </p:nvSpPr>
        <p:spPr>
          <a:xfrm rot="16200000">
            <a:off x="6977400" y="5537511"/>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4" name="Isosceles Triangle 63">
            <a:extLst>
              <a:ext uri="{FF2B5EF4-FFF2-40B4-BE49-F238E27FC236}">
                <a16:creationId xmlns:a16="http://schemas.microsoft.com/office/drawing/2014/main" id="{31FFC033-D598-5B0A-8F77-47414C780D53}"/>
              </a:ext>
            </a:extLst>
          </p:cNvPr>
          <p:cNvSpPr/>
          <p:nvPr/>
        </p:nvSpPr>
        <p:spPr>
          <a:xfrm rot="16200000">
            <a:off x="6977400" y="6164476"/>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65" name="Connector: Elbow 64">
            <a:extLst>
              <a:ext uri="{FF2B5EF4-FFF2-40B4-BE49-F238E27FC236}">
                <a16:creationId xmlns:a16="http://schemas.microsoft.com/office/drawing/2014/main" id="{76097FBF-D455-8ECA-D0F7-208272280A54}"/>
              </a:ext>
            </a:extLst>
          </p:cNvPr>
          <p:cNvCxnSpPr>
            <a:cxnSpLocks/>
            <a:stCxn id="61" idx="4"/>
            <a:endCxn id="64" idx="0"/>
          </p:cNvCxnSpPr>
          <p:nvPr/>
        </p:nvCxnSpPr>
        <p:spPr>
          <a:xfrm rot="16200000" flipH="1">
            <a:off x="6034291" y="5358526"/>
            <a:ext cx="178563" cy="1707656"/>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51408CB0-CCE7-B15F-FA33-8287900982FF}"/>
              </a:ext>
            </a:extLst>
          </p:cNvPr>
          <p:cNvSpPr/>
          <p:nvPr/>
        </p:nvSpPr>
        <p:spPr>
          <a:xfrm>
            <a:off x="9263999" y="2587028"/>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1500</a:t>
            </a:r>
          </a:p>
        </p:txBody>
      </p:sp>
      <p:sp>
        <p:nvSpPr>
          <p:cNvPr id="67" name="Rectangle 66">
            <a:extLst>
              <a:ext uri="{FF2B5EF4-FFF2-40B4-BE49-F238E27FC236}">
                <a16:creationId xmlns:a16="http://schemas.microsoft.com/office/drawing/2014/main" id="{2F434530-5AF9-0210-E80A-CB7D64CB3B87}"/>
              </a:ext>
            </a:extLst>
          </p:cNvPr>
          <p:cNvSpPr/>
          <p:nvPr/>
        </p:nvSpPr>
        <p:spPr>
          <a:xfrm>
            <a:off x="10709893" y="2587028"/>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a:t>
            </a:r>
          </a:p>
        </p:txBody>
      </p:sp>
      <p:sp>
        <p:nvSpPr>
          <p:cNvPr id="68" name="Rectangle 67">
            <a:extLst>
              <a:ext uri="{FF2B5EF4-FFF2-40B4-BE49-F238E27FC236}">
                <a16:creationId xmlns:a16="http://schemas.microsoft.com/office/drawing/2014/main" id="{043024F9-432D-E1D0-8F74-855A21A6E46D}"/>
              </a:ext>
            </a:extLst>
          </p:cNvPr>
          <p:cNvSpPr/>
          <p:nvPr/>
        </p:nvSpPr>
        <p:spPr>
          <a:xfrm>
            <a:off x="9263999" y="3859478"/>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1200</a:t>
            </a:r>
          </a:p>
        </p:txBody>
      </p:sp>
      <p:sp>
        <p:nvSpPr>
          <p:cNvPr id="69" name="Rectangle 68">
            <a:extLst>
              <a:ext uri="{FF2B5EF4-FFF2-40B4-BE49-F238E27FC236}">
                <a16:creationId xmlns:a16="http://schemas.microsoft.com/office/drawing/2014/main" id="{D9C53381-7954-EDB6-18B4-09419639CB0A}"/>
              </a:ext>
            </a:extLst>
          </p:cNvPr>
          <p:cNvSpPr/>
          <p:nvPr/>
        </p:nvSpPr>
        <p:spPr>
          <a:xfrm>
            <a:off x="10709893" y="3859478"/>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a:t>
            </a:r>
          </a:p>
        </p:txBody>
      </p:sp>
      <p:sp>
        <p:nvSpPr>
          <p:cNvPr id="74" name="Rectangle 73">
            <a:extLst>
              <a:ext uri="{FF2B5EF4-FFF2-40B4-BE49-F238E27FC236}">
                <a16:creationId xmlns:a16="http://schemas.microsoft.com/office/drawing/2014/main" id="{9DBD907C-ECE1-940C-C879-0123CA3714AC}"/>
              </a:ext>
            </a:extLst>
          </p:cNvPr>
          <p:cNvSpPr/>
          <p:nvPr/>
        </p:nvSpPr>
        <p:spPr>
          <a:xfrm>
            <a:off x="9263999" y="4498474"/>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1200</a:t>
            </a:r>
          </a:p>
        </p:txBody>
      </p:sp>
      <p:sp>
        <p:nvSpPr>
          <p:cNvPr id="75" name="Rectangle 74">
            <a:extLst>
              <a:ext uri="{FF2B5EF4-FFF2-40B4-BE49-F238E27FC236}">
                <a16:creationId xmlns:a16="http://schemas.microsoft.com/office/drawing/2014/main" id="{23AEB58D-ABC9-6435-CA78-CB174BD79F57}"/>
              </a:ext>
            </a:extLst>
          </p:cNvPr>
          <p:cNvSpPr/>
          <p:nvPr/>
        </p:nvSpPr>
        <p:spPr>
          <a:xfrm>
            <a:off x="10709893" y="4498474"/>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0.8</a:t>
            </a:r>
          </a:p>
        </p:txBody>
      </p:sp>
      <p:sp>
        <p:nvSpPr>
          <p:cNvPr id="78" name="Rectangle 77">
            <a:extLst>
              <a:ext uri="{FF2B5EF4-FFF2-40B4-BE49-F238E27FC236}">
                <a16:creationId xmlns:a16="http://schemas.microsoft.com/office/drawing/2014/main" id="{5AC944C9-9947-30D5-2C5A-B24B84ABA002}"/>
              </a:ext>
            </a:extLst>
          </p:cNvPr>
          <p:cNvSpPr/>
          <p:nvPr/>
        </p:nvSpPr>
        <p:spPr>
          <a:xfrm>
            <a:off x="9408909" y="5537511"/>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750</a:t>
            </a:r>
          </a:p>
        </p:txBody>
      </p:sp>
      <p:sp>
        <p:nvSpPr>
          <p:cNvPr id="79" name="Rectangle 78">
            <a:extLst>
              <a:ext uri="{FF2B5EF4-FFF2-40B4-BE49-F238E27FC236}">
                <a16:creationId xmlns:a16="http://schemas.microsoft.com/office/drawing/2014/main" id="{EED26E46-4CF0-0A71-3638-223B4A05752A}"/>
              </a:ext>
            </a:extLst>
          </p:cNvPr>
          <p:cNvSpPr/>
          <p:nvPr/>
        </p:nvSpPr>
        <p:spPr>
          <a:xfrm>
            <a:off x="10709893" y="5537511"/>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0.8</a:t>
            </a:r>
          </a:p>
        </p:txBody>
      </p:sp>
      <p:sp>
        <p:nvSpPr>
          <p:cNvPr id="80" name="Rectangle 79">
            <a:extLst>
              <a:ext uri="{FF2B5EF4-FFF2-40B4-BE49-F238E27FC236}">
                <a16:creationId xmlns:a16="http://schemas.microsoft.com/office/drawing/2014/main" id="{8E8E2FF2-E7EA-A55B-6CE6-A48B9A351B1A}"/>
              </a:ext>
            </a:extLst>
          </p:cNvPr>
          <p:cNvSpPr/>
          <p:nvPr/>
        </p:nvSpPr>
        <p:spPr>
          <a:xfrm>
            <a:off x="9408909" y="6168892"/>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750</a:t>
            </a:r>
          </a:p>
        </p:txBody>
      </p:sp>
      <p:sp>
        <p:nvSpPr>
          <p:cNvPr id="83" name="Rectangle 82">
            <a:extLst>
              <a:ext uri="{FF2B5EF4-FFF2-40B4-BE49-F238E27FC236}">
                <a16:creationId xmlns:a16="http://schemas.microsoft.com/office/drawing/2014/main" id="{9A29E297-E848-1AA0-E0BA-66C27A4D2DF8}"/>
              </a:ext>
            </a:extLst>
          </p:cNvPr>
          <p:cNvSpPr/>
          <p:nvPr/>
        </p:nvSpPr>
        <p:spPr>
          <a:xfrm>
            <a:off x="7307890" y="2586843"/>
            <a:ext cx="1889429" cy="2743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Comfortable seat</a:t>
            </a:r>
          </a:p>
        </p:txBody>
      </p:sp>
      <p:sp>
        <p:nvSpPr>
          <p:cNvPr id="84" name="Rectangle 83">
            <a:extLst>
              <a:ext uri="{FF2B5EF4-FFF2-40B4-BE49-F238E27FC236}">
                <a16:creationId xmlns:a16="http://schemas.microsoft.com/office/drawing/2014/main" id="{55DA10A4-5694-6BF3-9F50-79F32B5C91BC}"/>
              </a:ext>
            </a:extLst>
          </p:cNvPr>
          <p:cNvSpPr/>
          <p:nvPr/>
        </p:nvSpPr>
        <p:spPr>
          <a:xfrm>
            <a:off x="7307890" y="3871509"/>
            <a:ext cx="1958437" cy="2482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sz="2000" dirty="0">
                <a:solidFill>
                  <a:schemeClr val="tx1"/>
                </a:solidFill>
                <a:latin typeface="Arial" panose="020B0604020202020204" pitchFamily="34" charset="0"/>
                <a:ea typeface="Meiryo UI" panose="020B0604030504040204" pitchFamily="50" charset="-128"/>
                <a:cs typeface="Arial" panose="020B0604020202020204" pitchFamily="34" charset="0"/>
              </a:rPr>
              <a:t>Comfortable seat</a:t>
            </a:r>
          </a:p>
        </p:txBody>
      </p:sp>
      <p:sp>
        <p:nvSpPr>
          <p:cNvPr id="85" name="Rectangle 84">
            <a:extLst>
              <a:ext uri="{FF2B5EF4-FFF2-40B4-BE49-F238E27FC236}">
                <a16:creationId xmlns:a16="http://schemas.microsoft.com/office/drawing/2014/main" id="{A6DCFCD8-27E7-B011-DF96-FE955A43F6B4}"/>
              </a:ext>
            </a:extLst>
          </p:cNvPr>
          <p:cNvSpPr/>
          <p:nvPr/>
        </p:nvSpPr>
        <p:spPr>
          <a:xfrm>
            <a:off x="7307890" y="4498474"/>
            <a:ext cx="1958437" cy="2482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Standard seat</a:t>
            </a:r>
          </a:p>
        </p:txBody>
      </p:sp>
      <p:sp>
        <p:nvSpPr>
          <p:cNvPr id="86" name="Rectangle 85">
            <a:extLst>
              <a:ext uri="{FF2B5EF4-FFF2-40B4-BE49-F238E27FC236}">
                <a16:creationId xmlns:a16="http://schemas.microsoft.com/office/drawing/2014/main" id="{73F897AB-89A8-D520-A610-37820D979343}"/>
              </a:ext>
            </a:extLst>
          </p:cNvPr>
          <p:cNvSpPr/>
          <p:nvPr/>
        </p:nvSpPr>
        <p:spPr>
          <a:xfrm>
            <a:off x="7307890" y="6164475"/>
            <a:ext cx="1958437" cy="2482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Bad seat</a:t>
            </a:r>
          </a:p>
        </p:txBody>
      </p:sp>
      <p:sp>
        <p:nvSpPr>
          <p:cNvPr id="87" name="Rectangle 86">
            <a:extLst>
              <a:ext uri="{FF2B5EF4-FFF2-40B4-BE49-F238E27FC236}">
                <a16:creationId xmlns:a16="http://schemas.microsoft.com/office/drawing/2014/main" id="{462045C6-F6B8-76F7-5235-29BA42B5F60A}"/>
              </a:ext>
            </a:extLst>
          </p:cNvPr>
          <p:cNvSpPr/>
          <p:nvPr/>
        </p:nvSpPr>
        <p:spPr>
          <a:xfrm>
            <a:off x="7307890" y="5537510"/>
            <a:ext cx="1958437" cy="2482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Standard seat</a:t>
            </a:r>
          </a:p>
        </p:txBody>
      </p:sp>
    </p:spTree>
    <p:extLst>
      <p:ext uri="{BB962C8B-B14F-4D97-AF65-F5344CB8AC3E}">
        <p14:creationId xmlns:p14="http://schemas.microsoft.com/office/powerpoint/2010/main" val="10711928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70178-C277-3728-ED20-081284C51883}"/>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78381CA5-8D20-2ED9-CE8E-E8693E9178A1}"/>
              </a:ext>
            </a:extLst>
          </p:cNvPr>
          <p:cNvSpPr/>
          <p:nvPr/>
        </p:nvSpPr>
        <p:spPr>
          <a:xfrm>
            <a:off x="4112936" y="5643610"/>
            <a:ext cx="1127760"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30%</a:t>
            </a:r>
          </a:p>
        </p:txBody>
      </p:sp>
      <p:sp>
        <p:nvSpPr>
          <p:cNvPr id="11" name="Rectangle 10">
            <a:extLst>
              <a:ext uri="{FF2B5EF4-FFF2-40B4-BE49-F238E27FC236}">
                <a16:creationId xmlns:a16="http://schemas.microsoft.com/office/drawing/2014/main" id="{BD75D797-1AA4-51A3-9498-355CB03E186E}"/>
              </a:ext>
            </a:extLst>
          </p:cNvPr>
          <p:cNvSpPr/>
          <p:nvPr/>
        </p:nvSpPr>
        <p:spPr>
          <a:xfrm>
            <a:off x="4112936" y="5010828"/>
            <a:ext cx="1127760"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70%</a:t>
            </a:r>
          </a:p>
        </p:txBody>
      </p:sp>
      <p:sp>
        <p:nvSpPr>
          <p:cNvPr id="3" name="Rectangle 2">
            <a:extLst>
              <a:ext uri="{FF2B5EF4-FFF2-40B4-BE49-F238E27FC236}">
                <a16:creationId xmlns:a16="http://schemas.microsoft.com/office/drawing/2014/main" id="{BD43090B-FDE6-5C4C-779B-42960F1F2F72}"/>
              </a:ext>
            </a:extLst>
          </p:cNvPr>
          <p:cNvSpPr/>
          <p:nvPr/>
        </p:nvSpPr>
        <p:spPr>
          <a:xfrm>
            <a:off x="4112936" y="3378368"/>
            <a:ext cx="1127760"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80%</a:t>
            </a:r>
          </a:p>
        </p:txBody>
      </p:sp>
      <p:sp>
        <p:nvSpPr>
          <p:cNvPr id="2" name="Title 1">
            <a:extLst>
              <a:ext uri="{FF2B5EF4-FFF2-40B4-BE49-F238E27FC236}">
                <a16:creationId xmlns:a16="http://schemas.microsoft.com/office/drawing/2014/main" id="{D9770C7F-36C5-10A2-B9FF-8BA0CAFF1F0E}"/>
              </a:ext>
            </a:extLst>
          </p:cNvPr>
          <p:cNvSpPr>
            <a:spLocks noGrp="1"/>
          </p:cNvSpPr>
          <p:nvPr>
            <p:ph type="title"/>
          </p:nvPr>
        </p:nvSpPr>
        <p:spPr/>
        <p:txBody>
          <a:bodyPr/>
          <a:lstStyle/>
          <a:p>
            <a:r>
              <a:rPr lang="en-US" noProof="0" dirty="0"/>
              <a:t>Choosing a Flight Seat Class — Running the Simulation</a:t>
            </a:r>
          </a:p>
        </p:txBody>
      </p:sp>
      <p:sp>
        <p:nvSpPr>
          <p:cNvPr id="4" name="Slide Number Placeholder 3">
            <a:extLst>
              <a:ext uri="{FF2B5EF4-FFF2-40B4-BE49-F238E27FC236}">
                <a16:creationId xmlns:a16="http://schemas.microsoft.com/office/drawing/2014/main" id="{6AF20B9D-A0B3-5418-124A-2EFF758B7BD7}"/>
              </a:ext>
            </a:extLst>
          </p:cNvPr>
          <p:cNvSpPr>
            <a:spLocks noGrp="1"/>
          </p:cNvSpPr>
          <p:nvPr>
            <p:ph type="sldNum" sz="quarter" idx="4"/>
          </p:nvPr>
        </p:nvSpPr>
        <p:spPr/>
        <p:txBody>
          <a:bodyPr/>
          <a:lstStyle/>
          <a:p>
            <a:fld id="{B5CEABB6-07DC-46E8-9B57-56EC44A396E5}" type="slidenum">
              <a:rPr lang="en-US" noProof="0" smtClean="0"/>
              <a:pPr/>
              <a:t>50</a:t>
            </a:fld>
            <a:endParaRPr lang="en-US" noProof="0" dirty="0"/>
          </a:p>
        </p:txBody>
      </p:sp>
      <p:sp>
        <p:nvSpPr>
          <p:cNvPr id="5" name="Table Placeholder 4">
            <a:extLst>
              <a:ext uri="{FF2B5EF4-FFF2-40B4-BE49-F238E27FC236}">
                <a16:creationId xmlns:a16="http://schemas.microsoft.com/office/drawing/2014/main" id="{5E632D0E-0506-1A80-FA67-04E46D74D496}"/>
              </a:ext>
            </a:extLst>
          </p:cNvPr>
          <p:cNvSpPr>
            <a:spLocks noGrp="1"/>
          </p:cNvSpPr>
          <p:nvPr>
            <p:ph type="tbl" sz="quarter" idx="11"/>
          </p:nvPr>
        </p:nvSpPr>
        <p:spPr/>
        <p:txBody>
          <a:bodyPr/>
          <a:lstStyle/>
          <a:p>
            <a:r>
              <a:rPr lang="en-US" noProof="0" dirty="0"/>
              <a:t>Estimating expected cost and expected comfort.</a:t>
            </a:r>
          </a:p>
        </p:txBody>
      </p:sp>
      <p:sp>
        <p:nvSpPr>
          <p:cNvPr id="13" name="Rectangle 12">
            <a:extLst>
              <a:ext uri="{FF2B5EF4-FFF2-40B4-BE49-F238E27FC236}">
                <a16:creationId xmlns:a16="http://schemas.microsoft.com/office/drawing/2014/main" id="{BCC654EA-C9A9-E3F5-7C46-6B9AC372C6A7}"/>
              </a:ext>
            </a:extLst>
          </p:cNvPr>
          <p:cNvSpPr/>
          <p:nvPr/>
        </p:nvSpPr>
        <p:spPr>
          <a:xfrm>
            <a:off x="1892777" y="3871603"/>
            <a:ext cx="243840" cy="260714"/>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6" name="Oval 15">
            <a:extLst>
              <a:ext uri="{FF2B5EF4-FFF2-40B4-BE49-F238E27FC236}">
                <a16:creationId xmlns:a16="http://schemas.microsoft.com/office/drawing/2014/main" id="{31453B86-63E5-47DB-9D84-FDB296635E78}"/>
              </a:ext>
            </a:extLst>
          </p:cNvPr>
          <p:cNvSpPr/>
          <p:nvPr/>
        </p:nvSpPr>
        <p:spPr>
          <a:xfrm>
            <a:off x="3757742" y="3871603"/>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17" name="Connector: Elbow 16">
            <a:extLst>
              <a:ext uri="{FF2B5EF4-FFF2-40B4-BE49-F238E27FC236}">
                <a16:creationId xmlns:a16="http://schemas.microsoft.com/office/drawing/2014/main" id="{5A61EA8B-FC36-F19A-3F18-E8D3963B3F48}"/>
              </a:ext>
            </a:extLst>
          </p:cNvPr>
          <p:cNvCxnSpPr>
            <a:cxnSpLocks/>
            <a:stCxn id="13" idx="0"/>
            <a:endCxn id="21" idx="0"/>
          </p:cNvCxnSpPr>
          <p:nvPr/>
        </p:nvCxnSpPr>
        <p:spPr>
          <a:xfrm rot="5400000" flipH="1" flipV="1">
            <a:off x="3035849" y="1717239"/>
            <a:ext cx="1133213" cy="3175516"/>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1" name="Isosceles Triangle 20">
            <a:extLst>
              <a:ext uri="{FF2B5EF4-FFF2-40B4-BE49-F238E27FC236}">
                <a16:creationId xmlns:a16="http://schemas.microsoft.com/office/drawing/2014/main" id="{6DAE9691-8D21-357E-26EA-C7BC7A8CD593}"/>
              </a:ext>
            </a:extLst>
          </p:cNvPr>
          <p:cNvSpPr/>
          <p:nvPr/>
        </p:nvSpPr>
        <p:spPr>
          <a:xfrm rot="16200000">
            <a:off x="5190213" y="2601230"/>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34" name="Straight Connector 33">
            <a:extLst>
              <a:ext uri="{FF2B5EF4-FFF2-40B4-BE49-F238E27FC236}">
                <a16:creationId xmlns:a16="http://schemas.microsoft.com/office/drawing/2014/main" id="{EBF59AD3-2104-3494-B245-727B993D5E22}"/>
              </a:ext>
            </a:extLst>
          </p:cNvPr>
          <p:cNvCxnSpPr>
            <a:cxnSpLocks/>
            <a:stCxn id="13" idx="1"/>
          </p:cNvCxnSpPr>
          <p:nvPr/>
        </p:nvCxnSpPr>
        <p:spPr>
          <a:xfrm flipH="1">
            <a:off x="467139" y="4001960"/>
            <a:ext cx="142563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A140142B-2964-6417-A2C1-7CA46AC0F7A0}"/>
              </a:ext>
            </a:extLst>
          </p:cNvPr>
          <p:cNvSpPr/>
          <p:nvPr/>
        </p:nvSpPr>
        <p:spPr>
          <a:xfrm>
            <a:off x="211596" y="3493784"/>
            <a:ext cx="1635405" cy="3646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ea typeface="Meiryo UI" panose="020B0604030504040204" pitchFamily="50" charset="-128"/>
                <a:cs typeface="Arial" panose="020B0604020202020204" pitchFamily="34" charset="0"/>
              </a:rPr>
              <a:t>Choose a seat</a:t>
            </a:r>
          </a:p>
        </p:txBody>
      </p:sp>
      <p:sp>
        <p:nvSpPr>
          <p:cNvPr id="46" name="Rectangle 45">
            <a:extLst>
              <a:ext uri="{FF2B5EF4-FFF2-40B4-BE49-F238E27FC236}">
                <a16:creationId xmlns:a16="http://schemas.microsoft.com/office/drawing/2014/main" id="{9C0DF16A-F272-AAC0-01FB-E9263AA9455F}"/>
              </a:ext>
            </a:extLst>
          </p:cNvPr>
          <p:cNvSpPr/>
          <p:nvPr/>
        </p:nvSpPr>
        <p:spPr>
          <a:xfrm>
            <a:off x="6864556" y="2101874"/>
            <a:ext cx="1059461"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Cost ($)</a:t>
            </a:r>
          </a:p>
        </p:txBody>
      </p:sp>
      <p:grpSp>
        <p:nvGrpSpPr>
          <p:cNvPr id="51" name="Group 50">
            <a:extLst>
              <a:ext uri="{FF2B5EF4-FFF2-40B4-BE49-F238E27FC236}">
                <a16:creationId xmlns:a16="http://schemas.microsoft.com/office/drawing/2014/main" id="{337079C7-E885-F079-1FC5-372362B55220}"/>
              </a:ext>
            </a:extLst>
          </p:cNvPr>
          <p:cNvGrpSpPr/>
          <p:nvPr/>
        </p:nvGrpSpPr>
        <p:grpSpPr>
          <a:xfrm>
            <a:off x="580951" y="2110711"/>
            <a:ext cx="4715762" cy="308921"/>
            <a:chOff x="4911850" y="6335733"/>
            <a:chExt cx="4269796" cy="292745"/>
          </a:xfrm>
        </p:grpSpPr>
        <p:sp>
          <p:nvSpPr>
            <p:cNvPr id="52" name="Rectangle 51">
              <a:extLst>
                <a:ext uri="{FF2B5EF4-FFF2-40B4-BE49-F238E27FC236}">
                  <a16:creationId xmlns:a16="http://schemas.microsoft.com/office/drawing/2014/main" id="{2FDC557A-8E21-F634-EA38-CB9886357A26}"/>
                </a:ext>
              </a:extLst>
            </p:cNvPr>
            <p:cNvSpPr/>
            <p:nvPr/>
          </p:nvSpPr>
          <p:spPr>
            <a:xfrm>
              <a:off x="4911850" y="6352525"/>
              <a:ext cx="243840" cy="260714"/>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3" name="Rectangle 52">
              <a:extLst>
                <a:ext uri="{FF2B5EF4-FFF2-40B4-BE49-F238E27FC236}">
                  <a16:creationId xmlns:a16="http://schemas.microsoft.com/office/drawing/2014/main" id="{09A4F45E-643E-6BA8-207E-E64DCCD38536}"/>
                </a:ext>
              </a:extLst>
            </p:cNvPr>
            <p:cNvSpPr/>
            <p:nvPr/>
          </p:nvSpPr>
          <p:spPr>
            <a:xfrm>
              <a:off x="5155690"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 Decision</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4" name="Oval 53">
              <a:extLst>
                <a:ext uri="{FF2B5EF4-FFF2-40B4-BE49-F238E27FC236}">
                  <a16:creationId xmlns:a16="http://schemas.microsoft.com/office/drawing/2014/main" id="{E21B1C19-46DA-B482-833E-FD426B86152A}"/>
                </a:ext>
              </a:extLst>
            </p:cNvPr>
            <p:cNvSpPr/>
            <p:nvPr/>
          </p:nvSpPr>
          <p:spPr>
            <a:xfrm>
              <a:off x="6120324" y="6338919"/>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5" name="Rectangle 54">
              <a:extLst>
                <a:ext uri="{FF2B5EF4-FFF2-40B4-BE49-F238E27FC236}">
                  <a16:creationId xmlns:a16="http://schemas.microsoft.com/office/drawing/2014/main" id="{73B819CB-0EC3-9588-2F51-BD0D9BBACAF2}"/>
                </a:ext>
              </a:extLst>
            </p:cNvPr>
            <p:cNvSpPr/>
            <p:nvPr/>
          </p:nvSpPr>
          <p:spPr>
            <a:xfrm>
              <a:off x="6407621" y="6335733"/>
              <a:ext cx="1454397"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 Chance event</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6" name="Isosceles Triangle 55">
              <a:extLst>
                <a:ext uri="{FF2B5EF4-FFF2-40B4-BE49-F238E27FC236}">
                  <a16:creationId xmlns:a16="http://schemas.microsoft.com/office/drawing/2014/main" id="{E9E3CA7D-0B68-5782-5E6A-8CC0021CE0FA}"/>
                </a:ext>
              </a:extLst>
            </p:cNvPr>
            <p:cNvSpPr/>
            <p:nvPr/>
          </p:nvSpPr>
          <p:spPr>
            <a:xfrm rot="16200000">
              <a:off x="7809610" y="6354158"/>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7" name="Rectangle 56">
              <a:extLst>
                <a:ext uri="{FF2B5EF4-FFF2-40B4-BE49-F238E27FC236}">
                  <a16:creationId xmlns:a16="http://schemas.microsoft.com/office/drawing/2014/main" id="{322F09A0-B250-E607-A3DB-96CE8247A26A}"/>
                </a:ext>
              </a:extLst>
            </p:cNvPr>
            <p:cNvSpPr/>
            <p:nvPr/>
          </p:nvSpPr>
          <p:spPr>
            <a:xfrm>
              <a:off x="8088936"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Outcomes</a:t>
              </a:r>
            </a:p>
          </p:txBody>
        </p:sp>
      </p:grpSp>
      <p:cxnSp>
        <p:nvCxnSpPr>
          <p:cNvPr id="70" name="Connector: Elbow 69">
            <a:extLst>
              <a:ext uri="{FF2B5EF4-FFF2-40B4-BE49-F238E27FC236}">
                <a16:creationId xmlns:a16="http://schemas.microsoft.com/office/drawing/2014/main" id="{4A44BFA9-57F2-D807-7992-892415A4F898}"/>
              </a:ext>
            </a:extLst>
          </p:cNvPr>
          <p:cNvCxnSpPr>
            <a:cxnSpLocks/>
            <a:stCxn id="16" idx="0"/>
            <a:endCxn id="71" idx="0"/>
          </p:cNvCxnSpPr>
          <p:nvPr/>
        </p:nvCxnSpPr>
        <p:spPr>
          <a:xfrm rot="5400000" flipH="1" flipV="1">
            <a:off x="4457034" y="3138425"/>
            <a:ext cx="171047" cy="1295311"/>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71" name="Isosceles Triangle 70">
            <a:extLst>
              <a:ext uri="{FF2B5EF4-FFF2-40B4-BE49-F238E27FC236}">
                <a16:creationId xmlns:a16="http://schemas.microsoft.com/office/drawing/2014/main" id="{5467C17B-863A-81EB-E9FD-AA355A1A98AD}"/>
              </a:ext>
            </a:extLst>
          </p:cNvPr>
          <p:cNvSpPr/>
          <p:nvPr/>
        </p:nvSpPr>
        <p:spPr>
          <a:xfrm rot="16200000">
            <a:off x="5190213" y="3563396"/>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72" name="Isosceles Triangle 71">
            <a:extLst>
              <a:ext uri="{FF2B5EF4-FFF2-40B4-BE49-F238E27FC236}">
                <a16:creationId xmlns:a16="http://schemas.microsoft.com/office/drawing/2014/main" id="{71506244-327D-F57D-D20B-94709DB23414}"/>
              </a:ext>
            </a:extLst>
          </p:cNvPr>
          <p:cNvSpPr/>
          <p:nvPr/>
        </p:nvSpPr>
        <p:spPr>
          <a:xfrm rot="16200000">
            <a:off x="5190213" y="4190361"/>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73" name="Connector: Elbow 72">
            <a:extLst>
              <a:ext uri="{FF2B5EF4-FFF2-40B4-BE49-F238E27FC236}">
                <a16:creationId xmlns:a16="http://schemas.microsoft.com/office/drawing/2014/main" id="{0C25E820-576F-64CA-74E7-AA561E8BFAF3}"/>
              </a:ext>
            </a:extLst>
          </p:cNvPr>
          <p:cNvCxnSpPr>
            <a:cxnSpLocks/>
            <a:stCxn id="16" idx="4"/>
            <a:endCxn id="72" idx="0"/>
          </p:cNvCxnSpPr>
          <p:nvPr/>
        </p:nvCxnSpPr>
        <p:spPr>
          <a:xfrm rot="16200000" flipH="1">
            <a:off x="4451758" y="3589066"/>
            <a:ext cx="181598" cy="1295311"/>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51161B95-BDFC-1FA6-28B6-95ABB8090104}"/>
              </a:ext>
            </a:extLst>
          </p:cNvPr>
          <p:cNvCxnSpPr>
            <a:cxnSpLocks/>
            <a:stCxn id="16" idx="2"/>
            <a:endCxn id="13" idx="3"/>
          </p:cNvCxnSpPr>
          <p:nvPr/>
        </p:nvCxnSpPr>
        <p:spPr>
          <a:xfrm flipH="1" flipV="1">
            <a:off x="2136617" y="4001960"/>
            <a:ext cx="1621125" cy="680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Rectangle 90">
            <a:extLst>
              <a:ext uri="{FF2B5EF4-FFF2-40B4-BE49-F238E27FC236}">
                <a16:creationId xmlns:a16="http://schemas.microsoft.com/office/drawing/2014/main" id="{98F8F2C0-4B1B-1A6C-50B7-50F0E0F287A6}"/>
              </a:ext>
            </a:extLst>
          </p:cNvPr>
          <p:cNvSpPr/>
          <p:nvPr/>
        </p:nvSpPr>
        <p:spPr>
          <a:xfrm>
            <a:off x="8204294" y="2101874"/>
            <a:ext cx="1059461"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Comfort</a:t>
            </a:r>
          </a:p>
        </p:txBody>
      </p:sp>
      <p:cxnSp>
        <p:nvCxnSpPr>
          <p:cNvPr id="92" name="Straight Connector 91">
            <a:extLst>
              <a:ext uri="{FF2B5EF4-FFF2-40B4-BE49-F238E27FC236}">
                <a16:creationId xmlns:a16="http://schemas.microsoft.com/office/drawing/2014/main" id="{2A9AAE37-D604-485D-86F5-5C8F2E2637EB}"/>
              </a:ext>
            </a:extLst>
          </p:cNvPr>
          <p:cNvCxnSpPr>
            <a:cxnSpLocks/>
          </p:cNvCxnSpPr>
          <p:nvPr/>
        </p:nvCxnSpPr>
        <p:spPr>
          <a:xfrm>
            <a:off x="6788202" y="2422048"/>
            <a:ext cx="12121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128BEAAA-0BD2-7D99-D2C1-67D01C7283F9}"/>
              </a:ext>
            </a:extLst>
          </p:cNvPr>
          <p:cNvCxnSpPr>
            <a:cxnSpLocks/>
          </p:cNvCxnSpPr>
          <p:nvPr/>
        </p:nvCxnSpPr>
        <p:spPr>
          <a:xfrm>
            <a:off x="8127940" y="2422048"/>
            <a:ext cx="12121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2140FAD8-14C3-C2AD-F16D-35F96FE2D1D0}"/>
              </a:ext>
            </a:extLst>
          </p:cNvPr>
          <p:cNvCxnSpPr>
            <a:cxnSpLocks/>
            <a:stCxn id="13" idx="2"/>
            <a:endCxn id="98" idx="2"/>
          </p:cNvCxnSpPr>
          <p:nvPr/>
        </p:nvCxnSpPr>
        <p:spPr>
          <a:xfrm rot="16200000" flipH="1">
            <a:off x="2123417" y="4023597"/>
            <a:ext cx="1525606" cy="1743046"/>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8" name="Oval 97">
            <a:extLst>
              <a:ext uri="{FF2B5EF4-FFF2-40B4-BE49-F238E27FC236}">
                <a16:creationId xmlns:a16="http://schemas.microsoft.com/office/drawing/2014/main" id="{87815AA9-74C6-26A4-3F2B-68C89A36D6CD}"/>
              </a:ext>
            </a:extLst>
          </p:cNvPr>
          <p:cNvSpPr/>
          <p:nvPr/>
        </p:nvSpPr>
        <p:spPr>
          <a:xfrm>
            <a:off x="3757743" y="5520763"/>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99" name="Connector: Elbow 98">
            <a:extLst>
              <a:ext uri="{FF2B5EF4-FFF2-40B4-BE49-F238E27FC236}">
                <a16:creationId xmlns:a16="http://schemas.microsoft.com/office/drawing/2014/main" id="{D9ED8166-FC9E-B4EB-3821-90C0BC65EA7C}"/>
              </a:ext>
            </a:extLst>
          </p:cNvPr>
          <p:cNvCxnSpPr>
            <a:cxnSpLocks/>
            <a:stCxn id="98" idx="0"/>
            <a:endCxn id="100" idx="0"/>
          </p:cNvCxnSpPr>
          <p:nvPr/>
        </p:nvCxnSpPr>
        <p:spPr>
          <a:xfrm rot="5400000" flipH="1" flipV="1">
            <a:off x="4455517" y="4786067"/>
            <a:ext cx="174082" cy="1295310"/>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00" name="Isosceles Triangle 99">
            <a:extLst>
              <a:ext uri="{FF2B5EF4-FFF2-40B4-BE49-F238E27FC236}">
                <a16:creationId xmlns:a16="http://schemas.microsoft.com/office/drawing/2014/main" id="{6BFDB3EA-5A64-D9B1-94B9-0916B1CCF7C2}"/>
              </a:ext>
            </a:extLst>
          </p:cNvPr>
          <p:cNvSpPr/>
          <p:nvPr/>
        </p:nvSpPr>
        <p:spPr>
          <a:xfrm rot="16200000">
            <a:off x="5190213" y="5209521"/>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01" name="Isosceles Triangle 100">
            <a:extLst>
              <a:ext uri="{FF2B5EF4-FFF2-40B4-BE49-F238E27FC236}">
                <a16:creationId xmlns:a16="http://schemas.microsoft.com/office/drawing/2014/main" id="{ABFC8C16-A7C5-67AA-0A23-D0F35509EC94}"/>
              </a:ext>
            </a:extLst>
          </p:cNvPr>
          <p:cNvSpPr/>
          <p:nvPr/>
        </p:nvSpPr>
        <p:spPr>
          <a:xfrm rot="16200000">
            <a:off x="5190213" y="5836486"/>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102" name="Connector: Elbow 101">
            <a:extLst>
              <a:ext uri="{FF2B5EF4-FFF2-40B4-BE49-F238E27FC236}">
                <a16:creationId xmlns:a16="http://schemas.microsoft.com/office/drawing/2014/main" id="{0C12B8D6-B07B-C193-4994-573B8B9EB985}"/>
              </a:ext>
            </a:extLst>
          </p:cNvPr>
          <p:cNvCxnSpPr>
            <a:cxnSpLocks/>
            <a:stCxn id="98" idx="4"/>
            <a:endCxn id="101" idx="0"/>
          </p:cNvCxnSpPr>
          <p:nvPr/>
        </p:nvCxnSpPr>
        <p:spPr>
          <a:xfrm rot="16200000" flipH="1">
            <a:off x="4453277" y="5236709"/>
            <a:ext cx="178563" cy="1295310"/>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07" name="Rectangle 106">
            <a:extLst>
              <a:ext uri="{FF2B5EF4-FFF2-40B4-BE49-F238E27FC236}">
                <a16:creationId xmlns:a16="http://schemas.microsoft.com/office/drawing/2014/main" id="{748BA24F-44F4-03DA-C789-5D3EB6E459C6}"/>
              </a:ext>
            </a:extLst>
          </p:cNvPr>
          <p:cNvSpPr/>
          <p:nvPr/>
        </p:nvSpPr>
        <p:spPr>
          <a:xfrm>
            <a:off x="6912713" y="2587028"/>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1500</a:t>
            </a:r>
          </a:p>
        </p:txBody>
      </p:sp>
      <p:sp>
        <p:nvSpPr>
          <p:cNvPr id="108" name="Rectangle 107">
            <a:extLst>
              <a:ext uri="{FF2B5EF4-FFF2-40B4-BE49-F238E27FC236}">
                <a16:creationId xmlns:a16="http://schemas.microsoft.com/office/drawing/2014/main" id="{E6922C2D-E824-A493-455E-4490558821E7}"/>
              </a:ext>
            </a:extLst>
          </p:cNvPr>
          <p:cNvSpPr/>
          <p:nvPr/>
        </p:nvSpPr>
        <p:spPr>
          <a:xfrm>
            <a:off x="8257477" y="2587028"/>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a:t>
            </a:r>
          </a:p>
        </p:txBody>
      </p:sp>
      <p:sp>
        <p:nvSpPr>
          <p:cNvPr id="109" name="Rectangle 108">
            <a:extLst>
              <a:ext uri="{FF2B5EF4-FFF2-40B4-BE49-F238E27FC236}">
                <a16:creationId xmlns:a16="http://schemas.microsoft.com/office/drawing/2014/main" id="{57143DD4-25FE-555B-20E6-7B97F42488DE}"/>
              </a:ext>
            </a:extLst>
          </p:cNvPr>
          <p:cNvSpPr/>
          <p:nvPr/>
        </p:nvSpPr>
        <p:spPr>
          <a:xfrm>
            <a:off x="6912713" y="3551364"/>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1200</a:t>
            </a:r>
          </a:p>
        </p:txBody>
      </p:sp>
      <p:sp>
        <p:nvSpPr>
          <p:cNvPr id="110" name="Rectangle 109">
            <a:extLst>
              <a:ext uri="{FF2B5EF4-FFF2-40B4-BE49-F238E27FC236}">
                <a16:creationId xmlns:a16="http://schemas.microsoft.com/office/drawing/2014/main" id="{E5FEA3B7-1EA5-3672-9D53-9C1768D447DD}"/>
              </a:ext>
            </a:extLst>
          </p:cNvPr>
          <p:cNvSpPr/>
          <p:nvPr/>
        </p:nvSpPr>
        <p:spPr>
          <a:xfrm>
            <a:off x="8257477" y="3551364"/>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a:t>
            </a:r>
          </a:p>
        </p:txBody>
      </p:sp>
      <p:sp>
        <p:nvSpPr>
          <p:cNvPr id="111" name="Rectangle 110">
            <a:extLst>
              <a:ext uri="{FF2B5EF4-FFF2-40B4-BE49-F238E27FC236}">
                <a16:creationId xmlns:a16="http://schemas.microsoft.com/office/drawing/2014/main" id="{B7A56191-BEA9-9C38-45B8-6F821576BF1F}"/>
              </a:ext>
            </a:extLst>
          </p:cNvPr>
          <p:cNvSpPr/>
          <p:nvPr/>
        </p:nvSpPr>
        <p:spPr>
          <a:xfrm>
            <a:off x="6912713" y="4190360"/>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1200</a:t>
            </a:r>
          </a:p>
        </p:txBody>
      </p:sp>
      <p:sp>
        <p:nvSpPr>
          <p:cNvPr id="112" name="Rectangle 111">
            <a:extLst>
              <a:ext uri="{FF2B5EF4-FFF2-40B4-BE49-F238E27FC236}">
                <a16:creationId xmlns:a16="http://schemas.microsoft.com/office/drawing/2014/main" id="{CBA2BEC4-5438-DE1C-B466-2E211512260F}"/>
              </a:ext>
            </a:extLst>
          </p:cNvPr>
          <p:cNvSpPr/>
          <p:nvPr/>
        </p:nvSpPr>
        <p:spPr>
          <a:xfrm>
            <a:off x="8257477" y="4190360"/>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0.8</a:t>
            </a:r>
          </a:p>
        </p:txBody>
      </p:sp>
      <p:sp>
        <p:nvSpPr>
          <p:cNvPr id="113" name="Rectangle 112">
            <a:extLst>
              <a:ext uri="{FF2B5EF4-FFF2-40B4-BE49-F238E27FC236}">
                <a16:creationId xmlns:a16="http://schemas.microsoft.com/office/drawing/2014/main" id="{308874E4-506E-D60A-C5C3-F6B41E28C16E}"/>
              </a:ext>
            </a:extLst>
          </p:cNvPr>
          <p:cNvSpPr/>
          <p:nvPr/>
        </p:nvSpPr>
        <p:spPr>
          <a:xfrm>
            <a:off x="7032474" y="5209521"/>
            <a:ext cx="723625"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750</a:t>
            </a:r>
          </a:p>
        </p:txBody>
      </p:sp>
      <p:sp>
        <p:nvSpPr>
          <p:cNvPr id="114" name="Rectangle 113">
            <a:extLst>
              <a:ext uri="{FF2B5EF4-FFF2-40B4-BE49-F238E27FC236}">
                <a16:creationId xmlns:a16="http://schemas.microsoft.com/office/drawing/2014/main" id="{298334D2-D899-EB68-E8CF-0F3EB530F888}"/>
              </a:ext>
            </a:extLst>
          </p:cNvPr>
          <p:cNvSpPr/>
          <p:nvPr/>
        </p:nvSpPr>
        <p:spPr>
          <a:xfrm>
            <a:off x="8257477" y="5209521"/>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0.8</a:t>
            </a:r>
          </a:p>
        </p:txBody>
      </p:sp>
      <p:sp>
        <p:nvSpPr>
          <p:cNvPr id="115" name="Rectangle 114">
            <a:extLst>
              <a:ext uri="{FF2B5EF4-FFF2-40B4-BE49-F238E27FC236}">
                <a16:creationId xmlns:a16="http://schemas.microsoft.com/office/drawing/2014/main" id="{59EA86CE-2F31-6C76-E77F-68212E6E9FE2}"/>
              </a:ext>
            </a:extLst>
          </p:cNvPr>
          <p:cNvSpPr/>
          <p:nvPr/>
        </p:nvSpPr>
        <p:spPr>
          <a:xfrm>
            <a:off x="7032474" y="5840902"/>
            <a:ext cx="723625"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750</a:t>
            </a:r>
          </a:p>
        </p:txBody>
      </p:sp>
      <p:sp>
        <p:nvSpPr>
          <p:cNvPr id="116" name="Rectangle 115">
            <a:extLst>
              <a:ext uri="{FF2B5EF4-FFF2-40B4-BE49-F238E27FC236}">
                <a16:creationId xmlns:a16="http://schemas.microsoft.com/office/drawing/2014/main" id="{6FB66838-10FE-EC2E-9BBA-85932C34D0EE}"/>
              </a:ext>
            </a:extLst>
          </p:cNvPr>
          <p:cNvSpPr/>
          <p:nvPr/>
        </p:nvSpPr>
        <p:spPr>
          <a:xfrm>
            <a:off x="8257477" y="5840902"/>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0.5</a:t>
            </a:r>
          </a:p>
        </p:txBody>
      </p:sp>
      <p:sp>
        <p:nvSpPr>
          <p:cNvPr id="10" name="Rectangle 9">
            <a:extLst>
              <a:ext uri="{FF2B5EF4-FFF2-40B4-BE49-F238E27FC236}">
                <a16:creationId xmlns:a16="http://schemas.microsoft.com/office/drawing/2014/main" id="{6759417D-67F3-586B-4C84-71D01301A909}"/>
              </a:ext>
            </a:extLst>
          </p:cNvPr>
          <p:cNvSpPr/>
          <p:nvPr/>
        </p:nvSpPr>
        <p:spPr>
          <a:xfrm>
            <a:off x="4210800" y="4012072"/>
            <a:ext cx="932033"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20%</a:t>
            </a:r>
          </a:p>
        </p:txBody>
      </p:sp>
      <p:sp>
        <p:nvSpPr>
          <p:cNvPr id="15" name="Rectangle 14">
            <a:extLst>
              <a:ext uri="{FF2B5EF4-FFF2-40B4-BE49-F238E27FC236}">
                <a16:creationId xmlns:a16="http://schemas.microsoft.com/office/drawing/2014/main" id="{4179917B-B262-26C4-1330-D460203350FF}"/>
              </a:ext>
            </a:extLst>
          </p:cNvPr>
          <p:cNvSpPr/>
          <p:nvPr/>
        </p:nvSpPr>
        <p:spPr>
          <a:xfrm>
            <a:off x="9276290" y="1991010"/>
            <a:ext cx="1551157" cy="3319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Expected cost ($)</a:t>
            </a:r>
          </a:p>
        </p:txBody>
      </p:sp>
      <p:sp>
        <p:nvSpPr>
          <p:cNvPr id="18" name="Rectangle 17">
            <a:extLst>
              <a:ext uri="{FF2B5EF4-FFF2-40B4-BE49-F238E27FC236}">
                <a16:creationId xmlns:a16="http://schemas.microsoft.com/office/drawing/2014/main" id="{F6C1F52A-4CEA-5006-1D8D-16B404C56BFC}"/>
              </a:ext>
            </a:extLst>
          </p:cNvPr>
          <p:cNvSpPr/>
          <p:nvPr/>
        </p:nvSpPr>
        <p:spPr>
          <a:xfrm>
            <a:off x="10686535" y="2019813"/>
            <a:ext cx="1410143"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Expected comfort</a:t>
            </a:r>
          </a:p>
        </p:txBody>
      </p:sp>
      <p:cxnSp>
        <p:nvCxnSpPr>
          <p:cNvPr id="19" name="Straight Connector 18">
            <a:extLst>
              <a:ext uri="{FF2B5EF4-FFF2-40B4-BE49-F238E27FC236}">
                <a16:creationId xmlns:a16="http://schemas.microsoft.com/office/drawing/2014/main" id="{8EFAAC14-9623-A325-2BB3-C5E63104EE50}"/>
              </a:ext>
            </a:extLst>
          </p:cNvPr>
          <p:cNvCxnSpPr>
            <a:cxnSpLocks/>
          </p:cNvCxnSpPr>
          <p:nvPr/>
        </p:nvCxnSpPr>
        <p:spPr>
          <a:xfrm>
            <a:off x="9445784" y="2422048"/>
            <a:ext cx="12121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D41CB08-97F5-FA91-DA85-D74AB05F8BF6}"/>
              </a:ext>
            </a:extLst>
          </p:cNvPr>
          <p:cNvCxnSpPr>
            <a:cxnSpLocks/>
          </p:cNvCxnSpPr>
          <p:nvPr/>
        </p:nvCxnSpPr>
        <p:spPr>
          <a:xfrm>
            <a:off x="10785522" y="2422048"/>
            <a:ext cx="12121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97F85335-0D54-CAFF-ADFB-56A19D0F74B5}"/>
              </a:ext>
            </a:extLst>
          </p:cNvPr>
          <p:cNvSpPr/>
          <p:nvPr/>
        </p:nvSpPr>
        <p:spPr>
          <a:xfrm>
            <a:off x="9570295" y="2587028"/>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1500</a:t>
            </a:r>
          </a:p>
        </p:txBody>
      </p:sp>
      <p:sp>
        <p:nvSpPr>
          <p:cNvPr id="23" name="Rectangle 22">
            <a:extLst>
              <a:ext uri="{FF2B5EF4-FFF2-40B4-BE49-F238E27FC236}">
                <a16:creationId xmlns:a16="http://schemas.microsoft.com/office/drawing/2014/main" id="{81CE4B20-178D-C545-CCF6-C1B9C70469DD}"/>
              </a:ext>
            </a:extLst>
          </p:cNvPr>
          <p:cNvSpPr/>
          <p:nvPr/>
        </p:nvSpPr>
        <p:spPr>
          <a:xfrm>
            <a:off x="10915059" y="2587028"/>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a:t>
            </a:r>
          </a:p>
        </p:txBody>
      </p:sp>
      <p:sp>
        <p:nvSpPr>
          <p:cNvPr id="24" name="Rectangle 23">
            <a:extLst>
              <a:ext uri="{FF2B5EF4-FFF2-40B4-BE49-F238E27FC236}">
                <a16:creationId xmlns:a16="http://schemas.microsoft.com/office/drawing/2014/main" id="{9C6D2D7B-BA29-E27E-CC04-BAFA8FC225E5}"/>
              </a:ext>
            </a:extLst>
          </p:cNvPr>
          <p:cNvSpPr/>
          <p:nvPr/>
        </p:nvSpPr>
        <p:spPr>
          <a:xfrm>
            <a:off x="9570295" y="3551364"/>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960</a:t>
            </a:r>
          </a:p>
        </p:txBody>
      </p:sp>
      <p:sp>
        <p:nvSpPr>
          <p:cNvPr id="25" name="Rectangle 24">
            <a:extLst>
              <a:ext uri="{FF2B5EF4-FFF2-40B4-BE49-F238E27FC236}">
                <a16:creationId xmlns:a16="http://schemas.microsoft.com/office/drawing/2014/main" id="{2057AF24-D745-C32B-9747-EFB1CE03A89C}"/>
              </a:ext>
            </a:extLst>
          </p:cNvPr>
          <p:cNvSpPr/>
          <p:nvPr/>
        </p:nvSpPr>
        <p:spPr>
          <a:xfrm>
            <a:off x="10915059" y="3551364"/>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0.8</a:t>
            </a:r>
          </a:p>
        </p:txBody>
      </p:sp>
      <p:sp>
        <p:nvSpPr>
          <p:cNvPr id="26" name="Rectangle 25">
            <a:extLst>
              <a:ext uri="{FF2B5EF4-FFF2-40B4-BE49-F238E27FC236}">
                <a16:creationId xmlns:a16="http://schemas.microsoft.com/office/drawing/2014/main" id="{24FC6B0D-46C5-813F-8566-0B96DA78CD7C}"/>
              </a:ext>
            </a:extLst>
          </p:cNvPr>
          <p:cNvSpPr/>
          <p:nvPr/>
        </p:nvSpPr>
        <p:spPr>
          <a:xfrm>
            <a:off x="9570295" y="4190360"/>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240</a:t>
            </a:r>
          </a:p>
        </p:txBody>
      </p:sp>
      <p:sp>
        <p:nvSpPr>
          <p:cNvPr id="27" name="Rectangle 26">
            <a:extLst>
              <a:ext uri="{FF2B5EF4-FFF2-40B4-BE49-F238E27FC236}">
                <a16:creationId xmlns:a16="http://schemas.microsoft.com/office/drawing/2014/main" id="{7AAC7035-F684-9108-6F20-700E46D32675}"/>
              </a:ext>
            </a:extLst>
          </p:cNvPr>
          <p:cNvSpPr/>
          <p:nvPr/>
        </p:nvSpPr>
        <p:spPr>
          <a:xfrm>
            <a:off x="10865364" y="4190359"/>
            <a:ext cx="972616" cy="304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0.16</a:t>
            </a:r>
          </a:p>
        </p:txBody>
      </p:sp>
      <p:sp>
        <p:nvSpPr>
          <p:cNvPr id="28" name="Rectangle 27">
            <a:extLst>
              <a:ext uri="{FF2B5EF4-FFF2-40B4-BE49-F238E27FC236}">
                <a16:creationId xmlns:a16="http://schemas.microsoft.com/office/drawing/2014/main" id="{AAE689B7-5E11-2FE3-5B1B-1AEE6DC5C056}"/>
              </a:ext>
            </a:extLst>
          </p:cNvPr>
          <p:cNvSpPr/>
          <p:nvPr/>
        </p:nvSpPr>
        <p:spPr>
          <a:xfrm>
            <a:off x="9690056" y="5209521"/>
            <a:ext cx="723625"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525</a:t>
            </a:r>
          </a:p>
        </p:txBody>
      </p:sp>
      <p:sp>
        <p:nvSpPr>
          <p:cNvPr id="29" name="Rectangle 28">
            <a:extLst>
              <a:ext uri="{FF2B5EF4-FFF2-40B4-BE49-F238E27FC236}">
                <a16:creationId xmlns:a16="http://schemas.microsoft.com/office/drawing/2014/main" id="{4C55D0C1-0642-BB52-336F-F4ADE7FF175E}"/>
              </a:ext>
            </a:extLst>
          </p:cNvPr>
          <p:cNvSpPr/>
          <p:nvPr/>
        </p:nvSpPr>
        <p:spPr>
          <a:xfrm>
            <a:off x="10915059" y="5209521"/>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0.8</a:t>
            </a:r>
          </a:p>
        </p:txBody>
      </p:sp>
      <p:sp>
        <p:nvSpPr>
          <p:cNvPr id="30" name="Rectangle 29">
            <a:extLst>
              <a:ext uri="{FF2B5EF4-FFF2-40B4-BE49-F238E27FC236}">
                <a16:creationId xmlns:a16="http://schemas.microsoft.com/office/drawing/2014/main" id="{084A8D21-9D0B-3B0B-E65D-D1C8A701DDC9}"/>
              </a:ext>
            </a:extLst>
          </p:cNvPr>
          <p:cNvSpPr/>
          <p:nvPr/>
        </p:nvSpPr>
        <p:spPr>
          <a:xfrm>
            <a:off x="9690056" y="5840902"/>
            <a:ext cx="723625"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225</a:t>
            </a:r>
          </a:p>
        </p:txBody>
      </p:sp>
      <p:sp>
        <p:nvSpPr>
          <p:cNvPr id="31" name="Rectangle 30">
            <a:extLst>
              <a:ext uri="{FF2B5EF4-FFF2-40B4-BE49-F238E27FC236}">
                <a16:creationId xmlns:a16="http://schemas.microsoft.com/office/drawing/2014/main" id="{F91DEA03-EA7F-B6C3-334B-B59D66FADE01}"/>
              </a:ext>
            </a:extLst>
          </p:cNvPr>
          <p:cNvSpPr/>
          <p:nvPr/>
        </p:nvSpPr>
        <p:spPr>
          <a:xfrm>
            <a:off x="10823122" y="5840902"/>
            <a:ext cx="1059461"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0.15</a:t>
            </a:r>
          </a:p>
        </p:txBody>
      </p:sp>
      <p:cxnSp>
        <p:nvCxnSpPr>
          <p:cNvPr id="39" name="Connector: Curved 38">
            <a:extLst>
              <a:ext uri="{FF2B5EF4-FFF2-40B4-BE49-F238E27FC236}">
                <a16:creationId xmlns:a16="http://schemas.microsoft.com/office/drawing/2014/main" id="{A9490343-3AB1-C68C-8D42-4C6615F8FF70}"/>
              </a:ext>
            </a:extLst>
          </p:cNvPr>
          <p:cNvCxnSpPr>
            <a:stCxn id="109" idx="0"/>
            <a:endCxn id="24" idx="0"/>
          </p:cNvCxnSpPr>
          <p:nvPr/>
        </p:nvCxnSpPr>
        <p:spPr>
          <a:xfrm rot="5400000" flipH="1" flipV="1">
            <a:off x="8723077" y="2222573"/>
            <a:ext cx="12700" cy="2657582"/>
          </a:xfrm>
          <a:prstGeom prst="curved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nector: Curved 39">
            <a:extLst>
              <a:ext uri="{FF2B5EF4-FFF2-40B4-BE49-F238E27FC236}">
                <a16:creationId xmlns:a16="http://schemas.microsoft.com/office/drawing/2014/main" id="{DCD43CAF-CA50-7623-3CEF-73915EFF2B51}"/>
              </a:ext>
            </a:extLst>
          </p:cNvPr>
          <p:cNvCxnSpPr>
            <a:cxnSpLocks/>
            <a:stCxn id="110" idx="2"/>
            <a:endCxn id="25" idx="2"/>
          </p:cNvCxnSpPr>
          <p:nvPr/>
        </p:nvCxnSpPr>
        <p:spPr>
          <a:xfrm rot="16200000" flipH="1">
            <a:off x="10024062" y="2496893"/>
            <a:ext cx="12700" cy="2657582"/>
          </a:xfrm>
          <a:prstGeom prst="curved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Curved 31">
            <a:extLst>
              <a:ext uri="{FF2B5EF4-FFF2-40B4-BE49-F238E27FC236}">
                <a16:creationId xmlns:a16="http://schemas.microsoft.com/office/drawing/2014/main" id="{82C32C08-892B-BD43-1EC4-5BB26E11D70A}"/>
              </a:ext>
            </a:extLst>
          </p:cNvPr>
          <p:cNvCxnSpPr>
            <a:cxnSpLocks/>
            <a:stCxn id="111" idx="2"/>
            <a:endCxn id="26" idx="2"/>
          </p:cNvCxnSpPr>
          <p:nvPr/>
        </p:nvCxnSpPr>
        <p:spPr>
          <a:xfrm rot="16200000" flipH="1">
            <a:off x="8723077" y="3135889"/>
            <a:ext cx="12700" cy="2657582"/>
          </a:xfrm>
          <a:prstGeom prst="curved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Curved 41">
            <a:extLst>
              <a:ext uri="{FF2B5EF4-FFF2-40B4-BE49-F238E27FC236}">
                <a16:creationId xmlns:a16="http://schemas.microsoft.com/office/drawing/2014/main" id="{9D61A835-E22B-39B1-6F2F-131BAD3982E2}"/>
              </a:ext>
            </a:extLst>
          </p:cNvPr>
          <p:cNvCxnSpPr>
            <a:cxnSpLocks/>
            <a:stCxn id="112" idx="2"/>
            <a:endCxn id="27" idx="2"/>
          </p:cNvCxnSpPr>
          <p:nvPr/>
        </p:nvCxnSpPr>
        <p:spPr>
          <a:xfrm rot="16200000" flipH="1">
            <a:off x="10008272" y="3151678"/>
            <a:ext cx="30398" cy="2656401"/>
          </a:xfrm>
          <a:prstGeom prst="curvedConnector3">
            <a:avLst>
              <a:gd name="adj1" fmla="val 85202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or: Curved 46">
            <a:extLst>
              <a:ext uri="{FF2B5EF4-FFF2-40B4-BE49-F238E27FC236}">
                <a16:creationId xmlns:a16="http://schemas.microsoft.com/office/drawing/2014/main" id="{5D9FA77A-7404-59E5-3551-58BAABB65427}"/>
              </a:ext>
            </a:extLst>
          </p:cNvPr>
          <p:cNvCxnSpPr>
            <a:cxnSpLocks/>
            <a:stCxn id="113" idx="0"/>
            <a:endCxn id="28" idx="0"/>
          </p:cNvCxnSpPr>
          <p:nvPr/>
        </p:nvCxnSpPr>
        <p:spPr>
          <a:xfrm rot="5400000" flipH="1" flipV="1">
            <a:off x="8723078" y="3880730"/>
            <a:ext cx="12700" cy="2657582"/>
          </a:xfrm>
          <a:prstGeom prst="curved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nector: Curved 57">
            <a:extLst>
              <a:ext uri="{FF2B5EF4-FFF2-40B4-BE49-F238E27FC236}">
                <a16:creationId xmlns:a16="http://schemas.microsoft.com/office/drawing/2014/main" id="{DE782F4F-8276-B415-A783-65F7546920E2}"/>
              </a:ext>
            </a:extLst>
          </p:cNvPr>
          <p:cNvCxnSpPr>
            <a:cxnSpLocks/>
            <a:stCxn id="114" idx="2"/>
            <a:endCxn id="29" idx="2"/>
          </p:cNvCxnSpPr>
          <p:nvPr/>
        </p:nvCxnSpPr>
        <p:spPr>
          <a:xfrm rot="16200000" flipH="1">
            <a:off x="10024062" y="4155050"/>
            <a:ext cx="12700" cy="2657582"/>
          </a:xfrm>
          <a:prstGeom prst="curved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Curved 60">
            <a:extLst>
              <a:ext uri="{FF2B5EF4-FFF2-40B4-BE49-F238E27FC236}">
                <a16:creationId xmlns:a16="http://schemas.microsoft.com/office/drawing/2014/main" id="{237411A6-19F9-245D-573A-7F77F6295ADD}"/>
              </a:ext>
            </a:extLst>
          </p:cNvPr>
          <p:cNvCxnSpPr>
            <a:cxnSpLocks/>
            <a:stCxn id="115" idx="2"/>
            <a:endCxn id="30" idx="2"/>
          </p:cNvCxnSpPr>
          <p:nvPr/>
        </p:nvCxnSpPr>
        <p:spPr>
          <a:xfrm rot="16200000" flipH="1">
            <a:off x="8723078" y="4786431"/>
            <a:ext cx="12700" cy="2657582"/>
          </a:xfrm>
          <a:prstGeom prst="curved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Connector: Curved 63">
            <a:extLst>
              <a:ext uri="{FF2B5EF4-FFF2-40B4-BE49-F238E27FC236}">
                <a16:creationId xmlns:a16="http://schemas.microsoft.com/office/drawing/2014/main" id="{F6FF9352-A3CB-0F8D-7CFB-04EC0A095D45}"/>
              </a:ext>
            </a:extLst>
          </p:cNvPr>
          <p:cNvCxnSpPr>
            <a:cxnSpLocks/>
            <a:stCxn id="116" idx="2"/>
            <a:endCxn id="31" idx="2"/>
          </p:cNvCxnSpPr>
          <p:nvPr/>
        </p:nvCxnSpPr>
        <p:spPr>
          <a:xfrm rot="16200000" flipH="1">
            <a:off x="10024062" y="4786431"/>
            <a:ext cx="12700" cy="2657582"/>
          </a:xfrm>
          <a:prstGeom prst="curved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527998BB-DBBB-36BA-A767-8F4520BD9FCD}"/>
              </a:ext>
            </a:extLst>
          </p:cNvPr>
          <p:cNvGrpSpPr/>
          <p:nvPr/>
        </p:nvGrpSpPr>
        <p:grpSpPr>
          <a:xfrm>
            <a:off x="467139" y="108959"/>
            <a:ext cx="4197304" cy="307297"/>
            <a:chOff x="562270" y="127168"/>
            <a:chExt cx="4197304" cy="307297"/>
          </a:xfrm>
        </p:grpSpPr>
        <p:sp>
          <p:nvSpPr>
            <p:cNvPr id="38" name="Arrow: Pentagon 37">
              <a:extLst>
                <a:ext uri="{FF2B5EF4-FFF2-40B4-BE49-F238E27FC236}">
                  <a16:creationId xmlns:a16="http://schemas.microsoft.com/office/drawing/2014/main" id="{9C608F4D-3BF4-9685-926F-A1C7DA8B3B0F}"/>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41" name="Arrow: Pentagon 40">
              <a:extLst>
                <a:ext uri="{FF2B5EF4-FFF2-40B4-BE49-F238E27FC236}">
                  <a16:creationId xmlns:a16="http://schemas.microsoft.com/office/drawing/2014/main" id="{53D3270D-87F4-32D5-DC03-531FA7CC3847}"/>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43" name="Arrow: Pentagon 42">
              <a:extLst>
                <a:ext uri="{FF2B5EF4-FFF2-40B4-BE49-F238E27FC236}">
                  <a16:creationId xmlns:a16="http://schemas.microsoft.com/office/drawing/2014/main" id="{CC08A6CA-DF44-177E-9EA0-39141AC51906}"/>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
        <p:nvSpPr>
          <p:cNvPr id="44" name="Rectangle 43">
            <a:extLst>
              <a:ext uri="{FF2B5EF4-FFF2-40B4-BE49-F238E27FC236}">
                <a16:creationId xmlns:a16="http://schemas.microsoft.com/office/drawing/2014/main" id="{0877F375-2DDA-695A-DB1D-C1F2B704461A}"/>
              </a:ext>
            </a:extLst>
          </p:cNvPr>
          <p:cNvSpPr/>
          <p:nvPr/>
        </p:nvSpPr>
        <p:spPr>
          <a:xfrm>
            <a:off x="2270968" y="5334748"/>
            <a:ext cx="1293797" cy="2413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Economy</a:t>
            </a:r>
          </a:p>
        </p:txBody>
      </p:sp>
      <p:sp>
        <p:nvSpPr>
          <p:cNvPr id="45" name="Rectangle 44">
            <a:extLst>
              <a:ext uri="{FF2B5EF4-FFF2-40B4-BE49-F238E27FC236}">
                <a16:creationId xmlns:a16="http://schemas.microsoft.com/office/drawing/2014/main" id="{520E50B3-206C-4EAA-1B6C-E4E7C1D3E987}"/>
              </a:ext>
            </a:extLst>
          </p:cNvPr>
          <p:cNvSpPr/>
          <p:nvPr/>
        </p:nvSpPr>
        <p:spPr>
          <a:xfrm>
            <a:off x="2268620" y="3613260"/>
            <a:ext cx="1293797"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Business</a:t>
            </a:r>
          </a:p>
        </p:txBody>
      </p:sp>
      <p:sp>
        <p:nvSpPr>
          <p:cNvPr id="48" name="Rectangle 47">
            <a:extLst>
              <a:ext uri="{FF2B5EF4-FFF2-40B4-BE49-F238E27FC236}">
                <a16:creationId xmlns:a16="http://schemas.microsoft.com/office/drawing/2014/main" id="{1A91543E-90F4-AB18-B80A-31FD3B7161E6}"/>
              </a:ext>
            </a:extLst>
          </p:cNvPr>
          <p:cNvSpPr/>
          <p:nvPr/>
        </p:nvSpPr>
        <p:spPr>
          <a:xfrm>
            <a:off x="2092041" y="2806370"/>
            <a:ext cx="1722045"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First class</a:t>
            </a:r>
          </a:p>
        </p:txBody>
      </p:sp>
      <p:sp>
        <p:nvSpPr>
          <p:cNvPr id="50" name="Rectangle 49">
            <a:extLst>
              <a:ext uri="{FF2B5EF4-FFF2-40B4-BE49-F238E27FC236}">
                <a16:creationId xmlns:a16="http://schemas.microsoft.com/office/drawing/2014/main" id="{8D48D556-37F9-EBB2-F9E8-88706A586B2D}"/>
              </a:ext>
            </a:extLst>
          </p:cNvPr>
          <p:cNvSpPr/>
          <p:nvPr/>
        </p:nvSpPr>
        <p:spPr>
          <a:xfrm>
            <a:off x="5495866" y="2586843"/>
            <a:ext cx="1236777" cy="3030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Comfortable</a:t>
            </a:r>
          </a:p>
        </p:txBody>
      </p:sp>
      <p:sp>
        <p:nvSpPr>
          <p:cNvPr id="76" name="Rectangle 75">
            <a:extLst>
              <a:ext uri="{FF2B5EF4-FFF2-40B4-BE49-F238E27FC236}">
                <a16:creationId xmlns:a16="http://schemas.microsoft.com/office/drawing/2014/main" id="{0963F9B0-94E1-16DD-3784-1BA637D884DD}"/>
              </a:ext>
            </a:extLst>
          </p:cNvPr>
          <p:cNvSpPr/>
          <p:nvPr/>
        </p:nvSpPr>
        <p:spPr>
          <a:xfrm>
            <a:off x="5493812" y="3563395"/>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Comfortable</a:t>
            </a:r>
          </a:p>
        </p:txBody>
      </p:sp>
      <p:sp>
        <p:nvSpPr>
          <p:cNvPr id="77" name="Rectangle 76">
            <a:extLst>
              <a:ext uri="{FF2B5EF4-FFF2-40B4-BE49-F238E27FC236}">
                <a16:creationId xmlns:a16="http://schemas.microsoft.com/office/drawing/2014/main" id="{7D8D8866-D8E7-1626-5930-E87077D93109}"/>
              </a:ext>
            </a:extLst>
          </p:cNvPr>
          <p:cNvSpPr/>
          <p:nvPr/>
        </p:nvSpPr>
        <p:spPr>
          <a:xfrm>
            <a:off x="5493812" y="4190360"/>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Standard</a:t>
            </a:r>
          </a:p>
        </p:txBody>
      </p:sp>
      <p:sp>
        <p:nvSpPr>
          <p:cNvPr id="104" name="Rectangle 103">
            <a:extLst>
              <a:ext uri="{FF2B5EF4-FFF2-40B4-BE49-F238E27FC236}">
                <a16:creationId xmlns:a16="http://schemas.microsoft.com/office/drawing/2014/main" id="{C59EEE01-EEF9-2E4D-A201-CAF79CD29AC6}"/>
              </a:ext>
            </a:extLst>
          </p:cNvPr>
          <p:cNvSpPr/>
          <p:nvPr/>
        </p:nvSpPr>
        <p:spPr>
          <a:xfrm>
            <a:off x="5493812" y="5836485"/>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Bad</a:t>
            </a:r>
          </a:p>
        </p:txBody>
      </p:sp>
      <p:sp>
        <p:nvSpPr>
          <p:cNvPr id="105" name="Rectangle 104">
            <a:extLst>
              <a:ext uri="{FF2B5EF4-FFF2-40B4-BE49-F238E27FC236}">
                <a16:creationId xmlns:a16="http://schemas.microsoft.com/office/drawing/2014/main" id="{E7B91D63-0F87-7E15-1FA0-25E1B0B485F7}"/>
              </a:ext>
            </a:extLst>
          </p:cNvPr>
          <p:cNvSpPr/>
          <p:nvPr/>
        </p:nvSpPr>
        <p:spPr>
          <a:xfrm>
            <a:off x="5493812" y="5209520"/>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Standard</a:t>
            </a:r>
          </a:p>
        </p:txBody>
      </p:sp>
    </p:spTree>
    <p:extLst>
      <p:ext uri="{BB962C8B-B14F-4D97-AF65-F5344CB8AC3E}">
        <p14:creationId xmlns:p14="http://schemas.microsoft.com/office/powerpoint/2010/main" val="33515101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E35CE-0415-62FF-BBB6-EF0FBB704E17}"/>
            </a:ext>
          </a:extLst>
        </p:cNvPr>
        <p:cNvGrpSpPr/>
        <p:nvPr/>
      </p:nvGrpSpPr>
      <p:grpSpPr>
        <a:xfrm>
          <a:off x="0" y="0"/>
          <a:ext cx="0" cy="0"/>
          <a:chOff x="0" y="0"/>
          <a:chExt cx="0" cy="0"/>
        </a:xfrm>
      </p:grpSpPr>
      <p:sp>
        <p:nvSpPr>
          <p:cNvPr id="120" name="Rectangle 119">
            <a:extLst>
              <a:ext uri="{FF2B5EF4-FFF2-40B4-BE49-F238E27FC236}">
                <a16:creationId xmlns:a16="http://schemas.microsoft.com/office/drawing/2014/main" id="{96AA6472-A0AA-C20D-BC59-DB054035E789}"/>
              </a:ext>
            </a:extLst>
          </p:cNvPr>
          <p:cNvSpPr/>
          <p:nvPr/>
        </p:nvSpPr>
        <p:spPr>
          <a:xfrm>
            <a:off x="1738474" y="5334748"/>
            <a:ext cx="1069254" cy="2413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Economy</a:t>
            </a:r>
          </a:p>
        </p:txBody>
      </p:sp>
      <p:sp>
        <p:nvSpPr>
          <p:cNvPr id="121" name="Rectangle 120">
            <a:extLst>
              <a:ext uri="{FF2B5EF4-FFF2-40B4-BE49-F238E27FC236}">
                <a16:creationId xmlns:a16="http://schemas.microsoft.com/office/drawing/2014/main" id="{170AA022-B50A-6541-12C5-6187DDC9E96D}"/>
              </a:ext>
            </a:extLst>
          </p:cNvPr>
          <p:cNvSpPr/>
          <p:nvPr/>
        </p:nvSpPr>
        <p:spPr>
          <a:xfrm>
            <a:off x="1736126" y="3613260"/>
            <a:ext cx="1069254"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Business</a:t>
            </a:r>
          </a:p>
        </p:txBody>
      </p:sp>
      <p:sp>
        <p:nvSpPr>
          <p:cNvPr id="122" name="Rectangle 121">
            <a:extLst>
              <a:ext uri="{FF2B5EF4-FFF2-40B4-BE49-F238E27FC236}">
                <a16:creationId xmlns:a16="http://schemas.microsoft.com/office/drawing/2014/main" id="{31C7DA55-57A6-5D1A-E639-44AFD7BD4C7E}"/>
              </a:ext>
            </a:extLst>
          </p:cNvPr>
          <p:cNvSpPr/>
          <p:nvPr/>
        </p:nvSpPr>
        <p:spPr>
          <a:xfrm>
            <a:off x="1596710" y="2806370"/>
            <a:ext cx="142317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First class</a:t>
            </a:r>
          </a:p>
        </p:txBody>
      </p:sp>
      <p:sp>
        <p:nvSpPr>
          <p:cNvPr id="2" name="Title 1">
            <a:extLst>
              <a:ext uri="{FF2B5EF4-FFF2-40B4-BE49-F238E27FC236}">
                <a16:creationId xmlns:a16="http://schemas.microsoft.com/office/drawing/2014/main" id="{5F4C01A3-8E85-7528-FA6F-614BAF5C2920}"/>
              </a:ext>
            </a:extLst>
          </p:cNvPr>
          <p:cNvSpPr>
            <a:spLocks noGrp="1"/>
          </p:cNvSpPr>
          <p:nvPr>
            <p:ph type="title"/>
          </p:nvPr>
        </p:nvSpPr>
        <p:spPr/>
        <p:txBody>
          <a:bodyPr/>
          <a:lstStyle/>
          <a:p>
            <a:r>
              <a:rPr lang="en-US" noProof="0" dirty="0"/>
              <a:t>Choosing a Flight Seat Class — Running the Simulation</a:t>
            </a:r>
          </a:p>
        </p:txBody>
      </p:sp>
      <p:sp>
        <p:nvSpPr>
          <p:cNvPr id="4" name="Slide Number Placeholder 3">
            <a:extLst>
              <a:ext uri="{FF2B5EF4-FFF2-40B4-BE49-F238E27FC236}">
                <a16:creationId xmlns:a16="http://schemas.microsoft.com/office/drawing/2014/main" id="{3DBE2864-16E5-D500-B76F-10FDF38619EF}"/>
              </a:ext>
            </a:extLst>
          </p:cNvPr>
          <p:cNvSpPr>
            <a:spLocks noGrp="1"/>
          </p:cNvSpPr>
          <p:nvPr>
            <p:ph type="sldNum" sz="quarter" idx="4"/>
          </p:nvPr>
        </p:nvSpPr>
        <p:spPr/>
        <p:txBody>
          <a:bodyPr/>
          <a:lstStyle/>
          <a:p>
            <a:fld id="{B5CEABB6-07DC-46E8-9B57-56EC44A396E5}" type="slidenum">
              <a:rPr lang="en-US" noProof="0" smtClean="0"/>
              <a:pPr/>
              <a:t>51</a:t>
            </a:fld>
            <a:endParaRPr lang="en-US" noProof="0" dirty="0"/>
          </a:p>
        </p:txBody>
      </p:sp>
      <p:sp>
        <p:nvSpPr>
          <p:cNvPr id="5" name="Table Placeholder 4">
            <a:extLst>
              <a:ext uri="{FF2B5EF4-FFF2-40B4-BE49-F238E27FC236}">
                <a16:creationId xmlns:a16="http://schemas.microsoft.com/office/drawing/2014/main" id="{05CA3E95-5531-AC16-22F0-9858B2EA9D8C}"/>
              </a:ext>
            </a:extLst>
          </p:cNvPr>
          <p:cNvSpPr>
            <a:spLocks noGrp="1"/>
          </p:cNvSpPr>
          <p:nvPr>
            <p:ph type="tbl" sz="quarter" idx="11"/>
          </p:nvPr>
        </p:nvSpPr>
        <p:spPr/>
        <p:txBody>
          <a:bodyPr/>
          <a:lstStyle/>
          <a:p>
            <a:r>
              <a:rPr lang="en-US" noProof="0" dirty="0"/>
              <a:t>Calculating QAH for each seat class from expected values.</a:t>
            </a:r>
          </a:p>
        </p:txBody>
      </p:sp>
      <p:sp>
        <p:nvSpPr>
          <p:cNvPr id="46" name="Rectangle 45">
            <a:extLst>
              <a:ext uri="{FF2B5EF4-FFF2-40B4-BE49-F238E27FC236}">
                <a16:creationId xmlns:a16="http://schemas.microsoft.com/office/drawing/2014/main" id="{D2A0538F-4C92-E677-6270-6E86F6A4526D}"/>
              </a:ext>
            </a:extLst>
          </p:cNvPr>
          <p:cNvSpPr/>
          <p:nvPr/>
        </p:nvSpPr>
        <p:spPr>
          <a:xfrm>
            <a:off x="5919461" y="2101874"/>
            <a:ext cx="1059461"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Cost </a:t>
            </a: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sp>
        <p:nvSpPr>
          <p:cNvPr id="91" name="Rectangle 90">
            <a:extLst>
              <a:ext uri="{FF2B5EF4-FFF2-40B4-BE49-F238E27FC236}">
                <a16:creationId xmlns:a16="http://schemas.microsoft.com/office/drawing/2014/main" id="{98DDCB26-D5A0-1920-A887-4B7DDA23AC14}"/>
              </a:ext>
            </a:extLst>
          </p:cNvPr>
          <p:cNvSpPr/>
          <p:nvPr/>
        </p:nvSpPr>
        <p:spPr>
          <a:xfrm>
            <a:off x="7222183" y="2101874"/>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Comfort</a:t>
            </a:r>
          </a:p>
        </p:txBody>
      </p:sp>
      <p:cxnSp>
        <p:nvCxnSpPr>
          <p:cNvPr id="92" name="Straight Connector 91">
            <a:extLst>
              <a:ext uri="{FF2B5EF4-FFF2-40B4-BE49-F238E27FC236}">
                <a16:creationId xmlns:a16="http://schemas.microsoft.com/office/drawing/2014/main" id="{99B56F07-278F-C82D-C295-9343C45D12E7}"/>
              </a:ext>
            </a:extLst>
          </p:cNvPr>
          <p:cNvCxnSpPr>
            <a:cxnSpLocks/>
          </p:cNvCxnSpPr>
          <p:nvPr/>
        </p:nvCxnSpPr>
        <p:spPr>
          <a:xfrm>
            <a:off x="5898206" y="2422048"/>
            <a:ext cx="110197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5E80F0AA-824A-FC9A-70B1-EE015AFDD720}"/>
              </a:ext>
            </a:extLst>
          </p:cNvPr>
          <p:cNvCxnSpPr>
            <a:cxnSpLocks/>
          </p:cNvCxnSpPr>
          <p:nvPr/>
        </p:nvCxnSpPr>
        <p:spPr>
          <a:xfrm>
            <a:off x="7108991" y="2422048"/>
            <a:ext cx="110197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Rectangle 106">
            <a:extLst>
              <a:ext uri="{FF2B5EF4-FFF2-40B4-BE49-F238E27FC236}">
                <a16:creationId xmlns:a16="http://schemas.microsoft.com/office/drawing/2014/main" id="{2478AD40-83FC-C300-DC91-707052FF95E8}"/>
              </a:ext>
            </a:extLst>
          </p:cNvPr>
          <p:cNvSpPr/>
          <p:nvPr/>
        </p:nvSpPr>
        <p:spPr>
          <a:xfrm>
            <a:off x="5967618" y="2587028"/>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1500</a:t>
            </a:r>
          </a:p>
        </p:txBody>
      </p:sp>
      <p:sp>
        <p:nvSpPr>
          <p:cNvPr id="108" name="Rectangle 107">
            <a:extLst>
              <a:ext uri="{FF2B5EF4-FFF2-40B4-BE49-F238E27FC236}">
                <a16:creationId xmlns:a16="http://schemas.microsoft.com/office/drawing/2014/main" id="{29CD6A8D-0530-AB71-6272-C56093B24C7E}"/>
              </a:ext>
            </a:extLst>
          </p:cNvPr>
          <p:cNvSpPr/>
          <p:nvPr/>
        </p:nvSpPr>
        <p:spPr>
          <a:xfrm>
            <a:off x="7222183" y="2587028"/>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a:t>
            </a:r>
          </a:p>
        </p:txBody>
      </p:sp>
      <p:sp>
        <p:nvSpPr>
          <p:cNvPr id="109" name="Rectangle 108">
            <a:extLst>
              <a:ext uri="{FF2B5EF4-FFF2-40B4-BE49-F238E27FC236}">
                <a16:creationId xmlns:a16="http://schemas.microsoft.com/office/drawing/2014/main" id="{5C45DC5C-2691-9CC0-CACD-DB41B2F1FBBC}"/>
              </a:ext>
            </a:extLst>
          </p:cNvPr>
          <p:cNvSpPr/>
          <p:nvPr/>
        </p:nvSpPr>
        <p:spPr>
          <a:xfrm>
            <a:off x="5967618" y="3551364"/>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1200</a:t>
            </a:r>
          </a:p>
        </p:txBody>
      </p:sp>
      <p:sp>
        <p:nvSpPr>
          <p:cNvPr id="110" name="Rectangle 109">
            <a:extLst>
              <a:ext uri="{FF2B5EF4-FFF2-40B4-BE49-F238E27FC236}">
                <a16:creationId xmlns:a16="http://schemas.microsoft.com/office/drawing/2014/main" id="{2D6CAEDB-307F-D2F0-67DE-6B2CE8B86CA6}"/>
              </a:ext>
            </a:extLst>
          </p:cNvPr>
          <p:cNvSpPr/>
          <p:nvPr/>
        </p:nvSpPr>
        <p:spPr>
          <a:xfrm>
            <a:off x="7222183" y="3551364"/>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a:t>
            </a:r>
          </a:p>
        </p:txBody>
      </p:sp>
      <p:sp>
        <p:nvSpPr>
          <p:cNvPr id="111" name="Rectangle 110">
            <a:extLst>
              <a:ext uri="{FF2B5EF4-FFF2-40B4-BE49-F238E27FC236}">
                <a16:creationId xmlns:a16="http://schemas.microsoft.com/office/drawing/2014/main" id="{B1DF8ED2-754D-BACB-AB83-82DF57374F95}"/>
              </a:ext>
            </a:extLst>
          </p:cNvPr>
          <p:cNvSpPr/>
          <p:nvPr/>
        </p:nvSpPr>
        <p:spPr>
          <a:xfrm>
            <a:off x="5967618" y="4081031"/>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1200</a:t>
            </a:r>
          </a:p>
        </p:txBody>
      </p:sp>
      <p:sp>
        <p:nvSpPr>
          <p:cNvPr id="112" name="Rectangle 111">
            <a:extLst>
              <a:ext uri="{FF2B5EF4-FFF2-40B4-BE49-F238E27FC236}">
                <a16:creationId xmlns:a16="http://schemas.microsoft.com/office/drawing/2014/main" id="{BDB1159F-E80E-F0E8-1DD9-11B8449D41D8}"/>
              </a:ext>
            </a:extLst>
          </p:cNvPr>
          <p:cNvSpPr/>
          <p:nvPr/>
        </p:nvSpPr>
        <p:spPr>
          <a:xfrm>
            <a:off x="7222183" y="4081031"/>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0.8</a:t>
            </a:r>
          </a:p>
        </p:txBody>
      </p:sp>
      <p:sp>
        <p:nvSpPr>
          <p:cNvPr id="113" name="Rectangle 112">
            <a:extLst>
              <a:ext uri="{FF2B5EF4-FFF2-40B4-BE49-F238E27FC236}">
                <a16:creationId xmlns:a16="http://schemas.microsoft.com/office/drawing/2014/main" id="{D4CF2A6E-87CA-331A-D302-25C15C759E69}"/>
              </a:ext>
            </a:extLst>
          </p:cNvPr>
          <p:cNvSpPr/>
          <p:nvPr/>
        </p:nvSpPr>
        <p:spPr>
          <a:xfrm>
            <a:off x="6087379" y="5209521"/>
            <a:ext cx="723625"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750</a:t>
            </a:r>
          </a:p>
        </p:txBody>
      </p:sp>
      <p:sp>
        <p:nvSpPr>
          <p:cNvPr id="114" name="Rectangle 113">
            <a:extLst>
              <a:ext uri="{FF2B5EF4-FFF2-40B4-BE49-F238E27FC236}">
                <a16:creationId xmlns:a16="http://schemas.microsoft.com/office/drawing/2014/main" id="{3E8C8B24-4587-4456-9709-2B252E3C540C}"/>
              </a:ext>
            </a:extLst>
          </p:cNvPr>
          <p:cNvSpPr/>
          <p:nvPr/>
        </p:nvSpPr>
        <p:spPr>
          <a:xfrm>
            <a:off x="7222183" y="5209521"/>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0.8</a:t>
            </a:r>
          </a:p>
        </p:txBody>
      </p:sp>
      <p:sp>
        <p:nvSpPr>
          <p:cNvPr id="115" name="Rectangle 114">
            <a:extLst>
              <a:ext uri="{FF2B5EF4-FFF2-40B4-BE49-F238E27FC236}">
                <a16:creationId xmlns:a16="http://schemas.microsoft.com/office/drawing/2014/main" id="{202EAD38-3D31-4CE1-B439-2DF62FE9FF09}"/>
              </a:ext>
            </a:extLst>
          </p:cNvPr>
          <p:cNvSpPr/>
          <p:nvPr/>
        </p:nvSpPr>
        <p:spPr>
          <a:xfrm>
            <a:off x="6087379" y="5721634"/>
            <a:ext cx="723625"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750</a:t>
            </a:r>
          </a:p>
        </p:txBody>
      </p:sp>
      <p:sp>
        <p:nvSpPr>
          <p:cNvPr id="116" name="Rectangle 115">
            <a:extLst>
              <a:ext uri="{FF2B5EF4-FFF2-40B4-BE49-F238E27FC236}">
                <a16:creationId xmlns:a16="http://schemas.microsoft.com/office/drawing/2014/main" id="{A80B25BC-32F8-EB40-8EAF-46DF70728BF7}"/>
              </a:ext>
            </a:extLst>
          </p:cNvPr>
          <p:cNvSpPr/>
          <p:nvPr/>
        </p:nvSpPr>
        <p:spPr>
          <a:xfrm>
            <a:off x="7222183" y="5721634"/>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0.5</a:t>
            </a:r>
          </a:p>
        </p:txBody>
      </p:sp>
      <p:sp>
        <p:nvSpPr>
          <p:cNvPr id="15" name="Rectangle 14">
            <a:extLst>
              <a:ext uri="{FF2B5EF4-FFF2-40B4-BE49-F238E27FC236}">
                <a16:creationId xmlns:a16="http://schemas.microsoft.com/office/drawing/2014/main" id="{016E68F1-25ED-F2CB-7920-C62A86387D61}"/>
              </a:ext>
            </a:extLst>
          </p:cNvPr>
          <p:cNvSpPr/>
          <p:nvPr/>
        </p:nvSpPr>
        <p:spPr>
          <a:xfrm>
            <a:off x="8049843" y="1967564"/>
            <a:ext cx="1551157" cy="3319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Expected cost($)</a:t>
            </a:r>
          </a:p>
        </p:txBody>
      </p:sp>
      <p:sp>
        <p:nvSpPr>
          <p:cNvPr id="18" name="Rectangle 17">
            <a:extLst>
              <a:ext uri="{FF2B5EF4-FFF2-40B4-BE49-F238E27FC236}">
                <a16:creationId xmlns:a16="http://schemas.microsoft.com/office/drawing/2014/main" id="{3BB93306-B859-2657-9C62-A17CE3A9342D}"/>
              </a:ext>
            </a:extLst>
          </p:cNvPr>
          <p:cNvSpPr/>
          <p:nvPr/>
        </p:nvSpPr>
        <p:spPr>
          <a:xfrm>
            <a:off x="9295966" y="1996367"/>
            <a:ext cx="1410143"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Expected comfort</a:t>
            </a:r>
          </a:p>
        </p:txBody>
      </p:sp>
      <p:cxnSp>
        <p:nvCxnSpPr>
          <p:cNvPr id="19" name="Straight Connector 18">
            <a:extLst>
              <a:ext uri="{FF2B5EF4-FFF2-40B4-BE49-F238E27FC236}">
                <a16:creationId xmlns:a16="http://schemas.microsoft.com/office/drawing/2014/main" id="{68C94A22-3B38-7949-BC0E-DFD6E5C86362}"/>
              </a:ext>
            </a:extLst>
          </p:cNvPr>
          <p:cNvCxnSpPr>
            <a:cxnSpLocks/>
          </p:cNvCxnSpPr>
          <p:nvPr/>
        </p:nvCxnSpPr>
        <p:spPr>
          <a:xfrm>
            <a:off x="8274436" y="2422048"/>
            <a:ext cx="110197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00B55D1-5CCA-2DD8-39AC-C59B1527BE8E}"/>
              </a:ext>
            </a:extLst>
          </p:cNvPr>
          <p:cNvCxnSpPr>
            <a:cxnSpLocks/>
          </p:cNvCxnSpPr>
          <p:nvPr/>
        </p:nvCxnSpPr>
        <p:spPr>
          <a:xfrm>
            <a:off x="9450052" y="2422048"/>
            <a:ext cx="110197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FC647CD2-4527-44F4-D12F-576DD5D0BDF1}"/>
              </a:ext>
            </a:extLst>
          </p:cNvPr>
          <p:cNvSpPr/>
          <p:nvPr/>
        </p:nvSpPr>
        <p:spPr>
          <a:xfrm>
            <a:off x="8343848" y="2587028"/>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1500</a:t>
            </a:r>
          </a:p>
        </p:txBody>
      </p:sp>
      <p:sp>
        <p:nvSpPr>
          <p:cNvPr id="23" name="Rectangle 22">
            <a:extLst>
              <a:ext uri="{FF2B5EF4-FFF2-40B4-BE49-F238E27FC236}">
                <a16:creationId xmlns:a16="http://schemas.microsoft.com/office/drawing/2014/main" id="{AD3CA008-45C4-35BF-19F0-15450C618E94}"/>
              </a:ext>
            </a:extLst>
          </p:cNvPr>
          <p:cNvSpPr/>
          <p:nvPr/>
        </p:nvSpPr>
        <p:spPr>
          <a:xfrm>
            <a:off x="9524490" y="2587028"/>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a:t>
            </a:r>
          </a:p>
        </p:txBody>
      </p:sp>
      <p:sp>
        <p:nvSpPr>
          <p:cNvPr id="24" name="Rectangle 23">
            <a:extLst>
              <a:ext uri="{FF2B5EF4-FFF2-40B4-BE49-F238E27FC236}">
                <a16:creationId xmlns:a16="http://schemas.microsoft.com/office/drawing/2014/main" id="{4140D58D-2F82-B203-719C-7BA024FCBBF7}"/>
              </a:ext>
            </a:extLst>
          </p:cNvPr>
          <p:cNvSpPr/>
          <p:nvPr/>
        </p:nvSpPr>
        <p:spPr>
          <a:xfrm>
            <a:off x="8343848" y="3551364"/>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960</a:t>
            </a:r>
          </a:p>
        </p:txBody>
      </p:sp>
      <p:sp>
        <p:nvSpPr>
          <p:cNvPr id="25" name="Rectangle 24">
            <a:extLst>
              <a:ext uri="{FF2B5EF4-FFF2-40B4-BE49-F238E27FC236}">
                <a16:creationId xmlns:a16="http://schemas.microsoft.com/office/drawing/2014/main" id="{E6692AFA-9B07-3BB6-A22A-6B5C62734C5A}"/>
              </a:ext>
            </a:extLst>
          </p:cNvPr>
          <p:cNvSpPr/>
          <p:nvPr/>
        </p:nvSpPr>
        <p:spPr>
          <a:xfrm>
            <a:off x="9409450" y="3561306"/>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0.8</a:t>
            </a:r>
          </a:p>
        </p:txBody>
      </p:sp>
      <p:sp>
        <p:nvSpPr>
          <p:cNvPr id="26" name="Rectangle 25">
            <a:extLst>
              <a:ext uri="{FF2B5EF4-FFF2-40B4-BE49-F238E27FC236}">
                <a16:creationId xmlns:a16="http://schemas.microsoft.com/office/drawing/2014/main" id="{11076BAE-FB3F-8155-0025-6F3426C42B82}"/>
              </a:ext>
            </a:extLst>
          </p:cNvPr>
          <p:cNvSpPr/>
          <p:nvPr/>
        </p:nvSpPr>
        <p:spPr>
          <a:xfrm>
            <a:off x="8343848" y="4081031"/>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240</a:t>
            </a:r>
          </a:p>
        </p:txBody>
      </p:sp>
      <p:sp>
        <p:nvSpPr>
          <p:cNvPr id="27" name="Rectangle 26">
            <a:extLst>
              <a:ext uri="{FF2B5EF4-FFF2-40B4-BE49-F238E27FC236}">
                <a16:creationId xmlns:a16="http://schemas.microsoft.com/office/drawing/2014/main" id="{7C5E71F7-4370-D1FD-9639-BF95B66DC49E}"/>
              </a:ext>
            </a:extLst>
          </p:cNvPr>
          <p:cNvSpPr/>
          <p:nvPr/>
        </p:nvSpPr>
        <p:spPr>
          <a:xfrm>
            <a:off x="9529337" y="4081030"/>
            <a:ext cx="972616" cy="304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0.16</a:t>
            </a:r>
          </a:p>
        </p:txBody>
      </p:sp>
      <p:sp>
        <p:nvSpPr>
          <p:cNvPr id="28" name="Rectangle 27">
            <a:extLst>
              <a:ext uri="{FF2B5EF4-FFF2-40B4-BE49-F238E27FC236}">
                <a16:creationId xmlns:a16="http://schemas.microsoft.com/office/drawing/2014/main" id="{466FD774-9F11-3230-CC65-286FD4381170}"/>
              </a:ext>
            </a:extLst>
          </p:cNvPr>
          <p:cNvSpPr/>
          <p:nvPr/>
        </p:nvSpPr>
        <p:spPr>
          <a:xfrm>
            <a:off x="8463609" y="5209521"/>
            <a:ext cx="723625"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525</a:t>
            </a:r>
          </a:p>
        </p:txBody>
      </p:sp>
      <p:sp>
        <p:nvSpPr>
          <p:cNvPr id="29" name="Rectangle 28">
            <a:extLst>
              <a:ext uri="{FF2B5EF4-FFF2-40B4-BE49-F238E27FC236}">
                <a16:creationId xmlns:a16="http://schemas.microsoft.com/office/drawing/2014/main" id="{4E62ABC0-2525-69C5-6B99-B6ADE08818D3}"/>
              </a:ext>
            </a:extLst>
          </p:cNvPr>
          <p:cNvSpPr/>
          <p:nvPr/>
        </p:nvSpPr>
        <p:spPr>
          <a:xfrm>
            <a:off x="9394953" y="5209520"/>
            <a:ext cx="1107000" cy="3112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0.56 </a:t>
            </a:r>
          </a:p>
        </p:txBody>
      </p:sp>
      <p:sp>
        <p:nvSpPr>
          <p:cNvPr id="30" name="Rectangle 29">
            <a:extLst>
              <a:ext uri="{FF2B5EF4-FFF2-40B4-BE49-F238E27FC236}">
                <a16:creationId xmlns:a16="http://schemas.microsoft.com/office/drawing/2014/main" id="{72500F53-38E6-26E1-E69C-5639791D5502}"/>
              </a:ext>
            </a:extLst>
          </p:cNvPr>
          <p:cNvSpPr/>
          <p:nvPr/>
        </p:nvSpPr>
        <p:spPr>
          <a:xfrm>
            <a:off x="8463609" y="5721634"/>
            <a:ext cx="723625"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225</a:t>
            </a:r>
          </a:p>
        </p:txBody>
      </p:sp>
      <p:sp>
        <p:nvSpPr>
          <p:cNvPr id="31" name="Rectangle 30">
            <a:extLst>
              <a:ext uri="{FF2B5EF4-FFF2-40B4-BE49-F238E27FC236}">
                <a16:creationId xmlns:a16="http://schemas.microsoft.com/office/drawing/2014/main" id="{F6EE2B5F-03AC-E533-E48C-83DE0BF39DAE}"/>
              </a:ext>
            </a:extLst>
          </p:cNvPr>
          <p:cNvSpPr/>
          <p:nvPr/>
        </p:nvSpPr>
        <p:spPr>
          <a:xfrm>
            <a:off x="9442492" y="5721634"/>
            <a:ext cx="1059461"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0.15</a:t>
            </a:r>
          </a:p>
        </p:txBody>
      </p:sp>
      <p:cxnSp>
        <p:nvCxnSpPr>
          <p:cNvPr id="32" name="Straight Connector 31">
            <a:extLst>
              <a:ext uri="{FF2B5EF4-FFF2-40B4-BE49-F238E27FC236}">
                <a16:creationId xmlns:a16="http://schemas.microsoft.com/office/drawing/2014/main" id="{8B21D1DB-98F4-FEDC-BC64-1DA47E0157C6}"/>
              </a:ext>
            </a:extLst>
          </p:cNvPr>
          <p:cNvCxnSpPr>
            <a:cxnSpLocks/>
          </p:cNvCxnSpPr>
          <p:nvPr/>
        </p:nvCxnSpPr>
        <p:spPr>
          <a:xfrm>
            <a:off x="8295691" y="4469511"/>
            <a:ext cx="340899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2E1AFAA3-1290-C748-BCB4-A0878C7FD8D9}"/>
              </a:ext>
            </a:extLst>
          </p:cNvPr>
          <p:cNvSpPr/>
          <p:nvPr/>
        </p:nvSpPr>
        <p:spPr>
          <a:xfrm>
            <a:off x="8295691" y="4549714"/>
            <a:ext cx="1059461"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1200</a:t>
            </a:r>
          </a:p>
        </p:txBody>
      </p:sp>
      <p:sp>
        <p:nvSpPr>
          <p:cNvPr id="38" name="Rectangle 37">
            <a:extLst>
              <a:ext uri="{FF2B5EF4-FFF2-40B4-BE49-F238E27FC236}">
                <a16:creationId xmlns:a16="http://schemas.microsoft.com/office/drawing/2014/main" id="{9BF64263-C159-E586-6763-B65EA24074C2}"/>
              </a:ext>
            </a:extLst>
          </p:cNvPr>
          <p:cNvSpPr/>
          <p:nvPr/>
        </p:nvSpPr>
        <p:spPr>
          <a:xfrm>
            <a:off x="9519464" y="4549714"/>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0.96</a:t>
            </a:r>
          </a:p>
        </p:txBody>
      </p:sp>
      <p:cxnSp>
        <p:nvCxnSpPr>
          <p:cNvPr id="39" name="Straight Connector 38">
            <a:extLst>
              <a:ext uri="{FF2B5EF4-FFF2-40B4-BE49-F238E27FC236}">
                <a16:creationId xmlns:a16="http://schemas.microsoft.com/office/drawing/2014/main" id="{ADAD4635-B314-ADBD-3455-D5318476C7BB}"/>
              </a:ext>
            </a:extLst>
          </p:cNvPr>
          <p:cNvCxnSpPr>
            <a:cxnSpLocks/>
          </p:cNvCxnSpPr>
          <p:nvPr/>
        </p:nvCxnSpPr>
        <p:spPr>
          <a:xfrm>
            <a:off x="8295691" y="6102327"/>
            <a:ext cx="340899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7630E9E3-CED6-5302-E66A-C2ADE80C16D2}"/>
              </a:ext>
            </a:extLst>
          </p:cNvPr>
          <p:cNvSpPr/>
          <p:nvPr/>
        </p:nvSpPr>
        <p:spPr>
          <a:xfrm>
            <a:off x="8295691" y="6172732"/>
            <a:ext cx="1059461" cy="3240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750</a:t>
            </a:r>
          </a:p>
        </p:txBody>
      </p:sp>
      <p:sp>
        <p:nvSpPr>
          <p:cNvPr id="41" name="Rectangle 40">
            <a:extLst>
              <a:ext uri="{FF2B5EF4-FFF2-40B4-BE49-F238E27FC236}">
                <a16:creationId xmlns:a16="http://schemas.microsoft.com/office/drawing/2014/main" id="{75D2E729-B828-4523-8480-348374307BB1}"/>
              </a:ext>
            </a:extLst>
          </p:cNvPr>
          <p:cNvSpPr/>
          <p:nvPr/>
        </p:nvSpPr>
        <p:spPr>
          <a:xfrm>
            <a:off x="9578859" y="6172732"/>
            <a:ext cx="963146" cy="3240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0.71</a:t>
            </a:r>
          </a:p>
        </p:txBody>
      </p:sp>
      <p:sp>
        <p:nvSpPr>
          <p:cNvPr id="44" name="Rectangle 43">
            <a:extLst>
              <a:ext uri="{FF2B5EF4-FFF2-40B4-BE49-F238E27FC236}">
                <a16:creationId xmlns:a16="http://schemas.microsoft.com/office/drawing/2014/main" id="{F2CD59AB-F80C-3639-80FA-B930747B8DA7}"/>
              </a:ext>
            </a:extLst>
          </p:cNvPr>
          <p:cNvSpPr/>
          <p:nvPr/>
        </p:nvSpPr>
        <p:spPr>
          <a:xfrm>
            <a:off x="10740122" y="2101874"/>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QAH</a:t>
            </a:r>
          </a:p>
        </p:txBody>
      </p:sp>
      <p:cxnSp>
        <p:nvCxnSpPr>
          <p:cNvPr id="45" name="Straight Connector 44">
            <a:extLst>
              <a:ext uri="{FF2B5EF4-FFF2-40B4-BE49-F238E27FC236}">
                <a16:creationId xmlns:a16="http://schemas.microsoft.com/office/drawing/2014/main" id="{B27E30C2-B5E0-C5B8-7FD4-D4509FF8CC1C}"/>
              </a:ext>
            </a:extLst>
          </p:cNvPr>
          <p:cNvCxnSpPr>
            <a:cxnSpLocks/>
          </p:cNvCxnSpPr>
          <p:nvPr/>
        </p:nvCxnSpPr>
        <p:spPr>
          <a:xfrm>
            <a:off x="10626930" y="2422048"/>
            <a:ext cx="110197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86CB5188-C377-6750-CF21-EC47E7F70072}"/>
              </a:ext>
            </a:extLst>
          </p:cNvPr>
          <p:cNvSpPr/>
          <p:nvPr/>
        </p:nvSpPr>
        <p:spPr>
          <a:xfrm>
            <a:off x="10768602" y="2587028"/>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18</a:t>
            </a:r>
          </a:p>
        </p:txBody>
      </p:sp>
      <p:sp>
        <p:nvSpPr>
          <p:cNvPr id="48" name="Rectangle 47">
            <a:extLst>
              <a:ext uri="{FF2B5EF4-FFF2-40B4-BE49-F238E27FC236}">
                <a16:creationId xmlns:a16="http://schemas.microsoft.com/office/drawing/2014/main" id="{2E87A075-E5C8-667E-605C-B3BC203269B5}"/>
              </a:ext>
            </a:extLst>
          </p:cNvPr>
          <p:cNvSpPr/>
          <p:nvPr/>
        </p:nvSpPr>
        <p:spPr>
          <a:xfrm>
            <a:off x="10566994" y="4524836"/>
            <a:ext cx="1137843" cy="3240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17.28</a:t>
            </a:r>
          </a:p>
        </p:txBody>
      </p:sp>
      <p:sp>
        <p:nvSpPr>
          <p:cNvPr id="49" name="Rectangle 48">
            <a:extLst>
              <a:ext uri="{FF2B5EF4-FFF2-40B4-BE49-F238E27FC236}">
                <a16:creationId xmlns:a16="http://schemas.microsoft.com/office/drawing/2014/main" id="{750EAB82-6AA4-30B0-CC1F-FD47FF2FC9AA}"/>
              </a:ext>
            </a:extLst>
          </p:cNvPr>
          <p:cNvSpPr/>
          <p:nvPr/>
        </p:nvSpPr>
        <p:spPr>
          <a:xfrm>
            <a:off x="10566994" y="6172732"/>
            <a:ext cx="1137843" cy="3240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12.78</a:t>
            </a:r>
          </a:p>
        </p:txBody>
      </p:sp>
      <p:cxnSp>
        <p:nvCxnSpPr>
          <p:cNvPr id="58" name="Connector: Curved 57">
            <a:extLst>
              <a:ext uri="{FF2B5EF4-FFF2-40B4-BE49-F238E27FC236}">
                <a16:creationId xmlns:a16="http://schemas.microsoft.com/office/drawing/2014/main" id="{93C06E27-8FDD-826C-A516-DD2F5FC795F8}"/>
              </a:ext>
            </a:extLst>
          </p:cNvPr>
          <p:cNvCxnSpPr>
            <a:cxnSpLocks/>
            <a:stCxn id="23" idx="2"/>
            <a:endCxn id="47" idx="2"/>
          </p:cNvCxnSpPr>
          <p:nvPr/>
        </p:nvCxnSpPr>
        <p:spPr>
          <a:xfrm rot="16200000" flipH="1">
            <a:off x="10584340" y="2239292"/>
            <a:ext cx="12700" cy="1244112"/>
          </a:xfrm>
          <a:prstGeom prst="curved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Curved 60">
            <a:extLst>
              <a:ext uri="{FF2B5EF4-FFF2-40B4-BE49-F238E27FC236}">
                <a16:creationId xmlns:a16="http://schemas.microsoft.com/office/drawing/2014/main" id="{6F632052-2029-9D51-50FD-2DB67C49AF09}"/>
              </a:ext>
            </a:extLst>
          </p:cNvPr>
          <p:cNvCxnSpPr>
            <a:cxnSpLocks/>
            <a:stCxn id="38" idx="2"/>
            <a:endCxn id="48" idx="2"/>
          </p:cNvCxnSpPr>
          <p:nvPr/>
        </p:nvCxnSpPr>
        <p:spPr>
          <a:xfrm rot="16200000" flipH="1">
            <a:off x="10556037" y="4269033"/>
            <a:ext cx="24879" cy="1134879"/>
          </a:xfrm>
          <a:prstGeom prst="curvedConnector3">
            <a:avLst>
              <a:gd name="adj1" fmla="val 101884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Connector: Curved 63">
            <a:extLst>
              <a:ext uri="{FF2B5EF4-FFF2-40B4-BE49-F238E27FC236}">
                <a16:creationId xmlns:a16="http://schemas.microsoft.com/office/drawing/2014/main" id="{7B997E6C-1AE8-72AF-BA7A-27165CBB9770}"/>
              </a:ext>
            </a:extLst>
          </p:cNvPr>
          <p:cNvCxnSpPr>
            <a:cxnSpLocks/>
            <a:stCxn id="41" idx="2"/>
            <a:endCxn id="49" idx="2"/>
          </p:cNvCxnSpPr>
          <p:nvPr/>
        </p:nvCxnSpPr>
        <p:spPr>
          <a:xfrm rot="16200000" flipH="1">
            <a:off x="10598174" y="5959067"/>
            <a:ext cx="12700" cy="1075484"/>
          </a:xfrm>
          <a:prstGeom prst="curved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99A6E0FC-322B-874E-93FE-53BC5FFA26B3}"/>
              </a:ext>
            </a:extLst>
          </p:cNvPr>
          <p:cNvSpPr/>
          <p:nvPr/>
        </p:nvSpPr>
        <p:spPr>
          <a:xfrm>
            <a:off x="10181856" y="3132324"/>
            <a:ext cx="770275"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18h</a:t>
            </a:r>
          </a:p>
        </p:txBody>
      </p:sp>
      <p:grpSp>
        <p:nvGrpSpPr>
          <p:cNvPr id="42" name="Group 41">
            <a:extLst>
              <a:ext uri="{FF2B5EF4-FFF2-40B4-BE49-F238E27FC236}">
                <a16:creationId xmlns:a16="http://schemas.microsoft.com/office/drawing/2014/main" id="{72516192-8216-5811-50B5-B0545F0B90BE}"/>
              </a:ext>
            </a:extLst>
          </p:cNvPr>
          <p:cNvGrpSpPr/>
          <p:nvPr/>
        </p:nvGrpSpPr>
        <p:grpSpPr>
          <a:xfrm>
            <a:off x="467139" y="108959"/>
            <a:ext cx="4197304" cy="307297"/>
            <a:chOff x="562270" y="127168"/>
            <a:chExt cx="4197304" cy="307297"/>
          </a:xfrm>
        </p:grpSpPr>
        <p:sp>
          <p:nvSpPr>
            <p:cNvPr id="43" name="Arrow: Pentagon 42">
              <a:extLst>
                <a:ext uri="{FF2B5EF4-FFF2-40B4-BE49-F238E27FC236}">
                  <a16:creationId xmlns:a16="http://schemas.microsoft.com/office/drawing/2014/main" id="{6538BF3C-DDCE-701C-DC41-D48D5FB0BC2B}"/>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59" name="Arrow: Pentagon 58">
              <a:extLst>
                <a:ext uri="{FF2B5EF4-FFF2-40B4-BE49-F238E27FC236}">
                  <a16:creationId xmlns:a16="http://schemas.microsoft.com/office/drawing/2014/main" id="{3DA09A16-9A31-1E58-5795-12789F8C255B}"/>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60" name="Arrow: Pentagon 59">
              <a:extLst>
                <a:ext uri="{FF2B5EF4-FFF2-40B4-BE49-F238E27FC236}">
                  <a16:creationId xmlns:a16="http://schemas.microsoft.com/office/drawing/2014/main" id="{B5EA7287-5392-B35D-E9E7-EB0455580FFF}"/>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
        <p:nvSpPr>
          <p:cNvPr id="62" name="Rectangle 61">
            <a:extLst>
              <a:ext uri="{FF2B5EF4-FFF2-40B4-BE49-F238E27FC236}">
                <a16:creationId xmlns:a16="http://schemas.microsoft.com/office/drawing/2014/main" id="{3785C516-79B3-2E67-838A-340291F45E75}"/>
              </a:ext>
            </a:extLst>
          </p:cNvPr>
          <p:cNvSpPr/>
          <p:nvPr/>
        </p:nvSpPr>
        <p:spPr>
          <a:xfrm>
            <a:off x="3177994" y="5643610"/>
            <a:ext cx="770275"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30%</a:t>
            </a:r>
          </a:p>
        </p:txBody>
      </p:sp>
      <p:sp>
        <p:nvSpPr>
          <p:cNvPr id="63" name="Rectangle 62">
            <a:extLst>
              <a:ext uri="{FF2B5EF4-FFF2-40B4-BE49-F238E27FC236}">
                <a16:creationId xmlns:a16="http://schemas.microsoft.com/office/drawing/2014/main" id="{2D0E395B-61D3-80A2-44EA-CF46C941275E}"/>
              </a:ext>
            </a:extLst>
          </p:cNvPr>
          <p:cNvSpPr/>
          <p:nvPr/>
        </p:nvSpPr>
        <p:spPr>
          <a:xfrm>
            <a:off x="3177994" y="5010828"/>
            <a:ext cx="770275"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70%</a:t>
            </a:r>
          </a:p>
        </p:txBody>
      </p:sp>
      <p:sp>
        <p:nvSpPr>
          <p:cNvPr id="65" name="Rectangle 64">
            <a:extLst>
              <a:ext uri="{FF2B5EF4-FFF2-40B4-BE49-F238E27FC236}">
                <a16:creationId xmlns:a16="http://schemas.microsoft.com/office/drawing/2014/main" id="{A013569D-F2FA-FF1D-0911-BF232E8508F2}"/>
              </a:ext>
            </a:extLst>
          </p:cNvPr>
          <p:cNvSpPr/>
          <p:nvPr/>
        </p:nvSpPr>
        <p:spPr>
          <a:xfrm>
            <a:off x="3177994" y="3378368"/>
            <a:ext cx="770275"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80%</a:t>
            </a:r>
          </a:p>
        </p:txBody>
      </p:sp>
      <p:sp>
        <p:nvSpPr>
          <p:cNvPr id="66" name="Rectangle 65">
            <a:extLst>
              <a:ext uri="{FF2B5EF4-FFF2-40B4-BE49-F238E27FC236}">
                <a16:creationId xmlns:a16="http://schemas.microsoft.com/office/drawing/2014/main" id="{A36740B0-70F4-001A-9D69-928905793010}"/>
              </a:ext>
            </a:extLst>
          </p:cNvPr>
          <p:cNvSpPr/>
          <p:nvPr/>
        </p:nvSpPr>
        <p:spPr>
          <a:xfrm>
            <a:off x="1517641" y="3871603"/>
            <a:ext cx="243840" cy="260714"/>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8" name="Oval 67">
            <a:extLst>
              <a:ext uri="{FF2B5EF4-FFF2-40B4-BE49-F238E27FC236}">
                <a16:creationId xmlns:a16="http://schemas.microsoft.com/office/drawing/2014/main" id="{C151E5A7-0F46-74F1-D6D0-0514AC437294}"/>
              </a:ext>
            </a:extLst>
          </p:cNvPr>
          <p:cNvSpPr/>
          <p:nvPr/>
        </p:nvSpPr>
        <p:spPr>
          <a:xfrm>
            <a:off x="2773009" y="3871603"/>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69" name="Connector: Elbow 68">
            <a:extLst>
              <a:ext uri="{FF2B5EF4-FFF2-40B4-BE49-F238E27FC236}">
                <a16:creationId xmlns:a16="http://schemas.microsoft.com/office/drawing/2014/main" id="{230FBA22-609F-7A40-1054-AFF8051C0FC9}"/>
              </a:ext>
            </a:extLst>
          </p:cNvPr>
          <p:cNvCxnSpPr>
            <a:cxnSpLocks/>
            <a:stCxn id="66" idx="0"/>
            <a:endCxn id="74" idx="0"/>
          </p:cNvCxnSpPr>
          <p:nvPr/>
        </p:nvCxnSpPr>
        <p:spPr>
          <a:xfrm rot="5400000" flipH="1" flipV="1">
            <a:off x="2320743" y="2057209"/>
            <a:ext cx="1133213" cy="2495576"/>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74" name="Isosceles Triangle 73">
            <a:extLst>
              <a:ext uri="{FF2B5EF4-FFF2-40B4-BE49-F238E27FC236}">
                <a16:creationId xmlns:a16="http://schemas.microsoft.com/office/drawing/2014/main" id="{A658806A-6F27-9237-9F24-2B7A726377E8}"/>
              </a:ext>
            </a:extLst>
          </p:cNvPr>
          <p:cNvSpPr/>
          <p:nvPr/>
        </p:nvSpPr>
        <p:spPr>
          <a:xfrm rot="16200000">
            <a:off x="4135137" y="2601230"/>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75" name="Straight Connector 74">
            <a:extLst>
              <a:ext uri="{FF2B5EF4-FFF2-40B4-BE49-F238E27FC236}">
                <a16:creationId xmlns:a16="http://schemas.microsoft.com/office/drawing/2014/main" id="{BC8B801B-0440-8265-7D0B-624EE2606966}"/>
              </a:ext>
            </a:extLst>
          </p:cNvPr>
          <p:cNvCxnSpPr>
            <a:cxnSpLocks/>
            <a:stCxn id="66" idx="1"/>
          </p:cNvCxnSpPr>
          <p:nvPr/>
        </p:nvCxnSpPr>
        <p:spPr>
          <a:xfrm flipH="1">
            <a:off x="467139" y="4001960"/>
            <a:ext cx="105050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Rectangle 77">
            <a:extLst>
              <a:ext uri="{FF2B5EF4-FFF2-40B4-BE49-F238E27FC236}">
                <a16:creationId xmlns:a16="http://schemas.microsoft.com/office/drawing/2014/main" id="{0E568456-2402-E161-56A6-A65157BD5C23}"/>
              </a:ext>
            </a:extLst>
          </p:cNvPr>
          <p:cNvSpPr/>
          <p:nvPr/>
        </p:nvSpPr>
        <p:spPr>
          <a:xfrm>
            <a:off x="407302" y="3378368"/>
            <a:ext cx="1068041" cy="5642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000" dirty="0">
                <a:solidFill>
                  <a:schemeClr val="tx1"/>
                </a:solidFill>
                <a:latin typeface="Arial" panose="020B0604020202020204" pitchFamily="34" charset="0"/>
                <a:ea typeface="Meiryo UI" panose="020B0604030504040204" pitchFamily="50" charset="-128"/>
                <a:cs typeface="Arial" panose="020B0604020202020204" pitchFamily="34" charset="0"/>
              </a:rPr>
              <a:t>Choose </a:t>
            </a:r>
            <a:br>
              <a:rPr lang="en-US" sz="2000" dirty="0">
                <a:solidFill>
                  <a:schemeClr val="tx1"/>
                </a:solidFill>
                <a:latin typeface="Arial" panose="020B0604020202020204" pitchFamily="34" charset="0"/>
                <a:ea typeface="Meiryo UI" panose="020B0604030504040204" pitchFamily="50" charset="-128"/>
                <a:cs typeface="Arial" panose="020B0604020202020204" pitchFamily="34" charset="0"/>
              </a:rPr>
            </a:br>
            <a:r>
              <a:rPr lang="en-US" sz="2000" dirty="0">
                <a:solidFill>
                  <a:schemeClr val="tx1"/>
                </a:solidFill>
                <a:latin typeface="Arial" panose="020B0604020202020204" pitchFamily="34" charset="0"/>
                <a:ea typeface="Meiryo UI" panose="020B0604030504040204" pitchFamily="50" charset="-128"/>
                <a:cs typeface="Arial" panose="020B0604020202020204" pitchFamily="34" charset="0"/>
              </a:rPr>
              <a:t>a seat</a:t>
            </a:r>
          </a:p>
        </p:txBody>
      </p:sp>
      <p:grpSp>
        <p:nvGrpSpPr>
          <p:cNvPr id="79" name="Group 78">
            <a:extLst>
              <a:ext uri="{FF2B5EF4-FFF2-40B4-BE49-F238E27FC236}">
                <a16:creationId xmlns:a16="http://schemas.microsoft.com/office/drawing/2014/main" id="{BB471534-9B5A-1789-ED11-38ABE2F31F7F}"/>
              </a:ext>
            </a:extLst>
          </p:cNvPr>
          <p:cNvGrpSpPr/>
          <p:nvPr/>
        </p:nvGrpSpPr>
        <p:grpSpPr>
          <a:xfrm>
            <a:off x="580951" y="2110711"/>
            <a:ext cx="4715762" cy="308921"/>
            <a:chOff x="4911850" y="6335733"/>
            <a:chExt cx="4269796" cy="292745"/>
          </a:xfrm>
        </p:grpSpPr>
        <p:sp>
          <p:nvSpPr>
            <p:cNvPr id="80" name="Rectangle 79">
              <a:extLst>
                <a:ext uri="{FF2B5EF4-FFF2-40B4-BE49-F238E27FC236}">
                  <a16:creationId xmlns:a16="http://schemas.microsoft.com/office/drawing/2014/main" id="{8E3358A5-7B2F-F08C-51E5-F44909C2B678}"/>
                </a:ext>
              </a:extLst>
            </p:cNvPr>
            <p:cNvSpPr/>
            <p:nvPr/>
          </p:nvSpPr>
          <p:spPr>
            <a:xfrm>
              <a:off x="4911850" y="6352525"/>
              <a:ext cx="243840" cy="260714"/>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82" name="Rectangle 81">
              <a:extLst>
                <a:ext uri="{FF2B5EF4-FFF2-40B4-BE49-F238E27FC236}">
                  <a16:creationId xmlns:a16="http://schemas.microsoft.com/office/drawing/2014/main" id="{51737656-55CD-5ACB-199B-198276C8B95D}"/>
                </a:ext>
              </a:extLst>
            </p:cNvPr>
            <p:cNvSpPr/>
            <p:nvPr/>
          </p:nvSpPr>
          <p:spPr>
            <a:xfrm>
              <a:off x="5155690"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 Decision</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83" name="Oval 82">
              <a:extLst>
                <a:ext uri="{FF2B5EF4-FFF2-40B4-BE49-F238E27FC236}">
                  <a16:creationId xmlns:a16="http://schemas.microsoft.com/office/drawing/2014/main" id="{1982A3FD-C8D8-81E8-643D-F609FFE2B6F5}"/>
                </a:ext>
              </a:extLst>
            </p:cNvPr>
            <p:cNvSpPr/>
            <p:nvPr/>
          </p:nvSpPr>
          <p:spPr>
            <a:xfrm>
              <a:off x="6120324" y="6338919"/>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84" name="Rectangle 83">
              <a:extLst>
                <a:ext uri="{FF2B5EF4-FFF2-40B4-BE49-F238E27FC236}">
                  <a16:creationId xmlns:a16="http://schemas.microsoft.com/office/drawing/2014/main" id="{F07AC881-17D9-6FBF-5E84-277772CBE02B}"/>
                </a:ext>
              </a:extLst>
            </p:cNvPr>
            <p:cNvSpPr/>
            <p:nvPr/>
          </p:nvSpPr>
          <p:spPr>
            <a:xfrm>
              <a:off x="6407621" y="6335733"/>
              <a:ext cx="1454397"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 Chance event</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85" name="Isosceles Triangle 84">
              <a:extLst>
                <a:ext uri="{FF2B5EF4-FFF2-40B4-BE49-F238E27FC236}">
                  <a16:creationId xmlns:a16="http://schemas.microsoft.com/office/drawing/2014/main" id="{C9324E96-1584-1DB2-61AB-890459721808}"/>
                </a:ext>
              </a:extLst>
            </p:cNvPr>
            <p:cNvSpPr/>
            <p:nvPr/>
          </p:nvSpPr>
          <p:spPr>
            <a:xfrm rot="16200000">
              <a:off x="7809610" y="6354158"/>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86" name="Rectangle 85">
              <a:extLst>
                <a:ext uri="{FF2B5EF4-FFF2-40B4-BE49-F238E27FC236}">
                  <a16:creationId xmlns:a16="http://schemas.microsoft.com/office/drawing/2014/main" id="{F9F5D19D-C7F3-654C-E0BD-E318EBA8F7A7}"/>
                </a:ext>
              </a:extLst>
            </p:cNvPr>
            <p:cNvSpPr/>
            <p:nvPr/>
          </p:nvSpPr>
          <p:spPr>
            <a:xfrm>
              <a:off x="8088936"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Outcomes</a:t>
              </a:r>
            </a:p>
          </p:txBody>
        </p:sp>
      </p:grpSp>
      <p:cxnSp>
        <p:nvCxnSpPr>
          <p:cNvPr id="87" name="Connector: Elbow 86">
            <a:extLst>
              <a:ext uri="{FF2B5EF4-FFF2-40B4-BE49-F238E27FC236}">
                <a16:creationId xmlns:a16="http://schemas.microsoft.com/office/drawing/2014/main" id="{ED607C94-37D4-A782-E204-007B157DD923}"/>
              </a:ext>
            </a:extLst>
          </p:cNvPr>
          <p:cNvCxnSpPr>
            <a:cxnSpLocks/>
            <a:stCxn id="68" idx="0"/>
            <a:endCxn id="88" idx="0"/>
          </p:cNvCxnSpPr>
          <p:nvPr/>
        </p:nvCxnSpPr>
        <p:spPr>
          <a:xfrm rot="5400000" flipH="1" flipV="1">
            <a:off x="3437130" y="3173596"/>
            <a:ext cx="171047" cy="1224968"/>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88" name="Isosceles Triangle 87">
            <a:extLst>
              <a:ext uri="{FF2B5EF4-FFF2-40B4-BE49-F238E27FC236}">
                <a16:creationId xmlns:a16="http://schemas.microsoft.com/office/drawing/2014/main" id="{6E3FC9CB-D2CD-1BDF-A9D0-12F680AA81D1}"/>
              </a:ext>
            </a:extLst>
          </p:cNvPr>
          <p:cNvSpPr/>
          <p:nvPr/>
        </p:nvSpPr>
        <p:spPr>
          <a:xfrm rot="16200000">
            <a:off x="4135137" y="3563396"/>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89" name="Isosceles Triangle 88">
            <a:extLst>
              <a:ext uri="{FF2B5EF4-FFF2-40B4-BE49-F238E27FC236}">
                <a16:creationId xmlns:a16="http://schemas.microsoft.com/office/drawing/2014/main" id="{F93D6F3E-3957-E441-15ED-9918CE5C4FD9}"/>
              </a:ext>
            </a:extLst>
          </p:cNvPr>
          <p:cNvSpPr/>
          <p:nvPr/>
        </p:nvSpPr>
        <p:spPr>
          <a:xfrm rot="16200000">
            <a:off x="4135137" y="4190361"/>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90" name="Connector: Elbow 89">
            <a:extLst>
              <a:ext uri="{FF2B5EF4-FFF2-40B4-BE49-F238E27FC236}">
                <a16:creationId xmlns:a16="http://schemas.microsoft.com/office/drawing/2014/main" id="{844789F4-A02C-5F56-762D-3EAF1BB93586}"/>
              </a:ext>
            </a:extLst>
          </p:cNvPr>
          <p:cNvCxnSpPr>
            <a:cxnSpLocks/>
            <a:stCxn id="68" idx="4"/>
            <a:endCxn id="89" idx="0"/>
          </p:cNvCxnSpPr>
          <p:nvPr/>
        </p:nvCxnSpPr>
        <p:spPr>
          <a:xfrm rot="16200000" flipH="1">
            <a:off x="3431854" y="3624238"/>
            <a:ext cx="181598" cy="1224968"/>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E517FB9F-CFB5-4A34-E2E9-6AFFEBD46B1A}"/>
              </a:ext>
            </a:extLst>
          </p:cNvPr>
          <p:cNvCxnSpPr>
            <a:cxnSpLocks/>
            <a:stCxn id="68" idx="2"/>
            <a:endCxn id="66" idx="3"/>
          </p:cNvCxnSpPr>
          <p:nvPr/>
        </p:nvCxnSpPr>
        <p:spPr>
          <a:xfrm flipH="1" flipV="1">
            <a:off x="1761481" y="4001960"/>
            <a:ext cx="1011528" cy="680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Connector: Elbow 95">
            <a:extLst>
              <a:ext uri="{FF2B5EF4-FFF2-40B4-BE49-F238E27FC236}">
                <a16:creationId xmlns:a16="http://schemas.microsoft.com/office/drawing/2014/main" id="{6EDC9BFC-776E-4B8E-09A6-5B08B81754C1}"/>
              </a:ext>
            </a:extLst>
          </p:cNvPr>
          <p:cNvCxnSpPr>
            <a:cxnSpLocks/>
            <a:stCxn id="66" idx="2"/>
            <a:endCxn id="97" idx="2"/>
          </p:cNvCxnSpPr>
          <p:nvPr/>
        </p:nvCxnSpPr>
        <p:spPr>
          <a:xfrm rot="16200000" flipH="1">
            <a:off x="1443482" y="4328395"/>
            <a:ext cx="1525606" cy="1133449"/>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7" name="Oval 96">
            <a:extLst>
              <a:ext uri="{FF2B5EF4-FFF2-40B4-BE49-F238E27FC236}">
                <a16:creationId xmlns:a16="http://schemas.microsoft.com/office/drawing/2014/main" id="{06918E54-F821-7A7B-C9F5-51F8B11B286D}"/>
              </a:ext>
            </a:extLst>
          </p:cNvPr>
          <p:cNvSpPr/>
          <p:nvPr/>
        </p:nvSpPr>
        <p:spPr>
          <a:xfrm>
            <a:off x="2773010" y="5520763"/>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103" name="Connector: Elbow 102">
            <a:extLst>
              <a:ext uri="{FF2B5EF4-FFF2-40B4-BE49-F238E27FC236}">
                <a16:creationId xmlns:a16="http://schemas.microsoft.com/office/drawing/2014/main" id="{B64E1F42-16CA-4285-9FF5-774EC7BF058D}"/>
              </a:ext>
            </a:extLst>
          </p:cNvPr>
          <p:cNvCxnSpPr>
            <a:cxnSpLocks/>
            <a:stCxn id="97" idx="0"/>
            <a:endCxn id="106" idx="0"/>
          </p:cNvCxnSpPr>
          <p:nvPr/>
        </p:nvCxnSpPr>
        <p:spPr>
          <a:xfrm rot="5400000" flipH="1" flipV="1">
            <a:off x="3435612" y="4821239"/>
            <a:ext cx="174082" cy="1224967"/>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06" name="Isosceles Triangle 105">
            <a:extLst>
              <a:ext uri="{FF2B5EF4-FFF2-40B4-BE49-F238E27FC236}">
                <a16:creationId xmlns:a16="http://schemas.microsoft.com/office/drawing/2014/main" id="{3298EE10-398F-682D-EF8A-FA17FCD32FB1}"/>
              </a:ext>
            </a:extLst>
          </p:cNvPr>
          <p:cNvSpPr/>
          <p:nvPr/>
        </p:nvSpPr>
        <p:spPr>
          <a:xfrm rot="16200000">
            <a:off x="4135137" y="5209521"/>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17" name="Isosceles Triangle 116">
            <a:extLst>
              <a:ext uri="{FF2B5EF4-FFF2-40B4-BE49-F238E27FC236}">
                <a16:creationId xmlns:a16="http://schemas.microsoft.com/office/drawing/2014/main" id="{FB340BE7-C3E1-B2A9-9FD2-F9030D6DCD65}"/>
              </a:ext>
            </a:extLst>
          </p:cNvPr>
          <p:cNvSpPr/>
          <p:nvPr/>
        </p:nvSpPr>
        <p:spPr>
          <a:xfrm rot="16200000">
            <a:off x="4135137" y="5836486"/>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118" name="Connector: Elbow 117">
            <a:extLst>
              <a:ext uri="{FF2B5EF4-FFF2-40B4-BE49-F238E27FC236}">
                <a16:creationId xmlns:a16="http://schemas.microsoft.com/office/drawing/2014/main" id="{974F25B9-FA5B-03AC-E1BB-5D953DC19685}"/>
              </a:ext>
            </a:extLst>
          </p:cNvPr>
          <p:cNvCxnSpPr>
            <a:cxnSpLocks/>
            <a:stCxn id="97" idx="4"/>
            <a:endCxn id="117" idx="0"/>
          </p:cNvCxnSpPr>
          <p:nvPr/>
        </p:nvCxnSpPr>
        <p:spPr>
          <a:xfrm rot="16200000" flipH="1">
            <a:off x="3433372" y="5271880"/>
            <a:ext cx="178563" cy="1224967"/>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19" name="Rectangle 118">
            <a:extLst>
              <a:ext uri="{FF2B5EF4-FFF2-40B4-BE49-F238E27FC236}">
                <a16:creationId xmlns:a16="http://schemas.microsoft.com/office/drawing/2014/main" id="{00687676-6976-6AA0-80C7-DF8E703B3A46}"/>
              </a:ext>
            </a:extLst>
          </p:cNvPr>
          <p:cNvSpPr/>
          <p:nvPr/>
        </p:nvSpPr>
        <p:spPr>
          <a:xfrm>
            <a:off x="3177994" y="4012072"/>
            <a:ext cx="770275"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20%</a:t>
            </a:r>
          </a:p>
        </p:txBody>
      </p:sp>
      <p:sp>
        <p:nvSpPr>
          <p:cNvPr id="123" name="Rectangle 122">
            <a:extLst>
              <a:ext uri="{FF2B5EF4-FFF2-40B4-BE49-F238E27FC236}">
                <a16:creationId xmlns:a16="http://schemas.microsoft.com/office/drawing/2014/main" id="{268E582A-6485-1EBC-220D-2ABA150AE1AE}"/>
              </a:ext>
            </a:extLst>
          </p:cNvPr>
          <p:cNvSpPr/>
          <p:nvPr/>
        </p:nvSpPr>
        <p:spPr>
          <a:xfrm>
            <a:off x="4440796" y="2586843"/>
            <a:ext cx="1236777" cy="3030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Comfortable</a:t>
            </a:r>
          </a:p>
        </p:txBody>
      </p:sp>
      <p:sp>
        <p:nvSpPr>
          <p:cNvPr id="124" name="Rectangle 123">
            <a:extLst>
              <a:ext uri="{FF2B5EF4-FFF2-40B4-BE49-F238E27FC236}">
                <a16:creationId xmlns:a16="http://schemas.microsoft.com/office/drawing/2014/main" id="{910E0B10-FC4A-787A-6388-21E95A42D15C}"/>
              </a:ext>
            </a:extLst>
          </p:cNvPr>
          <p:cNvSpPr/>
          <p:nvPr/>
        </p:nvSpPr>
        <p:spPr>
          <a:xfrm>
            <a:off x="4438742" y="3563395"/>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Comfortable</a:t>
            </a:r>
          </a:p>
        </p:txBody>
      </p:sp>
      <p:sp>
        <p:nvSpPr>
          <p:cNvPr id="125" name="Rectangle 124">
            <a:extLst>
              <a:ext uri="{FF2B5EF4-FFF2-40B4-BE49-F238E27FC236}">
                <a16:creationId xmlns:a16="http://schemas.microsoft.com/office/drawing/2014/main" id="{34A8D9AC-99FA-38AC-286C-221064211A2A}"/>
              </a:ext>
            </a:extLst>
          </p:cNvPr>
          <p:cNvSpPr/>
          <p:nvPr/>
        </p:nvSpPr>
        <p:spPr>
          <a:xfrm>
            <a:off x="4438742" y="4190360"/>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Standard</a:t>
            </a:r>
          </a:p>
        </p:txBody>
      </p:sp>
      <p:sp>
        <p:nvSpPr>
          <p:cNvPr id="126" name="Rectangle 125">
            <a:extLst>
              <a:ext uri="{FF2B5EF4-FFF2-40B4-BE49-F238E27FC236}">
                <a16:creationId xmlns:a16="http://schemas.microsoft.com/office/drawing/2014/main" id="{F4409B0E-732A-3F9A-B451-09014B65CA40}"/>
              </a:ext>
            </a:extLst>
          </p:cNvPr>
          <p:cNvSpPr/>
          <p:nvPr/>
        </p:nvSpPr>
        <p:spPr>
          <a:xfrm>
            <a:off x="4438742" y="5836485"/>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Bad</a:t>
            </a:r>
          </a:p>
        </p:txBody>
      </p:sp>
      <p:sp>
        <p:nvSpPr>
          <p:cNvPr id="127" name="Rectangle 126">
            <a:extLst>
              <a:ext uri="{FF2B5EF4-FFF2-40B4-BE49-F238E27FC236}">
                <a16:creationId xmlns:a16="http://schemas.microsoft.com/office/drawing/2014/main" id="{08800DE3-BB85-D8E1-D541-440670E34ABF}"/>
              </a:ext>
            </a:extLst>
          </p:cNvPr>
          <p:cNvSpPr/>
          <p:nvPr/>
        </p:nvSpPr>
        <p:spPr>
          <a:xfrm>
            <a:off x="4438742" y="5209520"/>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Standard</a:t>
            </a:r>
          </a:p>
        </p:txBody>
      </p:sp>
    </p:spTree>
    <p:extLst>
      <p:ext uri="{BB962C8B-B14F-4D97-AF65-F5344CB8AC3E}">
        <p14:creationId xmlns:p14="http://schemas.microsoft.com/office/powerpoint/2010/main" val="35126368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8CA4E-9ACF-6C73-E387-6123361AE2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F53FE1-2C98-AA1A-A276-035C7017B264}"/>
              </a:ext>
            </a:extLst>
          </p:cNvPr>
          <p:cNvSpPr>
            <a:spLocks noGrp="1"/>
          </p:cNvSpPr>
          <p:nvPr>
            <p:ph type="title"/>
          </p:nvPr>
        </p:nvSpPr>
        <p:spPr/>
        <p:txBody>
          <a:bodyPr/>
          <a:lstStyle/>
          <a:p>
            <a:r>
              <a:rPr lang="en-US" dirty="0"/>
              <a:t>Choosing a Flight Seat Class — Evaluating Results</a:t>
            </a:r>
            <a:endParaRPr lang="en-US" noProof="0" dirty="0"/>
          </a:p>
        </p:txBody>
      </p:sp>
      <p:sp>
        <p:nvSpPr>
          <p:cNvPr id="4" name="Slide Number Placeholder 3">
            <a:extLst>
              <a:ext uri="{FF2B5EF4-FFF2-40B4-BE49-F238E27FC236}">
                <a16:creationId xmlns:a16="http://schemas.microsoft.com/office/drawing/2014/main" id="{8D2CF7C8-3785-E135-6D9D-4804E8C54AAC}"/>
              </a:ext>
            </a:extLst>
          </p:cNvPr>
          <p:cNvSpPr>
            <a:spLocks noGrp="1"/>
          </p:cNvSpPr>
          <p:nvPr>
            <p:ph type="sldNum" sz="quarter" idx="4"/>
          </p:nvPr>
        </p:nvSpPr>
        <p:spPr/>
        <p:txBody>
          <a:bodyPr/>
          <a:lstStyle/>
          <a:p>
            <a:fld id="{B5CEABB6-07DC-46E8-9B57-56EC44A396E5}" type="slidenum">
              <a:rPr lang="en-US" noProof="0" smtClean="0"/>
              <a:pPr/>
              <a:t>52</a:t>
            </a:fld>
            <a:endParaRPr lang="en-US" noProof="0" dirty="0"/>
          </a:p>
        </p:txBody>
      </p:sp>
      <p:sp>
        <p:nvSpPr>
          <p:cNvPr id="5" name="Table Placeholder 4">
            <a:extLst>
              <a:ext uri="{FF2B5EF4-FFF2-40B4-BE49-F238E27FC236}">
                <a16:creationId xmlns:a16="http://schemas.microsoft.com/office/drawing/2014/main" id="{73F211E2-E529-4E5A-8046-C20E93366228}"/>
              </a:ext>
            </a:extLst>
          </p:cNvPr>
          <p:cNvSpPr>
            <a:spLocks noGrp="1"/>
          </p:cNvSpPr>
          <p:nvPr>
            <p:ph type="tbl" sz="quarter" idx="11"/>
          </p:nvPr>
        </p:nvSpPr>
        <p:spPr/>
        <p:txBody>
          <a:bodyPr/>
          <a:lstStyle/>
          <a:p>
            <a:r>
              <a:rPr lang="en-US" noProof="0" dirty="0"/>
              <a:t>If you are willing to pay $120 per QAH, it is reasonable to upgrade from Economy to Business.</a:t>
            </a:r>
          </a:p>
        </p:txBody>
      </p:sp>
      <p:graphicFrame>
        <p:nvGraphicFramePr>
          <p:cNvPr id="43" name="Table 42">
            <a:extLst>
              <a:ext uri="{FF2B5EF4-FFF2-40B4-BE49-F238E27FC236}">
                <a16:creationId xmlns:a16="http://schemas.microsoft.com/office/drawing/2014/main" id="{6CEC781A-2569-1930-60D6-7309B7E328BD}"/>
              </a:ext>
            </a:extLst>
          </p:cNvPr>
          <p:cNvGraphicFramePr>
            <a:graphicFrameLocks noGrp="1"/>
          </p:cNvGraphicFramePr>
          <p:nvPr>
            <p:extLst>
              <p:ext uri="{D42A27DB-BD31-4B8C-83A1-F6EECF244321}">
                <p14:modId xmlns:p14="http://schemas.microsoft.com/office/powerpoint/2010/main" val="2195992147"/>
              </p:ext>
            </p:extLst>
          </p:nvPr>
        </p:nvGraphicFramePr>
        <p:xfrm>
          <a:off x="467138" y="2316480"/>
          <a:ext cx="11221276" cy="1828800"/>
        </p:xfrm>
        <a:graphic>
          <a:graphicData uri="http://schemas.openxmlformats.org/drawingml/2006/table">
            <a:tbl>
              <a:tblPr firstRow="1" bandRow="1">
                <a:tableStyleId>{5A111915-BE36-4E01-A7E5-04B1672EAD32}</a:tableStyleId>
              </a:tblPr>
              <a:tblGrid>
                <a:gridCol w="2805319">
                  <a:extLst>
                    <a:ext uri="{9D8B030D-6E8A-4147-A177-3AD203B41FA5}">
                      <a16:colId xmlns:a16="http://schemas.microsoft.com/office/drawing/2014/main" val="3624582228"/>
                    </a:ext>
                  </a:extLst>
                </a:gridCol>
                <a:gridCol w="2805319">
                  <a:extLst>
                    <a:ext uri="{9D8B030D-6E8A-4147-A177-3AD203B41FA5}">
                      <a16:colId xmlns:a16="http://schemas.microsoft.com/office/drawing/2014/main" val="3211746761"/>
                    </a:ext>
                  </a:extLst>
                </a:gridCol>
                <a:gridCol w="2805319">
                  <a:extLst>
                    <a:ext uri="{9D8B030D-6E8A-4147-A177-3AD203B41FA5}">
                      <a16:colId xmlns:a16="http://schemas.microsoft.com/office/drawing/2014/main" val="3261238044"/>
                    </a:ext>
                  </a:extLst>
                </a:gridCol>
                <a:gridCol w="2805319">
                  <a:extLst>
                    <a:ext uri="{9D8B030D-6E8A-4147-A177-3AD203B41FA5}">
                      <a16:colId xmlns:a16="http://schemas.microsoft.com/office/drawing/2014/main" val="65697615"/>
                    </a:ext>
                  </a:extLst>
                </a:gridCol>
              </a:tblGrid>
              <a:tr h="370840">
                <a:tc>
                  <a:txBody>
                    <a:bodyPr/>
                    <a:lstStyle/>
                    <a:p>
                      <a:r>
                        <a:rPr lang="en-US" sz="2400" b="1" noProof="0" dirty="0">
                          <a:latin typeface="Arial" panose="020B0604020202020204" pitchFamily="34" charset="0"/>
                          <a:ea typeface="Meiryo" panose="020B0604030504040204" pitchFamily="34" charset="-128"/>
                          <a:cs typeface="Arial" panose="020B0604020202020204" pitchFamily="34" charset="0"/>
                        </a:rPr>
                        <a:t>Seat class</a:t>
                      </a:r>
                    </a:p>
                  </a:txBody>
                  <a:tcPr>
                    <a:solidFill>
                      <a:srgbClr val="0070C0"/>
                    </a:solidFill>
                  </a:tcPr>
                </a:tc>
                <a:tc>
                  <a:txBody>
                    <a:bodyPr/>
                    <a:lstStyle/>
                    <a:p>
                      <a:pPr algn="r"/>
                      <a:r>
                        <a:rPr lang="en-US" sz="2400" b="1" noProof="0" dirty="0">
                          <a:latin typeface="Arial" panose="020B0604020202020204" pitchFamily="34" charset="0"/>
                          <a:ea typeface="Meiryo" panose="020B0604030504040204" pitchFamily="34" charset="-128"/>
                          <a:cs typeface="Arial" panose="020B0604020202020204" pitchFamily="34" charset="0"/>
                        </a:rPr>
                        <a:t>Cost ($)</a:t>
                      </a:r>
                    </a:p>
                  </a:txBody>
                  <a:tcPr>
                    <a:solidFill>
                      <a:srgbClr val="0070C0"/>
                    </a:solidFill>
                  </a:tcPr>
                </a:tc>
                <a:tc>
                  <a:txBody>
                    <a:bodyPr/>
                    <a:lstStyle/>
                    <a:p>
                      <a:pPr algn="r"/>
                      <a:r>
                        <a:rPr lang="en-US" sz="2400" b="1" noProof="0" dirty="0">
                          <a:latin typeface="Arial" panose="020B0604020202020204" pitchFamily="34" charset="0"/>
                          <a:ea typeface="Meiryo" panose="020B0604030504040204" pitchFamily="34" charset="-128"/>
                          <a:cs typeface="Arial" panose="020B0604020202020204" pitchFamily="34" charset="0"/>
                        </a:rPr>
                        <a:t>QAH</a:t>
                      </a:r>
                    </a:p>
                  </a:txBody>
                  <a:tcPr>
                    <a:solidFill>
                      <a:srgbClr val="0070C0"/>
                    </a:solidFill>
                  </a:tcPr>
                </a:tc>
                <a:tc>
                  <a:txBody>
                    <a:bodyPr/>
                    <a:lstStyle/>
                    <a:p>
                      <a:pPr algn="r"/>
                      <a:r>
                        <a:rPr lang="en-US" sz="2400" b="1" noProof="0" dirty="0">
                          <a:latin typeface="Arial" panose="020B0604020202020204" pitchFamily="34" charset="0"/>
                          <a:ea typeface="Meiryo" panose="020B0604030504040204" pitchFamily="34" charset="-128"/>
                          <a:cs typeface="Arial" panose="020B0604020202020204" pitchFamily="34" charset="0"/>
                        </a:rPr>
                        <a:t>ICER ($/QAH)</a:t>
                      </a:r>
                    </a:p>
                  </a:txBody>
                  <a:tcPr>
                    <a:solidFill>
                      <a:srgbClr val="0070C0"/>
                    </a:solidFill>
                  </a:tcPr>
                </a:tc>
                <a:extLst>
                  <a:ext uri="{0D108BD9-81ED-4DB2-BD59-A6C34878D82A}">
                    <a16:rowId xmlns:a16="http://schemas.microsoft.com/office/drawing/2014/main" val="1533620200"/>
                  </a:ext>
                </a:extLst>
              </a:tr>
              <a:tr h="370840">
                <a:tc>
                  <a:txBody>
                    <a:bodyPr/>
                    <a:lstStyle/>
                    <a:p>
                      <a:r>
                        <a:rPr lang="en-US" sz="2400" b="1" noProof="0" dirty="0">
                          <a:latin typeface="Arial" panose="020B0604020202020204" pitchFamily="34" charset="0"/>
                          <a:ea typeface="Meiryo" panose="020B0604030504040204" pitchFamily="34" charset="-128"/>
                          <a:cs typeface="Arial" panose="020B0604020202020204" pitchFamily="34" charset="0"/>
                        </a:rPr>
                        <a:t>Economy</a:t>
                      </a:r>
                    </a:p>
                  </a:txBody>
                  <a:tcPr/>
                </a:tc>
                <a:tc>
                  <a:txBody>
                    <a:bodyPr/>
                    <a:lstStyle/>
                    <a:p>
                      <a:pPr algn="r"/>
                      <a:r>
                        <a:rPr lang="en-US" sz="2400" b="1" noProof="0" dirty="0">
                          <a:latin typeface="Arial" panose="020B0604020202020204" pitchFamily="34" charset="0"/>
                          <a:ea typeface="Meiryo" panose="020B0604030504040204" pitchFamily="34" charset="-128"/>
                          <a:cs typeface="Arial" panose="020B0604020202020204" pitchFamily="34" charset="0"/>
                        </a:rPr>
                        <a:t>750</a:t>
                      </a:r>
                    </a:p>
                  </a:txBody>
                  <a:tcPr/>
                </a:tc>
                <a:tc>
                  <a:txBody>
                    <a:bodyPr/>
                    <a:lstStyle/>
                    <a:p>
                      <a:pPr algn="r"/>
                      <a:r>
                        <a:rPr lang="en-US" sz="2400" b="1" noProof="0" dirty="0">
                          <a:latin typeface="Arial" panose="020B0604020202020204" pitchFamily="34" charset="0"/>
                          <a:ea typeface="Meiryo" panose="020B0604030504040204" pitchFamily="34" charset="-128"/>
                          <a:cs typeface="Arial" panose="020B0604020202020204" pitchFamily="34" charset="0"/>
                        </a:rPr>
                        <a:t>12.78</a:t>
                      </a:r>
                    </a:p>
                  </a:txBody>
                  <a:tcPr/>
                </a:tc>
                <a:tc>
                  <a:txBody>
                    <a:bodyPr/>
                    <a:lstStyle/>
                    <a:p>
                      <a:pPr algn="r"/>
                      <a:r>
                        <a:rPr lang="en-US" sz="2400" b="1" noProof="0" dirty="0">
                          <a:latin typeface="Arial" panose="020B0604020202020204" pitchFamily="34" charset="0"/>
                          <a:ea typeface="Meiryo" panose="020B0604030504040204" pitchFamily="34" charset="-128"/>
                          <a:cs typeface="Arial" panose="020B0604020202020204" pitchFamily="34" charset="0"/>
                        </a:rPr>
                        <a:t>-</a:t>
                      </a:r>
                    </a:p>
                  </a:txBody>
                  <a:tcPr/>
                </a:tc>
                <a:extLst>
                  <a:ext uri="{0D108BD9-81ED-4DB2-BD59-A6C34878D82A}">
                    <a16:rowId xmlns:a16="http://schemas.microsoft.com/office/drawing/2014/main" val="2276694104"/>
                  </a:ext>
                </a:extLst>
              </a:tr>
              <a:tr h="370840">
                <a:tc>
                  <a:txBody>
                    <a:bodyPr/>
                    <a:lstStyle/>
                    <a:p>
                      <a:r>
                        <a:rPr lang="en-US" sz="2400" b="1" noProof="0" dirty="0">
                          <a:latin typeface="Arial" panose="020B0604020202020204" pitchFamily="34" charset="0"/>
                          <a:ea typeface="Meiryo" panose="020B0604030504040204" pitchFamily="34" charset="-128"/>
                          <a:cs typeface="Arial" panose="020B0604020202020204" pitchFamily="34" charset="0"/>
                        </a:rPr>
                        <a:t>Business</a:t>
                      </a:r>
                    </a:p>
                  </a:txBody>
                  <a:tcPr/>
                </a:tc>
                <a:tc>
                  <a:txBody>
                    <a:bodyPr/>
                    <a:lstStyle/>
                    <a:p>
                      <a:pPr algn="r"/>
                      <a:r>
                        <a:rPr lang="en-US" sz="2400" b="1" noProof="0" dirty="0">
                          <a:latin typeface="Arial" panose="020B0604020202020204" pitchFamily="34" charset="0"/>
                          <a:ea typeface="Meiryo" panose="020B0604030504040204" pitchFamily="34" charset="-128"/>
                          <a:cs typeface="Arial" panose="020B0604020202020204" pitchFamily="34" charset="0"/>
                        </a:rPr>
                        <a:t>1200</a:t>
                      </a:r>
                    </a:p>
                  </a:txBody>
                  <a:tcPr/>
                </a:tc>
                <a:tc>
                  <a:txBody>
                    <a:bodyPr/>
                    <a:lstStyle/>
                    <a:p>
                      <a:pPr algn="r"/>
                      <a:r>
                        <a:rPr lang="en-US" sz="2400" b="1" noProof="0" dirty="0">
                          <a:latin typeface="Arial" panose="020B0604020202020204" pitchFamily="34" charset="0"/>
                          <a:ea typeface="Meiryo" panose="020B0604030504040204" pitchFamily="34" charset="-128"/>
                          <a:cs typeface="Arial" panose="020B0604020202020204" pitchFamily="34" charset="0"/>
                        </a:rPr>
                        <a:t>17.28</a:t>
                      </a:r>
                    </a:p>
                  </a:txBody>
                  <a:tcPr/>
                </a:tc>
                <a:tc>
                  <a:txBody>
                    <a:bodyPr/>
                    <a:lstStyle/>
                    <a:p>
                      <a:pPr algn="r"/>
                      <a:r>
                        <a:rPr lang="en-US" sz="2400" b="1" noProof="0" dirty="0">
                          <a:latin typeface="Arial" panose="020B0604020202020204" pitchFamily="34" charset="0"/>
                          <a:ea typeface="Meiryo" panose="020B0604030504040204" pitchFamily="34" charset="-128"/>
                          <a:cs typeface="Arial" panose="020B0604020202020204" pitchFamily="34" charset="0"/>
                        </a:rPr>
                        <a:t>100</a:t>
                      </a:r>
                    </a:p>
                  </a:txBody>
                  <a:tcPr/>
                </a:tc>
                <a:extLst>
                  <a:ext uri="{0D108BD9-81ED-4DB2-BD59-A6C34878D82A}">
                    <a16:rowId xmlns:a16="http://schemas.microsoft.com/office/drawing/2014/main" val="3371756953"/>
                  </a:ext>
                </a:extLst>
              </a:tr>
              <a:tr h="370840">
                <a:tc>
                  <a:txBody>
                    <a:bodyPr/>
                    <a:lstStyle/>
                    <a:p>
                      <a:r>
                        <a:rPr lang="en-US" sz="2400" b="1" noProof="0" dirty="0">
                          <a:latin typeface="Arial" panose="020B0604020202020204" pitchFamily="34" charset="0"/>
                          <a:ea typeface="Meiryo" panose="020B0604030504040204" pitchFamily="34" charset="-128"/>
                          <a:cs typeface="Arial" panose="020B0604020202020204" pitchFamily="34" charset="0"/>
                        </a:rPr>
                        <a:t>First Class</a:t>
                      </a:r>
                    </a:p>
                  </a:txBody>
                  <a:tcPr/>
                </a:tc>
                <a:tc>
                  <a:txBody>
                    <a:bodyPr/>
                    <a:lstStyle/>
                    <a:p>
                      <a:pPr algn="r"/>
                      <a:r>
                        <a:rPr lang="en-US" sz="2400" b="1" noProof="0" dirty="0">
                          <a:latin typeface="Arial" panose="020B0604020202020204" pitchFamily="34" charset="0"/>
                          <a:ea typeface="Meiryo" panose="020B0604030504040204" pitchFamily="34" charset="-128"/>
                          <a:cs typeface="Arial" panose="020B0604020202020204" pitchFamily="34" charset="0"/>
                        </a:rPr>
                        <a:t>1500</a:t>
                      </a:r>
                    </a:p>
                  </a:txBody>
                  <a:tcPr/>
                </a:tc>
                <a:tc>
                  <a:txBody>
                    <a:bodyPr/>
                    <a:lstStyle/>
                    <a:p>
                      <a:pPr algn="r"/>
                      <a:r>
                        <a:rPr lang="en-US" sz="2400" b="1" noProof="0" dirty="0">
                          <a:latin typeface="Arial" panose="020B0604020202020204" pitchFamily="34" charset="0"/>
                          <a:ea typeface="Meiryo" panose="020B0604030504040204" pitchFamily="34" charset="-128"/>
                          <a:cs typeface="Arial" panose="020B0604020202020204" pitchFamily="34" charset="0"/>
                        </a:rPr>
                        <a:t>18.00</a:t>
                      </a:r>
                    </a:p>
                  </a:txBody>
                  <a:tcPr/>
                </a:tc>
                <a:tc>
                  <a:txBody>
                    <a:bodyPr/>
                    <a:lstStyle/>
                    <a:p>
                      <a:pPr algn="r"/>
                      <a:r>
                        <a:rPr lang="en-US" sz="2400" b="1" noProof="0" dirty="0">
                          <a:latin typeface="Arial" panose="020B0604020202020204" pitchFamily="34" charset="0"/>
                          <a:ea typeface="Meiryo" panose="020B0604030504040204" pitchFamily="34" charset="-128"/>
                          <a:cs typeface="Arial" panose="020B0604020202020204" pitchFamily="34" charset="0"/>
                        </a:rPr>
                        <a:t>144</a:t>
                      </a:r>
                    </a:p>
                  </a:txBody>
                  <a:tcPr/>
                </a:tc>
                <a:extLst>
                  <a:ext uri="{0D108BD9-81ED-4DB2-BD59-A6C34878D82A}">
                    <a16:rowId xmlns:a16="http://schemas.microsoft.com/office/drawing/2014/main" val="1480723072"/>
                  </a:ext>
                </a:extLst>
              </a:tr>
            </a:tbl>
          </a:graphicData>
        </a:graphic>
      </p:graphicFrame>
      <p:grpSp>
        <p:nvGrpSpPr>
          <p:cNvPr id="3" name="Group 2">
            <a:extLst>
              <a:ext uri="{FF2B5EF4-FFF2-40B4-BE49-F238E27FC236}">
                <a16:creationId xmlns:a16="http://schemas.microsoft.com/office/drawing/2014/main" id="{7E3F646A-E933-6B6D-D481-B67BD1B186C1}"/>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C30E27DE-7990-93BB-A436-72E9352D7714}"/>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1" name="Arrow: Pentagon 10">
              <a:extLst>
                <a:ext uri="{FF2B5EF4-FFF2-40B4-BE49-F238E27FC236}">
                  <a16:creationId xmlns:a16="http://schemas.microsoft.com/office/drawing/2014/main" id="{1F34AB9A-79E1-DF8E-2BAC-243435D33D9B}"/>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2" name="Arrow: Pentagon 11">
              <a:extLst>
                <a:ext uri="{FF2B5EF4-FFF2-40B4-BE49-F238E27FC236}">
                  <a16:creationId xmlns:a16="http://schemas.microsoft.com/office/drawing/2014/main" id="{276B1D3C-97B2-56BF-C069-3B02EED7A12E}"/>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892994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E25F0-D3D4-618B-C1E5-F11B1A805A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6C68D3-4CD9-40E6-0D69-DA19197648C9}"/>
              </a:ext>
            </a:extLst>
          </p:cNvPr>
          <p:cNvSpPr>
            <a:spLocks noGrp="1"/>
          </p:cNvSpPr>
          <p:nvPr>
            <p:ph type="title"/>
          </p:nvPr>
        </p:nvSpPr>
        <p:spPr>
          <a:xfrm>
            <a:off x="467139" y="624449"/>
            <a:ext cx="11221278" cy="362776"/>
          </a:xfrm>
        </p:spPr>
        <p:txBody>
          <a:bodyPr/>
          <a:lstStyle/>
          <a:p>
            <a:r>
              <a:rPr lang="en-US" noProof="0" dirty="0"/>
              <a:t>Choosing a Flight Seat Class — Sensitivity Analysis①</a:t>
            </a:r>
          </a:p>
        </p:txBody>
      </p:sp>
      <p:sp>
        <p:nvSpPr>
          <p:cNvPr id="4" name="Slide Number Placeholder 3">
            <a:extLst>
              <a:ext uri="{FF2B5EF4-FFF2-40B4-BE49-F238E27FC236}">
                <a16:creationId xmlns:a16="http://schemas.microsoft.com/office/drawing/2014/main" id="{3D5B090C-5EA6-8A24-6028-0E59A3F113DC}"/>
              </a:ext>
            </a:extLst>
          </p:cNvPr>
          <p:cNvSpPr>
            <a:spLocks noGrp="1"/>
          </p:cNvSpPr>
          <p:nvPr>
            <p:ph type="sldNum" sz="quarter" idx="4"/>
          </p:nvPr>
        </p:nvSpPr>
        <p:spPr/>
        <p:txBody>
          <a:bodyPr/>
          <a:lstStyle/>
          <a:p>
            <a:fld id="{B5CEABB6-07DC-46E8-9B57-56EC44A396E5}" type="slidenum">
              <a:rPr lang="en-US" noProof="0" smtClean="0"/>
              <a:pPr/>
              <a:t>53</a:t>
            </a:fld>
            <a:endParaRPr lang="en-US" noProof="0" dirty="0"/>
          </a:p>
        </p:txBody>
      </p:sp>
      <p:sp>
        <p:nvSpPr>
          <p:cNvPr id="5" name="Table Placeholder 4">
            <a:extLst>
              <a:ext uri="{FF2B5EF4-FFF2-40B4-BE49-F238E27FC236}">
                <a16:creationId xmlns:a16="http://schemas.microsoft.com/office/drawing/2014/main" id="{5393C7D9-05ED-9B2D-2B58-77E60BBB5E70}"/>
              </a:ext>
            </a:extLst>
          </p:cNvPr>
          <p:cNvSpPr>
            <a:spLocks noGrp="1"/>
          </p:cNvSpPr>
          <p:nvPr>
            <p:ph type="tbl" sz="quarter" idx="11"/>
          </p:nvPr>
        </p:nvSpPr>
        <p:spPr/>
        <p:txBody>
          <a:bodyPr/>
          <a:lstStyle/>
          <a:p>
            <a:r>
              <a:rPr lang="en-US" noProof="0" dirty="0"/>
              <a:t>Does the most cost-effective seat class change depending on the comfort level of a “bad seat” and the cost of Business Class?</a:t>
            </a:r>
          </a:p>
        </p:txBody>
      </p:sp>
      <p:pic>
        <p:nvPicPr>
          <p:cNvPr id="61" name="Picture 60">
            <a:extLst>
              <a:ext uri="{FF2B5EF4-FFF2-40B4-BE49-F238E27FC236}">
                <a16:creationId xmlns:a16="http://schemas.microsoft.com/office/drawing/2014/main" id="{EE503973-1BFA-BECE-E426-144C633F8527}"/>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91187" y="2195346"/>
            <a:ext cx="10159034" cy="4257200"/>
          </a:xfrm>
          <a:prstGeom prst="rect">
            <a:avLst/>
          </a:prstGeom>
        </p:spPr>
      </p:pic>
      <p:sp>
        <p:nvSpPr>
          <p:cNvPr id="60" name="Rectangle: Rounded Corners 59">
            <a:extLst>
              <a:ext uri="{FF2B5EF4-FFF2-40B4-BE49-F238E27FC236}">
                <a16:creationId xmlns:a16="http://schemas.microsoft.com/office/drawing/2014/main" id="{3D41723B-0DF1-43AA-C009-E980340DF3C3}"/>
              </a:ext>
            </a:extLst>
          </p:cNvPr>
          <p:cNvSpPr/>
          <p:nvPr/>
        </p:nvSpPr>
        <p:spPr>
          <a:xfrm>
            <a:off x="8307421" y="3638145"/>
            <a:ext cx="1112849" cy="1309854"/>
          </a:xfrm>
          <a:prstGeom prst="roundRect">
            <a:avLst/>
          </a:prstGeom>
          <a:noFill/>
          <a:ln w="5715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2" name="Rectangle: Rounded Corners 61">
            <a:extLst>
              <a:ext uri="{FF2B5EF4-FFF2-40B4-BE49-F238E27FC236}">
                <a16:creationId xmlns:a16="http://schemas.microsoft.com/office/drawing/2014/main" id="{ECFD7B58-AA9B-D429-72B8-C841475E30C0}"/>
              </a:ext>
            </a:extLst>
          </p:cNvPr>
          <p:cNvSpPr/>
          <p:nvPr/>
        </p:nvSpPr>
        <p:spPr>
          <a:xfrm>
            <a:off x="9541571" y="5807903"/>
            <a:ext cx="1108650" cy="505349"/>
          </a:xfrm>
          <a:prstGeom prst="roundRect">
            <a:avLst/>
          </a:prstGeom>
          <a:noFill/>
          <a:ln w="5715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63" name="Straight Connector 62">
            <a:extLst>
              <a:ext uri="{FF2B5EF4-FFF2-40B4-BE49-F238E27FC236}">
                <a16:creationId xmlns:a16="http://schemas.microsoft.com/office/drawing/2014/main" id="{9D5C5985-858B-7CBE-D133-2162C41704E8}"/>
              </a:ext>
            </a:extLst>
          </p:cNvPr>
          <p:cNvCxnSpPr>
            <a:cxnSpLocks/>
            <a:stCxn id="60" idx="3"/>
            <a:endCxn id="64" idx="2"/>
          </p:cNvCxnSpPr>
          <p:nvPr/>
        </p:nvCxnSpPr>
        <p:spPr>
          <a:xfrm flipV="1">
            <a:off x="9420270" y="3476881"/>
            <a:ext cx="981109" cy="816191"/>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16B0E271-AD5A-CB27-A516-4777E009C1A1}"/>
              </a:ext>
            </a:extLst>
          </p:cNvPr>
          <p:cNvSpPr/>
          <p:nvPr/>
        </p:nvSpPr>
        <p:spPr>
          <a:xfrm>
            <a:off x="9522315" y="3084339"/>
            <a:ext cx="1758128" cy="392542"/>
          </a:xfrm>
          <a:prstGeom prst="rect">
            <a:avLst/>
          </a:prstGeom>
          <a:solidFill>
            <a:schemeClr val="bg1"/>
          </a:solid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$1000~2000</a:t>
            </a:r>
          </a:p>
        </p:txBody>
      </p:sp>
      <p:sp>
        <p:nvSpPr>
          <p:cNvPr id="68" name="Rectangle 67">
            <a:extLst>
              <a:ext uri="{FF2B5EF4-FFF2-40B4-BE49-F238E27FC236}">
                <a16:creationId xmlns:a16="http://schemas.microsoft.com/office/drawing/2014/main" id="{657DE55D-6C92-6A93-754C-50DAE61FF6AD}"/>
              </a:ext>
            </a:extLst>
          </p:cNvPr>
          <p:cNvSpPr/>
          <p:nvPr/>
        </p:nvSpPr>
        <p:spPr>
          <a:xfrm>
            <a:off x="10575568" y="4918929"/>
            <a:ext cx="1112849" cy="392542"/>
          </a:xfrm>
          <a:prstGeom prst="rect">
            <a:avLst/>
          </a:prstGeom>
          <a:solidFill>
            <a:schemeClr val="bg1"/>
          </a:solid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0.3~1</a:t>
            </a:r>
          </a:p>
        </p:txBody>
      </p:sp>
      <p:cxnSp>
        <p:nvCxnSpPr>
          <p:cNvPr id="69" name="Straight Connector 68">
            <a:extLst>
              <a:ext uri="{FF2B5EF4-FFF2-40B4-BE49-F238E27FC236}">
                <a16:creationId xmlns:a16="http://schemas.microsoft.com/office/drawing/2014/main" id="{8026F233-78C9-9255-4308-56172C961477}"/>
              </a:ext>
            </a:extLst>
          </p:cNvPr>
          <p:cNvCxnSpPr>
            <a:cxnSpLocks/>
            <a:stCxn id="62" idx="3"/>
            <a:endCxn id="68" idx="2"/>
          </p:cNvCxnSpPr>
          <p:nvPr/>
        </p:nvCxnSpPr>
        <p:spPr>
          <a:xfrm flipV="1">
            <a:off x="10650221" y="5311471"/>
            <a:ext cx="481772" cy="749107"/>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ED2D2BD2-56C9-7FE2-EA4C-23432078701F}"/>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01B00BEA-2254-3194-546E-2CF39AA5770C}"/>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1" name="Arrow: Pentagon 10">
              <a:extLst>
                <a:ext uri="{FF2B5EF4-FFF2-40B4-BE49-F238E27FC236}">
                  <a16:creationId xmlns:a16="http://schemas.microsoft.com/office/drawing/2014/main" id="{92292B06-37C2-8734-0DEC-2E1AB32641F1}"/>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2" name="Arrow: Pentagon 11">
              <a:extLst>
                <a:ext uri="{FF2B5EF4-FFF2-40B4-BE49-F238E27FC236}">
                  <a16:creationId xmlns:a16="http://schemas.microsoft.com/office/drawing/2014/main" id="{5B96B7CE-4C87-82CC-9EDA-C0F0BAFA0D12}"/>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11866067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713B9-0EFB-E7C1-3D7D-93A486312E0E}"/>
            </a:ext>
          </a:extLst>
        </p:cNvPr>
        <p:cNvGrpSpPr/>
        <p:nvPr/>
      </p:nvGrpSpPr>
      <p:grpSpPr>
        <a:xfrm>
          <a:off x="0" y="0"/>
          <a:ext cx="0" cy="0"/>
          <a:chOff x="0" y="0"/>
          <a:chExt cx="0" cy="0"/>
        </a:xfrm>
      </p:grpSpPr>
      <p:pic>
        <p:nvPicPr>
          <p:cNvPr id="12" name="Picture 11" descr="A graph of two people&#10;&#10;AI-generated content may be incorrect.">
            <a:extLst>
              <a:ext uri="{FF2B5EF4-FFF2-40B4-BE49-F238E27FC236}">
                <a16:creationId xmlns:a16="http://schemas.microsoft.com/office/drawing/2014/main" id="{3F9544FE-3F7C-1107-AEA9-A4CB220FE2BE}"/>
              </a:ext>
            </a:extLst>
          </p:cNvPr>
          <p:cNvPicPr>
            <a:picLocks noChangeAspect="1"/>
          </p:cNvPicPr>
          <p:nvPr/>
        </p:nvPicPr>
        <p:blipFill>
          <a:blip r:embed="rId3"/>
          <a:srcRect r="16348"/>
          <a:stretch/>
        </p:blipFill>
        <p:spPr>
          <a:xfrm>
            <a:off x="434968" y="2354572"/>
            <a:ext cx="5437051" cy="4484223"/>
          </a:xfrm>
          <a:prstGeom prst="rect">
            <a:avLst/>
          </a:prstGeom>
        </p:spPr>
      </p:pic>
      <p:sp>
        <p:nvSpPr>
          <p:cNvPr id="2" name="Title 1">
            <a:extLst>
              <a:ext uri="{FF2B5EF4-FFF2-40B4-BE49-F238E27FC236}">
                <a16:creationId xmlns:a16="http://schemas.microsoft.com/office/drawing/2014/main" id="{D49BA16B-CF20-CF77-6E52-F63AF99F92B0}"/>
              </a:ext>
            </a:extLst>
          </p:cNvPr>
          <p:cNvSpPr>
            <a:spLocks noGrp="1"/>
          </p:cNvSpPr>
          <p:nvPr>
            <p:ph type="title"/>
          </p:nvPr>
        </p:nvSpPr>
        <p:spPr>
          <a:xfrm>
            <a:off x="467139" y="624449"/>
            <a:ext cx="11221278" cy="362776"/>
          </a:xfrm>
        </p:spPr>
        <p:txBody>
          <a:bodyPr/>
          <a:lstStyle/>
          <a:p>
            <a:r>
              <a:rPr lang="en-US" dirty="0"/>
              <a:t>Choosing a Flight Seat Class — Sensitivity Analysis①</a:t>
            </a:r>
            <a:endParaRPr lang="en-US" noProof="0" dirty="0"/>
          </a:p>
        </p:txBody>
      </p:sp>
      <p:sp>
        <p:nvSpPr>
          <p:cNvPr id="4" name="Slide Number Placeholder 3">
            <a:extLst>
              <a:ext uri="{FF2B5EF4-FFF2-40B4-BE49-F238E27FC236}">
                <a16:creationId xmlns:a16="http://schemas.microsoft.com/office/drawing/2014/main" id="{6ACC1907-8888-D34A-A847-F1902F1E9A5B}"/>
              </a:ext>
            </a:extLst>
          </p:cNvPr>
          <p:cNvSpPr>
            <a:spLocks noGrp="1"/>
          </p:cNvSpPr>
          <p:nvPr>
            <p:ph type="sldNum" sz="quarter" idx="4"/>
          </p:nvPr>
        </p:nvSpPr>
        <p:spPr/>
        <p:txBody>
          <a:bodyPr/>
          <a:lstStyle/>
          <a:p>
            <a:fld id="{B5CEABB6-07DC-46E8-9B57-56EC44A396E5}" type="slidenum">
              <a:rPr lang="en-US" noProof="0" smtClean="0"/>
              <a:pPr/>
              <a:t>54</a:t>
            </a:fld>
            <a:endParaRPr lang="en-US" noProof="0" dirty="0"/>
          </a:p>
        </p:txBody>
      </p:sp>
      <p:sp>
        <p:nvSpPr>
          <p:cNvPr id="5" name="Table Placeholder 4">
            <a:extLst>
              <a:ext uri="{FF2B5EF4-FFF2-40B4-BE49-F238E27FC236}">
                <a16:creationId xmlns:a16="http://schemas.microsoft.com/office/drawing/2014/main" id="{DEFB0C96-91FA-7CC7-241E-B1E193DD779B}"/>
              </a:ext>
            </a:extLst>
          </p:cNvPr>
          <p:cNvSpPr>
            <a:spLocks noGrp="1"/>
          </p:cNvSpPr>
          <p:nvPr>
            <p:ph type="tbl" sz="quarter" idx="11"/>
          </p:nvPr>
        </p:nvSpPr>
        <p:spPr/>
        <p:txBody>
          <a:bodyPr/>
          <a:lstStyle/>
          <a:p>
            <a:r>
              <a:rPr lang="en-US" noProof="0" dirty="0"/>
              <a:t>The most cost-effective seat class depends on the comfort level of a “bad seat” and the cost of Business Class.</a:t>
            </a:r>
          </a:p>
        </p:txBody>
      </p:sp>
      <p:sp>
        <p:nvSpPr>
          <p:cNvPr id="13" name="Multiplication Sign 12">
            <a:extLst>
              <a:ext uri="{FF2B5EF4-FFF2-40B4-BE49-F238E27FC236}">
                <a16:creationId xmlns:a16="http://schemas.microsoft.com/office/drawing/2014/main" id="{08567938-9B20-C930-2463-C338355754AB}"/>
              </a:ext>
            </a:extLst>
          </p:cNvPr>
          <p:cNvSpPr/>
          <p:nvPr/>
        </p:nvSpPr>
        <p:spPr>
          <a:xfrm>
            <a:off x="2034148" y="4698463"/>
            <a:ext cx="690664" cy="564204"/>
          </a:xfrm>
          <a:prstGeom prst="mathMultiply">
            <a:avLst>
              <a:gd name="adj1" fmla="val 1366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4" name="Table Placeholder 2">
            <a:extLst>
              <a:ext uri="{FF2B5EF4-FFF2-40B4-BE49-F238E27FC236}">
                <a16:creationId xmlns:a16="http://schemas.microsoft.com/office/drawing/2014/main" id="{2C2DFEA5-6E95-AF12-C3ED-E162E2F7A25B}"/>
              </a:ext>
            </a:extLst>
          </p:cNvPr>
          <p:cNvSpPr>
            <a:spLocks noGrp="1"/>
          </p:cNvSpPr>
          <p:nvPr>
            <p:ph type="tbl" sz="quarter" idx="10"/>
          </p:nvPr>
        </p:nvSpPr>
        <p:spPr>
          <a:xfrm>
            <a:off x="6319983" y="1938130"/>
            <a:ext cx="5404878" cy="4692045"/>
          </a:xfrm>
        </p:spPr>
        <p:txBody>
          <a:bodyPr/>
          <a:lstStyle/>
          <a:p>
            <a:r>
              <a:rPr lang="en-US" noProof="0" dirty="0"/>
              <a:t>When the comfort of a “bad seat” is low</a:t>
            </a:r>
          </a:p>
          <a:p>
            <a:pPr lvl="1"/>
            <a:r>
              <a:rPr lang="en-US" noProof="0" dirty="0"/>
              <a:t>Choose First Class, regardless of the cost of Business Class.</a:t>
            </a:r>
          </a:p>
          <a:p>
            <a:r>
              <a:rPr lang="en-US" noProof="0" dirty="0"/>
              <a:t>When the comfort of a “bad seat” is not too low and Business Class is inexpensive</a:t>
            </a:r>
          </a:p>
          <a:p>
            <a:pPr lvl="1"/>
            <a:r>
              <a:rPr lang="en-US" noProof="0" dirty="0"/>
              <a:t>Choose Business Class.</a:t>
            </a:r>
          </a:p>
          <a:p>
            <a:r>
              <a:rPr lang="en-US" noProof="0" dirty="0"/>
              <a:t>Otherwise</a:t>
            </a:r>
          </a:p>
          <a:p>
            <a:pPr lvl="1"/>
            <a:r>
              <a:rPr lang="en-US" noProof="0" dirty="0"/>
              <a:t>Choose Economy Class.</a:t>
            </a:r>
          </a:p>
        </p:txBody>
      </p:sp>
      <p:grpSp>
        <p:nvGrpSpPr>
          <p:cNvPr id="15" name="Group 14">
            <a:extLst>
              <a:ext uri="{FF2B5EF4-FFF2-40B4-BE49-F238E27FC236}">
                <a16:creationId xmlns:a16="http://schemas.microsoft.com/office/drawing/2014/main" id="{8D3F0BEC-E8AC-1F37-6AE8-F93DB7279B62}"/>
              </a:ext>
            </a:extLst>
          </p:cNvPr>
          <p:cNvGrpSpPr/>
          <p:nvPr/>
        </p:nvGrpSpPr>
        <p:grpSpPr>
          <a:xfrm>
            <a:off x="1250643" y="1962202"/>
            <a:ext cx="4493017" cy="308922"/>
            <a:chOff x="4911850" y="6335733"/>
            <a:chExt cx="4068115" cy="292746"/>
          </a:xfrm>
        </p:grpSpPr>
        <p:sp>
          <p:nvSpPr>
            <p:cNvPr id="16" name="Rectangle 15">
              <a:extLst>
                <a:ext uri="{FF2B5EF4-FFF2-40B4-BE49-F238E27FC236}">
                  <a16:creationId xmlns:a16="http://schemas.microsoft.com/office/drawing/2014/main" id="{EC73BE27-9B91-96A3-8F50-11C53AE21AE2}"/>
                </a:ext>
              </a:extLst>
            </p:cNvPr>
            <p:cNvSpPr/>
            <p:nvPr/>
          </p:nvSpPr>
          <p:spPr>
            <a:xfrm>
              <a:off x="4911850" y="6353721"/>
              <a:ext cx="248378" cy="259956"/>
            </a:xfrm>
            <a:prstGeom prst="rect">
              <a:avLst/>
            </a:prstGeom>
            <a:solidFill>
              <a:schemeClr val="tx2">
                <a:lumMod val="20000"/>
                <a:lumOff val="80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7" name="Rectangle 16">
              <a:extLst>
                <a:ext uri="{FF2B5EF4-FFF2-40B4-BE49-F238E27FC236}">
                  <a16:creationId xmlns:a16="http://schemas.microsoft.com/office/drawing/2014/main" id="{AD2ECB9C-5EE0-E612-0632-44F0B04D31DB}"/>
                </a:ext>
              </a:extLst>
            </p:cNvPr>
            <p:cNvSpPr/>
            <p:nvPr/>
          </p:nvSpPr>
          <p:spPr>
            <a:xfrm>
              <a:off x="5199551" y="6335733"/>
              <a:ext cx="1048849" cy="2927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 </a:t>
              </a: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Economy</a:t>
              </a:r>
            </a:p>
          </p:txBody>
        </p:sp>
        <p:sp>
          <p:nvSpPr>
            <p:cNvPr id="18" name="Rectangle 17">
              <a:extLst>
                <a:ext uri="{FF2B5EF4-FFF2-40B4-BE49-F238E27FC236}">
                  <a16:creationId xmlns:a16="http://schemas.microsoft.com/office/drawing/2014/main" id="{8B383AFB-4B86-3729-3693-857904E791AD}"/>
                </a:ext>
              </a:extLst>
            </p:cNvPr>
            <p:cNvSpPr/>
            <p:nvPr/>
          </p:nvSpPr>
          <p:spPr>
            <a:xfrm>
              <a:off x="6258310" y="6353721"/>
              <a:ext cx="248378" cy="259956"/>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9" name="Rectangle 18">
              <a:extLst>
                <a:ext uri="{FF2B5EF4-FFF2-40B4-BE49-F238E27FC236}">
                  <a16:creationId xmlns:a16="http://schemas.microsoft.com/office/drawing/2014/main" id="{0E762361-3648-2C2D-7BD4-C672ACAE2588}"/>
                </a:ext>
              </a:extLst>
            </p:cNvPr>
            <p:cNvSpPr/>
            <p:nvPr/>
          </p:nvSpPr>
          <p:spPr>
            <a:xfrm>
              <a:off x="6546011"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Business</a:t>
              </a:r>
            </a:p>
          </p:txBody>
        </p:sp>
        <p:sp>
          <p:nvSpPr>
            <p:cNvPr id="20" name="Rectangle 19">
              <a:extLst>
                <a:ext uri="{FF2B5EF4-FFF2-40B4-BE49-F238E27FC236}">
                  <a16:creationId xmlns:a16="http://schemas.microsoft.com/office/drawing/2014/main" id="{9650505F-4EFC-27A3-B62D-568124FC84F9}"/>
                </a:ext>
              </a:extLst>
            </p:cNvPr>
            <p:cNvSpPr/>
            <p:nvPr/>
          </p:nvSpPr>
          <p:spPr>
            <a:xfrm rot="16200000">
              <a:off x="7602149" y="6359510"/>
              <a:ext cx="259956" cy="24837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1" name="Rectangle 20">
              <a:extLst>
                <a:ext uri="{FF2B5EF4-FFF2-40B4-BE49-F238E27FC236}">
                  <a16:creationId xmlns:a16="http://schemas.microsoft.com/office/drawing/2014/main" id="{9834DB34-9DFD-DD60-A8D4-8F5212148148}"/>
                </a:ext>
              </a:extLst>
            </p:cNvPr>
            <p:cNvSpPr/>
            <p:nvPr/>
          </p:nvSpPr>
          <p:spPr>
            <a:xfrm>
              <a:off x="7887255"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First Class</a:t>
              </a:r>
            </a:p>
          </p:txBody>
        </p:sp>
      </p:grpSp>
      <p:sp>
        <p:nvSpPr>
          <p:cNvPr id="22" name="Rectangle 21">
            <a:extLst>
              <a:ext uri="{FF2B5EF4-FFF2-40B4-BE49-F238E27FC236}">
                <a16:creationId xmlns:a16="http://schemas.microsoft.com/office/drawing/2014/main" id="{5CE1203E-D587-D3C6-06ED-3C0F225276B5}"/>
              </a:ext>
            </a:extLst>
          </p:cNvPr>
          <p:cNvSpPr/>
          <p:nvPr/>
        </p:nvSpPr>
        <p:spPr>
          <a:xfrm>
            <a:off x="396664" y="2551221"/>
            <a:ext cx="441409" cy="34658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Comfort level of a “bad seat”</a:t>
            </a:r>
          </a:p>
        </p:txBody>
      </p:sp>
      <p:sp>
        <p:nvSpPr>
          <p:cNvPr id="23" name="Rectangle 22">
            <a:extLst>
              <a:ext uri="{FF2B5EF4-FFF2-40B4-BE49-F238E27FC236}">
                <a16:creationId xmlns:a16="http://schemas.microsoft.com/office/drawing/2014/main" id="{4A29344C-8EAC-A22E-EE10-3EFDE1E369D8}"/>
              </a:ext>
            </a:extLst>
          </p:cNvPr>
          <p:cNvSpPr/>
          <p:nvPr/>
        </p:nvSpPr>
        <p:spPr>
          <a:xfrm>
            <a:off x="1724624" y="6473972"/>
            <a:ext cx="3367727" cy="2897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Cost of Business Class ($)</a:t>
            </a:r>
          </a:p>
        </p:txBody>
      </p:sp>
      <p:grpSp>
        <p:nvGrpSpPr>
          <p:cNvPr id="3" name="Group 2">
            <a:extLst>
              <a:ext uri="{FF2B5EF4-FFF2-40B4-BE49-F238E27FC236}">
                <a16:creationId xmlns:a16="http://schemas.microsoft.com/office/drawing/2014/main" id="{A0EB055F-5CA1-DBB9-2099-D82EB1A63383}"/>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D8A0D465-FD36-16B0-1D5C-18B36C489360}"/>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1" name="Arrow: Pentagon 10">
              <a:extLst>
                <a:ext uri="{FF2B5EF4-FFF2-40B4-BE49-F238E27FC236}">
                  <a16:creationId xmlns:a16="http://schemas.microsoft.com/office/drawing/2014/main" id="{63612251-E82F-42CE-DC74-E24372A2B803}"/>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24" name="Arrow: Pentagon 23">
              <a:extLst>
                <a:ext uri="{FF2B5EF4-FFF2-40B4-BE49-F238E27FC236}">
                  <a16:creationId xmlns:a16="http://schemas.microsoft.com/office/drawing/2014/main" id="{D2B0ACE7-2B0C-D2FF-DE5A-80E442D2E04E}"/>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7457669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DEEFA98-DFCA-2A06-3E39-FE986DD4DA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FFB530-4E56-A92A-1B37-3ECD776B2FEE}"/>
              </a:ext>
            </a:extLst>
          </p:cNvPr>
          <p:cNvSpPr>
            <a:spLocks noGrp="1"/>
          </p:cNvSpPr>
          <p:nvPr>
            <p:ph type="title"/>
          </p:nvPr>
        </p:nvSpPr>
        <p:spPr>
          <a:xfrm>
            <a:off x="467139" y="624449"/>
            <a:ext cx="11221278" cy="362776"/>
          </a:xfrm>
        </p:spPr>
        <p:txBody>
          <a:bodyPr/>
          <a:lstStyle/>
          <a:p>
            <a:r>
              <a:rPr lang="en-US" noProof="0" dirty="0"/>
              <a:t>Choosing a Flight Seat Class — Sensitivity Analysis②</a:t>
            </a:r>
          </a:p>
        </p:txBody>
      </p:sp>
      <p:sp>
        <p:nvSpPr>
          <p:cNvPr id="4" name="Slide Number Placeholder 3">
            <a:extLst>
              <a:ext uri="{FF2B5EF4-FFF2-40B4-BE49-F238E27FC236}">
                <a16:creationId xmlns:a16="http://schemas.microsoft.com/office/drawing/2014/main" id="{956DDA09-E5CA-2825-0DAB-F3FE88DE8ACF}"/>
              </a:ext>
            </a:extLst>
          </p:cNvPr>
          <p:cNvSpPr>
            <a:spLocks noGrp="1"/>
          </p:cNvSpPr>
          <p:nvPr>
            <p:ph type="sldNum" sz="quarter" idx="4"/>
          </p:nvPr>
        </p:nvSpPr>
        <p:spPr/>
        <p:txBody>
          <a:bodyPr/>
          <a:lstStyle/>
          <a:p>
            <a:fld id="{B5CEABB6-07DC-46E8-9B57-56EC44A396E5}" type="slidenum">
              <a:rPr lang="en-US" noProof="0" smtClean="0"/>
              <a:pPr/>
              <a:t>55</a:t>
            </a:fld>
            <a:endParaRPr lang="en-US" noProof="0" dirty="0"/>
          </a:p>
        </p:txBody>
      </p:sp>
      <p:sp>
        <p:nvSpPr>
          <p:cNvPr id="5" name="Table Placeholder 4">
            <a:extLst>
              <a:ext uri="{FF2B5EF4-FFF2-40B4-BE49-F238E27FC236}">
                <a16:creationId xmlns:a16="http://schemas.microsoft.com/office/drawing/2014/main" id="{0CB2A2F8-EA8D-6DF3-E6BF-869170088152}"/>
              </a:ext>
            </a:extLst>
          </p:cNvPr>
          <p:cNvSpPr>
            <a:spLocks noGrp="1"/>
          </p:cNvSpPr>
          <p:nvPr>
            <p:ph type="tbl" sz="quarter" idx="11"/>
          </p:nvPr>
        </p:nvSpPr>
        <p:spPr/>
        <p:txBody>
          <a:bodyPr/>
          <a:lstStyle/>
          <a:p>
            <a:r>
              <a:rPr lang="en-US" noProof="0" dirty="0"/>
              <a:t>The most cost-effective seat class depends on the probabilities of getting a “comfortable seat” or a “standard seat” in Economy and Business Class; run 1,000 simulations by sampling from probability distributions.</a:t>
            </a:r>
          </a:p>
        </p:txBody>
      </p:sp>
      <p:pic>
        <p:nvPicPr>
          <p:cNvPr id="61" name="Picture 60">
            <a:extLst>
              <a:ext uri="{FF2B5EF4-FFF2-40B4-BE49-F238E27FC236}">
                <a16:creationId xmlns:a16="http://schemas.microsoft.com/office/drawing/2014/main" id="{27FCD8B3-E7F6-9DE8-E5E9-D0AEDFA39E5E}"/>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91187" y="2195346"/>
            <a:ext cx="10159034" cy="4257200"/>
          </a:xfrm>
          <a:prstGeom prst="rect">
            <a:avLst/>
          </a:prstGeom>
        </p:spPr>
      </p:pic>
      <p:sp>
        <p:nvSpPr>
          <p:cNvPr id="60" name="Rectangle: Rounded Corners 59">
            <a:extLst>
              <a:ext uri="{FF2B5EF4-FFF2-40B4-BE49-F238E27FC236}">
                <a16:creationId xmlns:a16="http://schemas.microsoft.com/office/drawing/2014/main" id="{ADA8EC8E-C37C-B2B0-2138-A7DE5AAE944C}"/>
              </a:ext>
            </a:extLst>
          </p:cNvPr>
          <p:cNvSpPr/>
          <p:nvPr/>
        </p:nvSpPr>
        <p:spPr>
          <a:xfrm>
            <a:off x="5092057" y="3616154"/>
            <a:ext cx="1112849" cy="344786"/>
          </a:xfrm>
          <a:prstGeom prst="roundRect">
            <a:avLst/>
          </a:prstGeom>
          <a:noFill/>
          <a:ln w="5715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63" name="Straight Connector 62">
            <a:extLst>
              <a:ext uri="{FF2B5EF4-FFF2-40B4-BE49-F238E27FC236}">
                <a16:creationId xmlns:a16="http://schemas.microsoft.com/office/drawing/2014/main" id="{A06588F6-B0E8-C20E-D8B5-94584981C0BE}"/>
              </a:ext>
            </a:extLst>
          </p:cNvPr>
          <p:cNvCxnSpPr>
            <a:cxnSpLocks/>
            <a:stCxn id="60" idx="3"/>
            <a:endCxn id="64" idx="1"/>
          </p:cNvCxnSpPr>
          <p:nvPr/>
        </p:nvCxnSpPr>
        <p:spPr>
          <a:xfrm flipV="1">
            <a:off x="6204906" y="3403719"/>
            <a:ext cx="768762" cy="384828"/>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D7DF0FCA-E8FC-8DF1-8B7F-7C1D01447425}"/>
              </a:ext>
            </a:extLst>
          </p:cNvPr>
          <p:cNvSpPr/>
          <p:nvPr/>
        </p:nvSpPr>
        <p:spPr>
          <a:xfrm>
            <a:off x="6973668" y="3207448"/>
            <a:ext cx="1606128" cy="392542"/>
          </a:xfrm>
          <a:prstGeom prst="rect">
            <a:avLst/>
          </a:prstGeom>
          <a:solidFill>
            <a:schemeClr val="bg1"/>
          </a:solid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70%~100%</a:t>
            </a:r>
          </a:p>
        </p:txBody>
      </p:sp>
      <p:sp>
        <p:nvSpPr>
          <p:cNvPr id="14" name="Rectangle: Rounded Corners 13">
            <a:extLst>
              <a:ext uri="{FF2B5EF4-FFF2-40B4-BE49-F238E27FC236}">
                <a16:creationId xmlns:a16="http://schemas.microsoft.com/office/drawing/2014/main" id="{D46922C1-ADD1-E271-9BE8-481B2E0FC7C0}"/>
              </a:ext>
            </a:extLst>
          </p:cNvPr>
          <p:cNvSpPr/>
          <p:nvPr/>
        </p:nvSpPr>
        <p:spPr>
          <a:xfrm>
            <a:off x="5092057" y="4218446"/>
            <a:ext cx="1112849" cy="313442"/>
          </a:xfrm>
          <a:prstGeom prst="roundRect">
            <a:avLst/>
          </a:prstGeom>
          <a:noFill/>
          <a:ln w="5715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15" name="Straight Connector 14">
            <a:extLst>
              <a:ext uri="{FF2B5EF4-FFF2-40B4-BE49-F238E27FC236}">
                <a16:creationId xmlns:a16="http://schemas.microsoft.com/office/drawing/2014/main" id="{49045D1B-D9F8-B58D-1520-0240C427FDAC}"/>
              </a:ext>
            </a:extLst>
          </p:cNvPr>
          <p:cNvCxnSpPr>
            <a:cxnSpLocks/>
            <a:stCxn id="14" idx="3"/>
            <a:endCxn id="16" idx="1"/>
          </p:cNvCxnSpPr>
          <p:nvPr/>
        </p:nvCxnSpPr>
        <p:spPr>
          <a:xfrm>
            <a:off x="6204906" y="4375167"/>
            <a:ext cx="768762" cy="54376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688D9C3A-DA44-58F2-E0BE-6D025BA4147B}"/>
              </a:ext>
            </a:extLst>
          </p:cNvPr>
          <p:cNvSpPr/>
          <p:nvPr/>
        </p:nvSpPr>
        <p:spPr>
          <a:xfrm>
            <a:off x="6973668" y="4722658"/>
            <a:ext cx="1606128" cy="392542"/>
          </a:xfrm>
          <a:prstGeom prst="rect">
            <a:avLst/>
          </a:prstGeom>
          <a:solidFill>
            <a:schemeClr val="bg1"/>
          </a:solid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0%~30%</a:t>
            </a:r>
          </a:p>
        </p:txBody>
      </p:sp>
      <p:sp>
        <p:nvSpPr>
          <p:cNvPr id="21" name="Rectangle: Rounded Corners 20">
            <a:extLst>
              <a:ext uri="{FF2B5EF4-FFF2-40B4-BE49-F238E27FC236}">
                <a16:creationId xmlns:a16="http://schemas.microsoft.com/office/drawing/2014/main" id="{A099E89B-94DA-F738-F214-29B827F72757}"/>
              </a:ext>
            </a:extLst>
          </p:cNvPr>
          <p:cNvSpPr/>
          <p:nvPr/>
        </p:nvSpPr>
        <p:spPr>
          <a:xfrm>
            <a:off x="5092057" y="5095290"/>
            <a:ext cx="1112849" cy="379265"/>
          </a:xfrm>
          <a:prstGeom prst="roundRect">
            <a:avLst/>
          </a:prstGeom>
          <a:noFill/>
          <a:ln w="5715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22" name="Straight Connector 21">
            <a:extLst>
              <a:ext uri="{FF2B5EF4-FFF2-40B4-BE49-F238E27FC236}">
                <a16:creationId xmlns:a16="http://schemas.microsoft.com/office/drawing/2014/main" id="{D684A09C-9FB0-93EB-E1B5-1B8BBECE7B37}"/>
              </a:ext>
            </a:extLst>
          </p:cNvPr>
          <p:cNvCxnSpPr>
            <a:cxnSpLocks/>
            <a:stCxn id="21" idx="1"/>
            <a:endCxn id="23" idx="3"/>
          </p:cNvCxnSpPr>
          <p:nvPr/>
        </p:nvCxnSpPr>
        <p:spPr>
          <a:xfrm flipH="1" flipV="1">
            <a:off x="4926806" y="4918929"/>
            <a:ext cx="165251" cy="365994"/>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18EF16FA-6841-DF5D-F1B1-68B5FC14AF76}"/>
              </a:ext>
            </a:extLst>
          </p:cNvPr>
          <p:cNvSpPr/>
          <p:nvPr/>
        </p:nvSpPr>
        <p:spPr>
          <a:xfrm>
            <a:off x="3320678" y="4722658"/>
            <a:ext cx="1606128" cy="392542"/>
          </a:xfrm>
          <a:prstGeom prst="rect">
            <a:avLst/>
          </a:prstGeom>
          <a:solidFill>
            <a:schemeClr val="bg1"/>
          </a:solid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50%~100%</a:t>
            </a:r>
          </a:p>
        </p:txBody>
      </p:sp>
      <p:sp>
        <p:nvSpPr>
          <p:cNvPr id="24" name="Rectangle: Rounded Corners 23">
            <a:extLst>
              <a:ext uri="{FF2B5EF4-FFF2-40B4-BE49-F238E27FC236}">
                <a16:creationId xmlns:a16="http://schemas.microsoft.com/office/drawing/2014/main" id="{AAEEB980-E983-AEC6-1808-E2D56EC94D44}"/>
              </a:ext>
            </a:extLst>
          </p:cNvPr>
          <p:cNvSpPr/>
          <p:nvPr/>
        </p:nvSpPr>
        <p:spPr>
          <a:xfrm>
            <a:off x="5092057" y="5681312"/>
            <a:ext cx="1112849" cy="379265"/>
          </a:xfrm>
          <a:prstGeom prst="roundRect">
            <a:avLst/>
          </a:prstGeom>
          <a:noFill/>
          <a:ln w="5715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25" name="Straight Connector 24">
            <a:extLst>
              <a:ext uri="{FF2B5EF4-FFF2-40B4-BE49-F238E27FC236}">
                <a16:creationId xmlns:a16="http://schemas.microsoft.com/office/drawing/2014/main" id="{7806B5F0-5393-03BC-F3CC-2A2D780DA06E}"/>
              </a:ext>
            </a:extLst>
          </p:cNvPr>
          <p:cNvCxnSpPr>
            <a:cxnSpLocks/>
            <a:stCxn id="24" idx="1"/>
            <a:endCxn id="26" idx="3"/>
          </p:cNvCxnSpPr>
          <p:nvPr/>
        </p:nvCxnSpPr>
        <p:spPr>
          <a:xfrm flipH="1">
            <a:off x="4928657" y="5870945"/>
            <a:ext cx="163400" cy="493587"/>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7179EF73-913E-5836-31D0-B4F222462351}"/>
              </a:ext>
            </a:extLst>
          </p:cNvPr>
          <p:cNvSpPr/>
          <p:nvPr/>
        </p:nvSpPr>
        <p:spPr>
          <a:xfrm>
            <a:off x="3322529" y="6168261"/>
            <a:ext cx="1606128" cy="392542"/>
          </a:xfrm>
          <a:prstGeom prst="rect">
            <a:avLst/>
          </a:prstGeom>
          <a:solidFill>
            <a:schemeClr val="bg1"/>
          </a:solid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0%~50%</a:t>
            </a:r>
          </a:p>
        </p:txBody>
      </p:sp>
      <p:grpSp>
        <p:nvGrpSpPr>
          <p:cNvPr id="3" name="Group 2">
            <a:extLst>
              <a:ext uri="{FF2B5EF4-FFF2-40B4-BE49-F238E27FC236}">
                <a16:creationId xmlns:a16="http://schemas.microsoft.com/office/drawing/2014/main" id="{3E02F20B-C815-9143-029B-368C4CD2C2E0}"/>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B46E6E05-B960-EA92-C37B-91D42B856ED8}"/>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1" name="Arrow: Pentagon 10">
              <a:extLst>
                <a:ext uri="{FF2B5EF4-FFF2-40B4-BE49-F238E27FC236}">
                  <a16:creationId xmlns:a16="http://schemas.microsoft.com/office/drawing/2014/main" id="{9CB5364B-79DD-5E13-7894-9F7E58023526}"/>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2" name="Arrow: Pentagon 11">
              <a:extLst>
                <a:ext uri="{FF2B5EF4-FFF2-40B4-BE49-F238E27FC236}">
                  <a16:creationId xmlns:a16="http://schemas.microsoft.com/office/drawing/2014/main" id="{DC225815-C17A-301A-DC25-EF1ED7F5874D}"/>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19935377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1EC42B3-A811-B1F5-CCC7-BEA86B633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5BA7A4-E495-CF17-6735-62DD1DE84F04}"/>
              </a:ext>
            </a:extLst>
          </p:cNvPr>
          <p:cNvSpPr>
            <a:spLocks noGrp="1"/>
          </p:cNvSpPr>
          <p:nvPr>
            <p:ph type="title"/>
          </p:nvPr>
        </p:nvSpPr>
        <p:spPr>
          <a:xfrm>
            <a:off x="467139" y="624449"/>
            <a:ext cx="11221278" cy="362776"/>
          </a:xfrm>
        </p:spPr>
        <p:txBody>
          <a:bodyPr/>
          <a:lstStyle/>
          <a:p>
            <a:r>
              <a:rPr lang="en-US" dirty="0"/>
              <a:t>Choosing a Flight Seat Class — Sensitivity Analysis②</a:t>
            </a:r>
            <a:endParaRPr lang="en-US" noProof="0" dirty="0"/>
          </a:p>
        </p:txBody>
      </p:sp>
      <p:sp>
        <p:nvSpPr>
          <p:cNvPr id="4" name="Slide Number Placeholder 3">
            <a:extLst>
              <a:ext uri="{FF2B5EF4-FFF2-40B4-BE49-F238E27FC236}">
                <a16:creationId xmlns:a16="http://schemas.microsoft.com/office/drawing/2014/main" id="{4CAEB023-BB78-0557-C20C-4007FC2A49F0}"/>
              </a:ext>
            </a:extLst>
          </p:cNvPr>
          <p:cNvSpPr>
            <a:spLocks noGrp="1"/>
          </p:cNvSpPr>
          <p:nvPr>
            <p:ph type="sldNum" sz="quarter" idx="4"/>
          </p:nvPr>
        </p:nvSpPr>
        <p:spPr/>
        <p:txBody>
          <a:bodyPr/>
          <a:lstStyle/>
          <a:p>
            <a:fld id="{B5CEABB6-07DC-46E8-9B57-56EC44A396E5}" type="slidenum">
              <a:rPr lang="en-US" noProof="0" smtClean="0"/>
              <a:pPr/>
              <a:t>56</a:t>
            </a:fld>
            <a:endParaRPr lang="en-US" noProof="0" dirty="0"/>
          </a:p>
        </p:txBody>
      </p:sp>
      <p:sp>
        <p:nvSpPr>
          <p:cNvPr id="5" name="Table Placeholder 4">
            <a:extLst>
              <a:ext uri="{FF2B5EF4-FFF2-40B4-BE49-F238E27FC236}">
                <a16:creationId xmlns:a16="http://schemas.microsoft.com/office/drawing/2014/main" id="{1512A531-E9BA-67E4-547D-0B3498781137}"/>
              </a:ext>
            </a:extLst>
          </p:cNvPr>
          <p:cNvSpPr>
            <a:spLocks noGrp="1"/>
          </p:cNvSpPr>
          <p:nvPr>
            <p:ph type="tbl" sz="quarter" idx="11"/>
          </p:nvPr>
        </p:nvSpPr>
        <p:spPr/>
        <p:txBody>
          <a:bodyPr/>
          <a:lstStyle/>
          <a:p>
            <a:r>
              <a:rPr lang="en-US" noProof="0" dirty="0"/>
              <a:t>If the probabilities of getting a comfortable seat or a standard seat in Economy and Business Class are distributed as follows, then Business Class is the most cost-effective choice in about 70% of cases.</a:t>
            </a:r>
          </a:p>
        </p:txBody>
      </p:sp>
      <p:graphicFrame>
        <p:nvGraphicFramePr>
          <p:cNvPr id="3" name="Table 2">
            <a:extLst>
              <a:ext uri="{FF2B5EF4-FFF2-40B4-BE49-F238E27FC236}">
                <a16:creationId xmlns:a16="http://schemas.microsoft.com/office/drawing/2014/main" id="{563EF18F-302C-35DB-82A6-4160B07ADFE3}"/>
              </a:ext>
            </a:extLst>
          </p:cNvPr>
          <p:cNvGraphicFramePr>
            <a:graphicFrameLocks noGrp="1"/>
          </p:cNvGraphicFramePr>
          <p:nvPr>
            <p:extLst>
              <p:ext uri="{D42A27DB-BD31-4B8C-83A1-F6EECF244321}">
                <p14:modId xmlns:p14="http://schemas.microsoft.com/office/powerpoint/2010/main" val="223713722"/>
              </p:ext>
            </p:extLst>
          </p:nvPr>
        </p:nvGraphicFramePr>
        <p:xfrm>
          <a:off x="467139" y="2130177"/>
          <a:ext cx="11221277" cy="1371600"/>
        </p:xfrm>
        <a:graphic>
          <a:graphicData uri="http://schemas.openxmlformats.org/drawingml/2006/table">
            <a:tbl>
              <a:tblPr firstRow="1" bandRow="1">
                <a:tableStyleId>{5A111915-BE36-4E01-A7E5-04B1672EAD32}</a:tableStyleId>
              </a:tblPr>
              <a:tblGrid>
                <a:gridCol w="8057101">
                  <a:extLst>
                    <a:ext uri="{9D8B030D-6E8A-4147-A177-3AD203B41FA5}">
                      <a16:colId xmlns:a16="http://schemas.microsoft.com/office/drawing/2014/main" val="2674007914"/>
                    </a:ext>
                  </a:extLst>
                </a:gridCol>
                <a:gridCol w="3164176">
                  <a:extLst>
                    <a:ext uri="{9D8B030D-6E8A-4147-A177-3AD203B41FA5}">
                      <a16:colId xmlns:a16="http://schemas.microsoft.com/office/drawing/2014/main" val="1576203559"/>
                    </a:ext>
                  </a:extLst>
                </a:gridCol>
              </a:tblGrid>
              <a:tr h="370840">
                <a:tc>
                  <a:txBody>
                    <a:bodyPr/>
                    <a:lstStyle/>
                    <a:p>
                      <a:r>
                        <a:rPr lang="en-US" sz="2400" b="1" noProof="0" dirty="0">
                          <a:latin typeface="Arial" panose="020B0604020202020204" pitchFamily="34" charset="0"/>
                          <a:ea typeface="Meiryo" panose="020B0604030504040204" pitchFamily="34" charset="-128"/>
                          <a:cs typeface="Arial" panose="020B0604020202020204" pitchFamily="34" charset="0"/>
                        </a:rPr>
                        <a:t>Parameters</a:t>
                      </a:r>
                    </a:p>
                  </a:txBody>
                  <a:tcPr marL="45720" marR="45720">
                    <a:solidFill>
                      <a:srgbClr val="0070C0"/>
                    </a:solidFill>
                  </a:tcPr>
                </a:tc>
                <a:tc>
                  <a:txBody>
                    <a:bodyPr/>
                    <a:lstStyle/>
                    <a:p>
                      <a:pPr algn="r"/>
                      <a:r>
                        <a:rPr lang="en-US" sz="2400" b="1" noProof="0" dirty="0">
                          <a:latin typeface="Arial" panose="020B0604020202020204" pitchFamily="34" charset="0"/>
                          <a:ea typeface="Meiryo" panose="020B0604030504040204" pitchFamily="34" charset="-128"/>
                          <a:cs typeface="Arial" panose="020B0604020202020204" pitchFamily="34" charset="0"/>
                        </a:rPr>
                        <a:t>Values</a:t>
                      </a:r>
                    </a:p>
                  </a:txBody>
                  <a:tcPr marL="45720" marR="45720">
                    <a:solidFill>
                      <a:srgbClr val="0070C0"/>
                    </a:solidFill>
                  </a:tcPr>
                </a:tc>
                <a:extLst>
                  <a:ext uri="{0D108BD9-81ED-4DB2-BD59-A6C34878D82A}">
                    <a16:rowId xmlns:a16="http://schemas.microsoft.com/office/drawing/2014/main" val="2369968446"/>
                  </a:ext>
                </a:extLst>
              </a:tr>
              <a:tr h="370840">
                <a:tc>
                  <a:txBody>
                    <a:bodyPr/>
                    <a:lstStyle/>
                    <a:p>
                      <a:r>
                        <a:rPr lang="en-US" sz="2400" b="0" noProof="0" dirty="0">
                          <a:latin typeface="Arial" panose="020B0604020202020204" pitchFamily="34" charset="0"/>
                          <a:ea typeface="Meiryo" panose="020B0604030504040204" pitchFamily="34" charset="-128"/>
                          <a:cs typeface="Arial" panose="020B0604020202020204" pitchFamily="34" charset="0"/>
                        </a:rPr>
                        <a:t>Probability of a comfortable seat in Business Class</a:t>
                      </a:r>
                    </a:p>
                  </a:txBody>
                  <a:tcPr marL="45720" marR="45720"/>
                </a:tc>
                <a:tc>
                  <a:txBody>
                    <a:bodyPr/>
                    <a:lstStyle/>
                    <a:p>
                      <a:pPr algn="r"/>
                      <a:r>
                        <a:rPr lang="en-US" sz="2400" b="0" noProof="0" dirty="0">
                          <a:latin typeface="Arial" panose="020B0604020202020204" pitchFamily="34" charset="0"/>
                          <a:ea typeface="Meiryo" panose="020B0604030504040204" pitchFamily="34" charset="-128"/>
                          <a:cs typeface="Arial" panose="020B0604020202020204" pitchFamily="34" charset="0"/>
                        </a:rPr>
                        <a:t>70~100%</a:t>
                      </a:r>
                    </a:p>
                  </a:txBody>
                  <a:tcPr marL="45720" marR="45720"/>
                </a:tc>
                <a:extLst>
                  <a:ext uri="{0D108BD9-81ED-4DB2-BD59-A6C34878D82A}">
                    <a16:rowId xmlns:a16="http://schemas.microsoft.com/office/drawing/2014/main" val="260213756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noProof="0" dirty="0">
                          <a:latin typeface="Arial" panose="020B0604020202020204" pitchFamily="34" charset="0"/>
                          <a:ea typeface="Meiryo" panose="020B0604030504040204" pitchFamily="34" charset="-128"/>
                          <a:cs typeface="Arial" panose="020B0604020202020204" pitchFamily="34" charset="0"/>
                        </a:rPr>
                        <a:t>Probability of a comfortable seat in Economy Class</a:t>
                      </a:r>
                    </a:p>
                  </a:txBody>
                  <a:tcPr marL="45720" marR="45720"/>
                </a:tc>
                <a:tc>
                  <a:txBody>
                    <a:bodyPr/>
                    <a:lstStyle/>
                    <a:p>
                      <a:pPr algn="r"/>
                      <a:r>
                        <a:rPr lang="en-US" sz="2400" b="0" noProof="0" dirty="0">
                          <a:latin typeface="Arial" panose="020B0604020202020204" pitchFamily="34" charset="0"/>
                          <a:ea typeface="Meiryo" panose="020B0604030504040204" pitchFamily="34" charset="-128"/>
                          <a:cs typeface="Arial" panose="020B0604020202020204" pitchFamily="34" charset="0"/>
                        </a:rPr>
                        <a:t>50~100%</a:t>
                      </a:r>
                    </a:p>
                  </a:txBody>
                  <a:tcPr marL="45720" marR="45720"/>
                </a:tc>
                <a:extLst>
                  <a:ext uri="{0D108BD9-81ED-4DB2-BD59-A6C34878D82A}">
                    <a16:rowId xmlns:a16="http://schemas.microsoft.com/office/drawing/2014/main" val="3498383418"/>
                  </a:ext>
                </a:extLst>
              </a:tr>
            </a:tbl>
          </a:graphicData>
        </a:graphic>
      </p:graphicFrame>
      <p:graphicFrame>
        <p:nvGraphicFramePr>
          <p:cNvPr id="22" name="Table 21">
            <a:extLst>
              <a:ext uri="{FF2B5EF4-FFF2-40B4-BE49-F238E27FC236}">
                <a16:creationId xmlns:a16="http://schemas.microsoft.com/office/drawing/2014/main" id="{1E6B26BB-BC42-6EFD-FD8C-B3A0267ECE23}"/>
              </a:ext>
            </a:extLst>
          </p:cNvPr>
          <p:cNvGraphicFramePr>
            <a:graphicFrameLocks noGrp="1"/>
          </p:cNvGraphicFramePr>
          <p:nvPr>
            <p:extLst>
              <p:ext uri="{D42A27DB-BD31-4B8C-83A1-F6EECF244321}">
                <p14:modId xmlns:p14="http://schemas.microsoft.com/office/powerpoint/2010/main" val="4167903675"/>
              </p:ext>
            </p:extLst>
          </p:nvPr>
        </p:nvGraphicFramePr>
        <p:xfrm>
          <a:off x="467138" y="4406578"/>
          <a:ext cx="11221277" cy="1828800"/>
        </p:xfrm>
        <a:graphic>
          <a:graphicData uri="http://schemas.openxmlformats.org/drawingml/2006/table">
            <a:tbl>
              <a:tblPr firstRow="1" bandRow="1">
                <a:tableStyleId>{5A111915-BE36-4E01-A7E5-04B1672EAD32}</a:tableStyleId>
              </a:tblPr>
              <a:tblGrid>
                <a:gridCol w="4668099">
                  <a:extLst>
                    <a:ext uri="{9D8B030D-6E8A-4147-A177-3AD203B41FA5}">
                      <a16:colId xmlns:a16="http://schemas.microsoft.com/office/drawing/2014/main" val="2674007914"/>
                    </a:ext>
                  </a:extLst>
                </a:gridCol>
                <a:gridCol w="6553178">
                  <a:extLst>
                    <a:ext uri="{9D8B030D-6E8A-4147-A177-3AD203B41FA5}">
                      <a16:colId xmlns:a16="http://schemas.microsoft.com/office/drawing/2014/main" val="1576203559"/>
                    </a:ext>
                  </a:extLst>
                </a:gridCol>
              </a:tblGrid>
              <a:tr h="370840">
                <a:tc>
                  <a:txBody>
                    <a:bodyPr/>
                    <a:lstStyle/>
                    <a:p>
                      <a:r>
                        <a:rPr lang="en-US" sz="2400" b="1" noProof="0" dirty="0">
                          <a:latin typeface="Arial" panose="020B0604020202020204" pitchFamily="34" charset="0"/>
                          <a:ea typeface="Meiryo" panose="020B0604030504040204" pitchFamily="34" charset="-128"/>
                          <a:cs typeface="Arial" panose="020B0604020202020204" pitchFamily="34" charset="0"/>
                        </a:rPr>
                        <a:t>Seat Class</a:t>
                      </a:r>
                    </a:p>
                  </a:txBody>
                  <a:tcPr>
                    <a:solidFill>
                      <a:srgbClr val="0070C0"/>
                    </a:solidFill>
                  </a:tcPr>
                </a:tc>
                <a:tc>
                  <a:txBody>
                    <a:bodyPr/>
                    <a:lstStyle/>
                    <a:p>
                      <a:r>
                        <a:rPr lang="en-US" sz="2400" b="1" noProof="0" dirty="0">
                          <a:latin typeface="Arial" panose="020B0604020202020204" pitchFamily="34" charset="0"/>
                          <a:ea typeface="Meiryo" panose="020B0604030504040204" pitchFamily="34" charset="-128"/>
                          <a:cs typeface="Arial" panose="020B0604020202020204" pitchFamily="34" charset="0"/>
                        </a:rPr>
                        <a:t>Probability of Being Most Cost-Effective</a:t>
                      </a:r>
                    </a:p>
                  </a:txBody>
                  <a:tcPr>
                    <a:solidFill>
                      <a:srgbClr val="0070C0"/>
                    </a:solidFill>
                  </a:tcPr>
                </a:tc>
                <a:extLst>
                  <a:ext uri="{0D108BD9-81ED-4DB2-BD59-A6C34878D82A}">
                    <a16:rowId xmlns:a16="http://schemas.microsoft.com/office/drawing/2014/main" val="2369968446"/>
                  </a:ext>
                </a:extLst>
              </a:tr>
              <a:tr h="370840">
                <a:tc>
                  <a:txBody>
                    <a:bodyPr/>
                    <a:lstStyle/>
                    <a:p>
                      <a:r>
                        <a:rPr lang="en-US" sz="2400" b="0" noProof="0" dirty="0">
                          <a:latin typeface="Arial" panose="020B0604020202020204" pitchFamily="34" charset="0"/>
                          <a:ea typeface="Meiryo" panose="020B0604030504040204" pitchFamily="34" charset="-128"/>
                          <a:cs typeface="Arial" panose="020B0604020202020204" pitchFamily="34" charset="0"/>
                        </a:rPr>
                        <a:t>Economy</a:t>
                      </a:r>
                    </a:p>
                  </a:txBody>
                  <a:tcPr/>
                </a:tc>
                <a:tc>
                  <a:txBody>
                    <a:bodyPr/>
                    <a:lstStyle/>
                    <a:p>
                      <a:pPr algn="r"/>
                      <a:r>
                        <a:rPr lang="en-US" sz="2400" b="0" noProof="0" dirty="0">
                          <a:latin typeface="Arial" panose="020B0604020202020204" pitchFamily="34" charset="0"/>
                          <a:ea typeface="Meiryo" panose="020B0604030504040204" pitchFamily="34" charset="-128"/>
                          <a:cs typeface="Arial" panose="020B0604020202020204" pitchFamily="34" charset="0"/>
                        </a:rPr>
                        <a:t>27%</a:t>
                      </a:r>
                    </a:p>
                  </a:txBody>
                  <a:tcPr anchor="b"/>
                </a:tc>
                <a:extLst>
                  <a:ext uri="{0D108BD9-81ED-4DB2-BD59-A6C34878D82A}">
                    <a16:rowId xmlns:a16="http://schemas.microsoft.com/office/drawing/2014/main" val="2602137567"/>
                  </a:ext>
                </a:extLst>
              </a:tr>
              <a:tr h="370840">
                <a:tc>
                  <a:txBody>
                    <a:bodyPr/>
                    <a:lstStyle/>
                    <a:p>
                      <a:r>
                        <a:rPr lang="en-US" sz="2400" b="0" noProof="0" dirty="0">
                          <a:latin typeface="Arial" panose="020B0604020202020204" pitchFamily="34" charset="0"/>
                          <a:ea typeface="Meiryo" panose="020B0604030504040204" pitchFamily="34" charset="-128"/>
                          <a:cs typeface="Arial" panose="020B0604020202020204" pitchFamily="34" charset="0"/>
                        </a:rPr>
                        <a:t>Business</a:t>
                      </a:r>
                    </a:p>
                  </a:txBody>
                  <a:tcPr/>
                </a:tc>
                <a:tc>
                  <a:txBody>
                    <a:bodyPr/>
                    <a:lstStyle/>
                    <a:p>
                      <a:pPr algn="r"/>
                      <a:r>
                        <a:rPr lang="en-US" sz="2400" b="0" noProof="0" dirty="0">
                          <a:latin typeface="Arial" panose="020B0604020202020204" pitchFamily="34" charset="0"/>
                          <a:ea typeface="Meiryo" panose="020B0604030504040204" pitchFamily="34" charset="-128"/>
                          <a:cs typeface="Arial" panose="020B0604020202020204" pitchFamily="34" charset="0"/>
                        </a:rPr>
                        <a:t>71%</a:t>
                      </a:r>
                    </a:p>
                  </a:txBody>
                  <a:tcPr anchor="b"/>
                </a:tc>
                <a:extLst>
                  <a:ext uri="{0D108BD9-81ED-4DB2-BD59-A6C34878D82A}">
                    <a16:rowId xmlns:a16="http://schemas.microsoft.com/office/drawing/2014/main" val="3866550328"/>
                  </a:ext>
                </a:extLst>
              </a:tr>
              <a:tr h="370840">
                <a:tc>
                  <a:txBody>
                    <a:bodyPr/>
                    <a:lstStyle/>
                    <a:p>
                      <a:r>
                        <a:rPr lang="en-US" sz="2400" b="0" noProof="0" dirty="0">
                          <a:latin typeface="Arial" panose="020B0604020202020204" pitchFamily="34" charset="0"/>
                          <a:ea typeface="Meiryo" panose="020B0604030504040204" pitchFamily="34" charset="-128"/>
                          <a:cs typeface="Arial" panose="020B0604020202020204" pitchFamily="34" charset="0"/>
                        </a:rPr>
                        <a:t>First Class</a:t>
                      </a:r>
                    </a:p>
                  </a:txBody>
                  <a:tcPr/>
                </a:tc>
                <a:tc>
                  <a:txBody>
                    <a:bodyPr/>
                    <a:lstStyle/>
                    <a:p>
                      <a:pPr algn="r"/>
                      <a:r>
                        <a:rPr lang="en-US" sz="2400" b="0" noProof="0" dirty="0">
                          <a:latin typeface="Arial" panose="020B0604020202020204" pitchFamily="34" charset="0"/>
                          <a:ea typeface="Meiryo" panose="020B0604030504040204" pitchFamily="34" charset="-128"/>
                          <a:cs typeface="Arial" panose="020B0604020202020204" pitchFamily="34" charset="0"/>
                        </a:rPr>
                        <a:t>2%</a:t>
                      </a:r>
                    </a:p>
                  </a:txBody>
                  <a:tcPr anchor="b"/>
                </a:tc>
                <a:extLst>
                  <a:ext uri="{0D108BD9-81ED-4DB2-BD59-A6C34878D82A}">
                    <a16:rowId xmlns:a16="http://schemas.microsoft.com/office/drawing/2014/main" val="3849812327"/>
                  </a:ext>
                </a:extLst>
              </a:tr>
            </a:tbl>
          </a:graphicData>
        </a:graphic>
      </p:graphicFrame>
      <p:sp>
        <p:nvSpPr>
          <p:cNvPr id="23" name="Isosceles Triangle 22">
            <a:extLst>
              <a:ext uri="{FF2B5EF4-FFF2-40B4-BE49-F238E27FC236}">
                <a16:creationId xmlns:a16="http://schemas.microsoft.com/office/drawing/2014/main" id="{3807E9AA-B014-8B7C-99F7-FE572015E8E1}"/>
              </a:ext>
            </a:extLst>
          </p:cNvPr>
          <p:cNvSpPr/>
          <p:nvPr/>
        </p:nvSpPr>
        <p:spPr>
          <a:xfrm flipH="1" flipV="1">
            <a:off x="4744609" y="3732143"/>
            <a:ext cx="2753360" cy="46419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nvGrpSpPr>
          <p:cNvPr id="10" name="Group 9">
            <a:extLst>
              <a:ext uri="{FF2B5EF4-FFF2-40B4-BE49-F238E27FC236}">
                <a16:creationId xmlns:a16="http://schemas.microsoft.com/office/drawing/2014/main" id="{32CE612A-C39A-BFC7-0BD2-3C5B0FA4FA6D}"/>
              </a:ext>
            </a:extLst>
          </p:cNvPr>
          <p:cNvGrpSpPr/>
          <p:nvPr/>
        </p:nvGrpSpPr>
        <p:grpSpPr>
          <a:xfrm>
            <a:off x="467139" y="108959"/>
            <a:ext cx="4197304" cy="307297"/>
            <a:chOff x="562270" y="127168"/>
            <a:chExt cx="4197304" cy="307297"/>
          </a:xfrm>
        </p:grpSpPr>
        <p:sp>
          <p:nvSpPr>
            <p:cNvPr id="11" name="Arrow: Pentagon 10">
              <a:extLst>
                <a:ext uri="{FF2B5EF4-FFF2-40B4-BE49-F238E27FC236}">
                  <a16:creationId xmlns:a16="http://schemas.microsoft.com/office/drawing/2014/main" id="{7F0D6D83-B7CE-E8F6-55B6-374BB269E2E7}"/>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2" name="Arrow: Pentagon 11">
              <a:extLst>
                <a:ext uri="{FF2B5EF4-FFF2-40B4-BE49-F238E27FC236}">
                  <a16:creationId xmlns:a16="http://schemas.microsoft.com/office/drawing/2014/main" id="{7978B033-428E-0B0C-2A64-C14270326E35}"/>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3" name="Arrow: Pentagon 12">
              <a:extLst>
                <a:ext uri="{FF2B5EF4-FFF2-40B4-BE49-F238E27FC236}">
                  <a16:creationId xmlns:a16="http://schemas.microsoft.com/office/drawing/2014/main" id="{78036F9F-33BF-E612-6818-F9221F94D20B}"/>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27477284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14C80-2C66-7000-0D7F-07CF954ACA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DAB21-45DC-B09D-2EF4-1434F788BA6A}"/>
              </a:ext>
            </a:extLst>
          </p:cNvPr>
          <p:cNvSpPr>
            <a:spLocks noGrp="1"/>
          </p:cNvSpPr>
          <p:nvPr>
            <p:ph type="title"/>
          </p:nvPr>
        </p:nvSpPr>
        <p:spPr>
          <a:xfrm>
            <a:off x="467139" y="589724"/>
            <a:ext cx="11221278" cy="362776"/>
          </a:xfrm>
        </p:spPr>
        <p:txBody>
          <a:bodyPr/>
          <a:lstStyle/>
          <a:p>
            <a:r>
              <a:rPr lang="en-US" noProof="0" dirty="0"/>
              <a:t>Agenda</a:t>
            </a:r>
          </a:p>
        </p:txBody>
      </p:sp>
      <p:sp>
        <p:nvSpPr>
          <p:cNvPr id="4" name="Slide Number Placeholder 3">
            <a:extLst>
              <a:ext uri="{FF2B5EF4-FFF2-40B4-BE49-F238E27FC236}">
                <a16:creationId xmlns:a16="http://schemas.microsoft.com/office/drawing/2014/main" id="{9723BAD7-D3D6-2622-8174-3B219FCCAE34}"/>
              </a:ext>
            </a:extLst>
          </p:cNvPr>
          <p:cNvSpPr>
            <a:spLocks noGrp="1"/>
          </p:cNvSpPr>
          <p:nvPr>
            <p:ph type="sldNum" sz="quarter" idx="4"/>
          </p:nvPr>
        </p:nvSpPr>
        <p:spPr/>
        <p:txBody>
          <a:bodyPr/>
          <a:lstStyle/>
          <a:p>
            <a:fld id="{B5CEABB6-07DC-46E8-9B57-56EC44A396E5}" type="slidenum">
              <a:rPr lang="en-US" noProof="0" smtClean="0"/>
              <a:pPr/>
              <a:t>57</a:t>
            </a:fld>
            <a:endParaRPr lang="en-US" noProof="0" dirty="0"/>
          </a:p>
        </p:txBody>
      </p:sp>
      <p:sp>
        <p:nvSpPr>
          <p:cNvPr id="5" name="Table Placeholder 4">
            <a:extLst>
              <a:ext uri="{FF2B5EF4-FFF2-40B4-BE49-F238E27FC236}">
                <a16:creationId xmlns:a16="http://schemas.microsoft.com/office/drawing/2014/main" id="{89138A8C-3865-9E2F-4CF1-79E5D4F1CF40}"/>
              </a:ext>
            </a:extLst>
          </p:cNvPr>
          <p:cNvSpPr>
            <a:spLocks noGrp="1"/>
          </p:cNvSpPr>
          <p:nvPr>
            <p:ph type="tbl" sz="quarter" idx="11"/>
          </p:nvPr>
        </p:nvSpPr>
        <p:spPr/>
        <p:txBody>
          <a:bodyPr/>
          <a:lstStyle/>
          <a:p>
            <a:endParaRPr lang="en-US" noProof="0" dirty="0"/>
          </a:p>
        </p:txBody>
      </p:sp>
      <p:sp>
        <p:nvSpPr>
          <p:cNvPr id="6" name="Rectangle 5">
            <a:extLst>
              <a:ext uri="{FF2B5EF4-FFF2-40B4-BE49-F238E27FC236}">
                <a16:creationId xmlns:a16="http://schemas.microsoft.com/office/drawing/2014/main" id="{C7FF280E-E1B8-5698-8A9A-77FFB80BEF27}"/>
              </a:ext>
            </a:extLst>
          </p:cNvPr>
          <p:cNvSpPr/>
          <p:nvPr/>
        </p:nvSpPr>
        <p:spPr>
          <a:xfrm>
            <a:off x="467139" y="2064970"/>
            <a:ext cx="11221278" cy="735496"/>
          </a:xfrm>
          <a:prstGeom prst="rect">
            <a:avLst/>
          </a:prstGeom>
          <a:solidFill>
            <a:srgbClr val="D6DC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0" dirty="0">
                <a:latin typeface="Arial" panose="020B0604020202020204" pitchFamily="34" charset="0"/>
                <a:ea typeface="Meiryo UI" panose="020B0604030504040204" pitchFamily="50" charset="-128"/>
                <a:cs typeface="Arial" panose="020B0604020202020204" pitchFamily="34" charset="0"/>
              </a:rPr>
              <a:t>1. What is Decision Science, and how do we analyze decisions? </a:t>
            </a:r>
          </a:p>
        </p:txBody>
      </p:sp>
      <p:sp>
        <p:nvSpPr>
          <p:cNvPr id="7" name="Rectangle 6">
            <a:extLst>
              <a:ext uri="{FF2B5EF4-FFF2-40B4-BE49-F238E27FC236}">
                <a16:creationId xmlns:a16="http://schemas.microsoft.com/office/drawing/2014/main" id="{05EBA0AB-BA25-F2F1-AE3C-DB12A1B6173B}"/>
              </a:ext>
            </a:extLst>
          </p:cNvPr>
          <p:cNvSpPr/>
          <p:nvPr/>
        </p:nvSpPr>
        <p:spPr>
          <a:xfrm>
            <a:off x="467139" y="3506988"/>
            <a:ext cx="11221278" cy="73549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eiryo UI" panose="020B0604030504040204" pitchFamily="50" charset="-128"/>
                <a:cs typeface="Arial" panose="020B0604020202020204" pitchFamily="34" charset="0"/>
              </a:rPr>
              <a:t>2</a:t>
            </a:r>
            <a:r>
              <a:rPr lang="en-US" sz="2400" b="1" noProof="0" dirty="0">
                <a:latin typeface="Arial" panose="020B0604020202020204" pitchFamily="34" charset="0"/>
                <a:ea typeface="Meiryo UI" panose="020B0604030504040204" pitchFamily="50" charset="-128"/>
                <a:cs typeface="Arial" panose="020B0604020202020204" pitchFamily="34" charset="0"/>
              </a:rPr>
              <a:t>. Experiencing Decision Science in practice </a:t>
            </a:r>
          </a:p>
        </p:txBody>
      </p:sp>
      <p:sp>
        <p:nvSpPr>
          <p:cNvPr id="8" name="Rectangle 7">
            <a:extLst>
              <a:ext uri="{FF2B5EF4-FFF2-40B4-BE49-F238E27FC236}">
                <a16:creationId xmlns:a16="http://schemas.microsoft.com/office/drawing/2014/main" id="{608A4DFC-EE3F-029B-E59B-A5F49EB00C41}"/>
              </a:ext>
            </a:extLst>
          </p:cNvPr>
          <p:cNvSpPr/>
          <p:nvPr/>
        </p:nvSpPr>
        <p:spPr>
          <a:xfrm>
            <a:off x="467139" y="4949006"/>
            <a:ext cx="11221278" cy="735496"/>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eiryo UI" panose="020B0604030504040204" pitchFamily="50" charset="-128"/>
                <a:cs typeface="Arial" panose="020B0604020202020204" pitchFamily="34" charset="0"/>
              </a:rPr>
              <a:t>3</a:t>
            </a:r>
            <a:r>
              <a:rPr lang="en-US" sz="2400" b="1" noProof="0" dirty="0">
                <a:latin typeface="Arial" panose="020B0604020202020204" pitchFamily="34" charset="0"/>
                <a:ea typeface="Meiryo UI" panose="020B0604030504040204" pitchFamily="50" charset="-128"/>
                <a:cs typeface="Arial" panose="020B0604020202020204" pitchFamily="34" charset="0"/>
              </a:rPr>
              <a:t>. Use cases of Decision Science</a:t>
            </a:r>
          </a:p>
        </p:txBody>
      </p:sp>
    </p:spTree>
    <p:extLst>
      <p:ext uri="{BB962C8B-B14F-4D97-AF65-F5344CB8AC3E}">
        <p14:creationId xmlns:p14="http://schemas.microsoft.com/office/powerpoint/2010/main" val="26797483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643B4-8755-FC65-EB87-0E12AD8D0A3C}"/>
              </a:ext>
            </a:extLst>
          </p:cNvPr>
          <p:cNvSpPr>
            <a:spLocks noGrp="1"/>
          </p:cNvSpPr>
          <p:nvPr>
            <p:ph type="title"/>
          </p:nvPr>
        </p:nvSpPr>
        <p:spPr/>
        <p:txBody>
          <a:bodyPr/>
          <a:lstStyle/>
          <a:p>
            <a:r>
              <a:rPr lang="en-US" noProof="0" dirty="0"/>
              <a:t>Use Cases in Healthcare</a:t>
            </a:r>
          </a:p>
        </p:txBody>
      </p:sp>
      <p:sp>
        <p:nvSpPr>
          <p:cNvPr id="3" name="Table Placeholder 2">
            <a:extLst>
              <a:ext uri="{FF2B5EF4-FFF2-40B4-BE49-F238E27FC236}">
                <a16:creationId xmlns:a16="http://schemas.microsoft.com/office/drawing/2014/main" id="{790C91FA-9A5B-504B-1F1B-0713F4FAB50B}"/>
              </a:ext>
            </a:extLst>
          </p:cNvPr>
          <p:cNvSpPr>
            <a:spLocks noGrp="1"/>
          </p:cNvSpPr>
          <p:nvPr>
            <p:ph type="tbl" sz="quarter" idx="10"/>
          </p:nvPr>
        </p:nvSpPr>
        <p:spPr>
          <a:xfrm>
            <a:off x="467139" y="1938131"/>
            <a:ext cx="11221278" cy="4622672"/>
          </a:xfrm>
        </p:spPr>
        <p:txBody>
          <a:bodyPr/>
          <a:lstStyle/>
          <a:p>
            <a:pPr>
              <a:spcBef>
                <a:spcPts val="0"/>
              </a:spcBef>
            </a:pPr>
            <a:r>
              <a:rPr lang="en-US" sz="2000" noProof="0" dirty="0"/>
              <a:t>Age-specific colorectal cancer screening guidelines (U.S. Preventive Services Task Force, 2021)</a:t>
            </a:r>
          </a:p>
          <a:p>
            <a:pPr lvl="1">
              <a:lnSpc>
                <a:spcPct val="100000"/>
              </a:lnSpc>
              <a:spcBef>
                <a:spcPts val="0"/>
              </a:spcBef>
            </a:pPr>
            <a:r>
              <a:rPr lang="en-US" sz="2000" noProof="0" dirty="0"/>
              <a:t>U.S. Preventive Services Task Force (USPSTF)</a:t>
            </a:r>
          </a:p>
          <a:p>
            <a:pPr lvl="2">
              <a:lnSpc>
                <a:spcPct val="100000"/>
              </a:lnSpc>
              <a:spcBef>
                <a:spcPts val="0"/>
              </a:spcBef>
            </a:pPr>
            <a:r>
              <a:rPr lang="en-US" sz="1800" noProof="0" dirty="0"/>
              <a:t>An independent expert panel that issues evidence-based recommendations on screening and preventive interventions in primary care</a:t>
            </a:r>
          </a:p>
          <a:p>
            <a:pPr lvl="2">
              <a:lnSpc>
                <a:spcPct val="100000"/>
              </a:lnSpc>
              <a:spcBef>
                <a:spcPts val="0"/>
              </a:spcBef>
            </a:pPr>
            <a:endParaRPr lang="en-US" sz="1800" noProof="0" dirty="0"/>
          </a:p>
          <a:p>
            <a:pPr lvl="1">
              <a:lnSpc>
                <a:spcPct val="100000"/>
              </a:lnSpc>
              <a:spcBef>
                <a:spcPts val="0"/>
              </a:spcBef>
            </a:pPr>
            <a:r>
              <a:rPr lang="en-US" sz="2000" noProof="0" dirty="0"/>
              <a:t>In updating colorectal cancer screening guidelines, simulation modeling was used to evaluate life-years gained, number of preventable colorectal cancer cases, and colorectal cancer deaths averted across multiple choices of screening start ages and screening modalities.</a:t>
            </a:r>
          </a:p>
          <a:p>
            <a:pPr lvl="1">
              <a:lnSpc>
                <a:spcPct val="100000"/>
              </a:lnSpc>
              <a:spcBef>
                <a:spcPts val="0"/>
              </a:spcBef>
            </a:pPr>
            <a:endParaRPr lang="en-US" sz="2000" noProof="0" dirty="0"/>
          </a:p>
          <a:p>
            <a:pPr lvl="1">
              <a:lnSpc>
                <a:spcPct val="100000"/>
              </a:lnSpc>
              <a:spcBef>
                <a:spcPts val="0"/>
              </a:spcBef>
            </a:pPr>
            <a:r>
              <a:rPr lang="en-US" sz="2000" noProof="0" dirty="0"/>
              <a:t>The work was commissioned to CISNET (Cancer Intervention and Surveillance Modeling Network)—a consortium of decision scientists, epidemiologists, and health economists from the U.S., Europe, and Australia.</a:t>
            </a:r>
          </a:p>
          <a:p>
            <a:pPr lvl="1">
              <a:lnSpc>
                <a:spcPct val="100000"/>
              </a:lnSpc>
              <a:spcBef>
                <a:spcPts val="0"/>
              </a:spcBef>
            </a:pPr>
            <a:endParaRPr lang="en-US" sz="2000" noProof="0" dirty="0"/>
          </a:p>
          <a:p>
            <a:pPr lvl="1">
              <a:lnSpc>
                <a:spcPct val="100000"/>
              </a:lnSpc>
              <a:spcBef>
                <a:spcPts val="0"/>
              </a:spcBef>
            </a:pPr>
            <a:r>
              <a:rPr lang="en-US" sz="2000" noProof="0" dirty="0"/>
              <a:t>Age-specific screening guidelines were developed by integrating simulation results with evidence from systematic reviews.</a:t>
            </a:r>
          </a:p>
        </p:txBody>
      </p:sp>
      <p:sp>
        <p:nvSpPr>
          <p:cNvPr id="4" name="Slide Number Placeholder 3">
            <a:extLst>
              <a:ext uri="{FF2B5EF4-FFF2-40B4-BE49-F238E27FC236}">
                <a16:creationId xmlns:a16="http://schemas.microsoft.com/office/drawing/2014/main" id="{8B9D293F-48AA-6BE1-D12E-5AC29D66AF00}"/>
              </a:ext>
            </a:extLst>
          </p:cNvPr>
          <p:cNvSpPr>
            <a:spLocks noGrp="1"/>
          </p:cNvSpPr>
          <p:nvPr>
            <p:ph type="sldNum" sz="quarter" idx="4"/>
          </p:nvPr>
        </p:nvSpPr>
        <p:spPr/>
        <p:txBody>
          <a:bodyPr/>
          <a:lstStyle/>
          <a:p>
            <a:fld id="{B5CEABB6-07DC-46E8-9B57-56EC44A396E5}" type="slidenum">
              <a:rPr lang="en-US" noProof="0" smtClean="0"/>
              <a:pPr/>
              <a:t>58</a:t>
            </a:fld>
            <a:endParaRPr lang="en-US" noProof="0" dirty="0"/>
          </a:p>
        </p:txBody>
      </p:sp>
      <p:sp>
        <p:nvSpPr>
          <p:cNvPr id="5" name="Table Placeholder 4">
            <a:extLst>
              <a:ext uri="{FF2B5EF4-FFF2-40B4-BE49-F238E27FC236}">
                <a16:creationId xmlns:a16="http://schemas.microsoft.com/office/drawing/2014/main" id="{5B2165A4-D232-E2E7-416C-6A40DF1F57BF}"/>
              </a:ext>
            </a:extLst>
          </p:cNvPr>
          <p:cNvSpPr>
            <a:spLocks noGrp="1"/>
          </p:cNvSpPr>
          <p:nvPr>
            <p:ph type="tbl" sz="quarter" idx="11"/>
          </p:nvPr>
        </p:nvSpPr>
        <p:spPr/>
        <p:txBody>
          <a:bodyPr/>
          <a:lstStyle/>
          <a:p>
            <a:r>
              <a:rPr lang="en-US" noProof="0" dirty="0"/>
              <a:t>Examples that contributed to the development and updating of national screening and treatment guidelines.</a:t>
            </a:r>
          </a:p>
        </p:txBody>
      </p:sp>
      <p:sp>
        <p:nvSpPr>
          <p:cNvPr id="11" name="TextBox 10">
            <a:extLst>
              <a:ext uri="{FF2B5EF4-FFF2-40B4-BE49-F238E27FC236}">
                <a16:creationId xmlns:a16="http://schemas.microsoft.com/office/drawing/2014/main" id="{2104FBDA-EA33-7D5E-9DAD-19A319B08DB5}"/>
              </a:ext>
            </a:extLst>
          </p:cNvPr>
          <p:cNvSpPr txBox="1"/>
          <p:nvPr/>
        </p:nvSpPr>
        <p:spPr>
          <a:xfrm>
            <a:off x="1352810" y="6422959"/>
            <a:ext cx="10335605" cy="461665"/>
          </a:xfrm>
          <a:prstGeom prst="rect">
            <a:avLst/>
          </a:prstGeom>
          <a:noFill/>
        </p:spPr>
        <p:txBody>
          <a:bodyPr wrap="square">
            <a:spAutoFit/>
          </a:bodyPr>
          <a:lstStyle/>
          <a:p>
            <a:r>
              <a:rPr lang="en-US" sz="1200" noProof="0" dirty="0">
                <a:latin typeface="Arial" panose="020B0604020202020204" pitchFamily="34" charset="0"/>
                <a:ea typeface="Meiryo" panose="020B0604030504040204" pitchFamily="34" charset="-128"/>
                <a:cs typeface="Arial" panose="020B0604020202020204" pitchFamily="34" charset="0"/>
              </a:rPr>
              <a:t>US Preventive Services Task Force. Screening for Colorectal Cancer: US Preventive Services Task Force Recommendation Statement. JAMA. 2021;325(19):1965–1977. doi:10.1001/jama.2021.6238</a:t>
            </a:r>
          </a:p>
        </p:txBody>
      </p:sp>
      <p:grpSp>
        <p:nvGrpSpPr>
          <p:cNvPr id="10" name="Group 9">
            <a:extLst>
              <a:ext uri="{FF2B5EF4-FFF2-40B4-BE49-F238E27FC236}">
                <a16:creationId xmlns:a16="http://schemas.microsoft.com/office/drawing/2014/main" id="{8CCF5E8D-1CF5-2582-2B7A-6039D1B47720}"/>
              </a:ext>
            </a:extLst>
          </p:cNvPr>
          <p:cNvGrpSpPr/>
          <p:nvPr/>
        </p:nvGrpSpPr>
        <p:grpSpPr>
          <a:xfrm>
            <a:off x="467139" y="108959"/>
            <a:ext cx="4197304" cy="307297"/>
            <a:chOff x="562270" y="127168"/>
            <a:chExt cx="4197304" cy="307297"/>
          </a:xfrm>
        </p:grpSpPr>
        <p:sp>
          <p:nvSpPr>
            <p:cNvPr id="12" name="Arrow: Pentagon 11">
              <a:extLst>
                <a:ext uri="{FF2B5EF4-FFF2-40B4-BE49-F238E27FC236}">
                  <a16:creationId xmlns:a16="http://schemas.microsoft.com/office/drawing/2014/main" id="{94FC1785-B8C1-9EC9-AD8B-56B8F4FF3AB3}"/>
                </a:ext>
              </a:extLst>
            </p:cNvPr>
            <p:cNvSpPr/>
            <p:nvPr/>
          </p:nvSpPr>
          <p:spPr>
            <a:xfrm>
              <a:off x="3192565"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3" name="Arrow: Pentagon 12">
              <a:extLst>
                <a:ext uri="{FF2B5EF4-FFF2-40B4-BE49-F238E27FC236}">
                  <a16:creationId xmlns:a16="http://schemas.microsoft.com/office/drawing/2014/main" id="{AADB81D8-DA0F-2247-7083-25A980944782}"/>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4" name="Arrow: Pentagon 13">
              <a:extLst>
                <a:ext uri="{FF2B5EF4-FFF2-40B4-BE49-F238E27FC236}">
                  <a16:creationId xmlns:a16="http://schemas.microsoft.com/office/drawing/2014/main" id="{5D951D85-8384-E409-D9E3-8AB12391B88B}"/>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18533059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EA36F-91DD-801C-3E8C-CAF370E51B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9C0C27-FD3C-A8E9-96AE-1400C795AE9A}"/>
              </a:ext>
            </a:extLst>
          </p:cNvPr>
          <p:cNvSpPr>
            <a:spLocks noGrp="1"/>
          </p:cNvSpPr>
          <p:nvPr>
            <p:ph type="title"/>
          </p:nvPr>
        </p:nvSpPr>
        <p:spPr/>
        <p:txBody>
          <a:bodyPr/>
          <a:lstStyle/>
          <a:p>
            <a:r>
              <a:rPr lang="en-US" noProof="0" dirty="0"/>
              <a:t>Use Cases in Healthcare</a:t>
            </a:r>
          </a:p>
        </p:txBody>
      </p:sp>
      <p:sp>
        <p:nvSpPr>
          <p:cNvPr id="3" name="Table Placeholder 2">
            <a:extLst>
              <a:ext uri="{FF2B5EF4-FFF2-40B4-BE49-F238E27FC236}">
                <a16:creationId xmlns:a16="http://schemas.microsoft.com/office/drawing/2014/main" id="{FBA2FB5C-B7A2-3826-EFE5-565889F864C8}"/>
              </a:ext>
            </a:extLst>
          </p:cNvPr>
          <p:cNvSpPr>
            <a:spLocks noGrp="1"/>
          </p:cNvSpPr>
          <p:nvPr>
            <p:ph type="tbl" sz="quarter" idx="10"/>
          </p:nvPr>
        </p:nvSpPr>
        <p:spPr>
          <a:xfrm>
            <a:off x="467138" y="1938131"/>
            <a:ext cx="11420061" cy="4622672"/>
          </a:xfrm>
        </p:spPr>
        <p:txBody>
          <a:bodyPr/>
          <a:lstStyle/>
          <a:p>
            <a:pPr>
              <a:spcBef>
                <a:spcPts val="0"/>
              </a:spcBef>
            </a:pPr>
            <a:r>
              <a:rPr lang="en-US" sz="2000" noProof="0" dirty="0"/>
              <a:t>COVID-19 booster vaccination guidelines (Roper et al., 2024)</a:t>
            </a:r>
          </a:p>
          <a:p>
            <a:pPr lvl="1">
              <a:lnSpc>
                <a:spcPct val="100000"/>
              </a:lnSpc>
              <a:spcBef>
                <a:spcPts val="0"/>
              </a:spcBef>
            </a:pPr>
            <a:r>
              <a:rPr lang="en-US" sz="2000" noProof="0" dirty="0"/>
              <a:t>Advisory Committee on Immunization Practices (ACIP)</a:t>
            </a:r>
          </a:p>
          <a:p>
            <a:pPr lvl="2">
              <a:lnSpc>
                <a:spcPct val="100000"/>
              </a:lnSpc>
              <a:spcBef>
                <a:spcPts val="0"/>
              </a:spcBef>
            </a:pPr>
            <a:r>
              <a:rPr lang="en-US" sz="1800" noProof="0" dirty="0"/>
              <a:t>A committee within the CDC that provides recommendations on vaccine use for the U.S. population</a:t>
            </a:r>
          </a:p>
          <a:p>
            <a:pPr lvl="2">
              <a:lnSpc>
                <a:spcPct val="100000"/>
              </a:lnSpc>
              <a:spcBef>
                <a:spcPts val="0"/>
              </a:spcBef>
            </a:pPr>
            <a:endParaRPr lang="en-US" sz="1800" noProof="0" dirty="0"/>
          </a:p>
          <a:p>
            <a:pPr lvl="1">
              <a:lnSpc>
                <a:spcPct val="100000"/>
              </a:lnSpc>
              <a:spcBef>
                <a:spcPts val="0"/>
              </a:spcBef>
            </a:pPr>
            <a:r>
              <a:rPr lang="en-US" sz="2000" noProof="0" dirty="0"/>
              <a:t>Conducted analyses to identify recommended target groups for booster vaccination in the 2024–2025 season.</a:t>
            </a:r>
          </a:p>
          <a:p>
            <a:pPr lvl="1">
              <a:lnSpc>
                <a:spcPct val="100000"/>
              </a:lnSpc>
              <a:spcBef>
                <a:spcPts val="0"/>
              </a:spcBef>
            </a:pPr>
            <a:endParaRPr lang="en-US" sz="2000" noProof="0" dirty="0"/>
          </a:p>
          <a:p>
            <a:pPr lvl="1">
              <a:lnSpc>
                <a:spcPct val="100000"/>
              </a:lnSpc>
              <a:spcBef>
                <a:spcPts val="0"/>
              </a:spcBef>
            </a:pPr>
            <a:r>
              <a:rPr lang="en-US" sz="2000" noProof="0" dirty="0"/>
              <a:t>In collaboration with the University of Michigan, simulation-based cost-effectiveness analyses were performed comparing two booster doses, one booster dose, no booster, evaluating clinical outcomes (number of infections, hospitalizations, deaths, and adverse events) and costs.</a:t>
            </a:r>
          </a:p>
          <a:p>
            <a:pPr lvl="1">
              <a:lnSpc>
                <a:spcPct val="100000"/>
              </a:lnSpc>
              <a:spcBef>
                <a:spcPts val="0"/>
              </a:spcBef>
            </a:pPr>
            <a:endParaRPr lang="en-US" sz="2000" noProof="0" dirty="0"/>
          </a:p>
          <a:p>
            <a:pPr lvl="1">
              <a:lnSpc>
                <a:spcPct val="100000"/>
              </a:lnSpc>
              <a:spcBef>
                <a:spcPts val="0"/>
              </a:spcBef>
            </a:pPr>
            <a:r>
              <a:rPr lang="en-US" sz="2000" noProof="0" dirty="0"/>
              <a:t>Recommendations for booster vaccination in older adults for 2024–2025 were informed by analyses of vaccine effectiveness using data from hospitals nationwide and the Medicare database, and Safety analyses based on systematic literature reviews.</a:t>
            </a:r>
          </a:p>
        </p:txBody>
      </p:sp>
      <p:sp>
        <p:nvSpPr>
          <p:cNvPr id="4" name="Slide Number Placeholder 3">
            <a:extLst>
              <a:ext uri="{FF2B5EF4-FFF2-40B4-BE49-F238E27FC236}">
                <a16:creationId xmlns:a16="http://schemas.microsoft.com/office/drawing/2014/main" id="{78B6CE73-88F1-6E93-786D-C63C87D6CB5C}"/>
              </a:ext>
            </a:extLst>
          </p:cNvPr>
          <p:cNvSpPr>
            <a:spLocks noGrp="1"/>
          </p:cNvSpPr>
          <p:nvPr>
            <p:ph type="sldNum" sz="quarter" idx="4"/>
          </p:nvPr>
        </p:nvSpPr>
        <p:spPr/>
        <p:txBody>
          <a:bodyPr/>
          <a:lstStyle/>
          <a:p>
            <a:fld id="{B5CEABB6-07DC-46E8-9B57-56EC44A396E5}" type="slidenum">
              <a:rPr lang="en-US" noProof="0" smtClean="0"/>
              <a:pPr/>
              <a:t>59</a:t>
            </a:fld>
            <a:endParaRPr lang="en-US" noProof="0" dirty="0"/>
          </a:p>
        </p:txBody>
      </p:sp>
      <p:sp>
        <p:nvSpPr>
          <p:cNvPr id="5" name="Table Placeholder 4">
            <a:extLst>
              <a:ext uri="{FF2B5EF4-FFF2-40B4-BE49-F238E27FC236}">
                <a16:creationId xmlns:a16="http://schemas.microsoft.com/office/drawing/2014/main" id="{68A4AC77-8090-2B82-D496-B933DB24AEDD}"/>
              </a:ext>
            </a:extLst>
          </p:cNvPr>
          <p:cNvSpPr>
            <a:spLocks noGrp="1"/>
          </p:cNvSpPr>
          <p:nvPr>
            <p:ph type="tbl" sz="quarter" idx="11"/>
          </p:nvPr>
        </p:nvSpPr>
        <p:spPr/>
        <p:txBody>
          <a:bodyPr/>
          <a:lstStyle/>
          <a:p>
            <a:r>
              <a:rPr lang="en-US" noProof="0" dirty="0"/>
              <a:t>Examples that contributed to the development and updating of national screening and treatment guidelines.</a:t>
            </a:r>
          </a:p>
        </p:txBody>
      </p:sp>
      <p:sp>
        <p:nvSpPr>
          <p:cNvPr id="11" name="TextBox 10">
            <a:extLst>
              <a:ext uri="{FF2B5EF4-FFF2-40B4-BE49-F238E27FC236}">
                <a16:creationId xmlns:a16="http://schemas.microsoft.com/office/drawing/2014/main" id="{C07D377D-D1D4-FCD2-70D4-AC31C2474AD7}"/>
              </a:ext>
            </a:extLst>
          </p:cNvPr>
          <p:cNvSpPr txBox="1"/>
          <p:nvPr/>
        </p:nvSpPr>
        <p:spPr>
          <a:xfrm>
            <a:off x="350729" y="6211920"/>
            <a:ext cx="11279687" cy="646331"/>
          </a:xfrm>
          <a:prstGeom prst="rect">
            <a:avLst/>
          </a:prstGeom>
          <a:solidFill>
            <a:schemeClr val="bg1"/>
          </a:solidFill>
        </p:spPr>
        <p:txBody>
          <a:bodyPr wrap="square">
            <a:spAutoFit/>
          </a:bodyPr>
          <a:lstStyle/>
          <a:p>
            <a:r>
              <a:rPr lang="en-US" sz="1200" noProof="0" dirty="0">
                <a:latin typeface="Arial" panose="020B0604020202020204" pitchFamily="34" charset="0"/>
                <a:ea typeface="Meiryo" panose="020B0604030504040204" pitchFamily="34" charset="-128"/>
                <a:cs typeface="Arial" panose="020B0604020202020204" pitchFamily="34" charset="0"/>
              </a:rPr>
              <a:t>Roper LE, Godfrey M, Link-Gelles R, et al. Use of Additional Doses of 2024–2025 COVID-19 Vaccine for Adults Aged ≥65 Years and Persons Aged ≥6 Months with Moderate or Severe Immunocompromise: Recommendations of the Advisory Committee on Immunization Practices—United States, 2024. MMWR </a:t>
            </a:r>
            <a:r>
              <a:rPr lang="en-US" sz="1200" noProof="0" dirty="0" err="1">
                <a:latin typeface="Arial" panose="020B0604020202020204" pitchFamily="34" charset="0"/>
                <a:ea typeface="Meiryo" panose="020B0604030504040204" pitchFamily="34" charset="-128"/>
                <a:cs typeface="Arial" panose="020B0604020202020204" pitchFamily="34" charset="0"/>
              </a:rPr>
              <a:t>Morb</a:t>
            </a:r>
            <a:r>
              <a:rPr lang="en-US" sz="1200" noProof="0" dirty="0">
                <a:latin typeface="Arial" panose="020B0604020202020204" pitchFamily="34" charset="0"/>
                <a:ea typeface="Meiryo" panose="020B0604030504040204" pitchFamily="34" charset="-128"/>
                <a:cs typeface="Arial" panose="020B0604020202020204" pitchFamily="34" charset="0"/>
              </a:rPr>
              <a:t> Mortal </a:t>
            </a:r>
            <a:r>
              <a:rPr lang="en-US" sz="1200" noProof="0" dirty="0" err="1">
                <a:latin typeface="Arial" panose="020B0604020202020204" pitchFamily="34" charset="0"/>
                <a:ea typeface="Meiryo" panose="020B0604030504040204" pitchFamily="34" charset="-128"/>
                <a:cs typeface="Arial" panose="020B0604020202020204" pitchFamily="34" charset="0"/>
              </a:rPr>
              <a:t>Wkly</a:t>
            </a:r>
            <a:r>
              <a:rPr lang="en-US" sz="1200" noProof="0" dirty="0">
                <a:latin typeface="Arial" panose="020B0604020202020204" pitchFamily="34" charset="0"/>
                <a:ea typeface="Meiryo" panose="020B0604030504040204" pitchFamily="34" charset="-128"/>
                <a:cs typeface="Arial" panose="020B0604020202020204" pitchFamily="34" charset="0"/>
              </a:rPr>
              <a:t> Rep 2024;73:1118–1123. DOI: http://dx.doi.org/10.15585/mmwr.mm7349a2</a:t>
            </a:r>
          </a:p>
        </p:txBody>
      </p:sp>
      <p:grpSp>
        <p:nvGrpSpPr>
          <p:cNvPr id="10" name="Group 9">
            <a:extLst>
              <a:ext uri="{FF2B5EF4-FFF2-40B4-BE49-F238E27FC236}">
                <a16:creationId xmlns:a16="http://schemas.microsoft.com/office/drawing/2014/main" id="{BBB18C95-46FF-4F02-4BD5-D2955134E27B}"/>
              </a:ext>
            </a:extLst>
          </p:cNvPr>
          <p:cNvGrpSpPr/>
          <p:nvPr/>
        </p:nvGrpSpPr>
        <p:grpSpPr>
          <a:xfrm>
            <a:off x="467139" y="108959"/>
            <a:ext cx="4197304" cy="307297"/>
            <a:chOff x="562270" y="127168"/>
            <a:chExt cx="4197304" cy="307297"/>
          </a:xfrm>
        </p:grpSpPr>
        <p:sp>
          <p:nvSpPr>
            <p:cNvPr id="12" name="Arrow: Pentagon 11">
              <a:extLst>
                <a:ext uri="{FF2B5EF4-FFF2-40B4-BE49-F238E27FC236}">
                  <a16:creationId xmlns:a16="http://schemas.microsoft.com/office/drawing/2014/main" id="{8EA0106B-4685-551C-6F09-E9473DF6F62C}"/>
                </a:ext>
              </a:extLst>
            </p:cNvPr>
            <p:cNvSpPr/>
            <p:nvPr/>
          </p:nvSpPr>
          <p:spPr>
            <a:xfrm>
              <a:off x="3192565"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3" name="Arrow: Pentagon 12">
              <a:extLst>
                <a:ext uri="{FF2B5EF4-FFF2-40B4-BE49-F238E27FC236}">
                  <a16:creationId xmlns:a16="http://schemas.microsoft.com/office/drawing/2014/main" id="{CBD7E447-F4BD-6E77-D7C5-0D011FE06FA4}"/>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4" name="Arrow: Pentagon 13">
              <a:extLst>
                <a:ext uri="{FF2B5EF4-FFF2-40B4-BE49-F238E27FC236}">
                  <a16:creationId xmlns:a16="http://schemas.microsoft.com/office/drawing/2014/main" id="{65439217-8FC7-AAE9-D085-DFFB3B2FE627}"/>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41954236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B78BA-538C-1521-D9EA-46D77D72A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6653F5-0B1D-D3E5-D914-E8634E50A6D2}"/>
              </a:ext>
            </a:extLst>
          </p:cNvPr>
          <p:cNvSpPr>
            <a:spLocks noGrp="1"/>
          </p:cNvSpPr>
          <p:nvPr>
            <p:ph type="title"/>
          </p:nvPr>
        </p:nvSpPr>
        <p:spPr/>
        <p:txBody>
          <a:bodyPr/>
          <a:lstStyle/>
          <a:p>
            <a:r>
              <a:rPr lang="en-US" noProof="0" dirty="0"/>
              <a:t>Use Case in Health Insurance Systems</a:t>
            </a:r>
          </a:p>
        </p:txBody>
      </p:sp>
      <p:sp>
        <p:nvSpPr>
          <p:cNvPr id="4" name="Slide Number Placeholder 3">
            <a:extLst>
              <a:ext uri="{FF2B5EF4-FFF2-40B4-BE49-F238E27FC236}">
                <a16:creationId xmlns:a16="http://schemas.microsoft.com/office/drawing/2014/main" id="{3C9DD5E7-D2B1-AFA8-2E30-AFC87ADE4410}"/>
              </a:ext>
            </a:extLst>
          </p:cNvPr>
          <p:cNvSpPr>
            <a:spLocks noGrp="1"/>
          </p:cNvSpPr>
          <p:nvPr>
            <p:ph type="sldNum" sz="quarter" idx="4"/>
          </p:nvPr>
        </p:nvSpPr>
        <p:spPr/>
        <p:txBody>
          <a:bodyPr/>
          <a:lstStyle/>
          <a:p>
            <a:fld id="{B5CEABB6-07DC-46E8-9B57-56EC44A396E5}" type="slidenum">
              <a:rPr lang="en-US" noProof="0" smtClean="0"/>
              <a:pPr/>
              <a:t>60</a:t>
            </a:fld>
            <a:endParaRPr lang="en-US" noProof="0" dirty="0"/>
          </a:p>
        </p:txBody>
      </p:sp>
      <p:sp>
        <p:nvSpPr>
          <p:cNvPr id="5" name="Table Placeholder 4">
            <a:extLst>
              <a:ext uri="{FF2B5EF4-FFF2-40B4-BE49-F238E27FC236}">
                <a16:creationId xmlns:a16="http://schemas.microsoft.com/office/drawing/2014/main" id="{9AF70F6F-C17C-8771-4B89-975B8C1E0AA7}"/>
              </a:ext>
            </a:extLst>
          </p:cNvPr>
          <p:cNvSpPr>
            <a:spLocks noGrp="1"/>
          </p:cNvSpPr>
          <p:nvPr>
            <p:ph type="tbl" sz="quarter" idx="11"/>
          </p:nvPr>
        </p:nvSpPr>
        <p:spPr/>
        <p:txBody>
          <a:bodyPr/>
          <a:lstStyle/>
          <a:p>
            <a:r>
              <a:rPr lang="en-US" noProof="0" dirty="0"/>
              <a:t>In Japan, prices of prescription drugs covered by public health insurance are set by the Ministry of Health, </a:t>
            </a:r>
            <a:r>
              <a:rPr lang="en-US" noProof="0" dirty="0" err="1"/>
              <a:t>Labour</a:t>
            </a:r>
            <a:r>
              <a:rPr lang="en-US" noProof="0" dirty="0"/>
              <a:t> and Welfare (MHLW) and are regularly revised.</a:t>
            </a:r>
          </a:p>
        </p:txBody>
      </p:sp>
      <p:pic>
        <p:nvPicPr>
          <p:cNvPr id="1026" name="Picture 2">
            <a:extLst>
              <a:ext uri="{FF2B5EF4-FFF2-40B4-BE49-F238E27FC236}">
                <a16:creationId xmlns:a16="http://schemas.microsoft.com/office/drawing/2014/main" id="{00B53515-E448-196E-A4AE-83371EDB3B65}"/>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2082800" y="2690169"/>
            <a:ext cx="7620000" cy="317182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110BE473-1E89-DC91-FBE4-DE05E18222AF}"/>
              </a:ext>
            </a:extLst>
          </p:cNvPr>
          <p:cNvSpPr txBox="1"/>
          <p:nvPr/>
        </p:nvSpPr>
        <p:spPr>
          <a:xfrm>
            <a:off x="487460" y="6194659"/>
            <a:ext cx="11219688" cy="461665"/>
          </a:xfrm>
          <a:prstGeom prst="rect">
            <a:avLst/>
          </a:prstGeom>
          <a:noFill/>
        </p:spPr>
        <p:txBody>
          <a:bodyPr wrap="square">
            <a:spAutoFit/>
          </a:bodyPr>
          <a:lstStyle/>
          <a:p>
            <a:r>
              <a:rPr lang="en-US" sz="1200" noProof="0" dirty="0" err="1">
                <a:latin typeface="Arial" panose="020B0604020202020204" pitchFamily="34" charset="0"/>
                <a:ea typeface="Meiryo" panose="020B0604030504040204" pitchFamily="34" charset="-128"/>
                <a:cs typeface="Arial" panose="020B0604020202020204" pitchFamily="34" charset="0"/>
              </a:rPr>
              <a:t>アメブロ：処方箋の薬、同じ薬でもコストコの調剤薬局が激安</a:t>
            </a:r>
            <a:r>
              <a:rPr lang="en-US" sz="1200" noProof="0" dirty="0">
                <a:latin typeface="Arial" panose="020B0604020202020204" pitchFamily="34" charset="0"/>
                <a:ea typeface="Meiryo" panose="020B0604030504040204" pitchFamily="34" charset="-128"/>
                <a:cs typeface="Arial" panose="020B0604020202020204" pitchFamily="34" charset="0"/>
              </a:rPr>
              <a:t> | </a:t>
            </a:r>
            <a:r>
              <a:rPr lang="en-US" sz="1200" noProof="0" dirty="0" err="1">
                <a:latin typeface="Arial" panose="020B0604020202020204" pitchFamily="34" charset="0"/>
                <a:ea typeface="Meiryo" panose="020B0604030504040204" pitchFamily="34" charset="-128"/>
                <a:cs typeface="Arial" panose="020B0604020202020204" pitchFamily="34" charset="0"/>
              </a:rPr>
              <a:t>栄養士ママそっち～の簡単美味しいサイクル献立</a:t>
            </a:r>
            <a:r>
              <a:rPr lang="en-US" sz="1200" noProof="0" dirty="0">
                <a:latin typeface="Arial" panose="020B0604020202020204" pitchFamily="34" charset="0"/>
                <a:ea typeface="Meiryo" panose="020B0604030504040204" pitchFamily="34" charset="-128"/>
                <a:cs typeface="Arial" panose="020B0604020202020204" pitchFamily="34" charset="0"/>
              </a:rPr>
              <a:t> </a:t>
            </a:r>
            <a:r>
              <a:rPr lang="en-US" sz="1200" noProof="0" dirty="0">
                <a:latin typeface="Arial" panose="020B0604020202020204" pitchFamily="34" charset="0"/>
                <a:ea typeface="Meiryo" panose="020B0604030504040204" pitchFamily="34" charset="-128"/>
                <a:cs typeface="Arial" panose="020B0604020202020204" pitchFamily="34" charset="0"/>
                <a:hlinkClick r:id="rId5"/>
              </a:rPr>
              <a:t>https://ameblo.jp/socchidiary/entry-12687858014.html</a:t>
            </a:r>
            <a:endParaRPr lang="en-US" sz="1200" noProof="0" dirty="0">
              <a:latin typeface="Arial" panose="020B0604020202020204" pitchFamily="34" charset="0"/>
              <a:ea typeface="Meiryo" panose="020B0604030504040204" pitchFamily="34" charset="-128"/>
              <a:cs typeface="Arial" panose="020B0604020202020204" pitchFamily="34" charset="0"/>
            </a:endParaRPr>
          </a:p>
        </p:txBody>
      </p:sp>
      <p:sp>
        <p:nvSpPr>
          <p:cNvPr id="15" name="Rectangle: Rounded Corners 14">
            <a:extLst>
              <a:ext uri="{FF2B5EF4-FFF2-40B4-BE49-F238E27FC236}">
                <a16:creationId xmlns:a16="http://schemas.microsoft.com/office/drawing/2014/main" id="{2C5A6104-D407-52E5-6EC8-5EB4FE6515CD}"/>
              </a:ext>
            </a:extLst>
          </p:cNvPr>
          <p:cNvSpPr/>
          <p:nvPr/>
        </p:nvSpPr>
        <p:spPr>
          <a:xfrm>
            <a:off x="7970520" y="3920754"/>
            <a:ext cx="843280" cy="416560"/>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panose="020B0604030504040204" pitchFamily="34" charset="-128"/>
              <a:cs typeface="Arial" panose="020B0604020202020204" pitchFamily="34" charset="0"/>
            </a:endParaRPr>
          </a:p>
        </p:txBody>
      </p:sp>
      <p:sp>
        <p:nvSpPr>
          <p:cNvPr id="17" name="TextBox 16">
            <a:extLst>
              <a:ext uri="{FF2B5EF4-FFF2-40B4-BE49-F238E27FC236}">
                <a16:creationId xmlns:a16="http://schemas.microsoft.com/office/drawing/2014/main" id="{12A26319-AF2B-92F5-FB07-68A0757C5E6C}"/>
              </a:ext>
            </a:extLst>
          </p:cNvPr>
          <p:cNvSpPr txBox="1"/>
          <p:nvPr/>
        </p:nvSpPr>
        <p:spPr>
          <a:xfrm>
            <a:off x="9794125" y="2103424"/>
            <a:ext cx="1726481" cy="1200329"/>
          </a:xfrm>
          <a:prstGeom prst="rect">
            <a:avLst/>
          </a:prstGeom>
          <a:noFill/>
        </p:spPr>
        <p:txBody>
          <a:bodyPr wrap="square">
            <a:spAutoFit/>
          </a:bodyPr>
          <a:lstStyle/>
          <a:p>
            <a:pPr algn="ctr"/>
            <a:r>
              <a:rPr lang="en-US" noProof="0" dirty="0">
                <a:latin typeface="Arial" panose="020B0604020202020204" pitchFamily="34" charset="0"/>
                <a:ea typeface="Meiryo" panose="020B0604030504040204" pitchFamily="34" charset="-128"/>
                <a:cs typeface="Arial" panose="020B0604020202020204" pitchFamily="34" charset="0"/>
              </a:rPr>
              <a:t>List of drugs listed in the official drug price schedule</a:t>
            </a:r>
          </a:p>
        </p:txBody>
      </p:sp>
      <p:pic>
        <p:nvPicPr>
          <p:cNvPr id="19" name="Picture 18" descr="A black background with a black square&#10;&#10;AI-generated content may be incorrect.">
            <a:extLst>
              <a:ext uri="{FF2B5EF4-FFF2-40B4-BE49-F238E27FC236}">
                <a16:creationId xmlns:a16="http://schemas.microsoft.com/office/drawing/2014/main" id="{F2CA8B97-0E0F-91E2-FAC9-F26E555139B4}"/>
              </a:ext>
            </a:extLst>
          </p:cNvPr>
          <p:cNvPicPr>
            <a:picLocks noChangeAspect="1"/>
          </p:cNvPicPr>
          <p:nvPr/>
        </p:nvPicPr>
        <p:blipFill>
          <a:blip r:embed="rId6"/>
          <a:stretch>
            <a:fillRect/>
          </a:stretch>
        </p:blipFill>
        <p:spPr>
          <a:xfrm>
            <a:off x="9950950" y="3370491"/>
            <a:ext cx="1412832" cy="1412832"/>
          </a:xfrm>
          <a:prstGeom prst="rect">
            <a:avLst/>
          </a:prstGeom>
        </p:spPr>
      </p:pic>
      <p:cxnSp>
        <p:nvCxnSpPr>
          <p:cNvPr id="21" name="Straight Arrow Connector 20">
            <a:extLst>
              <a:ext uri="{FF2B5EF4-FFF2-40B4-BE49-F238E27FC236}">
                <a16:creationId xmlns:a16="http://schemas.microsoft.com/office/drawing/2014/main" id="{7914880E-BD72-DAFB-B5D7-B8411718C58E}"/>
              </a:ext>
            </a:extLst>
          </p:cNvPr>
          <p:cNvCxnSpPr>
            <a:cxnSpLocks/>
            <a:stCxn id="19" idx="1"/>
            <a:endCxn id="15" idx="3"/>
          </p:cNvCxnSpPr>
          <p:nvPr/>
        </p:nvCxnSpPr>
        <p:spPr>
          <a:xfrm flipH="1">
            <a:off x="8813800" y="4076907"/>
            <a:ext cx="1137150" cy="52127"/>
          </a:xfrm>
          <a:prstGeom prst="straightConnector1">
            <a:avLst/>
          </a:prstGeom>
          <a:ln w="571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FA78F36-236D-B0DC-02EB-B23BD7509390}"/>
              </a:ext>
            </a:extLst>
          </p:cNvPr>
          <p:cNvSpPr txBox="1"/>
          <p:nvPr/>
        </p:nvSpPr>
        <p:spPr>
          <a:xfrm>
            <a:off x="3453927" y="2369878"/>
            <a:ext cx="4877747" cy="400110"/>
          </a:xfrm>
          <a:prstGeom prst="rect">
            <a:avLst/>
          </a:prstGeom>
          <a:noFill/>
        </p:spPr>
        <p:txBody>
          <a:bodyPr wrap="square">
            <a:spAutoFit/>
          </a:bodyPr>
          <a:lstStyle/>
          <a:p>
            <a:pPr algn="ctr"/>
            <a:r>
              <a:rPr lang="en-US" sz="2000" noProof="0" dirty="0">
                <a:latin typeface="Arial" panose="020B0604020202020204" pitchFamily="34" charset="0"/>
                <a:ea typeface="Meiryo" panose="020B0604030504040204" pitchFamily="34" charset="-128"/>
                <a:cs typeface="Arial" panose="020B0604020202020204" pitchFamily="34" charset="0"/>
              </a:rPr>
              <a:t>Example of a dispensing statement</a:t>
            </a:r>
          </a:p>
        </p:txBody>
      </p:sp>
      <p:pic>
        <p:nvPicPr>
          <p:cNvPr id="24" name="Picture 23" descr="A person in a dark room&#10;&#10;AI-generated content may be incorrect.">
            <a:extLst>
              <a:ext uri="{FF2B5EF4-FFF2-40B4-BE49-F238E27FC236}">
                <a16:creationId xmlns:a16="http://schemas.microsoft.com/office/drawing/2014/main" id="{5FFD1E11-BB90-0790-BDDC-006D434614C1}"/>
              </a:ext>
            </a:extLst>
          </p:cNvPr>
          <p:cNvPicPr>
            <a:picLocks noChangeAspect="1"/>
          </p:cNvPicPr>
          <p:nvPr/>
        </p:nvPicPr>
        <p:blipFill>
          <a:blip r:embed="rId7"/>
          <a:stretch>
            <a:fillRect/>
          </a:stretch>
        </p:blipFill>
        <p:spPr>
          <a:xfrm>
            <a:off x="382640" y="4086079"/>
            <a:ext cx="1282774" cy="1282774"/>
          </a:xfrm>
          <a:prstGeom prst="rect">
            <a:avLst/>
          </a:prstGeom>
        </p:spPr>
      </p:pic>
      <p:pic>
        <p:nvPicPr>
          <p:cNvPr id="26" name="Picture 25" descr="A black background with a black square&#10;&#10;AI-generated content may be incorrect.">
            <a:extLst>
              <a:ext uri="{FF2B5EF4-FFF2-40B4-BE49-F238E27FC236}">
                <a16:creationId xmlns:a16="http://schemas.microsoft.com/office/drawing/2014/main" id="{7CF42C4F-15E8-D132-03F5-7608A566A499}"/>
              </a:ext>
            </a:extLst>
          </p:cNvPr>
          <p:cNvPicPr>
            <a:picLocks noChangeAspect="1"/>
          </p:cNvPicPr>
          <p:nvPr/>
        </p:nvPicPr>
        <p:blipFill>
          <a:blip r:embed="rId8"/>
          <a:stretch>
            <a:fillRect/>
          </a:stretch>
        </p:blipFill>
        <p:spPr>
          <a:xfrm>
            <a:off x="447852" y="2452796"/>
            <a:ext cx="1245406" cy="1245406"/>
          </a:xfrm>
          <a:prstGeom prst="rect">
            <a:avLst/>
          </a:prstGeom>
        </p:spPr>
      </p:pic>
      <p:pic>
        <p:nvPicPr>
          <p:cNvPr id="30" name="Picture 29" descr="A black background with a black square&#10;&#10;AI-generated content may be incorrect.">
            <a:extLst>
              <a:ext uri="{FF2B5EF4-FFF2-40B4-BE49-F238E27FC236}">
                <a16:creationId xmlns:a16="http://schemas.microsoft.com/office/drawing/2014/main" id="{FC2E6E44-9681-D2A1-33F0-1DCE27655E8D}"/>
              </a:ext>
            </a:extLst>
          </p:cNvPr>
          <p:cNvPicPr>
            <a:picLocks noChangeAspect="1"/>
          </p:cNvPicPr>
          <p:nvPr/>
        </p:nvPicPr>
        <p:blipFill>
          <a:blip r:embed="rId9"/>
          <a:stretch>
            <a:fillRect/>
          </a:stretch>
        </p:blipFill>
        <p:spPr>
          <a:xfrm>
            <a:off x="426260" y="4737291"/>
            <a:ext cx="360750" cy="360750"/>
          </a:xfrm>
          <a:prstGeom prst="rect">
            <a:avLst/>
          </a:prstGeom>
        </p:spPr>
      </p:pic>
      <p:sp>
        <p:nvSpPr>
          <p:cNvPr id="31" name="Rectangle 30">
            <a:extLst>
              <a:ext uri="{FF2B5EF4-FFF2-40B4-BE49-F238E27FC236}">
                <a16:creationId xmlns:a16="http://schemas.microsoft.com/office/drawing/2014/main" id="{A2C5ACFB-0CA0-95C5-9889-083526BF8C1F}"/>
              </a:ext>
            </a:extLst>
          </p:cNvPr>
          <p:cNvSpPr/>
          <p:nvPr/>
        </p:nvSpPr>
        <p:spPr>
          <a:xfrm rot="1645455">
            <a:off x="1269752" y="4545161"/>
            <a:ext cx="179629" cy="313216"/>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33" name="Straight Connector 32">
            <a:extLst>
              <a:ext uri="{FF2B5EF4-FFF2-40B4-BE49-F238E27FC236}">
                <a16:creationId xmlns:a16="http://schemas.microsoft.com/office/drawing/2014/main" id="{15596ACE-5C62-9297-F925-5CC8C7B522D9}"/>
              </a:ext>
            </a:extLst>
          </p:cNvPr>
          <p:cNvCxnSpPr>
            <a:cxnSpLocks/>
          </p:cNvCxnSpPr>
          <p:nvPr/>
        </p:nvCxnSpPr>
        <p:spPr>
          <a:xfrm flipH="1">
            <a:off x="1534634" y="2739210"/>
            <a:ext cx="499514" cy="18235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FC88014-C5B9-741E-CD34-F789D939FB8B}"/>
              </a:ext>
            </a:extLst>
          </p:cNvPr>
          <p:cNvCxnSpPr>
            <a:cxnSpLocks/>
            <a:endCxn id="31" idx="2"/>
          </p:cNvCxnSpPr>
          <p:nvPr/>
        </p:nvCxnSpPr>
        <p:spPr>
          <a:xfrm flipH="1" flipV="1">
            <a:off x="1287437" y="4840778"/>
            <a:ext cx="746711" cy="10212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FC76C558-E253-EAC8-EB72-B3857C8C3E49}"/>
              </a:ext>
            </a:extLst>
          </p:cNvPr>
          <p:cNvGrpSpPr/>
          <p:nvPr/>
        </p:nvGrpSpPr>
        <p:grpSpPr>
          <a:xfrm>
            <a:off x="467139" y="108959"/>
            <a:ext cx="4197304" cy="307297"/>
            <a:chOff x="562270" y="127168"/>
            <a:chExt cx="4197304" cy="307297"/>
          </a:xfrm>
        </p:grpSpPr>
        <p:sp>
          <p:nvSpPr>
            <p:cNvPr id="6" name="Arrow: Pentagon 5">
              <a:extLst>
                <a:ext uri="{FF2B5EF4-FFF2-40B4-BE49-F238E27FC236}">
                  <a16:creationId xmlns:a16="http://schemas.microsoft.com/office/drawing/2014/main" id="{BE18AE60-0783-4B59-56FB-4E41E029CD7F}"/>
                </a:ext>
              </a:extLst>
            </p:cNvPr>
            <p:cNvSpPr/>
            <p:nvPr/>
          </p:nvSpPr>
          <p:spPr>
            <a:xfrm>
              <a:off x="3192565"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7" name="Arrow: Pentagon 6">
              <a:extLst>
                <a:ext uri="{FF2B5EF4-FFF2-40B4-BE49-F238E27FC236}">
                  <a16:creationId xmlns:a16="http://schemas.microsoft.com/office/drawing/2014/main" id="{BD450DCC-00F2-BF34-D765-C590761E27CA}"/>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8" name="Arrow: Pentagon 7">
              <a:extLst>
                <a:ext uri="{FF2B5EF4-FFF2-40B4-BE49-F238E27FC236}">
                  <a16:creationId xmlns:a16="http://schemas.microsoft.com/office/drawing/2014/main" id="{A6E64018-1190-C910-FA06-06DB3DF0A596}"/>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40622581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D5802-6BA4-733D-B772-9E06CABD04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A67A39-4A16-922C-3E3C-17C7AC35234D}"/>
              </a:ext>
            </a:extLst>
          </p:cNvPr>
          <p:cNvSpPr>
            <a:spLocks noGrp="1"/>
          </p:cNvSpPr>
          <p:nvPr>
            <p:ph type="title"/>
          </p:nvPr>
        </p:nvSpPr>
        <p:spPr/>
        <p:txBody>
          <a:bodyPr/>
          <a:lstStyle/>
          <a:p>
            <a:r>
              <a:rPr lang="en-US" noProof="0" dirty="0"/>
              <a:t>Use Case in Health Insurance Systems</a:t>
            </a:r>
          </a:p>
        </p:txBody>
      </p:sp>
      <p:sp>
        <p:nvSpPr>
          <p:cNvPr id="4" name="Slide Number Placeholder 3">
            <a:extLst>
              <a:ext uri="{FF2B5EF4-FFF2-40B4-BE49-F238E27FC236}">
                <a16:creationId xmlns:a16="http://schemas.microsoft.com/office/drawing/2014/main" id="{FFA630F4-6394-4E90-A0A5-D755B6BB2252}"/>
              </a:ext>
            </a:extLst>
          </p:cNvPr>
          <p:cNvSpPr>
            <a:spLocks noGrp="1"/>
          </p:cNvSpPr>
          <p:nvPr>
            <p:ph type="sldNum" sz="quarter" idx="4"/>
          </p:nvPr>
        </p:nvSpPr>
        <p:spPr/>
        <p:txBody>
          <a:bodyPr/>
          <a:lstStyle/>
          <a:p>
            <a:fld id="{B5CEABB6-07DC-46E8-9B57-56EC44A396E5}" type="slidenum">
              <a:rPr lang="en-US" noProof="0" smtClean="0"/>
              <a:pPr/>
              <a:t>61</a:t>
            </a:fld>
            <a:endParaRPr lang="en-US" noProof="0" dirty="0"/>
          </a:p>
        </p:txBody>
      </p:sp>
      <p:sp>
        <p:nvSpPr>
          <p:cNvPr id="5" name="Table Placeholder 4">
            <a:extLst>
              <a:ext uri="{FF2B5EF4-FFF2-40B4-BE49-F238E27FC236}">
                <a16:creationId xmlns:a16="http://schemas.microsoft.com/office/drawing/2014/main" id="{64BD1F72-7C0D-95D9-7C9C-3B888FB59742}"/>
              </a:ext>
            </a:extLst>
          </p:cNvPr>
          <p:cNvSpPr>
            <a:spLocks noGrp="1"/>
          </p:cNvSpPr>
          <p:nvPr>
            <p:ph type="tbl" sz="quarter" idx="11"/>
          </p:nvPr>
        </p:nvSpPr>
        <p:spPr/>
        <p:txBody>
          <a:bodyPr/>
          <a:lstStyle/>
          <a:p>
            <a:r>
              <a:rPr lang="en-US" noProof="0" dirty="0"/>
              <a:t>Since FY2019, cost-effectiveness analysis has been used to adjust prices after insurance listing for selected pharmaceuticals and medical devices.</a:t>
            </a:r>
          </a:p>
        </p:txBody>
      </p:sp>
      <p:sp>
        <p:nvSpPr>
          <p:cNvPr id="11" name="TextBox 10">
            <a:extLst>
              <a:ext uri="{FF2B5EF4-FFF2-40B4-BE49-F238E27FC236}">
                <a16:creationId xmlns:a16="http://schemas.microsoft.com/office/drawing/2014/main" id="{5B2B6771-13B8-C0F5-A368-AA7627FD4614}"/>
              </a:ext>
            </a:extLst>
          </p:cNvPr>
          <p:cNvSpPr txBox="1"/>
          <p:nvPr/>
        </p:nvSpPr>
        <p:spPr>
          <a:xfrm>
            <a:off x="5597993" y="6393808"/>
            <a:ext cx="6088833" cy="369332"/>
          </a:xfrm>
          <a:prstGeom prst="rect">
            <a:avLst/>
          </a:prstGeom>
          <a:noFill/>
        </p:spPr>
        <p:txBody>
          <a:bodyPr wrap="square" lIns="0" tIns="0" rIns="0" bIns="0">
            <a:spAutoFit/>
          </a:bodyPr>
          <a:lstStyle/>
          <a:p>
            <a:r>
              <a:rPr lang="en-US" sz="1200" noProof="0" dirty="0">
                <a:latin typeface="Arial" panose="020B0604020202020204" pitchFamily="34" charset="0"/>
                <a:ea typeface="Meiryo" panose="020B0604030504040204" pitchFamily="34" charset="-128"/>
                <a:cs typeface="Arial" panose="020B0604020202020204" pitchFamily="34" charset="0"/>
              </a:rPr>
              <a:t>Overview of the FY2024 Medical Fee Revision: “Cost-Effectiveness Evaluation System” Health Insurance Bureau, Medical Affairs Division, MHLW</a:t>
            </a:r>
            <a:r>
              <a:rPr lang="en-US" sz="1200" dirty="0">
                <a:latin typeface="Arial" panose="020B0604020202020204" pitchFamily="34" charset="0"/>
                <a:ea typeface="Meiryo" panose="020B0604030504040204" pitchFamily="34" charset="-128"/>
                <a:cs typeface="Arial" panose="020B0604020202020204" pitchFamily="34" charset="0"/>
              </a:rPr>
              <a:t>; </a:t>
            </a:r>
            <a:r>
              <a:rPr lang="en-US" sz="1200" noProof="0" dirty="0">
                <a:latin typeface="Arial" panose="020B0604020202020204" pitchFamily="34" charset="0"/>
                <a:ea typeface="Meiryo" panose="020B0604030504040204" pitchFamily="34" charset="-128"/>
                <a:cs typeface="Arial" panose="020B0604020202020204" pitchFamily="34" charset="0"/>
              </a:rPr>
              <a:t>C2H</a:t>
            </a:r>
          </a:p>
        </p:txBody>
      </p:sp>
      <p:sp>
        <p:nvSpPr>
          <p:cNvPr id="13" name="Table Placeholder 2">
            <a:extLst>
              <a:ext uri="{FF2B5EF4-FFF2-40B4-BE49-F238E27FC236}">
                <a16:creationId xmlns:a16="http://schemas.microsoft.com/office/drawing/2014/main" id="{FD39B94A-55E1-2A82-2B79-DE6FDBC67E98}"/>
              </a:ext>
            </a:extLst>
          </p:cNvPr>
          <p:cNvSpPr>
            <a:spLocks noGrp="1"/>
          </p:cNvSpPr>
          <p:nvPr>
            <p:ph type="tbl" sz="quarter" idx="10"/>
          </p:nvPr>
        </p:nvSpPr>
        <p:spPr>
          <a:xfrm>
            <a:off x="5597994" y="2509520"/>
            <a:ext cx="6126866" cy="3717879"/>
          </a:xfrm>
        </p:spPr>
        <p:txBody>
          <a:bodyPr/>
          <a:lstStyle/>
          <a:p>
            <a:r>
              <a:rPr lang="en-US" sz="1800" noProof="0" dirty="0"/>
              <a:t>Introduced in FY2019 in response to rising healthcare costs due to population aging.</a:t>
            </a:r>
          </a:p>
          <a:p>
            <a:r>
              <a:rPr lang="en-US" sz="1800" noProof="0" dirty="0"/>
              <a:t>Applied only to products with large market size or very high unit prices.</a:t>
            </a:r>
          </a:p>
          <a:p>
            <a:r>
              <a:rPr lang="en-US" sz="1800" noProof="0" dirty="0"/>
              <a:t>Company analyses are reviewed and re-analyzed by C2H with independent experts.</a:t>
            </a:r>
          </a:p>
          <a:p>
            <a:r>
              <a:rPr lang="en-US" sz="1800" noProof="0" dirty="0"/>
              <a:t>After comprehensive assessment, products with poor cost-effectiveness (≥ ¥5 million/QALY) may face price cuts; products contributing to cost savings may receive price increases.</a:t>
            </a:r>
          </a:p>
          <a:p>
            <a:r>
              <a:rPr lang="en-US" sz="1800" noProof="0" dirty="0"/>
              <a:t>Challenge: Limited evaluation capacity—currently about ~10 products per year; workforce development is needed.</a:t>
            </a:r>
          </a:p>
        </p:txBody>
      </p:sp>
      <p:sp>
        <p:nvSpPr>
          <p:cNvPr id="14" name="Rectangle 13">
            <a:extLst>
              <a:ext uri="{FF2B5EF4-FFF2-40B4-BE49-F238E27FC236}">
                <a16:creationId xmlns:a16="http://schemas.microsoft.com/office/drawing/2014/main" id="{A0D94C5F-468D-D4A9-DC1C-B8331535A9C1}"/>
              </a:ext>
            </a:extLst>
          </p:cNvPr>
          <p:cNvSpPr/>
          <p:nvPr/>
        </p:nvSpPr>
        <p:spPr>
          <a:xfrm>
            <a:off x="497656" y="2499360"/>
            <a:ext cx="4990267" cy="32512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sz="1600" noProof="0" dirty="0">
                <a:solidFill>
                  <a:schemeClr val="tx1"/>
                </a:solidFill>
                <a:latin typeface="Arial" panose="020B0604020202020204" pitchFamily="34" charset="0"/>
                <a:ea typeface="Meiryo" panose="020B0604030504040204" pitchFamily="34" charset="-128"/>
                <a:cs typeface="Arial" panose="020B0604020202020204" pitchFamily="34" charset="0"/>
              </a:rPr>
              <a:t>Insurance listing of pharmaceuticals &amp; medical devices</a:t>
            </a:r>
          </a:p>
        </p:txBody>
      </p:sp>
      <p:sp>
        <p:nvSpPr>
          <p:cNvPr id="15" name="Rectangle 14">
            <a:extLst>
              <a:ext uri="{FF2B5EF4-FFF2-40B4-BE49-F238E27FC236}">
                <a16:creationId xmlns:a16="http://schemas.microsoft.com/office/drawing/2014/main" id="{BF9A5B42-3D51-13A2-346D-CA25DC89BF01}"/>
              </a:ext>
            </a:extLst>
          </p:cNvPr>
          <p:cNvSpPr/>
          <p:nvPr/>
        </p:nvSpPr>
        <p:spPr>
          <a:xfrm>
            <a:off x="497656" y="3150825"/>
            <a:ext cx="4990267" cy="32512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r>
              <a:rPr lang="en-US" sz="1600" noProof="0" dirty="0" err="1">
                <a:solidFill>
                  <a:schemeClr val="tx1"/>
                </a:solidFill>
                <a:latin typeface="Arial" panose="020B0604020202020204" pitchFamily="34" charset="0"/>
                <a:ea typeface="Meiryo" panose="020B0604030504040204" pitchFamily="34" charset="-128"/>
                <a:cs typeface="Arial" panose="020B0604020202020204" pitchFamily="34" charset="0"/>
              </a:rPr>
              <a:t>Chuikyo</a:t>
            </a:r>
            <a:r>
              <a:rPr lang="en-US" sz="1600" noProof="0" dirty="0">
                <a:solidFill>
                  <a:schemeClr val="tx1"/>
                </a:solidFill>
                <a:latin typeface="Arial" panose="020B0604020202020204" pitchFamily="34" charset="0"/>
                <a:ea typeface="Meiryo" panose="020B0604030504040204" pitchFamily="34" charset="-128"/>
                <a:cs typeface="Arial" panose="020B0604020202020204" pitchFamily="34" charset="0"/>
              </a:rPr>
              <a:t> selects products for cost-effectiveness analysis</a:t>
            </a:r>
          </a:p>
        </p:txBody>
      </p:sp>
      <p:sp>
        <p:nvSpPr>
          <p:cNvPr id="16" name="Rectangle 15">
            <a:extLst>
              <a:ext uri="{FF2B5EF4-FFF2-40B4-BE49-F238E27FC236}">
                <a16:creationId xmlns:a16="http://schemas.microsoft.com/office/drawing/2014/main" id="{ED84A614-3F3E-F82C-D49C-21CC83EC0951}"/>
              </a:ext>
            </a:extLst>
          </p:cNvPr>
          <p:cNvSpPr/>
          <p:nvPr/>
        </p:nvSpPr>
        <p:spPr>
          <a:xfrm>
            <a:off x="499974" y="3802290"/>
            <a:ext cx="2053299" cy="109191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sz="1600" noProof="0" dirty="0">
                <a:solidFill>
                  <a:schemeClr val="tx1"/>
                </a:solidFill>
                <a:latin typeface="Arial" panose="020B0604020202020204" pitchFamily="34" charset="0"/>
                <a:ea typeface="Meiryo" panose="020B0604030504040204" pitchFamily="34" charset="-128"/>
                <a:cs typeface="Arial" panose="020B0604020202020204" pitchFamily="34" charset="0"/>
              </a:rPr>
              <a:t>Manufacturer-led analysis</a:t>
            </a:r>
          </a:p>
        </p:txBody>
      </p:sp>
      <p:sp>
        <p:nvSpPr>
          <p:cNvPr id="17" name="Rectangle 16">
            <a:extLst>
              <a:ext uri="{FF2B5EF4-FFF2-40B4-BE49-F238E27FC236}">
                <a16:creationId xmlns:a16="http://schemas.microsoft.com/office/drawing/2014/main" id="{6BFB5CD4-5BD5-3F7E-B1B3-9906F8A9CEB3}"/>
              </a:ext>
            </a:extLst>
          </p:cNvPr>
          <p:cNvSpPr/>
          <p:nvPr/>
        </p:nvSpPr>
        <p:spPr>
          <a:xfrm>
            <a:off x="3434624" y="3807372"/>
            <a:ext cx="2053299" cy="109191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sz="1600" noProof="0" dirty="0">
                <a:solidFill>
                  <a:schemeClr val="tx1"/>
                </a:solidFill>
                <a:latin typeface="Arial" panose="020B0604020202020204" pitchFamily="34" charset="0"/>
                <a:ea typeface="Meiryo" panose="020B0604030504040204" pitchFamily="34" charset="-128"/>
                <a:cs typeface="Arial" panose="020B0604020202020204" pitchFamily="34" charset="0"/>
              </a:rPr>
              <a:t>Independent re-analysis by C2H with health economists and clinical experts</a:t>
            </a:r>
          </a:p>
        </p:txBody>
      </p:sp>
      <p:sp>
        <p:nvSpPr>
          <p:cNvPr id="18" name="Rectangle 17">
            <a:extLst>
              <a:ext uri="{FF2B5EF4-FFF2-40B4-BE49-F238E27FC236}">
                <a16:creationId xmlns:a16="http://schemas.microsoft.com/office/drawing/2014/main" id="{FF99858C-EED0-AEE2-97C1-2AD7EEBBCA65}"/>
              </a:ext>
            </a:extLst>
          </p:cNvPr>
          <p:cNvSpPr/>
          <p:nvPr/>
        </p:nvSpPr>
        <p:spPr>
          <a:xfrm>
            <a:off x="497656" y="5220552"/>
            <a:ext cx="4990267" cy="32512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sz="1600" noProof="0" dirty="0">
                <a:solidFill>
                  <a:schemeClr val="tx1"/>
                </a:solidFill>
                <a:latin typeface="Arial" panose="020B0604020202020204" pitchFamily="34" charset="0"/>
                <a:ea typeface="Meiryo" panose="020B0604030504040204" pitchFamily="34" charset="-128"/>
                <a:cs typeface="Arial" panose="020B0604020202020204" pitchFamily="34" charset="0"/>
              </a:rPr>
              <a:t>Comprehensive assessment</a:t>
            </a:r>
          </a:p>
        </p:txBody>
      </p:sp>
      <p:sp>
        <p:nvSpPr>
          <p:cNvPr id="19" name="Rectangle 18">
            <a:extLst>
              <a:ext uri="{FF2B5EF4-FFF2-40B4-BE49-F238E27FC236}">
                <a16:creationId xmlns:a16="http://schemas.microsoft.com/office/drawing/2014/main" id="{AC053F4D-221C-8737-17A8-0DDDE2E8F386}"/>
              </a:ext>
            </a:extLst>
          </p:cNvPr>
          <p:cNvSpPr/>
          <p:nvPr/>
        </p:nvSpPr>
        <p:spPr>
          <a:xfrm>
            <a:off x="497656" y="5872018"/>
            <a:ext cx="4990267" cy="32512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sz="1600" noProof="0" dirty="0">
                <a:solidFill>
                  <a:schemeClr val="tx1"/>
                </a:solidFill>
                <a:latin typeface="Arial" panose="020B0604020202020204" pitchFamily="34" charset="0"/>
                <a:ea typeface="Meiryo" panose="020B0604030504040204" pitchFamily="34" charset="-128"/>
                <a:cs typeface="Arial" panose="020B0604020202020204" pitchFamily="34" charset="0"/>
              </a:rPr>
              <a:t>Post–price-setting price adjustment</a:t>
            </a:r>
          </a:p>
        </p:txBody>
      </p:sp>
      <p:cxnSp>
        <p:nvCxnSpPr>
          <p:cNvPr id="26" name="Straight Arrow Connector 25">
            <a:extLst>
              <a:ext uri="{FF2B5EF4-FFF2-40B4-BE49-F238E27FC236}">
                <a16:creationId xmlns:a16="http://schemas.microsoft.com/office/drawing/2014/main" id="{CDC64D6B-6733-BEEC-FB39-CC3F1349FF64}"/>
              </a:ext>
            </a:extLst>
          </p:cNvPr>
          <p:cNvCxnSpPr>
            <a:cxnSpLocks/>
            <a:stCxn id="14" idx="2"/>
            <a:endCxn id="15" idx="0"/>
          </p:cNvCxnSpPr>
          <p:nvPr/>
        </p:nvCxnSpPr>
        <p:spPr>
          <a:xfrm>
            <a:off x="2992790" y="2824480"/>
            <a:ext cx="0" cy="32634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48FA776-22B9-5699-E1A6-DCCB2526BB73}"/>
              </a:ext>
            </a:extLst>
          </p:cNvPr>
          <p:cNvCxnSpPr>
            <a:cxnSpLocks/>
            <a:endCxn id="16" idx="0"/>
          </p:cNvCxnSpPr>
          <p:nvPr/>
        </p:nvCxnSpPr>
        <p:spPr>
          <a:xfrm>
            <a:off x="1526624" y="3475945"/>
            <a:ext cx="0" cy="32634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0ED89983-7E38-C71E-1581-807B17840909}"/>
              </a:ext>
            </a:extLst>
          </p:cNvPr>
          <p:cNvCxnSpPr>
            <a:cxnSpLocks/>
          </p:cNvCxnSpPr>
          <p:nvPr/>
        </p:nvCxnSpPr>
        <p:spPr>
          <a:xfrm>
            <a:off x="2531752" y="4207182"/>
            <a:ext cx="87574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235A4B70-E6C5-483E-C988-11278D04B607}"/>
              </a:ext>
            </a:extLst>
          </p:cNvPr>
          <p:cNvCxnSpPr>
            <a:cxnSpLocks/>
          </p:cNvCxnSpPr>
          <p:nvPr/>
        </p:nvCxnSpPr>
        <p:spPr>
          <a:xfrm flipH="1">
            <a:off x="2531752" y="4511982"/>
            <a:ext cx="87574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BB512F05-6528-39D2-FA0B-C2FE9E957A34}"/>
              </a:ext>
            </a:extLst>
          </p:cNvPr>
          <p:cNvCxnSpPr>
            <a:cxnSpLocks/>
            <a:stCxn id="17" idx="2"/>
          </p:cNvCxnSpPr>
          <p:nvPr/>
        </p:nvCxnSpPr>
        <p:spPr>
          <a:xfrm>
            <a:off x="4461274" y="4899289"/>
            <a:ext cx="0" cy="32126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DAB2771-3945-F75C-144A-02145561ACCC}"/>
              </a:ext>
            </a:extLst>
          </p:cNvPr>
          <p:cNvCxnSpPr>
            <a:cxnSpLocks/>
            <a:stCxn id="18" idx="2"/>
            <a:endCxn id="19" idx="0"/>
          </p:cNvCxnSpPr>
          <p:nvPr/>
        </p:nvCxnSpPr>
        <p:spPr>
          <a:xfrm>
            <a:off x="2992790" y="5545672"/>
            <a:ext cx="0" cy="3263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7FD9298-4AD0-30F3-2827-F6B5D0E2ACD0}"/>
              </a:ext>
            </a:extLst>
          </p:cNvPr>
          <p:cNvCxnSpPr>
            <a:cxnSpLocks/>
          </p:cNvCxnSpPr>
          <p:nvPr/>
        </p:nvCxnSpPr>
        <p:spPr>
          <a:xfrm>
            <a:off x="490026" y="2422048"/>
            <a:ext cx="499026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0F0F495B-A6F6-911F-770C-3B0F741A8C1D}"/>
              </a:ext>
            </a:extLst>
          </p:cNvPr>
          <p:cNvSpPr/>
          <p:nvPr/>
        </p:nvSpPr>
        <p:spPr>
          <a:xfrm>
            <a:off x="716856" y="2072641"/>
            <a:ext cx="4536606" cy="3036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Process (based on MHLW 2024)</a:t>
            </a:r>
          </a:p>
        </p:txBody>
      </p:sp>
      <p:cxnSp>
        <p:nvCxnSpPr>
          <p:cNvPr id="40" name="Straight Connector 39">
            <a:extLst>
              <a:ext uri="{FF2B5EF4-FFF2-40B4-BE49-F238E27FC236}">
                <a16:creationId xmlns:a16="http://schemas.microsoft.com/office/drawing/2014/main" id="{3801AAF7-CFB8-F32A-7174-F8F024AECDEC}"/>
              </a:ext>
            </a:extLst>
          </p:cNvPr>
          <p:cNvCxnSpPr>
            <a:cxnSpLocks/>
          </p:cNvCxnSpPr>
          <p:nvPr/>
        </p:nvCxnSpPr>
        <p:spPr>
          <a:xfrm>
            <a:off x="5597994" y="2422048"/>
            <a:ext cx="612686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7B58CC9D-3B93-5650-6478-FFB316B54CF3}"/>
              </a:ext>
            </a:extLst>
          </p:cNvPr>
          <p:cNvSpPr/>
          <p:nvPr/>
        </p:nvSpPr>
        <p:spPr>
          <a:xfrm>
            <a:off x="5597994" y="2072641"/>
            <a:ext cx="6126866" cy="3036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Key Points</a:t>
            </a:r>
          </a:p>
        </p:txBody>
      </p:sp>
      <p:grpSp>
        <p:nvGrpSpPr>
          <p:cNvPr id="3" name="Group 2">
            <a:extLst>
              <a:ext uri="{FF2B5EF4-FFF2-40B4-BE49-F238E27FC236}">
                <a16:creationId xmlns:a16="http://schemas.microsoft.com/office/drawing/2014/main" id="{E4584C05-2E7A-6017-FD50-FE63310381A3}"/>
              </a:ext>
            </a:extLst>
          </p:cNvPr>
          <p:cNvGrpSpPr/>
          <p:nvPr/>
        </p:nvGrpSpPr>
        <p:grpSpPr>
          <a:xfrm>
            <a:off x="467139" y="108959"/>
            <a:ext cx="4197304" cy="307297"/>
            <a:chOff x="562270" y="127168"/>
            <a:chExt cx="4197304" cy="307297"/>
          </a:xfrm>
        </p:grpSpPr>
        <p:sp>
          <p:nvSpPr>
            <p:cNvPr id="6" name="Arrow: Pentagon 5">
              <a:extLst>
                <a:ext uri="{FF2B5EF4-FFF2-40B4-BE49-F238E27FC236}">
                  <a16:creationId xmlns:a16="http://schemas.microsoft.com/office/drawing/2014/main" id="{4D5F2615-9A20-FA0D-4464-95BCC41D41A3}"/>
                </a:ext>
              </a:extLst>
            </p:cNvPr>
            <p:cNvSpPr/>
            <p:nvPr/>
          </p:nvSpPr>
          <p:spPr>
            <a:xfrm>
              <a:off x="3192565"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7" name="Arrow: Pentagon 6">
              <a:extLst>
                <a:ext uri="{FF2B5EF4-FFF2-40B4-BE49-F238E27FC236}">
                  <a16:creationId xmlns:a16="http://schemas.microsoft.com/office/drawing/2014/main" id="{0FA655CF-E4B0-380B-BD7E-25E3297A0F7D}"/>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8" name="Arrow: Pentagon 7">
              <a:extLst>
                <a:ext uri="{FF2B5EF4-FFF2-40B4-BE49-F238E27FC236}">
                  <a16:creationId xmlns:a16="http://schemas.microsoft.com/office/drawing/2014/main" id="{C69398F7-AAD3-27C5-228F-C9CCB2782862}"/>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
        <p:nvSpPr>
          <p:cNvPr id="10" name="TextBox 9">
            <a:extLst>
              <a:ext uri="{FF2B5EF4-FFF2-40B4-BE49-F238E27FC236}">
                <a16:creationId xmlns:a16="http://schemas.microsoft.com/office/drawing/2014/main" id="{7C557652-21EF-0593-EC38-50B220DDED8B}"/>
              </a:ext>
            </a:extLst>
          </p:cNvPr>
          <p:cNvSpPr txBox="1"/>
          <p:nvPr/>
        </p:nvSpPr>
        <p:spPr>
          <a:xfrm>
            <a:off x="467139" y="6256583"/>
            <a:ext cx="5020784" cy="553998"/>
          </a:xfrm>
          <a:prstGeom prst="rect">
            <a:avLst/>
          </a:prstGeom>
          <a:solidFill>
            <a:schemeClr val="bg1"/>
          </a:solidFill>
        </p:spPr>
        <p:txBody>
          <a:bodyPr wrap="square" lIns="0" tIns="0" rIns="0" bIns="0">
            <a:spAutoFit/>
          </a:bodyPr>
          <a:lstStyle/>
          <a:p>
            <a:r>
              <a:rPr lang="en-US" sz="1200" noProof="0" dirty="0" err="1">
                <a:solidFill>
                  <a:schemeClr val="tx1"/>
                </a:solidFill>
                <a:latin typeface="Arial" panose="020B0604020202020204" pitchFamily="34" charset="0"/>
                <a:ea typeface="Meiryo" panose="020B0604030504040204" pitchFamily="34" charset="-128"/>
                <a:cs typeface="Arial" panose="020B0604020202020204" pitchFamily="34" charset="0"/>
              </a:rPr>
              <a:t>Chuikyo</a:t>
            </a:r>
            <a:r>
              <a:rPr lang="en-US" sz="1200" noProof="0" dirty="0">
                <a:solidFill>
                  <a:schemeClr val="tx1"/>
                </a:solidFill>
                <a:latin typeface="Arial" panose="020B0604020202020204" pitchFamily="34" charset="0"/>
                <a:ea typeface="Meiryo" panose="020B0604030504040204" pitchFamily="34" charset="-128"/>
                <a:cs typeface="Arial" panose="020B0604020202020204" pitchFamily="34" charset="0"/>
              </a:rPr>
              <a:t>: The Central Social Insurance Medical Council</a:t>
            </a:r>
          </a:p>
          <a:p>
            <a:r>
              <a:rPr lang="en-US" sz="1200" noProof="0" dirty="0">
                <a:solidFill>
                  <a:schemeClr val="tx1"/>
                </a:solidFill>
                <a:latin typeface="Arial" panose="020B0604020202020204" pitchFamily="34" charset="0"/>
                <a:ea typeface="Meiryo" panose="020B0604030504040204" pitchFamily="34" charset="-128"/>
                <a:cs typeface="Arial" panose="020B0604020202020204" pitchFamily="34" charset="0"/>
              </a:rPr>
              <a:t>C2H: Center for Health Economics Research, National Institute of Public Health</a:t>
            </a:r>
            <a:endParaRPr lang="en-US" sz="1200" dirty="0"/>
          </a:p>
        </p:txBody>
      </p:sp>
    </p:spTree>
    <p:extLst>
      <p:ext uri="{BB962C8B-B14F-4D97-AF65-F5344CB8AC3E}">
        <p14:creationId xmlns:p14="http://schemas.microsoft.com/office/powerpoint/2010/main" val="27386315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372E7-E399-FDBC-2157-09C05E4C6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D9E7A2-F020-BA4F-055A-3E21B94F05DE}"/>
              </a:ext>
            </a:extLst>
          </p:cNvPr>
          <p:cNvSpPr>
            <a:spLocks noGrp="1"/>
          </p:cNvSpPr>
          <p:nvPr>
            <p:ph type="title"/>
          </p:nvPr>
        </p:nvSpPr>
        <p:spPr/>
        <p:txBody>
          <a:bodyPr/>
          <a:lstStyle/>
          <a:p>
            <a:r>
              <a:rPr lang="en-US" noProof="0" dirty="0"/>
              <a:t>Use Case in Research</a:t>
            </a:r>
          </a:p>
        </p:txBody>
      </p:sp>
      <p:sp>
        <p:nvSpPr>
          <p:cNvPr id="4" name="Slide Number Placeholder 3">
            <a:extLst>
              <a:ext uri="{FF2B5EF4-FFF2-40B4-BE49-F238E27FC236}">
                <a16:creationId xmlns:a16="http://schemas.microsoft.com/office/drawing/2014/main" id="{A48F2224-6468-6B6A-1B4D-E72F4A1E44D7}"/>
              </a:ext>
            </a:extLst>
          </p:cNvPr>
          <p:cNvSpPr>
            <a:spLocks noGrp="1"/>
          </p:cNvSpPr>
          <p:nvPr>
            <p:ph type="sldNum" sz="quarter" idx="4"/>
          </p:nvPr>
        </p:nvSpPr>
        <p:spPr/>
        <p:txBody>
          <a:bodyPr/>
          <a:lstStyle/>
          <a:p>
            <a:fld id="{B5CEABB6-07DC-46E8-9B57-56EC44A396E5}" type="slidenum">
              <a:rPr lang="en-US" noProof="0" smtClean="0"/>
              <a:pPr/>
              <a:t>62</a:t>
            </a:fld>
            <a:endParaRPr lang="en-US" noProof="0" dirty="0"/>
          </a:p>
        </p:txBody>
      </p:sp>
      <p:sp>
        <p:nvSpPr>
          <p:cNvPr id="5" name="Table Placeholder 4">
            <a:extLst>
              <a:ext uri="{FF2B5EF4-FFF2-40B4-BE49-F238E27FC236}">
                <a16:creationId xmlns:a16="http://schemas.microsoft.com/office/drawing/2014/main" id="{C4C70683-6D08-1DD2-0188-85C885C44A15}"/>
              </a:ext>
            </a:extLst>
          </p:cNvPr>
          <p:cNvSpPr>
            <a:spLocks noGrp="1"/>
          </p:cNvSpPr>
          <p:nvPr>
            <p:ph type="tbl" sz="quarter" idx="11"/>
          </p:nvPr>
        </p:nvSpPr>
        <p:spPr/>
        <p:txBody>
          <a:bodyPr/>
          <a:lstStyle/>
          <a:p>
            <a:r>
              <a:rPr lang="en-US" noProof="0" dirty="0"/>
              <a:t>Researchers and funders face limited budgets, making it possible to plan additional studies with high cost-effectiveness.</a:t>
            </a:r>
          </a:p>
        </p:txBody>
      </p:sp>
      <p:pic>
        <p:nvPicPr>
          <p:cNvPr id="14" name="Picture 13" descr="A black background with a black square&#10;&#10;AI-generated content may be incorrect.">
            <a:extLst>
              <a:ext uri="{FF2B5EF4-FFF2-40B4-BE49-F238E27FC236}">
                <a16:creationId xmlns:a16="http://schemas.microsoft.com/office/drawing/2014/main" id="{8EF033FB-9346-5F7E-8D04-F72B02E62EB4}"/>
              </a:ext>
            </a:extLst>
          </p:cNvPr>
          <p:cNvPicPr>
            <a:picLocks noChangeAspect="1"/>
          </p:cNvPicPr>
          <p:nvPr/>
        </p:nvPicPr>
        <p:blipFill>
          <a:blip r:embed="rId2"/>
          <a:stretch>
            <a:fillRect/>
          </a:stretch>
        </p:blipFill>
        <p:spPr>
          <a:xfrm>
            <a:off x="5857149" y="4465429"/>
            <a:ext cx="1412459" cy="1412459"/>
          </a:xfrm>
          <a:prstGeom prst="rect">
            <a:avLst/>
          </a:prstGeom>
        </p:spPr>
      </p:pic>
      <p:sp>
        <p:nvSpPr>
          <p:cNvPr id="17" name="Speech Bubble: Rectangle 16">
            <a:extLst>
              <a:ext uri="{FF2B5EF4-FFF2-40B4-BE49-F238E27FC236}">
                <a16:creationId xmlns:a16="http://schemas.microsoft.com/office/drawing/2014/main" id="{E78DDBA5-AE93-CE48-BF2B-836FEFCB6ED3}"/>
              </a:ext>
            </a:extLst>
          </p:cNvPr>
          <p:cNvSpPr/>
          <p:nvPr/>
        </p:nvSpPr>
        <p:spPr>
          <a:xfrm>
            <a:off x="467139" y="2082627"/>
            <a:ext cx="2987261" cy="2234730"/>
          </a:xfrm>
          <a:prstGeom prst="wedgeRectCallout">
            <a:avLst>
              <a:gd name="adj1" fmla="val 69637"/>
              <a:gd name="adj2" fmla="val 19900"/>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For a given disease, existing studies show no significant difference between Treatment A and Treatment B. Should we conduct an interventional study comparing A vs. B, or an observational study?</a:t>
            </a:r>
          </a:p>
        </p:txBody>
      </p:sp>
      <p:pic>
        <p:nvPicPr>
          <p:cNvPr id="12" name="Picture 11" descr="A black background with a black square&#10;&#10;AI-generated content may be incorrect.">
            <a:extLst>
              <a:ext uri="{FF2B5EF4-FFF2-40B4-BE49-F238E27FC236}">
                <a16:creationId xmlns:a16="http://schemas.microsoft.com/office/drawing/2014/main" id="{953C6578-F96F-4391-2D14-3F7ED569017A}"/>
              </a:ext>
            </a:extLst>
          </p:cNvPr>
          <p:cNvPicPr>
            <a:picLocks noChangeAspect="1"/>
          </p:cNvPicPr>
          <p:nvPr/>
        </p:nvPicPr>
        <p:blipFill>
          <a:blip r:embed="rId3"/>
          <a:stretch>
            <a:fillRect/>
          </a:stretch>
        </p:blipFill>
        <p:spPr>
          <a:xfrm>
            <a:off x="3863226" y="3052970"/>
            <a:ext cx="1412459" cy="1412459"/>
          </a:xfrm>
          <a:prstGeom prst="rect">
            <a:avLst/>
          </a:prstGeom>
        </p:spPr>
      </p:pic>
      <p:grpSp>
        <p:nvGrpSpPr>
          <p:cNvPr id="3" name="Group 2">
            <a:extLst>
              <a:ext uri="{FF2B5EF4-FFF2-40B4-BE49-F238E27FC236}">
                <a16:creationId xmlns:a16="http://schemas.microsoft.com/office/drawing/2014/main" id="{5CB9E0A8-D57B-4C34-E85E-E09B835F1F49}"/>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EADE68FE-DB0A-86BA-3601-C34D80EEAD40}"/>
                </a:ext>
              </a:extLst>
            </p:cNvPr>
            <p:cNvSpPr/>
            <p:nvPr/>
          </p:nvSpPr>
          <p:spPr>
            <a:xfrm>
              <a:off x="3192565"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1" name="Arrow: Pentagon 10">
              <a:extLst>
                <a:ext uri="{FF2B5EF4-FFF2-40B4-BE49-F238E27FC236}">
                  <a16:creationId xmlns:a16="http://schemas.microsoft.com/office/drawing/2014/main" id="{F5555D12-88ED-D254-03C5-762FF3C247E9}"/>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3" name="Arrow: Pentagon 12">
              <a:extLst>
                <a:ext uri="{FF2B5EF4-FFF2-40B4-BE49-F238E27FC236}">
                  <a16:creationId xmlns:a16="http://schemas.microsoft.com/office/drawing/2014/main" id="{06D245C7-EA59-E6C2-6C7C-576033B74721}"/>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34223862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45FBB-BBD5-6BD5-23FE-C1113C151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D9FE44-C9D4-86A7-786C-FA7AA00DCDA7}"/>
              </a:ext>
            </a:extLst>
          </p:cNvPr>
          <p:cNvSpPr>
            <a:spLocks noGrp="1"/>
          </p:cNvSpPr>
          <p:nvPr>
            <p:ph type="title"/>
          </p:nvPr>
        </p:nvSpPr>
        <p:spPr/>
        <p:txBody>
          <a:bodyPr/>
          <a:lstStyle/>
          <a:p>
            <a:r>
              <a:rPr lang="en-US" dirty="0"/>
              <a:t>Use Case in Research</a:t>
            </a:r>
            <a:endParaRPr lang="en-US" noProof="0" dirty="0"/>
          </a:p>
        </p:txBody>
      </p:sp>
      <p:sp>
        <p:nvSpPr>
          <p:cNvPr id="4" name="Slide Number Placeholder 3">
            <a:extLst>
              <a:ext uri="{FF2B5EF4-FFF2-40B4-BE49-F238E27FC236}">
                <a16:creationId xmlns:a16="http://schemas.microsoft.com/office/drawing/2014/main" id="{098259CB-A2D1-F3E0-6E80-31F0E6ADBCC8}"/>
              </a:ext>
            </a:extLst>
          </p:cNvPr>
          <p:cNvSpPr>
            <a:spLocks noGrp="1"/>
          </p:cNvSpPr>
          <p:nvPr>
            <p:ph type="sldNum" sz="quarter" idx="4"/>
          </p:nvPr>
        </p:nvSpPr>
        <p:spPr/>
        <p:txBody>
          <a:bodyPr/>
          <a:lstStyle/>
          <a:p>
            <a:fld id="{B5CEABB6-07DC-46E8-9B57-56EC44A396E5}" type="slidenum">
              <a:rPr lang="en-US" noProof="0" smtClean="0"/>
              <a:pPr/>
              <a:t>63</a:t>
            </a:fld>
            <a:endParaRPr lang="en-US" noProof="0" dirty="0"/>
          </a:p>
        </p:txBody>
      </p:sp>
      <p:sp>
        <p:nvSpPr>
          <p:cNvPr id="5" name="Table Placeholder 4">
            <a:extLst>
              <a:ext uri="{FF2B5EF4-FFF2-40B4-BE49-F238E27FC236}">
                <a16:creationId xmlns:a16="http://schemas.microsoft.com/office/drawing/2014/main" id="{2D0B3006-C47B-3C4E-C193-58363ABDA3C5}"/>
              </a:ext>
            </a:extLst>
          </p:cNvPr>
          <p:cNvSpPr>
            <a:spLocks noGrp="1"/>
          </p:cNvSpPr>
          <p:nvPr>
            <p:ph type="tbl" sz="quarter" idx="11"/>
          </p:nvPr>
        </p:nvSpPr>
        <p:spPr/>
        <p:txBody>
          <a:bodyPr/>
          <a:lstStyle/>
          <a:p>
            <a:r>
              <a:rPr lang="en-US" noProof="0" dirty="0"/>
              <a:t>For decision problems faced by researchers and research funders, a model is built using existing evidence to estimate the value of eliminating uncertainty in key parameters.</a:t>
            </a:r>
          </a:p>
        </p:txBody>
      </p:sp>
      <p:pic>
        <p:nvPicPr>
          <p:cNvPr id="14" name="Picture 13" descr="A black background with a black square&#10;&#10;AI-generated content may be incorrect.">
            <a:extLst>
              <a:ext uri="{FF2B5EF4-FFF2-40B4-BE49-F238E27FC236}">
                <a16:creationId xmlns:a16="http://schemas.microsoft.com/office/drawing/2014/main" id="{B9FCBE13-D1AA-E84A-5814-C5ADF60DFF97}"/>
              </a:ext>
            </a:extLst>
          </p:cNvPr>
          <p:cNvPicPr>
            <a:picLocks noChangeAspect="1"/>
          </p:cNvPicPr>
          <p:nvPr/>
        </p:nvPicPr>
        <p:blipFill>
          <a:blip r:embed="rId3"/>
          <a:stretch>
            <a:fillRect/>
          </a:stretch>
        </p:blipFill>
        <p:spPr>
          <a:xfrm>
            <a:off x="5857149" y="4465429"/>
            <a:ext cx="1412459" cy="1412459"/>
          </a:xfrm>
          <a:prstGeom prst="rect">
            <a:avLst/>
          </a:prstGeom>
        </p:spPr>
      </p:pic>
      <p:sp>
        <p:nvSpPr>
          <p:cNvPr id="18" name="Arrow: Circular 17">
            <a:extLst>
              <a:ext uri="{FF2B5EF4-FFF2-40B4-BE49-F238E27FC236}">
                <a16:creationId xmlns:a16="http://schemas.microsoft.com/office/drawing/2014/main" id="{CBFF7F1A-AF77-F26E-8F29-B2E0C271589D}"/>
              </a:ext>
            </a:extLst>
          </p:cNvPr>
          <p:cNvSpPr/>
          <p:nvPr/>
        </p:nvSpPr>
        <p:spPr>
          <a:xfrm rot="356095">
            <a:off x="3726752" y="2762933"/>
            <a:ext cx="3747285" cy="3747285"/>
          </a:xfrm>
          <a:prstGeom prst="circularArrow">
            <a:avLst>
              <a:gd name="adj1" fmla="val 22589"/>
              <a:gd name="adj2" fmla="val 703293"/>
              <a:gd name="adj3" fmla="val 20105413"/>
              <a:gd name="adj4" fmla="val 14113690"/>
              <a:gd name="adj5" fmla="val 1648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1" name="Rectangle 20">
            <a:extLst>
              <a:ext uri="{FF2B5EF4-FFF2-40B4-BE49-F238E27FC236}">
                <a16:creationId xmlns:a16="http://schemas.microsoft.com/office/drawing/2014/main" id="{C6CB59FE-F341-8304-99AB-601F4AE1C255}"/>
              </a:ext>
            </a:extLst>
          </p:cNvPr>
          <p:cNvSpPr/>
          <p:nvPr/>
        </p:nvSpPr>
        <p:spPr>
          <a:xfrm>
            <a:off x="5208323" y="2775902"/>
            <a:ext cx="2398716" cy="13433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91440" indent="-91440">
              <a:buFont typeface="Arial" panose="020B0604020202020204" pitchFamily="34" charset="0"/>
              <a:buChar char="•"/>
            </a:pPr>
            <a:r>
              <a:rPr lang="en-US" sz="1600" noProof="0" dirty="0">
                <a:solidFill>
                  <a:schemeClr val="tx1"/>
                </a:solidFill>
                <a:latin typeface="Arial" panose="020B0604020202020204" pitchFamily="34" charset="0"/>
                <a:ea typeface="Meiryo" panose="020B0604030504040204" pitchFamily="34" charset="-128"/>
                <a:cs typeface="Arial" panose="020B0604020202020204" pitchFamily="34" charset="0"/>
              </a:rPr>
              <a:t>Effectiveness w/ 95%CI</a:t>
            </a:r>
          </a:p>
          <a:p>
            <a:pPr marL="91440" indent="-91440">
              <a:buFont typeface="Arial" panose="020B0604020202020204" pitchFamily="34" charset="0"/>
              <a:buChar char="•"/>
            </a:pPr>
            <a:r>
              <a:rPr lang="en-US" sz="1600" noProof="0" dirty="0">
                <a:solidFill>
                  <a:schemeClr val="tx1"/>
                </a:solidFill>
                <a:latin typeface="Arial" panose="020B0604020202020204" pitchFamily="34" charset="0"/>
                <a:ea typeface="Meiryo" panose="020B0604030504040204" pitchFamily="34" charset="-128"/>
                <a:cs typeface="Arial" panose="020B0604020202020204" pitchFamily="34" charset="0"/>
              </a:rPr>
              <a:t>Treatment costs</a:t>
            </a:r>
          </a:p>
          <a:p>
            <a:pPr marL="91440" indent="-91440">
              <a:buFont typeface="Arial" panose="020B0604020202020204" pitchFamily="34" charset="0"/>
              <a:buChar char="•"/>
            </a:pPr>
            <a:r>
              <a:rPr lang="en-US" sz="1600" noProof="0" dirty="0">
                <a:solidFill>
                  <a:schemeClr val="tx1"/>
                </a:solidFill>
                <a:latin typeface="Arial" panose="020B0604020202020204" pitchFamily="34" charset="0"/>
                <a:ea typeface="Meiryo" panose="020B0604030504040204" pitchFamily="34" charset="-128"/>
                <a:cs typeface="Arial" panose="020B0604020202020204" pitchFamily="34" charset="0"/>
              </a:rPr>
              <a:t>Health benefits of treatment</a:t>
            </a:r>
          </a:p>
          <a:p>
            <a:pPr marL="91440" indent="-91440">
              <a:buFont typeface="Arial" panose="020B0604020202020204" pitchFamily="34" charset="0"/>
              <a:buChar char="•"/>
            </a:pPr>
            <a:r>
              <a:rPr lang="en-US" sz="1600" noProof="0" dirty="0">
                <a:solidFill>
                  <a:schemeClr val="tx1"/>
                </a:solidFill>
                <a:latin typeface="Arial" panose="020B0604020202020204" pitchFamily="34" charset="0"/>
                <a:ea typeface="Meiryo" panose="020B0604030504040204" pitchFamily="34" charset="-128"/>
                <a:cs typeface="Arial" panose="020B0604020202020204" pitchFamily="34" charset="0"/>
              </a:rPr>
              <a:t>Acceptable budget for additional research, etc.</a:t>
            </a:r>
          </a:p>
        </p:txBody>
      </p:sp>
      <p:pic>
        <p:nvPicPr>
          <p:cNvPr id="12" name="Picture 11" descr="A black background with a black square&#10;&#10;AI-generated content may be incorrect.">
            <a:extLst>
              <a:ext uri="{FF2B5EF4-FFF2-40B4-BE49-F238E27FC236}">
                <a16:creationId xmlns:a16="http://schemas.microsoft.com/office/drawing/2014/main" id="{FBA8ECF9-5EE7-2897-4D8B-4974AE06D055}"/>
              </a:ext>
            </a:extLst>
          </p:cNvPr>
          <p:cNvPicPr>
            <a:picLocks noChangeAspect="1"/>
          </p:cNvPicPr>
          <p:nvPr/>
        </p:nvPicPr>
        <p:blipFill>
          <a:blip r:embed="rId4"/>
          <a:stretch>
            <a:fillRect/>
          </a:stretch>
        </p:blipFill>
        <p:spPr>
          <a:xfrm>
            <a:off x="3863226" y="3052970"/>
            <a:ext cx="1412459" cy="1412459"/>
          </a:xfrm>
          <a:prstGeom prst="rect">
            <a:avLst/>
          </a:prstGeom>
        </p:spPr>
      </p:pic>
      <p:sp>
        <p:nvSpPr>
          <p:cNvPr id="23" name="Speech Bubble: Rectangle 22">
            <a:extLst>
              <a:ext uri="{FF2B5EF4-FFF2-40B4-BE49-F238E27FC236}">
                <a16:creationId xmlns:a16="http://schemas.microsoft.com/office/drawing/2014/main" id="{6E61489A-94B9-91BC-C314-E96146B5F293}"/>
              </a:ext>
            </a:extLst>
          </p:cNvPr>
          <p:cNvSpPr/>
          <p:nvPr/>
        </p:nvSpPr>
        <p:spPr>
          <a:xfrm>
            <a:off x="7851071" y="2082626"/>
            <a:ext cx="3924093" cy="4478177"/>
          </a:xfrm>
          <a:prstGeom prst="wedgeRectCallout">
            <a:avLst>
              <a:gd name="adj1" fmla="val -61126"/>
              <a:gd name="adj2" fmla="val 20005"/>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nvGrpSpPr>
          <p:cNvPr id="41" name="Group 40">
            <a:extLst>
              <a:ext uri="{FF2B5EF4-FFF2-40B4-BE49-F238E27FC236}">
                <a16:creationId xmlns:a16="http://schemas.microsoft.com/office/drawing/2014/main" id="{F66DA15F-34A9-4031-01C9-F7CACE2BC271}"/>
              </a:ext>
            </a:extLst>
          </p:cNvPr>
          <p:cNvGrpSpPr/>
          <p:nvPr/>
        </p:nvGrpSpPr>
        <p:grpSpPr>
          <a:xfrm>
            <a:off x="8597800" y="2181731"/>
            <a:ext cx="2430635" cy="1854429"/>
            <a:chOff x="8567512" y="2181731"/>
            <a:chExt cx="2430635" cy="1854429"/>
          </a:xfrm>
        </p:grpSpPr>
        <p:sp>
          <p:nvSpPr>
            <p:cNvPr id="25" name="Isosceles Triangle 24">
              <a:extLst>
                <a:ext uri="{FF2B5EF4-FFF2-40B4-BE49-F238E27FC236}">
                  <a16:creationId xmlns:a16="http://schemas.microsoft.com/office/drawing/2014/main" id="{79BE06C6-1A2E-7155-AFE6-0610BDDD1349}"/>
                </a:ext>
              </a:extLst>
            </p:cNvPr>
            <p:cNvSpPr/>
            <p:nvPr/>
          </p:nvSpPr>
          <p:spPr>
            <a:xfrm>
              <a:off x="8861549" y="2546491"/>
              <a:ext cx="1744397" cy="840283"/>
            </a:xfrm>
            <a:custGeom>
              <a:avLst/>
              <a:gdLst>
                <a:gd name="connsiteX0" fmla="*/ 0 w 1180271"/>
                <a:gd name="connsiteY0" fmla="*/ 702437 h 702437"/>
                <a:gd name="connsiteX1" fmla="*/ 590136 w 1180271"/>
                <a:gd name="connsiteY1" fmla="*/ 0 h 702437"/>
                <a:gd name="connsiteX2" fmla="*/ 1180271 w 1180271"/>
                <a:gd name="connsiteY2" fmla="*/ 702437 h 702437"/>
                <a:gd name="connsiteX3" fmla="*/ 0 w 1180271"/>
                <a:gd name="connsiteY3" fmla="*/ 702437 h 702437"/>
                <a:gd name="connsiteX0" fmla="*/ 0 w 1180271"/>
                <a:gd name="connsiteY0" fmla="*/ 702437 h 702437"/>
                <a:gd name="connsiteX1" fmla="*/ 261907 w 1180271"/>
                <a:gd name="connsiteY1" fmla="*/ 315746 h 702437"/>
                <a:gd name="connsiteX2" fmla="*/ 590136 w 1180271"/>
                <a:gd name="connsiteY2" fmla="*/ 0 h 702437"/>
                <a:gd name="connsiteX3" fmla="*/ 1180271 w 1180271"/>
                <a:gd name="connsiteY3" fmla="*/ 702437 h 702437"/>
                <a:gd name="connsiteX4" fmla="*/ 0 w 1180271"/>
                <a:gd name="connsiteY4" fmla="*/ 702437 h 70243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259636"/>
                <a:gd name="connsiteY0" fmla="*/ 621157 h 621157"/>
                <a:gd name="connsiteX1" fmla="*/ 261907 w 1259636"/>
                <a:gd name="connsiteY1" fmla="*/ 234466 h 621157"/>
                <a:gd name="connsiteX2" fmla="*/ 651096 w 1259636"/>
                <a:gd name="connsiteY2" fmla="*/ 0 h 621157"/>
                <a:gd name="connsiteX3" fmla="*/ 1115347 w 1259636"/>
                <a:gd name="connsiteY3" fmla="*/ 447826 h 621157"/>
                <a:gd name="connsiteX4" fmla="*/ 1180271 w 1259636"/>
                <a:gd name="connsiteY4" fmla="*/ 621157 h 621157"/>
                <a:gd name="connsiteX5" fmla="*/ 0 w 1259636"/>
                <a:gd name="connsiteY5" fmla="*/ 621157 h 621157"/>
                <a:gd name="connsiteX0" fmla="*/ 0 w 1274952"/>
                <a:gd name="connsiteY0" fmla="*/ 621157 h 631317"/>
                <a:gd name="connsiteX1" fmla="*/ 261907 w 1274952"/>
                <a:gd name="connsiteY1" fmla="*/ 234466 h 631317"/>
                <a:gd name="connsiteX2" fmla="*/ 651096 w 1274952"/>
                <a:gd name="connsiteY2" fmla="*/ 0 h 631317"/>
                <a:gd name="connsiteX3" fmla="*/ 1115347 w 1274952"/>
                <a:gd name="connsiteY3" fmla="*/ 447826 h 631317"/>
                <a:gd name="connsiteX4" fmla="*/ 1200591 w 1274952"/>
                <a:gd name="connsiteY4" fmla="*/ 631317 h 631317"/>
                <a:gd name="connsiteX5" fmla="*/ 0 w 1274952"/>
                <a:gd name="connsiteY5" fmla="*/ 621157 h 631317"/>
                <a:gd name="connsiteX0" fmla="*/ 0 w 1310591"/>
                <a:gd name="connsiteY0" fmla="*/ 621157 h 631317"/>
                <a:gd name="connsiteX1" fmla="*/ 261907 w 1310591"/>
                <a:gd name="connsiteY1" fmla="*/ 234466 h 631317"/>
                <a:gd name="connsiteX2" fmla="*/ 651096 w 1310591"/>
                <a:gd name="connsiteY2" fmla="*/ 0 h 631317"/>
                <a:gd name="connsiteX3" fmla="*/ 1115347 w 1310591"/>
                <a:gd name="connsiteY3" fmla="*/ 447826 h 631317"/>
                <a:gd name="connsiteX4" fmla="*/ 1241151 w 1310591"/>
                <a:gd name="connsiteY4" fmla="*/ 589767 h 631317"/>
                <a:gd name="connsiteX5" fmla="*/ 1200591 w 1310591"/>
                <a:gd name="connsiteY5" fmla="*/ 631317 h 631317"/>
                <a:gd name="connsiteX6" fmla="*/ 0 w 1310591"/>
                <a:gd name="connsiteY6" fmla="*/ 621157 h 631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0591" h="631317">
                  <a:moveTo>
                    <a:pt x="0" y="621157"/>
                  </a:moveTo>
                  <a:cubicBezTo>
                    <a:pt x="111009" y="499033"/>
                    <a:pt x="150898" y="356590"/>
                    <a:pt x="261907" y="234466"/>
                  </a:cubicBezTo>
                  <a:cubicBezTo>
                    <a:pt x="391637" y="156311"/>
                    <a:pt x="419766" y="47675"/>
                    <a:pt x="651096" y="0"/>
                  </a:cubicBezTo>
                  <a:cubicBezTo>
                    <a:pt x="779789" y="27093"/>
                    <a:pt x="1027151" y="344300"/>
                    <a:pt x="1115347" y="447826"/>
                  </a:cubicBezTo>
                  <a:cubicBezTo>
                    <a:pt x="1218919" y="546867"/>
                    <a:pt x="1226944" y="559185"/>
                    <a:pt x="1241151" y="589767"/>
                  </a:cubicBezTo>
                  <a:cubicBezTo>
                    <a:pt x="1255358" y="620349"/>
                    <a:pt x="1412679" y="626833"/>
                    <a:pt x="1200591" y="631317"/>
                  </a:cubicBezTo>
                  <a:lnTo>
                    <a:pt x="0" y="621157"/>
                  </a:lnTo>
                  <a:close/>
                </a:path>
              </a:pathLst>
            </a:cu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27" name="Straight Arrow Connector 26">
              <a:extLst>
                <a:ext uri="{FF2B5EF4-FFF2-40B4-BE49-F238E27FC236}">
                  <a16:creationId xmlns:a16="http://schemas.microsoft.com/office/drawing/2014/main" id="{578230FB-09CC-6697-C7A2-B34447F2F738}"/>
                </a:ext>
              </a:extLst>
            </p:cNvPr>
            <p:cNvCxnSpPr>
              <a:cxnSpLocks/>
              <a:stCxn id="25" idx="0"/>
            </p:cNvCxnSpPr>
            <p:nvPr/>
          </p:nvCxnSpPr>
          <p:spPr>
            <a:xfrm flipV="1">
              <a:off x="8861549" y="2489858"/>
              <a:ext cx="13433" cy="88339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DA3D055-53C8-9214-1E7E-A951BF0A97C0}"/>
                </a:ext>
              </a:extLst>
            </p:cNvPr>
            <p:cNvCxnSpPr>
              <a:cxnSpLocks/>
              <a:stCxn id="25" idx="0"/>
            </p:cNvCxnSpPr>
            <p:nvPr/>
          </p:nvCxnSpPr>
          <p:spPr>
            <a:xfrm>
              <a:off x="8861549" y="3373251"/>
              <a:ext cx="1939993"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5E221DAC-AABE-8D47-5A8C-BC66D010F68D}"/>
                </a:ext>
              </a:extLst>
            </p:cNvPr>
            <p:cNvSpPr/>
            <p:nvPr/>
          </p:nvSpPr>
          <p:spPr>
            <a:xfrm>
              <a:off x="8567512" y="2567917"/>
              <a:ext cx="176493" cy="7193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Prob.</a:t>
              </a:r>
            </a:p>
          </p:txBody>
        </p:sp>
        <p:sp>
          <p:nvSpPr>
            <p:cNvPr id="33" name="Rectangle 32">
              <a:extLst>
                <a:ext uri="{FF2B5EF4-FFF2-40B4-BE49-F238E27FC236}">
                  <a16:creationId xmlns:a16="http://schemas.microsoft.com/office/drawing/2014/main" id="{E074C009-8F21-2F09-B285-51CA71C2C247}"/>
                </a:ext>
              </a:extLst>
            </p:cNvPr>
            <p:cNvSpPr/>
            <p:nvPr/>
          </p:nvSpPr>
          <p:spPr>
            <a:xfrm>
              <a:off x="8633856" y="3418668"/>
              <a:ext cx="826272"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0.5</a:t>
              </a:r>
            </a:p>
          </p:txBody>
        </p:sp>
        <p:sp>
          <p:nvSpPr>
            <p:cNvPr id="34" name="Rectangle 33">
              <a:extLst>
                <a:ext uri="{FF2B5EF4-FFF2-40B4-BE49-F238E27FC236}">
                  <a16:creationId xmlns:a16="http://schemas.microsoft.com/office/drawing/2014/main" id="{269FB9B6-7EA1-7ECC-4FE6-F0E002A43ED0}"/>
                </a:ext>
              </a:extLst>
            </p:cNvPr>
            <p:cNvSpPr/>
            <p:nvPr/>
          </p:nvSpPr>
          <p:spPr>
            <a:xfrm>
              <a:off x="9365381" y="3418668"/>
              <a:ext cx="826272"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1</a:t>
              </a:r>
            </a:p>
          </p:txBody>
        </p:sp>
        <p:sp>
          <p:nvSpPr>
            <p:cNvPr id="35" name="Rectangle 34">
              <a:extLst>
                <a:ext uri="{FF2B5EF4-FFF2-40B4-BE49-F238E27FC236}">
                  <a16:creationId xmlns:a16="http://schemas.microsoft.com/office/drawing/2014/main" id="{2F64B8C8-2773-FDB1-B445-360594090583}"/>
                </a:ext>
              </a:extLst>
            </p:cNvPr>
            <p:cNvSpPr/>
            <p:nvPr/>
          </p:nvSpPr>
          <p:spPr>
            <a:xfrm>
              <a:off x="10171875" y="3429000"/>
              <a:ext cx="826272"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1.5</a:t>
              </a:r>
            </a:p>
          </p:txBody>
        </p:sp>
        <p:sp>
          <p:nvSpPr>
            <p:cNvPr id="39" name="Rectangle 38">
              <a:extLst>
                <a:ext uri="{FF2B5EF4-FFF2-40B4-BE49-F238E27FC236}">
                  <a16:creationId xmlns:a16="http://schemas.microsoft.com/office/drawing/2014/main" id="{E304AA8B-90E0-9DFE-EAB0-68421A997973}"/>
                </a:ext>
              </a:extLst>
            </p:cNvPr>
            <p:cNvSpPr/>
            <p:nvPr/>
          </p:nvSpPr>
          <p:spPr>
            <a:xfrm>
              <a:off x="8814524" y="3758703"/>
              <a:ext cx="1948307" cy="2774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ea typeface="Meiryo UI" panose="020B0604030504040204" pitchFamily="50" charset="-128"/>
                  <a:cs typeface="Arial" panose="020B0604020202020204" pitchFamily="34" charset="0"/>
                </a:rPr>
                <a:t>E</a:t>
              </a:r>
              <a:r>
                <a:rPr lang="en-US" sz="1600" noProof="0" dirty="0" err="1">
                  <a:solidFill>
                    <a:schemeClr val="tx1"/>
                  </a:solidFill>
                  <a:latin typeface="Arial" panose="020B0604020202020204" pitchFamily="34" charset="0"/>
                  <a:ea typeface="Meiryo UI" panose="020B0604030504040204" pitchFamily="50" charset="-128"/>
                  <a:cs typeface="Arial" panose="020B0604020202020204" pitchFamily="34" charset="0"/>
                </a:rPr>
                <a:t>ffectiveness</a:t>
              </a: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 of </a:t>
              </a:r>
            </a:p>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A relative to B</a:t>
              </a:r>
            </a:p>
          </p:txBody>
        </p:sp>
        <p:sp>
          <p:nvSpPr>
            <p:cNvPr id="40" name="Rectangle 39">
              <a:extLst>
                <a:ext uri="{FF2B5EF4-FFF2-40B4-BE49-F238E27FC236}">
                  <a16:creationId xmlns:a16="http://schemas.microsoft.com/office/drawing/2014/main" id="{3382CBE0-1701-B9A5-7C21-E4C91DB6BFCC}"/>
                </a:ext>
              </a:extLst>
            </p:cNvPr>
            <p:cNvSpPr/>
            <p:nvPr/>
          </p:nvSpPr>
          <p:spPr>
            <a:xfrm>
              <a:off x="8717108" y="2181731"/>
              <a:ext cx="2143138" cy="2774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Existing data</a:t>
              </a:r>
            </a:p>
          </p:txBody>
        </p:sp>
      </p:grpSp>
      <p:sp>
        <p:nvSpPr>
          <p:cNvPr id="45" name="Isosceles Triangle 44">
            <a:extLst>
              <a:ext uri="{FF2B5EF4-FFF2-40B4-BE49-F238E27FC236}">
                <a16:creationId xmlns:a16="http://schemas.microsoft.com/office/drawing/2014/main" id="{EA249D14-5D11-6274-AE61-DA79AD8BD05C}"/>
              </a:ext>
            </a:extLst>
          </p:cNvPr>
          <p:cNvSpPr/>
          <p:nvPr/>
        </p:nvSpPr>
        <p:spPr>
          <a:xfrm flipV="1">
            <a:off x="8532564" y="4226291"/>
            <a:ext cx="2503481" cy="75456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43" name="Rectangle 42">
            <a:extLst>
              <a:ext uri="{FF2B5EF4-FFF2-40B4-BE49-F238E27FC236}">
                <a16:creationId xmlns:a16="http://schemas.microsoft.com/office/drawing/2014/main" id="{948EF531-DB2E-C8B2-C71B-E1EE997FA78D}"/>
              </a:ext>
            </a:extLst>
          </p:cNvPr>
          <p:cNvSpPr/>
          <p:nvPr/>
        </p:nvSpPr>
        <p:spPr>
          <a:xfrm>
            <a:off x="8733642" y="4269452"/>
            <a:ext cx="2130789" cy="5595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solidFill>
                  <a:schemeClr val="tx1"/>
                </a:solidFill>
                <a:latin typeface="Arial" panose="020B0604020202020204" pitchFamily="34" charset="0"/>
                <a:ea typeface="Meiryo" panose="020B0604030504040204" pitchFamily="34" charset="-128"/>
                <a:cs typeface="Arial" panose="020B0604020202020204" pitchFamily="34" charset="0"/>
              </a:rPr>
              <a:t>Build a model and run probabilistic simulations</a:t>
            </a:r>
          </a:p>
        </p:txBody>
      </p:sp>
      <p:sp>
        <p:nvSpPr>
          <p:cNvPr id="46" name="Rectangle 45">
            <a:extLst>
              <a:ext uri="{FF2B5EF4-FFF2-40B4-BE49-F238E27FC236}">
                <a16:creationId xmlns:a16="http://schemas.microsoft.com/office/drawing/2014/main" id="{859A2332-0447-79AF-393B-700C3CDFC4CB}"/>
              </a:ext>
            </a:extLst>
          </p:cNvPr>
          <p:cNvSpPr/>
          <p:nvPr/>
        </p:nvSpPr>
        <p:spPr>
          <a:xfrm>
            <a:off x="7942104" y="5102426"/>
            <a:ext cx="3774824" cy="13193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solidFill>
                  <a:schemeClr val="tx1"/>
                </a:solidFill>
                <a:latin typeface="Arial" panose="020B0604020202020204" pitchFamily="34" charset="0"/>
                <a:ea typeface="Meiryo" panose="020B0604030504040204" pitchFamily="34" charset="-128"/>
                <a:cs typeface="Arial" panose="020B0604020202020204" pitchFamily="34" charset="0"/>
              </a:rPr>
              <a:t>We can estimate the expected value when unlimited information is available and effectiveness is known with certainty (zero uncertainty)—which </a:t>
            </a:r>
            <a:r>
              <a:rPr lang="en-US" sz="1600" b="1" noProof="0" dirty="0">
                <a:solidFill>
                  <a:schemeClr val="tx1"/>
                </a:solidFill>
                <a:latin typeface="Arial" panose="020B0604020202020204" pitchFamily="34" charset="0"/>
                <a:ea typeface="Meiryo" panose="020B0604030504040204" pitchFamily="34" charset="-128"/>
                <a:cs typeface="Arial" panose="020B0604020202020204" pitchFamily="34" charset="0"/>
              </a:rPr>
              <a:t>serves as a criterion for whether additional research is worth conducting.</a:t>
            </a:r>
          </a:p>
        </p:txBody>
      </p:sp>
      <p:grpSp>
        <p:nvGrpSpPr>
          <p:cNvPr id="3" name="Group 2">
            <a:extLst>
              <a:ext uri="{FF2B5EF4-FFF2-40B4-BE49-F238E27FC236}">
                <a16:creationId xmlns:a16="http://schemas.microsoft.com/office/drawing/2014/main" id="{1BAD0E34-2E38-7E7A-70CC-24E0195F9DDF}"/>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919A5B62-B55C-447C-6C6B-9942E56B35F8}"/>
                </a:ext>
              </a:extLst>
            </p:cNvPr>
            <p:cNvSpPr/>
            <p:nvPr/>
          </p:nvSpPr>
          <p:spPr>
            <a:xfrm>
              <a:off x="3192565"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1" name="Arrow: Pentagon 10">
              <a:extLst>
                <a:ext uri="{FF2B5EF4-FFF2-40B4-BE49-F238E27FC236}">
                  <a16:creationId xmlns:a16="http://schemas.microsoft.com/office/drawing/2014/main" id="{60288845-E761-38E3-9E86-19A09427583C}"/>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3" name="Arrow: Pentagon 12">
              <a:extLst>
                <a:ext uri="{FF2B5EF4-FFF2-40B4-BE49-F238E27FC236}">
                  <a16:creationId xmlns:a16="http://schemas.microsoft.com/office/drawing/2014/main" id="{2711D27C-45F7-5341-F7E3-38F4781B2601}"/>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
        <p:nvSpPr>
          <p:cNvPr id="15" name="Speech Bubble: Rectangle 14">
            <a:extLst>
              <a:ext uri="{FF2B5EF4-FFF2-40B4-BE49-F238E27FC236}">
                <a16:creationId xmlns:a16="http://schemas.microsoft.com/office/drawing/2014/main" id="{48F99357-D872-A2AA-D309-AEEDF0FC3EB4}"/>
              </a:ext>
            </a:extLst>
          </p:cNvPr>
          <p:cNvSpPr/>
          <p:nvPr/>
        </p:nvSpPr>
        <p:spPr>
          <a:xfrm>
            <a:off x="467139" y="2082627"/>
            <a:ext cx="2987261" cy="2234730"/>
          </a:xfrm>
          <a:prstGeom prst="wedgeRectCallout">
            <a:avLst>
              <a:gd name="adj1" fmla="val 69637"/>
              <a:gd name="adj2" fmla="val 19900"/>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For a given disease, existing studies show no significant difference between Treatment A and Treatment B. Should we conduct an interventional study comparing A vs. B, or an observational study?</a:t>
            </a:r>
          </a:p>
        </p:txBody>
      </p:sp>
    </p:spTree>
    <p:extLst>
      <p:ext uri="{BB962C8B-B14F-4D97-AF65-F5344CB8AC3E}">
        <p14:creationId xmlns:p14="http://schemas.microsoft.com/office/powerpoint/2010/main" val="6666699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ACF8A-C009-C119-57C1-076FFD776F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FA91A2-D917-2E97-6E7F-1D00B04E93EA}"/>
              </a:ext>
            </a:extLst>
          </p:cNvPr>
          <p:cNvSpPr>
            <a:spLocks noGrp="1"/>
          </p:cNvSpPr>
          <p:nvPr>
            <p:ph type="title"/>
          </p:nvPr>
        </p:nvSpPr>
        <p:spPr/>
        <p:txBody>
          <a:bodyPr/>
          <a:lstStyle/>
          <a:p>
            <a:r>
              <a:rPr lang="en-US" dirty="0"/>
              <a:t>Use Case in Research</a:t>
            </a:r>
            <a:endParaRPr lang="en-US" noProof="0" dirty="0"/>
          </a:p>
        </p:txBody>
      </p:sp>
      <p:sp>
        <p:nvSpPr>
          <p:cNvPr id="4" name="Slide Number Placeholder 3">
            <a:extLst>
              <a:ext uri="{FF2B5EF4-FFF2-40B4-BE49-F238E27FC236}">
                <a16:creationId xmlns:a16="http://schemas.microsoft.com/office/drawing/2014/main" id="{DFFA8000-CA2D-1A17-67AC-1A7314D42F30}"/>
              </a:ext>
            </a:extLst>
          </p:cNvPr>
          <p:cNvSpPr>
            <a:spLocks noGrp="1"/>
          </p:cNvSpPr>
          <p:nvPr>
            <p:ph type="sldNum" sz="quarter" idx="4"/>
          </p:nvPr>
        </p:nvSpPr>
        <p:spPr/>
        <p:txBody>
          <a:bodyPr/>
          <a:lstStyle/>
          <a:p>
            <a:fld id="{B5CEABB6-07DC-46E8-9B57-56EC44A396E5}" type="slidenum">
              <a:rPr lang="en-US" noProof="0" smtClean="0"/>
              <a:pPr/>
              <a:t>64</a:t>
            </a:fld>
            <a:endParaRPr lang="en-US" noProof="0" dirty="0"/>
          </a:p>
        </p:txBody>
      </p:sp>
      <p:sp>
        <p:nvSpPr>
          <p:cNvPr id="5" name="Table Placeholder 4">
            <a:extLst>
              <a:ext uri="{FF2B5EF4-FFF2-40B4-BE49-F238E27FC236}">
                <a16:creationId xmlns:a16="http://schemas.microsoft.com/office/drawing/2014/main" id="{49D580F8-8FF9-1DEE-D106-A71F424D1BE7}"/>
              </a:ext>
            </a:extLst>
          </p:cNvPr>
          <p:cNvSpPr>
            <a:spLocks noGrp="1"/>
          </p:cNvSpPr>
          <p:nvPr>
            <p:ph type="tbl" sz="quarter" idx="11"/>
          </p:nvPr>
        </p:nvSpPr>
        <p:spPr/>
        <p:txBody>
          <a:bodyPr/>
          <a:lstStyle/>
          <a:p>
            <a:r>
              <a:rPr lang="en-US" noProof="0" dirty="0"/>
              <a:t>We can estimate the sample size that maximizes the value of information from additional research.</a:t>
            </a:r>
          </a:p>
        </p:txBody>
      </p:sp>
      <p:pic>
        <p:nvPicPr>
          <p:cNvPr id="14" name="Picture 13" descr="A black background with a black square&#10;&#10;AI-generated content may be incorrect.">
            <a:extLst>
              <a:ext uri="{FF2B5EF4-FFF2-40B4-BE49-F238E27FC236}">
                <a16:creationId xmlns:a16="http://schemas.microsoft.com/office/drawing/2014/main" id="{C1BCB3CC-56A0-CBAB-957E-0543FA42D168}"/>
              </a:ext>
            </a:extLst>
          </p:cNvPr>
          <p:cNvPicPr>
            <a:picLocks noChangeAspect="1"/>
          </p:cNvPicPr>
          <p:nvPr/>
        </p:nvPicPr>
        <p:blipFill>
          <a:blip r:embed="rId3"/>
          <a:stretch>
            <a:fillRect/>
          </a:stretch>
        </p:blipFill>
        <p:spPr>
          <a:xfrm>
            <a:off x="5857149" y="4465429"/>
            <a:ext cx="1412459" cy="1412459"/>
          </a:xfrm>
          <a:prstGeom prst="rect">
            <a:avLst/>
          </a:prstGeom>
        </p:spPr>
      </p:pic>
      <p:sp>
        <p:nvSpPr>
          <p:cNvPr id="18" name="Arrow: Circular 17">
            <a:extLst>
              <a:ext uri="{FF2B5EF4-FFF2-40B4-BE49-F238E27FC236}">
                <a16:creationId xmlns:a16="http://schemas.microsoft.com/office/drawing/2014/main" id="{0F7DA157-B641-8675-084E-5CEC578B24A5}"/>
              </a:ext>
            </a:extLst>
          </p:cNvPr>
          <p:cNvSpPr/>
          <p:nvPr/>
        </p:nvSpPr>
        <p:spPr>
          <a:xfrm rot="356095">
            <a:off x="3726752" y="2762933"/>
            <a:ext cx="3747285" cy="3747285"/>
          </a:xfrm>
          <a:prstGeom prst="circularArrow">
            <a:avLst>
              <a:gd name="adj1" fmla="val 22589"/>
              <a:gd name="adj2" fmla="val 703293"/>
              <a:gd name="adj3" fmla="val 20105413"/>
              <a:gd name="adj4" fmla="val 14113690"/>
              <a:gd name="adj5" fmla="val 1648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pic>
        <p:nvPicPr>
          <p:cNvPr id="12" name="Picture 11" descr="A black background with a black square&#10;&#10;AI-generated content may be incorrect.">
            <a:extLst>
              <a:ext uri="{FF2B5EF4-FFF2-40B4-BE49-F238E27FC236}">
                <a16:creationId xmlns:a16="http://schemas.microsoft.com/office/drawing/2014/main" id="{E0A48226-59A6-B120-ED5C-556BE8A37680}"/>
              </a:ext>
            </a:extLst>
          </p:cNvPr>
          <p:cNvPicPr>
            <a:picLocks noChangeAspect="1"/>
          </p:cNvPicPr>
          <p:nvPr/>
        </p:nvPicPr>
        <p:blipFill>
          <a:blip r:embed="rId4"/>
          <a:stretch>
            <a:fillRect/>
          </a:stretch>
        </p:blipFill>
        <p:spPr>
          <a:xfrm>
            <a:off x="3863226" y="3052970"/>
            <a:ext cx="1412459" cy="1412459"/>
          </a:xfrm>
          <a:prstGeom prst="rect">
            <a:avLst/>
          </a:prstGeom>
        </p:spPr>
      </p:pic>
      <p:sp>
        <p:nvSpPr>
          <p:cNvPr id="23" name="Speech Bubble: Rectangle 22">
            <a:extLst>
              <a:ext uri="{FF2B5EF4-FFF2-40B4-BE49-F238E27FC236}">
                <a16:creationId xmlns:a16="http://schemas.microsoft.com/office/drawing/2014/main" id="{13859804-7DD2-8CA2-1826-AB4A66A56BC8}"/>
              </a:ext>
            </a:extLst>
          </p:cNvPr>
          <p:cNvSpPr/>
          <p:nvPr/>
        </p:nvSpPr>
        <p:spPr>
          <a:xfrm>
            <a:off x="7851071" y="2082626"/>
            <a:ext cx="3924093" cy="4478177"/>
          </a:xfrm>
          <a:prstGeom prst="wedgeRectCallout">
            <a:avLst>
              <a:gd name="adj1" fmla="val -61126"/>
              <a:gd name="adj2" fmla="val 20005"/>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46" name="Rectangle 45">
            <a:extLst>
              <a:ext uri="{FF2B5EF4-FFF2-40B4-BE49-F238E27FC236}">
                <a16:creationId xmlns:a16="http://schemas.microsoft.com/office/drawing/2014/main" id="{9289FB01-058E-7697-B4D3-F7712B027C1E}"/>
              </a:ext>
            </a:extLst>
          </p:cNvPr>
          <p:cNvSpPr/>
          <p:nvPr/>
        </p:nvSpPr>
        <p:spPr>
          <a:xfrm>
            <a:off x="7942104" y="2453351"/>
            <a:ext cx="3774824" cy="4203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noProof="0" dirty="0">
                <a:solidFill>
                  <a:schemeClr val="tx1"/>
                </a:solidFill>
                <a:latin typeface="Arial" panose="020B0604020202020204" pitchFamily="34" charset="0"/>
                <a:ea typeface="Meiryo" panose="020B0604030504040204" pitchFamily="34" charset="-128"/>
                <a:cs typeface="Arial" panose="020B0604020202020204" pitchFamily="34" charset="0"/>
              </a:rPr>
              <a:t>When further research is potentially valuable, a key question is: How large a sample is needed, given that a census is impossible?</a:t>
            </a:r>
          </a:p>
        </p:txBody>
      </p:sp>
      <p:sp>
        <p:nvSpPr>
          <p:cNvPr id="11" name="Isosceles Triangle 10">
            <a:extLst>
              <a:ext uri="{FF2B5EF4-FFF2-40B4-BE49-F238E27FC236}">
                <a16:creationId xmlns:a16="http://schemas.microsoft.com/office/drawing/2014/main" id="{C14418ED-E75D-06F6-068F-C839D89BE5BB}"/>
              </a:ext>
            </a:extLst>
          </p:cNvPr>
          <p:cNvSpPr/>
          <p:nvPr/>
        </p:nvSpPr>
        <p:spPr>
          <a:xfrm flipV="1">
            <a:off x="8532564" y="3254936"/>
            <a:ext cx="2503481" cy="68596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3" name="Rectangle 12">
            <a:extLst>
              <a:ext uri="{FF2B5EF4-FFF2-40B4-BE49-F238E27FC236}">
                <a16:creationId xmlns:a16="http://schemas.microsoft.com/office/drawing/2014/main" id="{D1D76EE4-1CA5-5E70-FC51-774591D1EE3A}"/>
              </a:ext>
            </a:extLst>
          </p:cNvPr>
          <p:cNvSpPr/>
          <p:nvPr/>
        </p:nvSpPr>
        <p:spPr>
          <a:xfrm>
            <a:off x="8733642" y="3252522"/>
            <a:ext cx="2130789" cy="5595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panose="020B0604030504040204" pitchFamily="34" charset="-128"/>
                <a:cs typeface="Arial" panose="020B0604020202020204" pitchFamily="34" charset="0"/>
              </a:rPr>
              <a:t>Test different sample sizes in the model</a:t>
            </a:r>
          </a:p>
        </p:txBody>
      </p:sp>
      <p:grpSp>
        <p:nvGrpSpPr>
          <p:cNvPr id="49" name="Group 48">
            <a:extLst>
              <a:ext uri="{FF2B5EF4-FFF2-40B4-BE49-F238E27FC236}">
                <a16:creationId xmlns:a16="http://schemas.microsoft.com/office/drawing/2014/main" id="{C29FAAC8-EF39-A6CD-9884-1599D92CEC7E}"/>
              </a:ext>
            </a:extLst>
          </p:cNvPr>
          <p:cNvGrpSpPr/>
          <p:nvPr/>
        </p:nvGrpSpPr>
        <p:grpSpPr>
          <a:xfrm>
            <a:off x="8034789" y="3844375"/>
            <a:ext cx="4419599" cy="1955555"/>
            <a:chOff x="8100025" y="4130325"/>
            <a:chExt cx="4419599" cy="1955555"/>
          </a:xfrm>
        </p:grpSpPr>
        <p:grpSp>
          <p:nvGrpSpPr>
            <p:cNvPr id="15" name="Group 14">
              <a:extLst>
                <a:ext uri="{FF2B5EF4-FFF2-40B4-BE49-F238E27FC236}">
                  <a16:creationId xmlns:a16="http://schemas.microsoft.com/office/drawing/2014/main" id="{75A3DEA8-7ED5-E0D4-232C-2874D8A05D95}"/>
                </a:ext>
              </a:extLst>
            </p:cNvPr>
            <p:cNvGrpSpPr/>
            <p:nvPr/>
          </p:nvGrpSpPr>
          <p:grpSpPr>
            <a:xfrm>
              <a:off x="8100025" y="4130325"/>
              <a:ext cx="2969724" cy="1906530"/>
              <a:chOff x="8069737" y="2291365"/>
              <a:chExt cx="2969724" cy="1906530"/>
            </a:xfrm>
          </p:grpSpPr>
          <p:cxnSp>
            <p:nvCxnSpPr>
              <p:cNvPr id="19" name="Straight Arrow Connector 18">
                <a:extLst>
                  <a:ext uri="{FF2B5EF4-FFF2-40B4-BE49-F238E27FC236}">
                    <a16:creationId xmlns:a16="http://schemas.microsoft.com/office/drawing/2014/main" id="{6D19D590-26C8-F085-9EAE-5FA38D54F322}"/>
                  </a:ext>
                </a:extLst>
              </p:cNvPr>
              <p:cNvCxnSpPr>
                <a:cxnSpLocks/>
              </p:cNvCxnSpPr>
              <p:nvPr/>
            </p:nvCxnSpPr>
            <p:spPr>
              <a:xfrm flipV="1">
                <a:off x="8861549" y="2304961"/>
                <a:ext cx="8556" cy="106829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84A6EFF-097E-8486-002C-3281AD30EF76}"/>
                  </a:ext>
                </a:extLst>
              </p:cNvPr>
              <p:cNvCxnSpPr>
                <a:cxnSpLocks/>
              </p:cNvCxnSpPr>
              <p:nvPr/>
            </p:nvCxnSpPr>
            <p:spPr>
              <a:xfrm>
                <a:off x="8861549" y="3373251"/>
                <a:ext cx="197259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22B23BEA-BBDA-570E-0A61-FE38CDD4D98B}"/>
                  </a:ext>
                </a:extLst>
              </p:cNvPr>
              <p:cNvSpPr/>
              <p:nvPr/>
            </p:nvSpPr>
            <p:spPr>
              <a:xfrm>
                <a:off x="8069737" y="2291365"/>
                <a:ext cx="747751" cy="12799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expected incremental value</a:t>
                </a:r>
              </a:p>
            </p:txBody>
          </p:sp>
          <p:sp>
            <p:nvSpPr>
              <p:cNvPr id="24" name="Rectangle 23">
                <a:extLst>
                  <a:ext uri="{FF2B5EF4-FFF2-40B4-BE49-F238E27FC236}">
                    <a16:creationId xmlns:a16="http://schemas.microsoft.com/office/drawing/2014/main" id="{931E43EC-123C-4B08-E499-F2750884A308}"/>
                  </a:ext>
                </a:extLst>
              </p:cNvPr>
              <p:cNvSpPr/>
              <p:nvPr/>
            </p:nvSpPr>
            <p:spPr>
              <a:xfrm>
                <a:off x="8813788" y="3418668"/>
                <a:ext cx="466409"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10</a:t>
                </a:r>
              </a:p>
            </p:txBody>
          </p:sp>
          <p:sp>
            <p:nvSpPr>
              <p:cNvPr id="26" name="Rectangle 25">
                <a:extLst>
                  <a:ext uri="{FF2B5EF4-FFF2-40B4-BE49-F238E27FC236}">
                    <a16:creationId xmlns:a16="http://schemas.microsoft.com/office/drawing/2014/main" id="{C0975CBE-7BB9-9164-9CF8-B3A4F2645DBF}"/>
                  </a:ext>
                </a:extLst>
              </p:cNvPr>
              <p:cNvSpPr/>
              <p:nvPr/>
            </p:nvSpPr>
            <p:spPr>
              <a:xfrm>
                <a:off x="9365381" y="3418668"/>
                <a:ext cx="826272"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100</a:t>
                </a:r>
              </a:p>
            </p:txBody>
          </p:sp>
          <p:sp>
            <p:nvSpPr>
              <p:cNvPr id="29" name="Rectangle 28">
                <a:extLst>
                  <a:ext uri="{FF2B5EF4-FFF2-40B4-BE49-F238E27FC236}">
                    <a16:creationId xmlns:a16="http://schemas.microsoft.com/office/drawing/2014/main" id="{4F1E4956-85F0-6F7C-7973-8DA3D561E0FC}"/>
                  </a:ext>
                </a:extLst>
              </p:cNvPr>
              <p:cNvSpPr/>
              <p:nvPr/>
            </p:nvSpPr>
            <p:spPr>
              <a:xfrm>
                <a:off x="10130562" y="3429000"/>
                <a:ext cx="908899"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1,000</a:t>
                </a:r>
              </a:p>
            </p:txBody>
          </p:sp>
          <p:sp>
            <p:nvSpPr>
              <p:cNvPr id="30" name="Rectangle 29">
                <a:extLst>
                  <a:ext uri="{FF2B5EF4-FFF2-40B4-BE49-F238E27FC236}">
                    <a16:creationId xmlns:a16="http://schemas.microsoft.com/office/drawing/2014/main" id="{61751C1A-6E72-30F9-B3A2-7077EF3B1311}"/>
                  </a:ext>
                </a:extLst>
              </p:cNvPr>
              <p:cNvSpPr/>
              <p:nvPr/>
            </p:nvSpPr>
            <p:spPr>
              <a:xfrm>
                <a:off x="8717108" y="3723978"/>
                <a:ext cx="2143138" cy="4739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additional sample size</a:t>
                </a:r>
              </a:p>
            </p:txBody>
          </p:sp>
        </p:grpSp>
        <p:grpSp>
          <p:nvGrpSpPr>
            <p:cNvPr id="48" name="Group 47">
              <a:extLst>
                <a:ext uri="{FF2B5EF4-FFF2-40B4-BE49-F238E27FC236}">
                  <a16:creationId xmlns:a16="http://schemas.microsoft.com/office/drawing/2014/main" id="{0E5A840E-BBAE-8F3D-7F03-E2DD8B580878}"/>
                </a:ext>
              </a:extLst>
            </p:cNvPr>
            <p:cNvGrpSpPr/>
            <p:nvPr/>
          </p:nvGrpSpPr>
          <p:grpSpPr>
            <a:xfrm>
              <a:off x="8915111" y="4318418"/>
              <a:ext cx="3604513" cy="1767462"/>
              <a:chOff x="8915111" y="4318418"/>
              <a:chExt cx="3604513" cy="1767462"/>
            </a:xfrm>
          </p:grpSpPr>
          <p:sp>
            <p:nvSpPr>
              <p:cNvPr id="36" name="Partial Circle 35">
                <a:extLst>
                  <a:ext uri="{FF2B5EF4-FFF2-40B4-BE49-F238E27FC236}">
                    <a16:creationId xmlns:a16="http://schemas.microsoft.com/office/drawing/2014/main" id="{8BD1F4CD-1188-DD15-D46C-A5A8EF0CA943}"/>
                  </a:ext>
                </a:extLst>
              </p:cNvPr>
              <p:cNvSpPr/>
              <p:nvPr/>
            </p:nvSpPr>
            <p:spPr>
              <a:xfrm>
                <a:off x="8915111" y="4337207"/>
                <a:ext cx="3604513" cy="1748673"/>
              </a:xfrm>
              <a:prstGeom prst="pie">
                <a:avLst>
                  <a:gd name="adj1" fmla="val 10792705"/>
                  <a:gd name="adj2" fmla="val 1620000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42" name="Straight Connector 41">
                <a:extLst>
                  <a:ext uri="{FF2B5EF4-FFF2-40B4-BE49-F238E27FC236}">
                    <a16:creationId xmlns:a16="http://schemas.microsoft.com/office/drawing/2014/main" id="{51CA838E-03A1-4F4E-E7A2-D664D58A428A}"/>
                  </a:ext>
                </a:extLst>
              </p:cNvPr>
              <p:cNvCxnSpPr>
                <a:cxnSpLocks/>
              </p:cNvCxnSpPr>
              <p:nvPr/>
            </p:nvCxnSpPr>
            <p:spPr>
              <a:xfrm>
                <a:off x="10706047" y="4318418"/>
                <a:ext cx="0" cy="874336"/>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50" name="Rectangle 49">
            <a:extLst>
              <a:ext uri="{FF2B5EF4-FFF2-40B4-BE49-F238E27FC236}">
                <a16:creationId xmlns:a16="http://schemas.microsoft.com/office/drawing/2014/main" id="{BE7FAECA-C511-35F3-5E2F-DEE138963B88}"/>
              </a:ext>
            </a:extLst>
          </p:cNvPr>
          <p:cNvSpPr/>
          <p:nvPr/>
        </p:nvSpPr>
        <p:spPr>
          <a:xfrm>
            <a:off x="7940832" y="5817327"/>
            <a:ext cx="3747585" cy="6770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b="1" noProof="0" dirty="0">
                <a:solidFill>
                  <a:schemeClr val="tx1"/>
                </a:solidFill>
                <a:latin typeface="Arial" panose="020B0604020202020204" pitchFamily="34" charset="0"/>
                <a:ea typeface="Meiryo" panose="020B0604030504040204" pitchFamily="34" charset="-128"/>
                <a:cs typeface="Arial" panose="020B0604020202020204" pitchFamily="34" charset="0"/>
              </a:rPr>
              <a:t>Estimate the expected value of information for a given sample size.</a:t>
            </a:r>
            <a:endParaRPr lang="en-US" noProof="0" dirty="0">
              <a:solidFill>
                <a:schemeClr val="tx1"/>
              </a:solidFill>
              <a:latin typeface="Arial" panose="020B0604020202020204" pitchFamily="34" charset="0"/>
              <a:ea typeface="Meiryo" panose="020B0604030504040204" pitchFamily="34" charset="-128"/>
              <a:cs typeface="Arial" panose="020B0604020202020204" pitchFamily="34" charset="0"/>
            </a:endParaRPr>
          </a:p>
        </p:txBody>
      </p:sp>
      <p:sp>
        <p:nvSpPr>
          <p:cNvPr id="51" name="Arrow: Circular 50">
            <a:extLst>
              <a:ext uri="{FF2B5EF4-FFF2-40B4-BE49-F238E27FC236}">
                <a16:creationId xmlns:a16="http://schemas.microsoft.com/office/drawing/2014/main" id="{DB31664F-8F2C-B514-9C4D-37C8A921BDC7}"/>
              </a:ext>
            </a:extLst>
          </p:cNvPr>
          <p:cNvSpPr/>
          <p:nvPr/>
        </p:nvSpPr>
        <p:spPr>
          <a:xfrm rot="12153872">
            <a:off x="3726752" y="2766023"/>
            <a:ext cx="3747285" cy="3747285"/>
          </a:xfrm>
          <a:prstGeom prst="circularArrow">
            <a:avLst>
              <a:gd name="adj1" fmla="val 22589"/>
              <a:gd name="adj2" fmla="val 703293"/>
              <a:gd name="adj3" fmla="val 20105413"/>
              <a:gd name="adj4" fmla="val 14113690"/>
              <a:gd name="adj5" fmla="val 1648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2" name="Rectangle 51">
            <a:extLst>
              <a:ext uri="{FF2B5EF4-FFF2-40B4-BE49-F238E27FC236}">
                <a16:creationId xmlns:a16="http://schemas.microsoft.com/office/drawing/2014/main" id="{B1213219-30C7-C794-3608-6CBA297526B9}"/>
              </a:ext>
            </a:extLst>
          </p:cNvPr>
          <p:cNvSpPr/>
          <p:nvPr/>
        </p:nvSpPr>
        <p:spPr>
          <a:xfrm>
            <a:off x="2706575" y="4755461"/>
            <a:ext cx="3323213" cy="10092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noProof="0" dirty="0">
                <a:solidFill>
                  <a:schemeClr val="tx1"/>
                </a:solidFill>
                <a:latin typeface="Arial" panose="020B0604020202020204" pitchFamily="34" charset="0"/>
                <a:ea typeface="Meiryo" panose="020B0604030504040204" pitchFamily="34" charset="-128"/>
                <a:cs typeface="Arial" panose="020B0604020202020204" pitchFamily="34" charset="0"/>
              </a:rPr>
              <a:t>Conduct additional research if (sample size × expected value per sample) &gt; cost of conducting the study</a:t>
            </a:r>
          </a:p>
        </p:txBody>
      </p:sp>
      <p:grpSp>
        <p:nvGrpSpPr>
          <p:cNvPr id="3" name="Group 2">
            <a:extLst>
              <a:ext uri="{FF2B5EF4-FFF2-40B4-BE49-F238E27FC236}">
                <a16:creationId xmlns:a16="http://schemas.microsoft.com/office/drawing/2014/main" id="{79A1037F-D142-D93E-3136-1789299D5946}"/>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6300BCB3-8E7F-9841-487A-E5BEF46AE667}"/>
                </a:ext>
              </a:extLst>
            </p:cNvPr>
            <p:cNvSpPr/>
            <p:nvPr/>
          </p:nvSpPr>
          <p:spPr>
            <a:xfrm>
              <a:off x="3192565"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6" name="Arrow: Pentagon 15">
              <a:extLst>
                <a:ext uri="{FF2B5EF4-FFF2-40B4-BE49-F238E27FC236}">
                  <a16:creationId xmlns:a16="http://schemas.microsoft.com/office/drawing/2014/main" id="{F8682D7E-35EA-7EA6-58CC-4AFB1F06F439}"/>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7" name="Arrow: Pentagon 16">
              <a:extLst>
                <a:ext uri="{FF2B5EF4-FFF2-40B4-BE49-F238E27FC236}">
                  <a16:creationId xmlns:a16="http://schemas.microsoft.com/office/drawing/2014/main" id="{0766C831-2E2A-62DA-A323-C227D79A08FF}"/>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12548559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43F2D-1B34-31FE-90F9-E820EA6C21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BA1363-68A6-0B53-4316-0CCDF82BA245}"/>
              </a:ext>
            </a:extLst>
          </p:cNvPr>
          <p:cNvSpPr>
            <a:spLocks noGrp="1"/>
          </p:cNvSpPr>
          <p:nvPr>
            <p:ph type="title"/>
          </p:nvPr>
        </p:nvSpPr>
        <p:spPr/>
        <p:txBody>
          <a:bodyPr/>
          <a:lstStyle/>
          <a:p>
            <a:r>
              <a:rPr lang="en-US" dirty="0"/>
              <a:t>Use Case in Research</a:t>
            </a:r>
            <a:endParaRPr lang="en-US" noProof="0" dirty="0"/>
          </a:p>
        </p:txBody>
      </p:sp>
      <p:sp>
        <p:nvSpPr>
          <p:cNvPr id="4" name="Slide Number Placeholder 3">
            <a:extLst>
              <a:ext uri="{FF2B5EF4-FFF2-40B4-BE49-F238E27FC236}">
                <a16:creationId xmlns:a16="http://schemas.microsoft.com/office/drawing/2014/main" id="{706C3900-8413-4527-5F81-4766B11723A4}"/>
              </a:ext>
            </a:extLst>
          </p:cNvPr>
          <p:cNvSpPr>
            <a:spLocks noGrp="1"/>
          </p:cNvSpPr>
          <p:nvPr>
            <p:ph type="sldNum" sz="quarter" idx="4"/>
          </p:nvPr>
        </p:nvSpPr>
        <p:spPr/>
        <p:txBody>
          <a:bodyPr/>
          <a:lstStyle/>
          <a:p>
            <a:fld id="{B5CEABB6-07DC-46E8-9B57-56EC44A396E5}" type="slidenum">
              <a:rPr lang="en-US" noProof="0" smtClean="0"/>
              <a:pPr/>
              <a:t>65</a:t>
            </a:fld>
            <a:endParaRPr lang="en-US" noProof="0" dirty="0"/>
          </a:p>
        </p:txBody>
      </p:sp>
      <p:sp>
        <p:nvSpPr>
          <p:cNvPr id="5" name="Table Placeholder 4">
            <a:extLst>
              <a:ext uri="{FF2B5EF4-FFF2-40B4-BE49-F238E27FC236}">
                <a16:creationId xmlns:a16="http://schemas.microsoft.com/office/drawing/2014/main" id="{3E7CC6D2-2DC3-A295-D905-EC61CBCE0509}"/>
              </a:ext>
            </a:extLst>
          </p:cNvPr>
          <p:cNvSpPr>
            <a:spLocks noGrp="1"/>
          </p:cNvSpPr>
          <p:nvPr>
            <p:ph type="tbl" sz="quarter" idx="11"/>
          </p:nvPr>
        </p:nvSpPr>
        <p:spPr/>
        <p:txBody>
          <a:bodyPr/>
          <a:lstStyle/>
          <a:p>
            <a:r>
              <a:rPr lang="en-US" noProof="0" dirty="0"/>
              <a:t>From pilot study data, we can estimate the value of information gained from conducting further research.</a:t>
            </a:r>
          </a:p>
        </p:txBody>
      </p:sp>
      <p:pic>
        <p:nvPicPr>
          <p:cNvPr id="14" name="Picture 13" descr="A black background with a black square&#10;&#10;AI-generated content may be incorrect.">
            <a:extLst>
              <a:ext uri="{FF2B5EF4-FFF2-40B4-BE49-F238E27FC236}">
                <a16:creationId xmlns:a16="http://schemas.microsoft.com/office/drawing/2014/main" id="{D2B8DB3E-9160-EAC4-D47D-5E6E224FA311}"/>
              </a:ext>
            </a:extLst>
          </p:cNvPr>
          <p:cNvPicPr>
            <a:picLocks noChangeAspect="1"/>
          </p:cNvPicPr>
          <p:nvPr/>
        </p:nvPicPr>
        <p:blipFill>
          <a:blip r:embed="rId2"/>
          <a:stretch>
            <a:fillRect/>
          </a:stretch>
        </p:blipFill>
        <p:spPr>
          <a:xfrm>
            <a:off x="5857149" y="4465429"/>
            <a:ext cx="1412459" cy="1412459"/>
          </a:xfrm>
          <a:prstGeom prst="rect">
            <a:avLst/>
          </a:prstGeom>
        </p:spPr>
      </p:pic>
      <p:sp>
        <p:nvSpPr>
          <p:cNvPr id="18" name="Arrow: Circular 17">
            <a:extLst>
              <a:ext uri="{FF2B5EF4-FFF2-40B4-BE49-F238E27FC236}">
                <a16:creationId xmlns:a16="http://schemas.microsoft.com/office/drawing/2014/main" id="{6E8CBC25-3F9B-A20C-EDE7-5139D1867567}"/>
              </a:ext>
            </a:extLst>
          </p:cNvPr>
          <p:cNvSpPr/>
          <p:nvPr/>
        </p:nvSpPr>
        <p:spPr>
          <a:xfrm rot="356095">
            <a:off x="3726752" y="2762933"/>
            <a:ext cx="3747285" cy="3747285"/>
          </a:xfrm>
          <a:prstGeom prst="circularArrow">
            <a:avLst>
              <a:gd name="adj1" fmla="val 22589"/>
              <a:gd name="adj2" fmla="val 703293"/>
              <a:gd name="adj3" fmla="val 20105413"/>
              <a:gd name="adj4" fmla="val 14113690"/>
              <a:gd name="adj5" fmla="val 1648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pic>
        <p:nvPicPr>
          <p:cNvPr id="12" name="Picture 11" descr="A black background with a black square&#10;&#10;AI-generated content may be incorrect.">
            <a:extLst>
              <a:ext uri="{FF2B5EF4-FFF2-40B4-BE49-F238E27FC236}">
                <a16:creationId xmlns:a16="http://schemas.microsoft.com/office/drawing/2014/main" id="{AF573EC0-0FA1-3293-8C26-68EE50E61A75}"/>
              </a:ext>
            </a:extLst>
          </p:cNvPr>
          <p:cNvPicPr>
            <a:picLocks noChangeAspect="1"/>
          </p:cNvPicPr>
          <p:nvPr/>
        </p:nvPicPr>
        <p:blipFill>
          <a:blip r:embed="rId3"/>
          <a:stretch>
            <a:fillRect/>
          </a:stretch>
        </p:blipFill>
        <p:spPr>
          <a:xfrm>
            <a:off x="3863226" y="3052970"/>
            <a:ext cx="1412459" cy="1412459"/>
          </a:xfrm>
          <a:prstGeom prst="rect">
            <a:avLst/>
          </a:prstGeom>
        </p:spPr>
      </p:pic>
      <p:sp>
        <p:nvSpPr>
          <p:cNvPr id="51" name="Arrow: Circular 50">
            <a:extLst>
              <a:ext uri="{FF2B5EF4-FFF2-40B4-BE49-F238E27FC236}">
                <a16:creationId xmlns:a16="http://schemas.microsoft.com/office/drawing/2014/main" id="{D6CDD42C-824A-D84B-6426-398A44DEE813}"/>
              </a:ext>
            </a:extLst>
          </p:cNvPr>
          <p:cNvSpPr/>
          <p:nvPr/>
        </p:nvSpPr>
        <p:spPr>
          <a:xfrm rot="12153872">
            <a:off x="3726752" y="2766023"/>
            <a:ext cx="3747285" cy="3747285"/>
          </a:xfrm>
          <a:prstGeom prst="circularArrow">
            <a:avLst>
              <a:gd name="adj1" fmla="val 22589"/>
              <a:gd name="adj2" fmla="val 703293"/>
              <a:gd name="adj3" fmla="val 20105413"/>
              <a:gd name="adj4" fmla="val 14113690"/>
              <a:gd name="adj5" fmla="val 1648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 name="Speech Bubble: Rectangle 2">
            <a:extLst>
              <a:ext uri="{FF2B5EF4-FFF2-40B4-BE49-F238E27FC236}">
                <a16:creationId xmlns:a16="http://schemas.microsoft.com/office/drawing/2014/main" id="{110E3B9A-FFCB-CB39-3D5B-EF45A415E9DB}"/>
              </a:ext>
            </a:extLst>
          </p:cNvPr>
          <p:cNvSpPr/>
          <p:nvPr/>
        </p:nvSpPr>
        <p:spPr>
          <a:xfrm>
            <a:off x="467139" y="2082627"/>
            <a:ext cx="2987261" cy="1676573"/>
          </a:xfrm>
          <a:prstGeom prst="wedgeRectCallout">
            <a:avLst>
              <a:gd name="adj1" fmla="val 69637"/>
              <a:gd name="adj2" fmla="val 29223"/>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We’ve collected data from 100 participants for now, but should we continue the study?</a:t>
            </a:r>
          </a:p>
        </p:txBody>
      </p:sp>
      <p:sp>
        <p:nvSpPr>
          <p:cNvPr id="10" name="Rectangle 9">
            <a:extLst>
              <a:ext uri="{FF2B5EF4-FFF2-40B4-BE49-F238E27FC236}">
                <a16:creationId xmlns:a16="http://schemas.microsoft.com/office/drawing/2014/main" id="{5A113D1E-371A-8387-A5B7-45C75AC02B13}"/>
              </a:ext>
            </a:extLst>
          </p:cNvPr>
          <p:cNvSpPr/>
          <p:nvPr/>
        </p:nvSpPr>
        <p:spPr>
          <a:xfrm>
            <a:off x="5066083" y="3249127"/>
            <a:ext cx="2398716" cy="5464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91440" indent="-91440">
              <a:buFont typeface="Arial" panose="020B0604020202020204" pitchFamily="34" charset="0"/>
              <a:buChar char="•"/>
            </a:pPr>
            <a:r>
              <a:rPr lang="en-US" noProof="0" dirty="0">
                <a:solidFill>
                  <a:schemeClr val="tx1"/>
                </a:solidFill>
                <a:latin typeface="Arial" panose="020B0604020202020204" pitchFamily="34" charset="0"/>
                <a:ea typeface="Meiryo" panose="020B0604030504040204" pitchFamily="34" charset="-128"/>
                <a:cs typeface="Arial" panose="020B0604020202020204" pitchFamily="34" charset="0"/>
              </a:rPr>
              <a:t>Newly collected data</a:t>
            </a:r>
          </a:p>
        </p:txBody>
      </p:sp>
      <p:sp>
        <p:nvSpPr>
          <p:cNvPr id="16" name="Speech Bubble: Rectangle 15">
            <a:extLst>
              <a:ext uri="{FF2B5EF4-FFF2-40B4-BE49-F238E27FC236}">
                <a16:creationId xmlns:a16="http://schemas.microsoft.com/office/drawing/2014/main" id="{97399C49-1400-4E62-B066-EDAB04D3A350}"/>
              </a:ext>
            </a:extLst>
          </p:cNvPr>
          <p:cNvSpPr/>
          <p:nvPr/>
        </p:nvSpPr>
        <p:spPr>
          <a:xfrm>
            <a:off x="7851071" y="2082626"/>
            <a:ext cx="3924093" cy="4478177"/>
          </a:xfrm>
          <a:prstGeom prst="wedgeRectCallout">
            <a:avLst>
              <a:gd name="adj1" fmla="val -61126"/>
              <a:gd name="adj2" fmla="val 20005"/>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7" name="Rectangle 16">
            <a:extLst>
              <a:ext uri="{FF2B5EF4-FFF2-40B4-BE49-F238E27FC236}">
                <a16:creationId xmlns:a16="http://schemas.microsoft.com/office/drawing/2014/main" id="{E0538E83-D242-6FB8-DA76-0AA9C17EA97E}"/>
              </a:ext>
            </a:extLst>
          </p:cNvPr>
          <p:cNvSpPr/>
          <p:nvPr/>
        </p:nvSpPr>
        <p:spPr>
          <a:xfrm>
            <a:off x="7942104" y="2237721"/>
            <a:ext cx="3774824" cy="4203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600" noProof="0" dirty="0">
                <a:solidFill>
                  <a:schemeClr val="tx1"/>
                </a:solidFill>
                <a:latin typeface="Arial" panose="020B0604020202020204" pitchFamily="34" charset="0"/>
                <a:ea typeface="Meiryo" panose="020B0604030504040204" pitchFamily="34" charset="-128"/>
                <a:cs typeface="Arial" panose="020B0604020202020204" pitchFamily="34" charset="0"/>
              </a:rPr>
              <a:t>Re-run the model using new data with slightly reduced uncertainty.</a:t>
            </a:r>
          </a:p>
        </p:txBody>
      </p:sp>
      <p:sp>
        <p:nvSpPr>
          <p:cNvPr id="21" name="Rectangle 20">
            <a:extLst>
              <a:ext uri="{FF2B5EF4-FFF2-40B4-BE49-F238E27FC236}">
                <a16:creationId xmlns:a16="http://schemas.microsoft.com/office/drawing/2014/main" id="{7D2D80CE-E014-2751-E520-5F6CF2B37B37}"/>
              </a:ext>
            </a:extLst>
          </p:cNvPr>
          <p:cNvSpPr/>
          <p:nvPr/>
        </p:nvSpPr>
        <p:spPr>
          <a:xfrm>
            <a:off x="8099972" y="5413850"/>
            <a:ext cx="3454340" cy="1053403"/>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lstStyle/>
          <a:p>
            <a:pPr algn="ctr"/>
            <a:r>
              <a:rPr lang="en-US" sz="2400" b="1" noProof="0" dirty="0">
                <a:solidFill>
                  <a:schemeClr val="tx1"/>
                </a:solidFill>
                <a:latin typeface="Arial" panose="020B0604020202020204" pitchFamily="34" charset="0"/>
                <a:ea typeface="Meiryo" panose="020B0604030504040204" pitchFamily="34" charset="-128"/>
                <a:cs typeface="Arial" panose="020B0604020202020204" pitchFamily="34" charset="0"/>
              </a:rPr>
              <a:t>Value of Information </a:t>
            </a:r>
          </a:p>
          <a:p>
            <a:pPr algn="ctr"/>
            <a:r>
              <a:rPr lang="en-US" sz="2400" b="1" noProof="0" dirty="0">
                <a:solidFill>
                  <a:schemeClr val="tx1"/>
                </a:solidFill>
                <a:latin typeface="Arial" panose="020B0604020202020204" pitchFamily="34" charset="0"/>
                <a:ea typeface="Meiryo" panose="020B0604030504040204" pitchFamily="34" charset="-128"/>
                <a:cs typeface="Arial" panose="020B0604020202020204" pitchFamily="34" charset="0"/>
              </a:rPr>
              <a:t>analysis</a:t>
            </a:r>
          </a:p>
          <a:p>
            <a:pPr algn="ctr"/>
            <a:r>
              <a:rPr lang="en-US" noProof="0" dirty="0">
                <a:solidFill>
                  <a:schemeClr val="tx1"/>
                </a:solidFill>
                <a:latin typeface="Arial" panose="020B0604020202020204" pitchFamily="34" charset="0"/>
                <a:ea typeface="Meiryo" panose="020B0604030504040204" pitchFamily="34" charset="-128"/>
                <a:cs typeface="Arial" panose="020B0604020202020204" pitchFamily="34" charset="0"/>
              </a:rPr>
              <a:t>(VOI)</a:t>
            </a:r>
          </a:p>
        </p:txBody>
      </p:sp>
      <p:grpSp>
        <p:nvGrpSpPr>
          <p:cNvPr id="30" name="Group 29">
            <a:extLst>
              <a:ext uri="{FF2B5EF4-FFF2-40B4-BE49-F238E27FC236}">
                <a16:creationId xmlns:a16="http://schemas.microsoft.com/office/drawing/2014/main" id="{6BAEB167-A189-F4F8-8FEB-FE7708F25A40}"/>
              </a:ext>
            </a:extLst>
          </p:cNvPr>
          <p:cNvGrpSpPr/>
          <p:nvPr/>
        </p:nvGrpSpPr>
        <p:grpSpPr>
          <a:xfrm>
            <a:off x="8597800" y="2700932"/>
            <a:ext cx="2430635" cy="1876728"/>
            <a:chOff x="8597800" y="2862923"/>
            <a:chExt cx="2430635" cy="1876728"/>
          </a:xfrm>
        </p:grpSpPr>
        <p:grpSp>
          <p:nvGrpSpPr>
            <p:cNvPr id="11" name="Group 10">
              <a:extLst>
                <a:ext uri="{FF2B5EF4-FFF2-40B4-BE49-F238E27FC236}">
                  <a16:creationId xmlns:a16="http://schemas.microsoft.com/office/drawing/2014/main" id="{686E533D-6EB8-851E-5AFE-284D8F3FCF6F}"/>
                </a:ext>
              </a:extLst>
            </p:cNvPr>
            <p:cNvGrpSpPr/>
            <p:nvPr/>
          </p:nvGrpSpPr>
          <p:grpSpPr>
            <a:xfrm>
              <a:off x="8597800" y="2862923"/>
              <a:ext cx="2430635" cy="1876728"/>
              <a:chOff x="8567512" y="2148153"/>
              <a:chExt cx="2430635" cy="1876728"/>
            </a:xfrm>
          </p:grpSpPr>
          <p:sp>
            <p:nvSpPr>
              <p:cNvPr id="13" name="Isosceles Triangle 24">
                <a:extLst>
                  <a:ext uri="{FF2B5EF4-FFF2-40B4-BE49-F238E27FC236}">
                    <a16:creationId xmlns:a16="http://schemas.microsoft.com/office/drawing/2014/main" id="{A19C8188-0A8B-0719-1FB5-D256494FEC84}"/>
                  </a:ext>
                </a:extLst>
              </p:cNvPr>
              <p:cNvSpPr/>
              <p:nvPr/>
            </p:nvSpPr>
            <p:spPr>
              <a:xfrm>
                <a:off x="8861549" y="2546492"/>
                <a:ext cx="1744397" cy="826760"/>
              </a:xfrm>
              <a:custGeom>
                <a:avLst/>
                <a:gdLst>
                  <a:gd name="connsiteX0" fmla="*/ 0 w 1180271"/>
                  <a:gd name="connsiteY0" fmla="*/ 702437 h 702437"/>
                  <a:gd name="connsiteX1" fmla="*/ 590136 w 1180271"/>
                  <a:gd name="connsiteY1" fmla="*/ 0 h 702437"/>
                  <a:gd name="connsiteX2" fmla="*/ 1180271 w 1180271"/>
                  <a:gd name="connsiteY2" fmla="*/ 702437 h 702437"/>
                  <a:gd name="connsiteX3" fmla="*/ 0 w 1180271"/>
                  <a:gd name="connsiteY3" fmla="*/ 702437 h 702437"/>
                  <a:gd name="connsiteX0" fmla="*/ 0 w 1180271"/>
                  <a:gd name="connsiteY0" fmla="*/ 702437 h 702437"/>
                  <a:gd name="connsiteX1" fmla="*/ 261907 w 1180271"/>
                  <a:gd name="connsiteY1" fmla="*/ 315746 h 702437"/>
                  <a:gd name="connsiteX2" fmla="*/ 590136 w 1180271"/>
                  <a:gd name="connsiteY2" fmla="*/ 0 h 702437"/>
                  <a:gd name="connsiteX3" fmla="*/ 1180271 w 1180271"/>
                  <a:gd name="connsiteY3" fmla="*/ 702437 h 702437"/>
                  <a:gd name="connsiteX4" fmla="*/ 0 w 1180271"/>
                  <a:gd name="connsiteY4" fmla="*/ 702437 h 70243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259636"/>
                  <a:gd name="connsiteY0" fmla="*/ 621157 h 621157"/>
                  <a:gd name="connsiteX1" fmla="*/ 261907 w 1259636"/>
                  <a:gd name="connsiteY1" fmla="*/ 234466 h 621157"/>
                  <a:gd name="connsiteX2" fmla="*/ 651096 w 1259636"/>
                  <a:gd name="connsiteY2" fmla="*/ 0 h 621157"/>
                  <a:gd name="connsiteX3" fmla="*/ 1115347 w 1259636"/>
                  <a:gd name="connsiteY3" fmla="*/ 447826 h 621157"/>
                  <a:gd name="connsiteX4" fmla="*/ 1180271 w 1259636"/>
                  <a:gd name="connsiteY4" fmla="*/ 621157 h 621157"/>
                  <a:gd name="connsiteX5" fmla="*/ 0 w 1259636"/>
                  <a:gd name="connsiteY5" fmla="*/ 621157 h 621157"/>
                  <a:gd name="connsiteX0" fmla="*/ 0 w 1274952"/>
                  <a:gd name="connsiteY0" fmla="*/ 621157 h 631317"/>
                  <a:gd name="connsiteX1" fmla="*/ 261907 w 1274952"/>
                  <a:gd name="connsiteY1" fmla="*/ 234466 h 631317"/>
                  <a:gd name="connsiteX2" fmla="*/ 651096 w 1274952"/>
                  <a:gd name="connsiteY2" fmla="*/ 0 h 631317"/>
                  <a:gd name="connsiteX3" fmla="*/ 1115347 w 1274952"/>
                  <a:gd name="connsiteY3" fmla="*/ 447826 h 631317"/>
                  <a:gd name="connsiteX4" fmla="*/ 1200591 w 1274952"/>
                  <a:gd name="connsiteY4" fmla="*/ 631317 h 631317"/>
                  <a:gd name="connsiteX5" fmla="*/ 0 w 1274952"/>
                  <a:gd name="connsiteY5" fmla="*/ 621157 h 631317"/>
                  <a:gd name="connsiteX0" fmla="*/ 0 w 1310591"/>
                  <a:gd name="connsiteY0" fmla="*/ 621157 h 631317"/>
                  <a:gd name="connsiteX1" fmla="*/ 261907 w 1310591"/>
                  <a:gd name="connsiteY1" fmla="*/ 234466 h 631317"/>
                  <a:gd name="connsiteX2" fmla="*/ 651096 w 1310591"/>
                  <a:gd name="connsiteY2" fmla="*/ 0 h 631317"/>
                  <a:gd name="connsiteX3" fmla="*/ 1115347 w 1310591"/>
                  <a:gd name="connsiteY3" fmla="*/ 447826 h 631317"/>
                  <a:gd name="connsiteX4" fmla="*/ 1241151 w 1310591"/>
                  <a:gd name="connsiteY4" fmla="*/ 589767 h 631317"/>
                  <a:gd name="connsiteX5" fmla="*/ 1200591 w 1310591"/>
                  <a:gd name="connsiteY5" fmla="*/ 631317 h 631317"/>
                  <a:gd name="connsiteX6" fmla="*/ 0 w 1310591"/>
                  <a:gd name="connsiteY6" fmla="*/ 621157 h 631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0591" h="631317">
                    <a:moveTo>
                      <a:pt x="0" y="621157"/>
                    </a:moveTo>
                    <a:cubicBezTo>
                      <a:pt x="111009" y="499033"/>
                      <a:pt x="150898" y="356590"/>
                      <a:pt x="261907" y="234466"/>
                    </a:cubicBezTo>
                    <a:cubicBezTo>
                      <a:pt x="391637" y="156311"/>
                      <a:pt x="419766" y="47675"/>
                      <a:pt x="651096" y="0"/>
                    </a:cubicBezTo>
                    <a:cubicBezTo>
                      <a:pt x="779789" y="27093"/>
                      <a:pt x="1027151" y="344300"/>
                      <a:pt x="1115347" y="447826"/>
                    </a:cubicBezTo>
                    <a:cubicBezTo>
                      <a:pt x="1218919" y="546867"/>
                      <a:pt x="1226944" y="559185"/>
                      <a:pt x="1241151" y="589767"/>
                    </a:cubicBezTo>
                    <a:cubicBezTo>
                      <a:pt x="1255358" y="620349"/>
                      <a:pt x="1412679" y="626833"/>
                      <a:pt x="1200591" y="631317"/>
                    </a:cubicBezTo>
                    <a:lnTo>
                      <a:pt x="0" y="621157"/>
                    </a:lnTo>
                    <a:close/>
                  </a:path>
                </a:pathLst>
              </a:custGeom>
              <a:solidFill>
                <a:schemeClr val="bg1"/>
              </a:solid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15" name="Straight Arrow Connector 14">
                <a:extLst>
                  <a:ext uri="{FF2B5EF4-FFF2-40B4-BE49-F238E27FC236}">
                    <a16:creationId xmlns:a16="http://schemas.microsoft.com/office/drawing/2014/main" id="{46E36EF7-8328-1424-2F41-F9072C4AEF0E}"/>
                  </a:ext>
                </a:extLst>
              </p:cNvPr>
              <p:cNvCxnSpPr>
                <a:cxnSpLocks/>
                <a:stCxn id="13" idx="0"/>
              </p:cNvCxnSpPr>
              <p:nvPr/>
            </p:nvCxnSpPr>
            <p:spPr>
              <a:xfrm flipV="1">
                <a:off x="8861549" y="2489858"/>
                <a:ext cx="13433" cy="87008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75CB3DF6-E491-C0A8-B998-C1503FEF7569}"/>
                  </a:ext>
                </a:extLst>
              </p:cNvPr>
              <p:cNvSpPr/>
              <p:nvPr/>
            </p:nvSpPr>
            <p:spPr>
              <a:xfrm>
                <a:off x="8567512" y="2567917"/>
                <a:ext cx="176493" cy="7193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Prob.</a:t>
                </a:r>
              </a:p>
            </p:txBody>
          </p:sp>
          <p:sp>
            <p:nvSpPr>
              <p:cNvPr id="22" name="Rectangle 21">
                <a:extLst>
                  <a:ext uri="{FF2B5EF4-FFF2-40B4-BE49-F238E27FC236}">
                    <a16:creationId xmlns:a16="http://schemas.microsoft.com/office/drawing/2014/main" id="{EE7DB821-D0E7-713B-C801-27981CD0349E}"/>
                  </a:ext>
                </a:extLst>
              </p:cNvPr>
              <p:cNvSpPr/>
              <p:nvPr/>
            </p:nvSpPr>
            <p:spPr>
              <a:xfrm>
                <a:off x="8633856" y="3418668"/>
                <a:ext cx="826272"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0.5</a:t>
                </a:r>
              </a:p>
            </p:txBody>
          </p:sp>
          <p:sp>
            <p:nvSpPr>
              <p:cNvPr id="23" name="Rectangle 22">
                <a:extLst>
                  <a:ext uri="{FF2B5EF4-FFF2-40B4-BE49-F238E27FC236}">
                    <a16:creationId xmlns:a16="http://schemas.microsoft.com/office/drawing/2014/main" id="{A3C81FDA-3D7D-C04A-6192-21A0F1881045}"/>
                  </a:ext>
                </a:extLst>
              </p:cNvPr>
              <p:cNvSpPr/>
              <p:nvPr/>
            </p:nvSpPr>
            <p:spPr>
              <a:xfrm>
                <a:off x="9365381" y="3418668"/>
                <a:ext cx="826272"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a:t>
                </a:r>
              </a:p>
            </p:txBody>
          </p:sp>
          <p:sp>
            <p:nvSpPr>
              <p:cNvPr id="24" name="Rectangle 23">
                <a:extLst>
                  <a:ext uri="{FF2B5EF4-FFF2-40B4-BE49-F238E27FC236}">
                    <a16:creationId xmlns:a16="http://schemas.microsoft.com/office/drawing/2014/main" id="{53576DCE-16BB-4872-93B6-BC1644CE20C2}"/>
                  </a:ext>
                </a:extLst>
              </p:cNvPr>
              <p:cNvSpPr/>
              <p:nvPr/>
            </p:nvSpPr>
            <p:spPr>
              <a:xfrm>
                <a:off x="10171875" y="3429000"/>
                <a:ext cx="826272"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1.5</a:t>
                </a:r>
              </a:p>
            </p:txBody>
          </p:sp>
          <p:sp>
            <p:nvSpPr>
              <p:cNvPr id="25" name="Rectangle 24">
                <a:extLst>
                  <a:ext uri="{FF2B5EF4-FFF2-40B4-BE49-F238E27FC236}">
                    <a16:creationId xmlns:a16="http://schemas.microsoft.com/office/drawing/2014/main" id="{18A55CA3-FA3C-F48D-A21F-9A2BD25E75DD}"/>
                  </a:ext>
                </a:extLst>
              </p:cNvPr>
              <p:cNvSpPr/>
              <p:nvPr/>
            </p:nvSpPr>
            <p:spPr>
              <a:xfrm>
                <a:off x="8717108" y="3747424"/>
                <a:ext cx="2143138" cy="2774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Effectiveness of </a:t>
                </a:r>
              </a:p>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A relative to B</a:t>
                </a:r>
              </a:p>
            </p:txBody>
          </p:sp>
          <p:sp>
            <p:nvSpPr>
              <p:cNvPr id="26" name="Rectangle 25">
                <a:extLst>
                  <a:ext uri="{FF2B5EF4-FFF2-40B4-BE49-F238E27FC236}">
                    <a16:creationId xmlns:a16="http://schemas.microsoft.com/office/drawing/2014/main" id="{85646664-FFDD-E504-68FA-2CF1AE5C693F}"/>
                  </a:ext>
                </a:extLst>
              </p:cNvPr>
              <p:cNvSpPr/>
              <p:nvPr/>
            </p:nvSpPr>
            <p:spPr>
              <a:xfrm>
                <a:off x="8717108" y="2148153"/>
                <a:ext cx="2143138" cy="2774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New collected data</a:t>
                </a:r>
              </a:p>
            </p:txBody>
          </p:sp>
          <p:cxnSp>
            <p:nvCxnSpPr>
              <p:cNvPr id="19" name="Straight Arrow Connector 18">
                <a:extLst>
                  <a:ext uri="{FF2B5EF4-FFF2-40B4-BE49-F238E27FC236}">
                    <a16:creationId xmlns:a16="http://schemas.microsoft.com/office/drawing/2014/main" id="{A51943E1-FDEF-B1C6-0BE5-1EA4DF9D6E5B}"/>
                  </a:ext>
                </a:extLst>
              </p:cNvPr>
              <p:cNvCxnSpPr>
                <a:cxnSpLocks/>
                <a:stCxn id="13" idx="0"/>
              </p:cNvCxnSpPr>
              <p:nvPr/>
            </p:nvCxnSpPr>
            <p:spPr>
              <a:xfrm>
                <a:off x="8861549" y="3359947"/>
                <a:ext cx="1939993" cy="133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7" name="Isosceles Triangle 24">
              <a:extLst>
                <a:ext uri="{FF2B5EF4-FFF2-40B4-BE49-F238E27FC236}">
                  <a16:creationId xmlns:a16="http://schemas.microsoft.com/office/drawing/2014/main" id="{DBEA3185-D1E0-9A8F-2542-822F940AD387}"/>
                </a:ext>
              </a:extLst>
            </p:cNvPr>
            <p:cNvSpPr/>
            <p:nvPr/>
          </p:nvSpPr>
          <p:spPr>
            <a:xfrm>
              <a:off x="9098614" y="3138685"/>
              <a:ext cx="1343027" cy="936031"/>
            </a:xfrm>
            <a:custGeom>
              <a:avLst/>
              <a:gdLst>
                <a:gd name="connsiteX0" fmla="*/ 0 w 1180271"/>
                <a:gd name="connsiteY0" fmla="*/ 702437 h 702437"/>
                <a:gd name="connsiteX1" fmla="*/ 590136 w 1180271"/>
                <a:gd name="connsiteY1" fmla="*/ 0 h 702437"/>
                <a:gd name="connsiteX2" fmla="*/ 1180271 w 1180271"/>
                <a:gd name="connsiteY2" fmla="*/ 702437 h 702437"/>
                <a:gd name="connsiteX3" fmla="*/ 0 w 1180271"/>
                <a:gd name="connsiteY3" fmla="*/ 702437 h 702437"/>
                <a:gd name="connsiteX0" fmla="*/ 0 w 1180271"/>
                <a:gd name="connsiteY0" fmla="*/ 702437 h 702437"/>
                <a:gd name="connsiteX1" fmla="*/ 261907 w 1180271"/>
                <a:gd name="connsiteY1" fmla="*/ 315746 h 702437"/>
                <a:gd name="connsiteX2" fmla="*/ 590136 w 1180271"/>
                <a:gd name="connsiteY2" fmla="*/ 0 h 702437"/>
                <a:gd name="connsiteX3" fmla="*/ 1180271 w 1180271"/>
                <a:gd name="connsiteY3" fmla="*/ 702437 h 702437"/>
                <a:gd name="connsiteX4" fmla="*/ 0 w 1180271"/>
                <a:gd name="connsiteY4" fmla="*/ 702437 h 70243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259636"/>
                <a:gd name="connsiteY0" fmla="*/ 621157 h 621157"/>
                <a:gd name="connsiteX1" fmla="*/ 261907 w 1259636"/>
                <a:gd name="connsiteY1" fmla="*/ 234466 h 621157"/>
                <a:gd name="connsiteX2" fmla="*/ 651096 w 1259636"/>
                <a:gd name="connsiteY2" fmla="*/ 0 h 621157"/>
                <a:gd name="connsiteX3" fmla="*/ 1115347 w 1259636"/>
                <a:gd name="connsiteY3" fmla="*/ 447826 h 621157"/>
                <a:gd name="connsiteX4" fmla="*/ 1180271 w 1259636"/>
                <a:gd name="connsiteY4" fmla="*/ 621157 h 621157"/>
                <a:gd name="connsiteX5" fmla="*/ 0 w 1259636"/>
                <a:gd name="connsiteY5" fmla="*/ 621157 h 621157"/>
                <a:gd name="connsiteX0" fmla="*/ 0 w 1274952"/>
                <a:gd name="connsiteY0" fmla="*/ 621157 h 631317"/>
                <a:gd name="connsiteX1" fmla="*/ 261907 w 1274952"/>
                <a:gd name="connsiteY1" fmla="*/ 234466 h 631317"/>
                <a:gd name="connsiteX2" fmla="*/ 651096 w 1274952"/>
                <a:gd name="connsiteY2" fmla="*/ 0 h 631317"/>
                <a:gd name="connsiteX3" fmla="*/ 1115347 w 1274952"/>
                <a:gd name="connsiteY3" fmla="*/ 447826 h 631317"/>
                <a:gd name="connsiteX4" fmla="*/ 1200591 w 1274952"/>
                <a:gd name="connsiteY4" fmla="*/ 631317 h 631317"/>
                <a:gd name="connsiteX5" fmla="*/ 0 w 1274952"/>
                <a:gd name="connsiteY5" fmla="*/ 621157 h 631317"/>
                <a:gd name="connsiteX0" fmla="*/ 0 w 1310591"/>
                <a:gd name="connsiteY0" fmla="*/ 621157 h 631317"/>
                <a:gd name="connsiteX1" fmla="*/ 261907 w 1310591"/>
                <a:gd name="connsiteY1" fmla="*/ 234466 h 631317"/>
                <a:gd name="connsiteX2" fmla="*/ 651096 w 1310591"/>
                <a:gd name="connsiteY2" fmla="*/ 0 h 631317"/>
                <a:gd name="connsiteX3" fmla="*/ 1115347 w 1310591"/>
                <a:gd name="connsiteY3" fmla="*/ 447826 h 631317"/>
                <a:gd name="connsiteX4" fmla="*/ 1241151 w 1310591"/>
                <a:gd name="connsiteY4" fmla="*/ 589767 h 631317"/>
                <a:gd name="connsiteX5" fmla="*/ 1200591 w 1310591"/>
                <a:gd name="connsiteY5" fmla="*/ 631317 h 631317"/>
                <a:gd name="connsiteX6" fmla="*/ 0 w 1310591"/>
                <a:gd name="connsiteY6" fmla="*/ 621157 h 631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0591" h="631317">
                  <a:moveTo>
                    <a:pt x="0" y="621157"/>
                  </a:moveTo>
                  <a:cubicBezTo>
                    <a:pt x="111009" y="499033"/>
                    <a:pt x="150898" y="356590"/>
                    <a:pt x="261907" y="234466"/>
                  </a:cubicBezTo>
                  <a:cubicBezTo>
                    <a:pt x="391637" y="156311"/>
                    <a:pt x="419766" y="47675"/>
                    <a:pt x="651096" y="0"/>
                  </a:cubicBezTo>
                  <a:cubicBezTo>
                    <a:pt x="779789" y="27093"/>
                    <a:pt x="1027151" y="344300"/>
                    <a:pt x="1115347" y="447826"/>
                  </a:cubicBezTo>
                  <a:cubicBezTo>
                    <a:pt x="1218919" y="546867"/>
                    <a:pt x="1226944" y="559185"/>
                    <a:pt x="1241151" y="589767"/>
                  </a:cubicBezTo>
                  <a:cubicBezTo>
                    <a:pt x="1255358" y="620349"/>
                    <a:pt x="1412679" y="626833"/>
                    <a:pt x="1200591" y="631317"/>
                  </a:cubicBezTo>
                  <a:lnTo>
                    <a:pt x="0" y="621157"/>
                  </a:lnTo>
                  <a:close/>
                </a:path>
              </a:pathLst>
            </a:cu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sp>
        <p:nvSpPr>
          <p:cNvPr id="31" name="Rectangle 30">
            <a:extLst>
              <a:ext uri="{FF2B5EF4-FFF2-40B4-BE49-F238E27FC236}">
                <a16:creationId xmlns:a16="http://schemas.microsoft.com/office/drawing/2014/main" id="{DB239CD8-345D-08C1-9652-59E725726C4A}"/>
              </a:ext>
            </a:extLst>
          </p:cNvPr>
          <p:cNvSpPr/>
          <p:nvPr/>
        </p:nvSpPr>
        <p:spPr>
          <a:xfrm>
            <a:off x="7942104" y="4832353"/>
            <a:ext cx="3774824" cy="4203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600" noProof="0" dirty="0">
                <a:solidFill>
                  <a:schemeClr val="tx1"/>
                </a:solidFill>
                <a:latin typeface="Arial" panose="020B0604020202020204" pitchFamily="34" charset="0"/>
                <a:ea typeface="Meiryo" panose="020B0604030504040204" pitchFamily="34" charset="-128"/>
                <a:cs typeface="Arial" panose="020B0604020202020204" pitchFamily="34" charset="0"/>
              </a:rPr>
              <a:t>We can estimate the expected value of additional information from further research.</a:t>
            </a:r>
          </a:p>
        </p:txBody>
      </p:sp>
      <p:grpSp>
        <p:nvGrpSpPr>
          <p:cNvPr id="28" name="Group 27">
            <a:extLst>
              <a:ext uri="{FF2B5EF4-FFF2-40B4-BE49-F238E27FC236}">
                <a16:creationId xmlns:a16="http://schemas.microsoft.com/office/drawing/2014/main" id="{2E02B4F1-6626-BDA6-CA11-6762AC180B82}"/>
              </a:ext>
            </a:extLst>
          </p:cNvPr>
          <p:cNvGrpSpPr/>
          <p:nvPr/>
        </p:nvGrpSpPr>
        <p:grpSpPr>
          <a:xfrm>
            <a:off x="467139" y="108959"/>
            <a:ext cx="4197304" cy="307297"/>
            <a:chOff x="562270" y="127168"/>
            <a:chExt cx="4197304" cy="307297"/>
          </a:xfrm>
        </p:grpSpPr>
        <p:sp>
          <p:nvSpPr>
            <p:cNvPr id="29" name="Arrow: Pentagon 28">
              <a:extLst>
                <a:ext uri="{FF2B5EF4-FFF2-40B4-BE49-F238E27FC236}">
                  <a16:creationId xmlns:a16="http://schemas.microsoft.com/office/drawing/2014/main" id="{E54DABF4-B815-FAA7-204D-E90254FB181A}"/>
                </a:ext>
              </a:extLst>
            </p:cNvPr>
            <p:cNvSpPr/>
            <p:nvPr/>
          </p:nvSpPr>
          <p:spPr>
            <a:xfrm>
              <a:off x="3192565"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32" name="Arrow: Pentagon 31">
              <a:extLst>
                <a:ext uri="{FF2B5EF4-FFF2-40B4-BE49-F238E27FC236}">
                  <a16:creationId xmlns:a16="http://schemas.microsoft.com/office/drawing/2014/main" id="{73C06604-5623-7D75-EF3C-185A726411C5}"/>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33" name="Arrow: Pentagon 32">
              <a:extLst>
                <a:ext uri="{FF2B5EF4-FFF2-40B4-BE49-F238E27FC236}">
                  <a16:creationId xmlns:a16="http://schemas.microsoft.com/office/drawing/2014/main" id="{6A43FD93-0FCD-58BD-800A-6452BDCD8370}"/>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30116684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61999-DFB1-467B-635F-0692BE37FD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D78FD3-3CB6-601D-7376-59CA703B9CED}"/>
              </a:ext>
            </a:extLst>
          </p:cNvPr>
          <p:cNvSpPr>
            <a:spLocks noGrp="1"/>
          </p:cNvSpPr>
          <p:nvPr>
            <p:ph type="title"/>
          </p:nvPr>
        </p:nvSpPr>
        <p:spPr/>
        <p:txBody>
          <a:bodyPr/>
          <a:lstStyle/>
          <a:p>
            <a:r>
              <a:rPr lang="en-US" dirty="0"/>
              <a:t>Use Case in Research</a:t>
            </a:r>
            <a:endParaRPr lang="en-US" noProof="0" dirty="0"/>
          </a:p>
        </p:txBody>
      </p:sp>
      <p:sp>
        <p:nvSpPr>
          <p:cNvPr id="4" name="Slide Number Placeholder 3">
            <a:extLst>
              <a:ext uri="{FF2B5EF4-FFF2-40B4-BE49-F238E27FC236}">
                <a16:creationId xmlns:a16="http://schemas.microsoft.com/office/drawing/2014/main" id="{7F1F1D85-B7F8-FD79-6675-0E7C6FB814AC}"/>
              </a:ext>
            </a:extLst>
          </p:cNvPr>
          <p:cNvSpPr>
            <a:spLocks noGrp="1"/>
          </p:cNvSpPr>
          <p:nvPr>
            <p:ph type="sldNum" sz="quarter" idx="4"/>
          </p:nvPr>
        </p:nvSpPr>
        <p:spPr/>
        <p:txBody>
          <a:bodyPr/>
          <a:lstStyle/>
          <a:p>
            <a:fld id="{B5CEABB6-07DC-46E8-9B57-56EC44A396E5}" type="slidenum">
              <a:rPr lang="en-US" noProof="0" smtClean="0"/>
              <a:pPr/>
              <a:t>66</a:t>
            </a:fld>
            <a:endParaRPr lang="en-US" noProof="0" dirty="0"/>
          </a:p>
        </p:txBody>
      </p:sp>
      <p:sp>
        <p:nvSpPr>
          <p:cNvPr id="5" name="Table Placeholder 4">
            <a:extLst>
              <a:ext uri="{FF2B5EF4-FFF2-40B4-BE49-F238E27FC236}">
                <a16:creationId xmlns:a16="http://schemas.microsoft.com/office/drawing/2014/main" id="{83AA2E6C-DE3D-FE67-6DCB-09FFAEE40E23}"/>
              </a:ext>
            </a:extLst>
          </p:cNvPr>
          <p:cNvSpPr>
            <a:spLocks noGrp="1"/>
          </p:cNvSpPr>
          <p:nvPr>
            <p:ph type="tbl" sz="quarter" idx="11"/>
          </p:nvPr>
        </p:nvSpPr>
        <p:spPr/>
        <p:txBody>
          <a:bodyPr/>
          <a:lstStyle/>
          <a:p>
            <a:r>
              <a:rPr lang="en-US" noProof="0" dirty="0"/>
              <a:t>An example of Value of Information (VOI) analysis conducted by the UK National Health Service (NHS)</a:t>
            </a:r>
          </a:p>
        </p:txBody>
      </p:sp>
      <p:sp>
        <p:nvSpPr>
          <p:cNvPr id="3" name="Table Placeholder 2">
            <a:extLst>
              <a:ext uri="{FF2B5EF4-FFF2-40B4-BE49-F238E27FC236}">
                <a16:creationId xmlns:a16="http://schemas.microsoft.com/office/drawing/2014/main" id="{E9AA4689-7930-CEED-3B91-BBE14F7DD6A6}"/>
              </a:ext>
            </a:extLst>
          </p:cNvPr>
          <p:cNvSpPr>
            <a:spLocks noGrp="1"/>
          </p:cNvSpPr>
          <p:nvPr>
            <p:ph type="tbl" sz="quarter" idx="10"/>
          </p:nvPr>
        </p:nvSpPr>
        <p:spPr>
          <a:xfrm>
            <a:off x="467139" y="1938131"/>
            <a:ext cx="11221278" cy="4622672"/>
          </a:xfrm>
        </p:spPr>
        <p:txBody>
          <a:bodyPr/>
          <a:lstStyle/>
          <a:p>
            <a:r>
              <a:rPr lang="en-US" dirty="0"/>
              <a:t>RCT comparing wound dressings to prevent postoperative infection </a:t>
            </a:r>
            <a:r>
              <a:rPr lang="en-US" sz="1400" dirty="0"/>
              <a:t>(Reeves et al., 2019)</a:t>
            </a:r>
            <a:endParaRPr lang="en-US" dirty="0"/>
          </a:p>
          <a:p>
            <a:pPr lvl="1"/>
            <a:r>
              <a:rPr lang="en-US" dirty="0"/>
              <a:t>Question: Should a large RCT be conducted to compare simple dressing, adhesive medical dressing, or no dressing for preventing postoperative infections?</a:t>
            </a:r>
          </a:p>
          <a:p>
            <a:pPr lvl="1"/>
            <a:r>
              <a:rPr lang="en-US" dirty="0"/>
              <a:t>Phase A: Model-based analysis using meta-analysis</a:t>
            </a:r>
          </a:p>
          <a:p>
            <a:pPr lvl="2"/>
            <a:r>
              <a:rPr lang="en-US" dirty="0"/>
              <a:t>Built a model using infection-reduction effects, dressing costs, infection costs, and utilities.</a:t>
            </a:r>
          </a:p>
          <a:p>
            <a:pPr lvl="2"/>
            <a:r>
              <a:rPr lang="en-US" dirty="0"/>
              <a:t>Results suggested adhesive dressing or no dressing was most cost-effective. Eliminating uncertainty in infection-reduction effects yields an expected value of £222 per wound (≈ £2.3 billion population value).</a:t>
            </a:r>
          </a:p>
          <a:p>
            <a:pPr lvl="1"/>
            <a:r>
              <a:rPr lang="en-US" dirty="0"/>
              <a:t>Phase B: Pilot RCT (~400 patients)Updated the model with trial data.</a:t>
            </a:r>
          </a:p>
          <a:p>
            <a:pPr lvl="2"/>
            <a:r>
              <a:rPr lang="en-US" dirty="0"/>
              <a:t>Adhesive dressing had the highest probability of being cost-effective.</a:t>
            </a:r>
          </a:p>
          <a:p>
            <a:pPr lvl="2"/>
            <a:r>
              <a:rPr lang="en-US" dirty="0"/>
              <a:t>Eliminating remaining uncertainty yields £177 per wound (≈ £1.8 billion population value).</a:t>
            </a:r>
          </a:p>
        </p:txBody>
      </p:sp>
      <p:sp>
        <p:nvSpPr>
          <p:cNvPr id="12" name="TextBox 11">
            <a:extLst>
              <a:ext uri="{FF2B5EF4-FFF2-40B4-BE49-F238E27FC236}">
                <a16:creationId xmlns:a16="http://schemas.microsoft.com/office/drawing/2014/main" id="{EA65D71B-8039-8DCA-5068-6FCC20FF1769}"/>
              </a:ext>
            </a:extLst>
          </p:cNvPr>
          <p:cNvSpPr txBox="1"/>
          <p:nvPr/>
        </p:nvSpPr>
        <p:spPr>
          <a:xfrm>
            <a:off x="1271392" y="6394156"/>
            <a:ext cx="10371550" cy="461665"/>
          </a:xfrm>
          <a:prstGeom prst="rect">
            <a:avLst/>
          </a:prstGeom>
          <a:noFill/>
        </p:spPr>
        <p:txBody>
          <a:bodyPr wrap="square">
            <a:spAutoFit/>
          </a:bodyPr>
          <a:lstStyle/>
          <a:p>
            <a:r>
              <a:rPr lang="en-US" sz="1200" noProof="0" dirty="0">
                <a:latin typeface="Arial" panose="020B0604020202020204" pitchFamily="34" charset="0"/>
                <a:ea typeface="Meiryo" panose="020B0604030504040204" pitchFamily="34" charset="-128"/>
                <a:cs typeface="Arial" panose="020B0604020202020204" pitchFamily="34" charset="0"/>
              </a:rPr>
              <a:t>Reeves BC, </a:t>
            </a:r>
            <a:r>
              <a:rPr lang="en-US" sz="1200" noProof="0" dirty="0" err="1">
                <a:latin typeface="Arial" panose="020B0604020202020204" pitchFamily="34" charset="0"/>
                <a:ea typeface="Meiryo" panose="020B0604030504040204" pitchFamily="34" charset="-128"/>
                <a:cs typeface="Arial" panose="020B0604020202020204" pitchFamily="34" charset="0"/>
              </a:rPr>
              <a:t>Rooshenas</a:t>
            </a:r>
            <a:r>
              <a:rPr lang="en-US" sz="1200" noProof="0" dirty="0">
                <a:latin typeface="Arial" panose="020B0604020202020204" pitchFamily="34" charset="0"/>
                <a:ea typeface="Meiryo" panose="020B0604030504040204" pitchFamily="34" charset="-128"/>
                <a:cs typeface="Arial" panose="020B0604020202020204" pitchFamily="34" charset="0"/>
              </a:rPr>
              <a:t> L, </a:t>
            </a:r>
            <a:r>
              <a:rPr lang="en-US" sz="1200" noProof="0" dirty="0" err="1">
                <a:latin typeface="Arial" panose="020B0604020202020204" pitchFamily="34" charset="0"/>
                <a:ea typeface="Meiryo" panose="020B0604030504040204" pitchFamily="34" charset="-128"/>
                <a:cs typeface="Arial" panose="020B0604020202020204" pitchFamily="34" charset="0"/>
              </a:rPr>
              <a:t>Macefield</a:t>
            </a:r>
            <a:r>
              <a:rPr lang="en-US" sz="1200" noProof="0" dirty="0">
                <a:latin typeface="Arial" panose="020B0604020202020204" pitchFamily="34" charset="0"/>
                <a:ea typeface="Meiryo" panose="020B0604030504040204" pitchFamily="34" charset="-128"/>
                <a:cs typeface="Arial" panose="020B0604020202020204" pitchFamily="34" charset="0"/>
              </a:rPr>
              <a:t> RC, et al. Three wound-dressing strategies to reduce surgical site infection after abdominal surgery: the Bluebelle feasibility study and pilot RCT. Health Technol Assess. 2019;23(39):1-166. doi:10.3310/hta23390</a:t>
            </a:r>
          </a:p>
        </p:txBody>
      </p:sp>
      <p:grpSp>
        <p:nvGrpSpPr>
          <p:cNvPr id="10" name="Group 9">
            <a:extLst>
              <a:ext uri="{FF2B5EF4-FFF2-40B4-BE49-F238E27FC236}">
                <a16:creationId xmlns:a16="http://schemas.microsoft.com/office/drawing/2014/main" id="{5A95D3C5-A6E8-FE81-675E-EF3C778BC145}"/>
              </a:ext>
            </a:extLst>
          </p:cNvPr>
          <p:cNvGrpSpPr/>
          <p:nvPr/>
        </p:nvGrpSpPr>
        <p:grpSpPr>
          <a:xfrm>
            <a:off x="467139" y="108959"/>
            <a:ext cx="4197304" cy="307297"/>
            <a:chOff x="562270" y="127168"/>
            <a:chExt cx="4197304" cy="307297"/>
          </a:xfrm>
        </p:grpSpPr>
        <p:sp>
          <p:nvSpPr>
            <p:cNvPr id="11" name="Arrow: Pentagon 10">
              <a:extLst>
                <a:ext uri="{FF2B5EF4-FFF2-40B4-BE49-F238E27FC236}">
                  <a16:creationId xmlns:a16="http://schemas.microsoft.com/office/drawing/2014/main" id="{BEC1B1D3-AFDC-BDE2-D012-623174B20431}"/>
                </a:ext>
              </a:extLst>
            </p:cNvPr>
            <p:cNvSpPr/>
            <p:nvPr/>
          </p:nvSpPr>
          <p:spPr>
            <a:xfrm>
              <a:off x="3192565"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③Use cases</a:t>
              </a:r>
            </a:p>
          </p:txBody>
        </p:sp>
        <p:sp>
          <p:nvSpPr>
            <p:cNvPr id="13" name="Arrow: Pentagon 12">
              <a:extLst>
                <a:ext uri="{FF2B5EF4-FFF2-40B4-BE49-F238E27FC236}">
                  <a16:creationId xmlns:a16="http://schemas.microsoft.com/office/drawing/2014/main" id="{2AA3A556-55D6-CA6A-92E0-C0B8443397D9}"/>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②Practice</a:t>
              </a:r>
            </a:p>
          </p:txBody>
        </p:sp>
        <p:sp>
          <p:nvSpPr>
            <p:cNvPr id="14" name="Arrow: Pentagon 13">
              <a:extLst>
                <a:ext uri="{FF2B5EF4-FFF2-40B4-BE49-F238E27FC236}">
                  <a16:creationId xmlns:a16="http://schemas.microsoft.com/office/drawing/2014/main" id="{97691B07-6C42-DD0C-A54A-C063484ECF23}"/>
                </a:ext>
              </a:extLst>
            </p:cNvPr>
            <p:cNvSpPr/>
            <p:nvPr/>
          </p:nvSpPr>
          <p:spPr>
            <a:xfrm>
              <a:off x="562270" y="127168"/>
              <a:ext cx="1567009" cy="307297"/>
            </a:xfrm>
            <a:prstGeom prst="homePlate">
              <a:avLst/>
            </a:prstGeom>
            <a:solidFill>
              <a:srgbClr val="D6DCE5"/>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①Definition</a:t>
              </a:r>
            </a:p>
          </p:txBody>
        </p:sp>
      </p:grpSp>
    </p:spTree>
    <p:extLst>
      <p:ext uri="{BB962C8B-B14F-4D97-AF65-F5344CB8AC3E}">
        <p14:creationId xmlns:p14="http://schemas.microsoft.com/office/powerpoint/2010/main" val="39497325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868DA-85E4-FFCF-56D9-0E0891A60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242E21-37C4-49EC-E228-3FFC01E91106}"/>
              </a:ext>
            </a:extLst>
          </p:cNvPr>
          <p:cNvSpPr>
            <a:spLocks noGrp="1"/>
          </p:cNvSpPr>
          <p:nvPr>
            <p:ph type="title"/>
          </p:nvPr>
        </p:nvSpPr>
        <p:spPr>
          <a:xfrm>
            <a:off x="467139" y="589724"/>
            <a:ext cx="11221278" cy="362776"/>
          </a:xfrm>
        </p:spPr>
        <p:txBody>
          <a:bodyPr/>
          <a:lstStyle/>
          <a:p>
            <a:r>
              <a:rPr lang="en-US" noProof="0" dirty="0"/>
              <a:t>Challenges</a:t>
            </a:r>
          </a:p>
        </p:txBody>
      </p:sp>
      <p:sp>
        <p:nvSpPr>
          <p:cNvPr id="3" name="Table Placeholder 2">
            <a:extLst>
              <a:ext uri="{FF2B5EF4-FFF2-40B4-BE49-F238E27FC236}">
                <a16:creationId xmlns:a16="http://schemas.microsoft.com/office/drawing/2014/main" id="{5B7A5731-C6FF-F8F1-5A8B-A58FE00D753F}"/>
              </a:ext>
            </a:extLst>
          </p:cNvPr>
          <p:cNvSpPr>
            <a:spLocks noGrp="1"/>
          </p:cNvSpPr>
          <p:nvPr>
            <p:ph type="tbl" sz="quarter" idx="10"/>
          </p:nvPr>
        </p:nvSpPr>
        <p:spPr/>
        <p:txBody>
          <a:bodyPr/>
          <a:lstStyle/>
          <a:p>
            <a:r>
              <a:rPr lang="en-US" noProof="0" dirty="0"/>
              <a:t>Results depend on model assumptions and scope</a:t>
            </a:r>
          </a:p>
          <a:p>
            <a:pPr lvl="1"/>
            <a:r>
              <a:rPr lang="en-US" sz="2000" noProof="0" dirty="0"/>
              <a:t>Choices of assumptions, scope, and parameters can substantially change results.</a:t>
            </a:r>
          </a:p>
          <a:p>
            <a:pPr lvl="1"/>
            <a:r>
              <a:rPr lang="en-US" sz="2000" noProof="0" dirty="0"/>
              <a:t>Conclusions should be read as conditional (“cost-effective under assumptions X and Y”), not absolute.</a:t>
            </a:r>
          </a:p>
          <a:p>
            <a:pPr lvl="1"/>
            <a:r>
              <a:rPr lang="en-US" sz="2000" noProof="0" dirty="0"/>
              <a:t>Comparing analyses with slightly different assumptions helps assess robustness.</a:t>
            </a:r>
          </a:p>
          <a:p>
            <a:pPr lvl="1"/>
            <a:endParaRPr lang="en-US" noProof="0" dirty="0"/>
          </a:p>
          <a:p>
            <a:r>
              <a:rPr lang="en-US" noProof="0" dirty="0"/>
              <a:t>Utility is subjective and heterogeneous</a:t>
            </a:r>
          </a:p>
          <a:p>
            <a:pPr lvl="1"/>
            <a:r>
              <a:rPr lang="en-US" sz="2000" noProof="0" dirty="0"/>
              <a:t>The same health state may be valued very differently across individuals.</a:t>
            </a:r>
          </a:p>
          <a:p>
            <a:pPr lvl="1"/>
            <a:r>
              <a:rPr lang="en-US" sz="2000" noProof="0" dirty="0"/>
              <a:t>Utility estimates reflect personal values and experiences and are inherently subjective.</a:t>
            </a:r>
          </a:p>
          <a:p>
            <a:pPr lvl="1"/>
            <a:r>
              <a:rPr lang="en-US" sz="2000" noProof="0" dirty="0"/>
              <a:t>Published average utilities are decision aids, not replacements for real-world decisions.</a:t>
            </a:r>
            <a:endParaRPr lang="en-US" sz="1800" noProof="0" dirty="0"/>
          </a:p>
        </p:txBody>
      </p:sp>
      <p:sp>
        <p:nvSpPr>
          <p:cNvPr id="4" name="Slide Number Placeholder 3">
            <a:extLst>
              <a:ext uri="{FF2B5EF4-FFF2-40B4-BE49-F238E27FC236}">
                <a16:creationId xmlns:a16="http://schemas.microsoft.com/office/drawing/2014/main" id="{83DDD9DA-8EA6-1CA3-1D70-01C560263896}"/>
              </a:ext>
            </a:extLst>
          </p:cNvPr>
          <p:cNvSpPr>
            <a:spLocks noGrp="1"/>
          </p:cNvSpPr>
          <p:nvPr>
            <p:ph type="sldNum" sz="quarter" idx="4"/>
          </p:nvPr>
        </p:nvSpPr>
        <p:spPr/>
        <p:txBody>
          <a:bodyPr/>
          <a:lstStyle/>
          <a:p>
            <a:fld id="{B5CEABB6-07DC-46E8-9B57-56EC44A396E5}" type="slidenum">
              <a:rPr lang="en-US" noProof="0" smtClean="0"/>
              <a:pPr/>
              <a:t>67</a:t>
            </a:fld>
            <a:endParaRPr lang="en-US" noProof="0" dirty="0"/>
          </a:p>
        </p:txBody>
      </p:sp>
      <p:sp>
        <p:nvSpPr>
          <p:cNvPr id="5" name="Table Placeholder 4">
            <a:extLst>
              <a:ext uri="{FF2B5EF4-FFF2-40B4-BE49-F238E27FC236}">
                <a16:creationId xmlns:a16="http://schemas.microsoft.com/office/drawing/2014/main" id="{A60DCA37-AE30-E2FA-1E42-6E9E17B224AC}"/>
              </a:ext>
            </a:extLst>
          </p:cNvPr>
          <p:cNvSpPr>
            <a:spLocks noGrp="1"/>
          </p:cNvSpPr>
          <p:nvPr>
            <p:ph type="tbl" sz="quarter" idx="11"/>
          </p:nvPr>
        </p:nvSpPr>
        <p:spPr/>
        <p:txBody>
          <a:bodyPr/>
          <a:lstStyle/>
          <a:p>
            <a:r>
              <a:rPr lang="en-US" noProof="0" dirty="0"/>
              <a:t>Decision science is a support tool, not a substitute for decision-making</a:t>
            </a:r>
          </a:p>
        </p:txBody>
      </p:sp>
    </p:spTree>
    <p:extLst>
      <p:ext uri="{BB962C8B-B14F-4D97-AF65-F5344CB8AC3E}">
        <p14:creationId xmlns:p14="http://schemas.microsoft.com/office/powerpoint/2010/main" val="40322722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22490-2CF8-BD06-2288-D46AB742B6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789FFA-EA5C-5A98-51E5-FAA1D1F15ECA}"/>
              </a:ext>
            </a:extLst>
          </p:cNvPr>
          <p:cNvSpPr>
            <a:spLocks noGrp="1"/>
          </p:cNvSpPr>
          <p:nvPr>
            <p:ph type="title"/>
          </p:nvPr>
        </p:nvSpPr>
        <p:spPr>
          <a:xfrm>
            <a:off x="467139" y="589724"/>
            <a:ext cx="11221278" cy="362776"/>
          </a:xfrm>
        </p:spPr>
        <p:txBody>
          <a:bodyPr/>
          <a:lstStyle/>
          <a:p>
            <a:r>
              <a:rPr lang="en-US" noProof="0" dirty="0"/>
              <a:t>Challenges</a:t>
            </a:r>
          </a:p>
        </p:txBody>
      </p:sp>
      <p:sp>
        <p:nvSpPr>
          <p:cNvPr id="3" name="Table Placeholder 2">
            <a:extLst>
              <a:ext uri="{FF2B5EF4-FFF2-40B4-BE49-F238E27FC236}">
                <a16:creationId xmlns:a16="http://schemas.microsoft.com/office/drawing/2014/main" id="{1E7D3AA1-5F32-CE05-1202-CE4300972B49}"/>
              </a:ext>
            </a:extLst>
          </p:cNvPr>
          <p:cNvSpPr>
            <a:spLocks noGrp="1"/>
          </p:cNvSpPr>
          <p:nvPr>
            <p:ph type="tbl" sz="quarter" idx="10"/>
          </p:nvPr>
        </p:nvSpPr>
        <p:spPr>
          <a:xfrm>
            <a:off x="467139" y="1938131"/>
            <a:ext cx="11327464" cy="4622672"/>
          </a:xfrm>
        </p:spPr>
        <p:txBody>
          <a:bodyPr/>
          <a:lstStyle/>
          <a:p>
            <a:r>
              <a:rPr lang="en-US" noProof="0" dirty="0"/>
              <a:t>Fundamental limitations in measuring utility</a:t>
            </a:r>
          </a:p>
          <a:p>
            <a:pPr lvl="1"/>
            <a:r>
              <a:rPr lang="en-US" sz="2000" noProof="0" dirty="0"/>
              <a:t>Utility is typically defined on a continuous scale from 0 to 1.</a:t>
            </a:r>
          </a:p>
          <a:p>
            <a:pPr lvl="1"/>
            <a:r>
              <a:rPr lang="en-US" sz="2000" noProof="0" dirty="0"/>
              <a:t>Once utility reaches 0 (death), improvement beyond that point is not realistically observable.</a:t>
            </a:r>
          </a:p>
          <a:p>
            <a:pPr lvl="1"/>
            <a:r>
              <a:rPr lang="en-US" sz="2000" noProof="0" dirty="0"/>
              <a:t>Individuals who experience utility = 0 cannot participate in utility elicitation, creating a structural limitation in measurement.</a:t>
            </a:r>
          </a:p>
          <a:p>
            <a:r>
              <a:rPr lang="en-US" noProof="0" dirty="0"/>
              <a:t>Limits to expanding the application of cost-effectiveness analysis</a:t>
            </a:r>
          </a:p>
          <a:p>
            <a:pPr lvl="1"/>
            <a:r>
              <a:rPr lang="en-US" noProof="0" dirty="0"/>
              <a:t>Healthcare (Japan)</a:t>
            </a:r>
          </a:p>
          <a:p>
            <a:pPr lvl="2"/>
            <a:r>
              <a:rPr lang="en-US" noProof="0" dirty="0"/>
              <a:t>Currently used mainly for drug and medical device price adjustments; extending it to clinical practice is difficult under the existing system.</a:t>
            </a:r>
          </a:p>
          <a:p>
            <a:pPr lvl="2"/>
            <a:r>
              <a:rPr lang="en-US" noProof="0" dirty="0"/>
              <a:t>Although cost-effectiveness analysis could theoretically justify price increases, in practice it tends to exert stronger downward pressure on prices.</a:t>
            </a:r>
          </a:p>
          <a:p>
            <a:pPr lvl="2"/>
            <a:r>
              <a:rPr lang="en-US" noProof="0" dirty="0"/>
              <a:t>Many Japanese hospitals already face financial strain; applying cost-effectiveness analysis alone risks further undermining hospital management. Complementary institutional reforms and support measures are essential to improve hospital sustainability.</a:t>
            </a:r>
            <a:endParaRPr lang="en-US" sz="2000" noProof="0" dirty="0"/>
          </a:p>
        </p:txBody>
      </p:sp>
      <p:sp>
        <p:nvSpPr>
          <p:cNvPr id="4" name="Slide Number Placeholder 3">
            <a:extLst>
              <a:ext uri="{FF2B5EF4-FFF2-40B4-BE49-F238E27FC236}">
                <a16:creationId xmlns:a16="http://schemas.microsoft.com/office/drawing/2014/main" id="{5A230037-FA6F-87DB-B1F0-328C5D3D8BE2}"/>
              </a:ext>
            </a:extLst>
          </p:cNvPr>
          <p:cNvSpPr>
            <a:spLocks noGrp="1"/>
          </p:cNvSpPr>
          <p:nvPr>
            <p:ph type="sldNum" sz="quarter" idx="4"/>
          </p:nvPr>
        </p:nvSpPr>
        <p:spPr/>
        <p:txBody>
          <a:bodyPr/>
          <a:lstStyle/>
          <a:p>
            <a:fld id="{B5CEABB6-07DC-46E8-9B57-56EC44A396E5}" type="slidenum">
              <a:rPr lang="en-US" noProof="0" smtClean="0"/>
              <a:pPr/>
              <a:t>68</a:t>
            </a:fld>
            <a:endParaRPr lang="en-US" noProof="0" dirty="0"/>
          </a:p>
        </p:txBody>
      </p:sp>
      <p:sp>
        <p:nvSpPr>
          <p:cNvPr id="5" name="Table Placeholder 4">
            <a:extLst>
              <a:ext uri="{FF2B5EF4-FFF2-40B4-BE49-F238E27FC236}">
                <a16:creationId xmlns:a16="http://schemas.microsoft.com/office/drawing/2014/main" id="{0873FE21-9352-03EA-4F2E-99F4A2D1C060}"/>
              </a:ext>
            </a:extLst>
          </p:cNvPr>
          <p:cNvSpPr>
            <a:spLocks noGrp="1"/>
          </p:cNvSpPr>
          <p:nvPr>
            <p:ph type="tbl" sz="quarter" idx="11"/>
          </p:nvPr>
        </p:nvSpPr>
        <p:spPr/>
        <p:txBody>
          <a:bodyPr/>
          <a:lstStyle/>
          <a:p>
            <a:r>
              <a:rPr lang="en-US" noProof="0" dirty="0"/>
              <a:t>Decision science is a support tool, not a substitute for decision-making.</a:t>
            </a:r>
          </a:p>
        </p:txBody>
      </p:sp>
    </p:spTree>
    <p:extLst>
      <p:ext uri="{BB962C8B-B14F-4D97-AF65-F5344CB8AC3E}">
        <p14:creationId xmlns:p14="http://schemas.microsoft.com/office/powerpoint/2010/main" val="7358248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BACEC-4D24-5633-1BA2-9D6FF09F2A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694FA-36B4-D36C-A719-933713AC5346}"/>
              </a:ext>
            </a:extLst>
          </p:cNvPr>
          <p:cNvSpPr>
            <a:spLocks noGrp="1"/>
          </p:cNvSpPr>
          <p:nvPr>
            <p:ph type="title"/>
          </p:nvPr>
        </p:nvSpPr>
        <p:spPr>
          <a:xfrm>
            <a:off x="467139" y="589724"/>
            <a:ext cx="11221278" cy="362776"/>
          </a:xfrm>
        </p:spPr>
        <p:txBody>
          <a:bodyPr/>
          <a:lstStyle/>
          <a:p>
            <a:r>
              <a:rPr lang="en-US" noProof="0" dirty="0"/>
              <a:t>Challenges</a:t>
            </a:r>
          </a:p>
        </p:txBody>
      </p:sp>
      <p:sp>
        <p:nvSpPr>
          <p:cNvPr id="3" name="Table Placeholder 2">
            <a:extLst>
              <a:ext uri="{FF2B5EF4-FFF2-40B4-BE49-F238E27FC236}">
                <a16:creationId xmlns:a16="http://schemas.microsoft.com/office/drawing/2014/main" id="{112B61B9-DF29-FBBC-B2B9-9CA394931A7D}"/>
              </a:ext>
            </a:extLst>
          </p:cNvPr>
          <p:cNvSpPr>
            <a:spLocks noGrp="1"/>
          </p:cNvSpPr>
          <p:nvPr>
            <p:ph type="tbl" sz="quarter" idx="10"/>
          </p:nvPr>
        </p:nvSpPr>
        <p:spPr/>
        <p:txBody>
          <a:bodyPr/>
          <a:lstStyle/>
          <a:p>
            <a:r>
              <a:rPr lang="en-US" dirty="0"/>
              <a:t>Limits to expanding the application of cost-effectiveness analysis</a:t>
            </a:r>
            <a:r>
              <a:rPr lang="en-US" noProof="0" dirty="0"/>
              <a:t> </a:t>
            </a:r>
          </a:p>
          <a:p>
            <a:pPr lvl="1"/>
            <a:r>
              <a:rPr lang="en-US" noProof="0" dirty="0"/>
              <a:t>Research</a:t>
            </a:r>
          </a:p>
          <a:p>
            <a:pPr lvl="2"/>
            <a:r>
              <a:rPr lang="en-US" noProof="0" dirty="0"/>
              <a:t>In basic research or early drug development, long time lags and high uncertainty reduce the usefulness of value-of-information analyses.</a:t>
            </a:r>
          </a:p>
          <a:p>
            <a:pPr lvl="2"/>
            <a:r>
              <a:rPr lang="en-US" noProof="0" dirty="0"/>
              <a:t>Some research should not be judged solely on economic efficiency (e.g., rare diseases with small populations).</a:t>
            </a:r>
          </a:p>
          <a:p>
            <a:pPr lvl="2"/>
            <a:r>
              <a:rPr lang="en-US" noProof="0" dirty="0"/>
              <a:t>Research aimed at fundamental scientific advancement may be worth pursuing even without immediate economic justification.</a:t>
            </a:r>
          </a:p>
        </p:txBody>
      </p:sp>
      <p:sp>
        <p:nvSpPr>
          <p:cNvPr id="4" name="Slide Number Placeholder 3">
            <a:extLst>
              <a:ext uri="{FF2B5EF4-FFF2-40B4-BE49-F238E27FC236}">
                <a16:creationId xmlns:a16="http://schemas.microsoft.com/office/drawing/2014/main" id="{9A610557-E0D1-8D18-6FC8-D6C1E3DBA205}"/>
              </a:ext>
            </a:extLst>
          </p:cNvPr>
          <p:cNvSpPr>
            <a:spLocks noGrp="1"/>
          </p:cNvSpPr>
          <p:nvPr>
            <p:ph type="sldNum" sz="quarter" idx="4"/>
          </p:nvPr>
        </p:nvSpPr>
        <p:spPr/>
        <p:txBody>
          <a:bodyPr/>
          <a:lstStyle/>
          <a:p>
            <a:fld id="{B5CEABB6-07DC-46E8-9B57-56EC44A396E5}" type="slidenum">
              <a:rPr lang="en-US" noProof="0" smtClean="0"/>
              <a:pPr/>
              <a:t>69</a:t>
            </a:fld>
            <a:endParaRPr lang="en-US" noProof="0" dirty="0"/>
          </a:p>
        </p:txBody>
      </p:sp>
      <p:sp>
        <p:nvSpPr>
          <p:cNvPr id="5" name="Table Placeholder 4">
            <a:extLst>
              <a:ext uri="{FF2B5EF4-FFF2-40B4-BE49-F238E27FC236}">
                <a16:creationId xmlns:a16="http://schemas.microsoft.com/office/drawing/2014/main" id="{21F0F69A-837B-9495-2EEA-A4B922C462AB}"/>
              </a:ext>
            </a:extLst>
          </p:cNvPr>
          <p:cNvSpPr>
            <a:spLocks noGrp="1"/>
          </p:cNvSpPr>
          <p:nvPr>
            <p:ph type="tbl" sz="quarter" idx="11"/>
          </p:nvPr>
        </p:nvSpPr>
        <p:spPr/>
        <p:txBody>
          <a:bodyPr/>
          <a:lstStyle/>
          <a:p>
            <a:r>
              <a:rPr lang="en-US" noProof="0" dirty="0"/>
              <a:t>Decision science is a support tool, not a substitute for decision-making.</a:t>
            </a:r>
          </a:p>
        </p:txBody>
      </p:sp>
    </p:spTree>
    <p:extLst>
      <p:ext uri="{BB962C8B-B14F-4D97-AF65-F5344CB8AC3E}">
        <p14:creationId xmlns:p14="http://schemas.microsoft.com/office/powerpoint/2010/main" val="319206125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7C485-5FE7-22D6-80FE-781C5BFFE3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5BEB8-B371-42CE-6DE3-5BEC36BD91C9}"/>
              </a:ext>
            </a:extLst>
          </p:cNvPr>
          <p:cNvSpPr>
            <a:spLocks noGrp="1"/>
          </p:cNvSpPr>
          <p:nvPr>
            <p:ph type="title"/>
          </p:nvPr>
        </p:nvSpPr>
        <p:spPr>
          <a:xfrm>
            <a:off x="467139" y="589724"/>
            <a:ext cx="11221278" cy="362776"/>
          </a:xfrm>
        </p:spPr>
        <p:txBody>
          <a:bodyPr/>
          <a:lstStyle/>
          <a:p>
            <a:r>
              <a:rPr lang="en-US" noProof="0" dirty="0"/>
              <a:t>Summary</a:t>
            </a:r>
          </a:p>
        </p:txBody>
      </p:sp>
      <p:sp>
        <p:nvSpPr>
          <p:cNvPr id="3" name="Table Placeholder 2">
            <a:extLst>
              <a:ext uri="{FF2B5EF4-FFF2-40B4-BE49-F238E27FC236}">
                <a16:creationId xmlns:a16="http://schemas.microsoft.com/office/drawing/2014/main" id="{C2953360-4C08-D056-879E-26507E0334A4}"/>
              </a:ext>
            </a:extLst>
          </p:cNvPr>
          <p:cNvSpPr>
            <a:spLocks noGrp="1"/>
          </p:cNvSpPr>
          <p:nvPr>
            <p:ph type="tbl" sz="quarter" idx="10"/>
          </p:nvPr>
        </p:nvSpPr>
        <p:spPr/>
        <p:txBody>
          <a:bodyPr/>
          <a:lstStyle/>
          <a:p>
            <a:r>
              <a:rPr lang="en-US" noProof="0" dirty="0"/>
              <a:t>Decision science is an interdisciplinary approach that quantitatively integrates effectiveness, costs, and uncertainty to guide optimal choices.</a:t>
            </a:r>
          </a:p>
          <a:p>
            <a:endParaRPr lang="en-US" noProof="0" dirty="0"/>
          </a:p>
          <a:p>
            <a:r>
              <a:rPr lang="en-US" noProof="0" dirty="0"/>
              <a:t>In healthcare, it supports policy decisions such as screening guidelines and drug price revisions.</a:t>
            </a:r>
          </a:p>
          <a:p>
            <a:endParaRPr lang="en-US" noProof="0" dirty="0"/>
          </a:p>
          <a:p>
            <a:r>
              <a:rPr lang="en-US" noProof="0" dirty="0"/>
              <a:t>Results do not provide a single “correct” answer; rather, they clarify which options are rational under which conditions, serving as a tool to facilitate dialogue and consensus-building in decision-making.</a:t>
            </a:r>
          </a:p>
        </p:txBody>
      </p:sp>
      <p:sp>
        <p:nvSpPr>
          <p:cNvPr id="4" name="Slide Number Placeholder 3">
            <a:extLst>
              <a:ext uri="{FF2B5EF4-FFF2-40B4-BE49-F238E27FC236}">
                <a16:creationId xmlns:a16="http://schemas.microsoft.com/office/drawing/2014/main" id="{AF4A928B-2F80-0F08-D960-4E5B87E17936}"/>
              </a:ext>
            </a:extLst>
          </p:cNvPr>
          <p:cNvSpPr>
            <a:spLocks noGrp="1"/>
          </p:cNvSpPr>
          <p:nvPr>
            <p:ph type="sldNum" sz="quarter" idx="4"/>
          </p:nvPr>
        </p:nvSpPr>
        <p:spPr/>
        <p:txBody>
          <a:bodyPr/>
          <a:lstStyle/>
          <a:p>
            <a:fld id="{B5CEABB6-07DC-46E8-9B57-56EC44A396E5}" type="slidenum">
              <a:rPr lang="en-US" noProof="0" smtClean="0"/>
              <a:pPr/>
              <a:t>70</a:t>
            </a:fld>
            <a:endParaRPr lang="en-US" noProof="0" dirty="0"/>
          </a:p>
        </p:txBody>
      </p:sp>
      <p:sp>
        <p:nvSpPr>
          <p:cNvPr id="5" name="Table Placeholder 4">
            <a:extLst>
              <a:ext uri="{FF2B5EF4-FFF2-40B4-BE49-F238E27FC236}">
                <a16:creationId xmlns:a16="http://schemas.microsoft.com/office/drawing/2014/main" id="{D725C768-B217-8BF5-DAE8-99C615C0E060}"/>
              </a:ext>
            </a:extLst>
          </p:cNvPr>
          <p:cNvSpPr>
            <a:spLocks noGrp="1"/>
          </p:cNvSpPr>
          <p:nvPr>
            <p:ph type="tbl" sz="quarter" idx="11"/>
          </p:nvPr>
        </p:nvSpPr>
        <p:spPr/>
        <p:txBody>
          <a:bodyPr/>
          <a:lstStyle/>
          <a:p>
            <a:endParaRPr lang="en-US" noProof="0" dirty="0"/>
          </a:p>
        </p:txBody>
      </p:sp>
    </p:spTree>
    <p:extLst>
      <p:ext uri="{BB962C8B-B14F-4D97-AF65-F5344CB8AC3E}">
        <p14:creationId xmlns:p14="http://schemas.microsoft.com/office/powerpoint/2010/main" val="34636536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091AF01-3EAC-1A2D-E3FC-FDD0D1EC23C6}"/>
              </a:ext>
            </a:extLst>
          </p:cNvPr>
          <p:cNvSpPr>
            <a:spLocks noGrp="1"/>
          </p:cNvSpPr>
          <p:nvPr>
            <p:ph type="title"/>
          </p:nvPr>
        </p:nvSpPr>
        <p:spPr/>
        <p:txBody>
          <a:bodyPr>
            <a:normAutofit/>
          </a:bodyPr>
          <a:lstStyle/>
          <a:p>
            <a:r>
              <a:rPr lang="en-US" sz="4400" b="1" noProof="0" dirty="0"/>
              <a:t>Thank you for your attention</a:t>
            </a:r>
          </a:p>
        </p:txBody>
      </p:sp>
      <p:sp>
        <p:nvSpPr>
          <p:cNvPr id="7" name="Content Placeholder 6">
            <a:extLst>
              <a:ext uri="{FF2B5EF4-FFF2-40B4-BE49-F238E27FC236}">
                <a16:creationId xmlns:a16="http://schemas.microsoft.com/office/drawing/2014/main" id="{1E4008FF-7392-82F0-3CA8-164ECD63EE8E}"/>
              </a:ext>
            </a:extLst>
          </p:cNvPr>
          <p:cNvSpPr>
            <a:spLocks noGrp="1"/>
          </p:cNvSpPr>
          <p:nvPr>
            <p:ph idx="1"/>
          </p:nvPr>
        </p:nvSpPr>
        <p:spPr/>
        <p:txBody>
          <a:bodyPr>
            <a:normAutofit/>
          </a:bodyPr>
          <a:lstStyle/>
          <a:p>
            <a:endParaRPr lang="en-US" noProof="0" dirty="0"/>
          </a:p>
        </p:txBody>
      </p:sp>
      <p:sp>
        <p:nvSpPr>
          <p:cNvPr id="4" name="Slide Number Placeholder 3">
            <a:extLst>
              <a:ext uri="{FF2B5EF4-FFF2-40B4-BE49-F238E27FC236}">
                <a16:creationId xmlns:a16="http://schemas.microsoft.com/office/drawing/2014/main" id="{25977C92-B112-3017-1E4D-F3693FAB2E2D}"/>
              </a:ext>
            </a:extLst>
          </p:cNvPr>
          <p:cNvSpPr>
            <a:spLocks noGrp="1"/>
          </p:cNvSpPr>
          <p:nvPr>
            <p:ph type="sldNum" sz="quarter" idx="4294967295"/>
          </p:nvPr>
        </p:nvSpPr>
        <p:spPr>
          <a:xfrm>
            <a:off x="11560175" y="6561138"/>
            <a:ext cx="631825" cy="295275"/>
          </a:xfrm>
        </p:spPr>
        <p:txBody>
          <a:bodyPr/>
          <a:lstStyle/>
          <a:p>
            <a:fld id="{B5CEABB6-07DC-46E8-9B57-56EC44A396E5}" type="slidenum">
              <a:rPr lang="en-US" noProof="0" smtClean="0"/>
              <a:pPr/>
              <a:t>71</a:t>
            </a:fld>
            <a:endParaRPr lang="en-US" noProof="0" dirty="0"/>
          </a:p>
        </p:txBody>
      </p:sp>
    </p:spTree>
    <p:extLst>
      <p:ext uri="{BB962C8B-B14F-4D97-AF65-F5344CB8AC3E}">
        <p14:creationId xmlns:p14="http://schemas.microsoft.com/office/powerpoint/2010/main" val="706666977"/>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smtClean="0">
            <a:solidFill>
              <a:schemeClr val="tx1"/>
            </a:solidFill>
            <a:latin typeface="Meiryo UI" panose="020B0604030504040204" pitchFamily="50" charset="-128"/>
            <a:ea typeface="Meiryo UI" panose="020B0604030504040204" pitchFamily="50" charset="-128"/>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22318419_win32_SL_V9" id="{8502042B-488E-4F33-AD20-77B40A1BC1AA}" vid="{A90C26AF-23CA-48C5-BFF9-84DC7B1C91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50B30E212BAFC4FA7534AFFB67A36C3" ma:contentTypeVersion="17" ma:contentTypeDescription="Create a new document." ma:contentTypeScope="" ma:versionID="1295e896256cba98299c08d19fe3ad13">
  <xsd:schema xmlns:xsd="http://www.w3.org/2001/XMLSchema" xmlns:xs="http://www.w3.org/2001/XMLSchema" xmlns:p="http://schemas.microsoft.com/office/2006/metadata/properties" xmlns:ns3="006ef7e9-e438-4bc7-8ed6-04359ef1fa5d" xmlns:ns4="0fc30df0-37aa-4ddc-82ec-f47591415e12" targetNamespace="http://schemas.microsoft.com/office/2006/metadata/properties" ma:root="true" ma:fieldsID="8e9751099d4fa8ee5db177a2b2141a23" ns3:_="" ns4:_="">
    <xsd:import namespace="006ef7e9-e438-4bc7-8ed6-04359ef1fa5d"/>
    <xsd:import namespace="0fc30df0-37aa-4ddc-82ec-f47591415e1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OCR" minOccurs="0"/>
                <xsd:element ref="ns4:SharedWithUsers" minOccurs="0"/>
                <xsd:element ref="ns4:SharedWithDetails" minOccurs="0"/>
                <xsd:element ref="ns4:SharingHintHash" minOccurs="0"/>
                <xsd:element ref="ns3:MediaServiceDateTaken" minOccurs="0"/>
                <xsd:element ref="ns3:_activity" minOccurs="0"/>
                <xsd:element ref="ns3:MediaServiceObjectDetectorVersions" minOccurs="0"/>
                <xsd:element ref="ns3:MediaServiceSearchProperties" minOccurs="0"/>
                <xsd:element ref="ns3:MediaServiceSystemTag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6ef7e9-e438-4bc7-8ed6-04359ef1fa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SystemTags" ma:index="23" nillable="true" ma:displayName="MediaServiceSystemTags" ma:hidden="true" ma:internalName="MediaServiceSystemTag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fc30df0-37aa-4ddc-82ec-f47591415e12"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006ef7e9-e438-4bc7-8ed6-04359ef1fa5d" xsi:nil="true"/>
    <_activity xmlns="006ef7e9-e438-4bc7-8ed6-04359ef1fa5d" xsi:nil="true"/>
  </documentManagement>
</p:properties>
</file>

<file path=customXml/itemProps1.xml><?xml version="1.0" encoding="utf-8"?>
<ds:datastoreItem xmlns:ds="http://schemas.openxmlformats.org/officeDocument/2006/customXml" ds:itemID="{B7B39BD0-040C-43BE-B0E4-512B09E8003F}">
  <ds:schemaRefs>
    <ds:schemaRef ds:uri="http://schemas.microsoft.com/sharepoint/v3/contenttype/forms"/>
  </ds:schemaRefs>
</ds:datastoreItem>
</file>

<file path=customXml/itemProps2.xml><?xml version="1.0" encoding="utf-8"?>
<ds:datastoreItem xmlns:ds="http://schemas.openxmlformats.org/officeDocument/2006/customXml" ds:itemID="{FAEEDDBB-459B-486B-89BE-31FD106964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6ef7e9-e438-4bc7-8ed6-04359ef1fa5d"/>
    <ds:schemaRef ds:uri="0fc30df0-37aa-4ddc-82ec-f47591415e1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B045227-5724-4DBF-9712-031B1BFB2C3C}">
  <ds:schemaRefs>
    <ds:schemaRef ds:uri="http://schemas.microsoft.com/office/2006/documentManagement/types"/>
    <ds:schemaRef ds:uri="http://schemas.microsoft.com/office/2006/metadata/properties"/>
    <ds:schemaRef ds:uri="006ef7e9-e438-4bc7-8ed6-04359ef1fa5d"/>
    <ds:schemaRef ds:uri="http://purl.org/dc/elements/1.1/"/>
    <ds:schemaRef ds:uri="http://purl.org/dc/terms/"/>
    <ds:schemaRef ds:uri="http://schemas.openxmlformats.org/package/2006/metadata/core-properties"/>
    <ds:schemaRef ds:uri="http://purl.org/dc/dcmitype/"/>
    <ds:schemaRef ds:uri="http://schemas.microsoft.com/office/infopath/2007/PartnerControls"/>
    <ds:schemaRef ds:uri="0fc30df0-37aa-4ddc-82ec-f47591415e12"/>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{D9ACC382-1284-438C-B537-ACFEECFC47F0}tf22318419_win32</Template>
  <TotalTime>6202</TotalTime>
  <Words>7331</Words>
  <Application>Microsoft Office PowerPoint</Application>
  <PresentationFormat>Widescreen</PresentationFormat>
  <Paragraphs>1523</Paragraphs>
  <Slides>71</Slides>
  <Notes>40</Notes>
  <HiddenSlides>6</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71</vt:i4>
      </vt:variant>
    </vt:vector>
  </HeadingPairs>
  <TitlesOfParts>
    <vt:vector size="76" baseType="lpstr">
      <vt:lpstr>Meiryo UI</vt:lpstr>
      <vt:lpstr>Arial</vt:lpstr>
      <vt:lpstr>Calibri</vt:lpstr>
      <vt:lpstr>Wingdings</vt:lpstr>
      <vt:lpstr>Custom</vt:lpstr>
      <vt:lpstr>PowerPoint Presentation</vt:lpstr>
      <vt:lpstr>Preface</vt:lpstr>
      <vt:lpstr>Preface</vt:lpstr>
      <vt:lpstr>What do we consider when making decisions?</vt:lpstr>
      <vt:lpstr>Purpose of This Talk</vt:lpstr>
      <vt:lpstr>Agenda</vt:lpstr>
      <vt:lpstr>Agenda</vt:lpstr>
      <vt:lpstr>What Is Decision Science?</vt:lpstr>
      <vt:lpstr>Analytical Process</vt:lpstr>
      <vt:lpstr>Step① Defining the Problem and Objectives</vt:lpstr>
      <vt:lpstr>Step① Defining the Problem and Objectives</vt:lpstr>
      <vt:lpstr>Step② Defining Outcomes</vt:lpstr>
      <vt:lpstr>Step② Defining Outcomes</vt:lpstr>
      <vt:lpstr>Step② Defining Outcomes</vt:lpstr>
      <vt:lpstr>Step③ Selecting a Simulation Model</vt:lpstr>
      <vt:lpstr>Step④ Designing the Simulation Model</vt:lpstr>
      <vt:lpstr>Step③ Selecting a Simulation Model (Example)</vt:lpstr>
      <vt:lpstr>Step④ Designing the Simulation Model (Example)</vt:lpstr>
      <vt:lpstr>Step③ Selecting a Simulation Model (Example)</vt:lpstr>
      <vt:lpstr>Step④ Designing the Simulation Model (Example)</vt:lpstr>
      <vt:lpstr>Step⑤ Selecting Model Inputs</vt:lpstr>
      <vt:lpstr>Step⑤ Selecting Model Inputs (Example)</vt:lpstr>
      <vt:lpstr>Step⑥ Simulating Multiple Decision Options</vt:lpstr>
      <vt:lpstr>Step⑦ Sensitivity and Scenario Analyses</vt:lpstr>
      <vt:lpstr>Step⑦ Sensitivity and Scenario Analyses (Example)</vt:lpstr>
      <vt:lpstr>Step⑧ Evaluating Results</vt:lpstr>
      <vt:lpstr>Step⑧ Evaluating Results</vt:lpstr>
      <vt:lpstr>Summary So Far</vt:lpstr>
      <vt:lpstr>Agenda</vt:lpstr>
      <vt:lpstr>Choosing a Flight Seat Class</vt:lpstr>
      <vt:lpstr>Choosing a Flight Seat Class</vt:lpstr>
      <vt:lpstr>Choosing a Flight Seat Class</vt:lpstr>
      <vt:lpstr>Choosing a Flight Seat Class — Objective and Outcomes</vt:lpstr>
      <vt:lpstr>Choosing a Flight Seat Class — Structuring the Decision Problem</vt:lpstr>
      <vt:lpstr>Choosing a Flight Seat Class — Measuring Utility</vt:lpstr>
      <vt:lpstr>Measuring the Utility of a “Bad Seat”</vt:lpstr>
      <vt:lpstr>Measuring the Utility of a “Bad Seat”</vt:lpstr>
      <vt:lpstr>Measuring the Utility of a “Bad Seat”</vt:lpstr>
      <vt:lpstr>Measuring the Utility of a “Bad Seat”</vt:lpstr>
      <vt:lpstr>Measuring the Utility of a “Bad Seat”</vt:lpstr>
      <vt:lpstr>Measuring the Utility of a “Bad Seat”</vt:lpstr>
      <vt:lpstr>Measuring the Utility of a “Bad Seat”</vt:lpstr>
      <vt:lpstr>Measuring the Utility of a “Bad Seat”</vt:lpstr>
      <vt:lpstr>Measuring the Utility of a “Bad Seat”</vt:lpstr>
      <vt:lpstr>Measuring the Utility of a “Bad Seat”</vt:lpstr>
      <vt:lpstr>Measuring the Utility of a “Bad Seat”</vt:lpstr>
      <vt:lpstr>Measuring the Utility of a “Bad Seat”</vt:lpstr>
      <vt:lpstr>Measuring the Utility of a “Bad Seat”</vt:lpstr>
      <vt:lpstr>Choosing a Flight Seat Class — Plugging in Model Inputs</vt:lpstr>
      <vt:lpstr>Choosing a Flight Seat Class — Running the Simulation</vt:lpstr>
      <vt:lpstr>Choosing a Flight Seat Class — Running the Simulation</vt:lpstr>
      <vt:lpstr>Choosing a Flight Seat Class — Evaluating Results</vt:lpstr>
      <vt:lpstr>Choosing a Flight Seat Class — Sensitivity Analysis①</vt:lpstr>
      <vt:lpstr>Choosing a Flight Seat Class — Sensitivity Analysis①</vt:lpstr>
      <vt:lpstr>Choosing a Flight Seat Class — Sensitivity Analysis②</vt:lpstr>
      <vt:lpstr>Choosing a Flight Seat Class — Sensitivity Analysis②</vt:lpstr>
      <vt:lpstr>Agenda</vt:lpstr>
      <vt:lpstr>Use Cases in Healthcare</vt:lpstr>
      <vt:lpstr>Use Cases in Healthcare</vt:lpstr>
      <vt:lpstr>Use Case in Health Insurance Systems</vt:lpstr>
      <vt:lpstr>Use Case in Health Insurance Systems</vt:lpstr>
      <vt:lpstr>Use Case in Research</vt:lpstr>
      <vt:lpstr>Use Case in Research</vt:lpstr>
      <vt:lpstr>Use Case in Research</vt:lpstr>
      <vt:lpstr>Use Case in Research</vt:lpstr>
      <vt:lpstr>Use Case in Research</vt:lpstr>
      <vt:lpstr>Challenges</vt:lpstr>
      <vt:lpstr>Challenges</vt:lpstr>
      <vt:lpstr>Challenges</vt:lpstr>
      <vt:lpstr>Summary</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Koiso, Satoshi</dc:creator>
  <cp:lastModifiedBy>Satoshi Koiso</cp:lastModifiedBy>
  <cp:revision>55</cp:revision>
  <cp:lastPrinted>2025-04-13T10:58:46Z</cp:lastPrinted>
  <dcterms:created xsi:type="dcterms:W3CDTF">2025-03-13T23:30:58Z</dcterms:created>
  <dcterms:modified xsi:type="dcterms:W3CDTF">2026-06-19T06:34:18Z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0x010100150B30E212BAFC4FA7534AFFB67A36C3</vt:lpwstr>
  </property>
</Properties>
</file>