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70"/>
  </p:notesMasterIdLst>
  <p:handoutMasterIdLst>
    <p:handoutMasterId r:id="rId71"/>
  </p:handoutMasterIdLst>
  <p:sldIdLst>
    <p:sldId id="314" r:id="rId5"/>
    <p:sldId id="326" r:id="rId6"/>
    <p:sldId id="334" r:id="rId7"/>
    <p:sldId id="336" r:id="rId8"/>
    <p:sldId id="335" r:id="rId9"/>
    <p:sldId id="330" r:id="rId10"/>
    <p:sldId id="331" r:id="rId11"/>
    <p:sldId id="337" r:id="rId12"/>
    <p:sldId id="338" r:id="rId13"/>
    <p:sldId id="343" r:id="rId14"/>
    <p:sldId id="401" r:id="rId15"/>
    <p:sldId id="346" r:id="rId16"/>
    <p:sldId id="345" r:id="rId17"/>
    <p:sldId id="347" r:id="rId18"/>
    <p:sldId id="362" r:id="rId19"/>
    <p:sldId id="348" r:id="rId20"/>
    <p:sldId id="363" r:id="rId21"/>
    <p:sldId id="364" r:id="rId22"/>
    <p:sldId id="365" r:id="rId23"/>
    <p:sldId id="376" r:id="rId24"/>
    <p:sldId id="377" r:id="rId25"/>
    <p:sldId id="380" r:id="rId26"/>
    <p:sldId id="381" r:id="rId27"/>
    <p:sldId id="382" r:id="rId28"/>
    <p:sldId id="332" r:id="rId29"/>
    <p:sldId id="327" r:id="rId30"/>
    <p:sldId id="349" r:id="rId31"/>
    <p:sldId id="384" r:id="rId32"/>
    <p:sldId id="341" r:id="rId33"/>
    <p:sldId id="385" r:id="rId34"/>
    <p:sldId id="386" r:id="rId35"/>
    <p:sldId id="358" r:id="rId36"/>
    <p:sldId id="360" r:id="rId37"/>
    <p:sldId id="366" r:id="rId38"/>
    <p:sldId id="367" r:id="rId39"/>
    <p:sldId id="368" r:id="rId40"/>
    <p:sldId id="369" r:id="rId41"/>
    <p:sldId id="370" r:id="rId42"/>
    <p:sldId id="371" r:id="rId43"/>
    <p:sldId id="372" r:id="rId44"/>
    <p:sldId id="373" r:id="rId45"/>
    <p:sldId id="374" r:id="rId46"/>
    <p:sldId id="375" r:id="rId47"/>
    <p:sldId id="387" r:id="rId48"/>
    <p:sldId id="388" r:id="rId49"/>
    <p:sldId id="389" r:id="rId50"/>
    <p:sldId id="390" r:id="rId51"/>
    <p:sldId id="391" r:id="rId52"/>
    <p:sldId id="392" r:id="rId53"/>
    <p:sldId id="393" r:id="rId54"/>
    <p:sldId id="333" r:id="rId55"/>
    <p:sldId id="342" r:id="rId56"/>
    <p:sldId id="350" r:id="rId57"/>
    <p:sldId id="352" r:id="rId58"/>
    <p:sldId id="353" r:id="rId59"/>
    <p:sldId id="357" r:id="rId60"/>
    <p:sldId id="354" r:id="rId61"/>
    <p:sldId id="355" r:id="rId62"/>
    <p:sldId id="379" r:id="rId63"/>
    <p:sldId id="356" r:id="rId64"/>
    <p:sldId id="397" r:id="rId65"/>
    <p:sldId id="398" r:id="rId66"/>
    <p:sldId id="399" r:id="rId67"/>
    <p:sldId id="400" r:id="rId68"/>
    <p:sldId id="328" r:id="rId6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F205A6F-9E27-4CCF-8CA3-554D9C5F71A9}">
          <p14:sldIdLst>
            <p14:sldId id="314"/>
            <p14:sldId id="326"/>
            <p14:sldId id="334"/>
            <p14:sldId id="336"/>
            <p14:sldId id="335"/>
            <p14:sldId id="330"/>
          </p14:sldIdLst>
        </p14:section>
        <p14:section name="1.何か、どう分析するか" id="{D7276128-516E-4251-B69B-7256E0D9EEEC}">
          <p14:sldIdLst>
            <p14:sldId id="331"/>
            <p14:sldId id="337"/>
            <p14:sldId id="338"/>
            <p14:sldId id="343"/>
            <p14:sldId id="401"/>
            <p14:sldId id="346"/>
            <p14:sldId id="345"/>
            <p14:sldId id="347"/>
            <p14:sldId id="362"/>
            <p14:sldId id="348"/>
            <p14:sldId id="363"/>
            <p14:sldId id="364"/>
            <p14:sldId id="365"/>
            <p14:sldId id="376"/>
            <p14:sldId id="377"/>
            <p14:sldId id="380"/>
            <p14:sldId id="381"/>
            <p14:sldId id="382"/>
          </p14:sldIdLst>
        </p14:section>
        <p14:section name="2. 体験" id="{85C34C7B-7C5A-4ADC-B148-BA505C87663E}">
          <p14:sldIdLst>
            <p14:sldId id="332"/>
            <p14:sldId id="327"/>
            <p14:sldId id="349"/>
            <p14:sldId id="384"/>
            <p14:sldId id="341"/>
            <p14:sldId id="385"/>
            <p14:sldId id="386"/>
          </p14:sldIdLst>
        </p14:section>
        <p14:section name="SG" id="{610C363A-2DA9-4A09-91C9-0376F16A1A87}">
          <p14:sldIdLst>
            <p14:sldId id="358"/>
            <p14:sldId id="360"/>
            <p14:sldId id="366"/>
            <p14:sldId id="367"/>
            <p14:sldId id="368"/>
            <p14:sldId id="369"/>
            <p14:sldId id="370"/>
            <p14:sldId id="371"/>
            <p14:sldId id="372"/>
            <p14:sldId id="373"/>
            <p14:sldId id="374"/>
            <p14:sldId id="375"/>
            <p14:sldId id="387"/>
          </p14:sldIdLst>
        </p14:section>
        <p14:section name="2. 後半" id="{526822A4-07B4-4482-8A11-36E07EA26282}">
          <p14:sldIdLst>
            <p14:sldId id="388"/>
            <p14:sldId id="389"/>
            <p14:sldId id="390"/>
            <p14:sldId id="391"/>
            <p14:sldId id="392"/>
            <p14:sldId id="393"/>
          </p14:sldIdLst>
        </p14:section>
        <p14:section name="3. ユースケース" id="{B60B0747-8142-4959-92C4-0A2EBAFB396A}">
          <p14:sldIdLst>
            <p14:sldId id="333"/>
            <p14:sldId id="342"/>
            <p14:sldId id="350"/>
            <p14:sldId id="352"/>
            <p14:sldId id="353"/>
            <p14:sldId id="357"/>
            <p14:sldId id="354"/>
            <p14:sldId id="355"/>
            <p14:sldId id="379"/>
            <p14:sldId id="356"/>
            <p14:sldId id="397"/>
            <p14:sldId id="398"/>
            <p14:sldId id="399"/>
            <p14:sldId id="400"/>
            <p14:sldId id="328"/>
          </p14:sldIdLst>
        </p14:section>
        <p14:section name="Appendix" id="{3F533774-B8C2-41C7-BEA7-471BE4598833}">
          <p14:sldIdLst/>
        </p14:section>
      </p14:sectionLst>
    </p:ext>
    <p:ext uri="{EFAFB233-063F-42B5-8137-9DF3F51BA10A}">
      <p15:sldGuideLst xmlns:p15="http://schemas.microsoft.com/office/powerpoint/2012/main">
        <p15:guide id="1" orient="horz" pos="336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3A50B07-7071-0074-F045-3BC42B92FA38}" name="Koiso, Satoshi" initials="SK" userId="S::SKOISO@mgh.harvard.edu::5aae84c5-94d6-4633-b40e-a16272bfe86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7" autoAdjust="0"/>
    <p:restoredTop sz="79552" autoAdjust="0"/>
  </p:normalViewPr>
  <p:slideViewPr>
    <p:cSldViewPr snapToGrid="0">
      <p:cViewPr varScale="1">
        <p:scale>
          <a:sx n="74" d="100"/>
          <a:sy n="74" d="100"/>
        </p:scale>
        <p:origin x="666" y="30"/>
      </p:cViewPr>
      <p:guideLst>
        <p:guide orient="horz" pos="3362"/>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3037840" cy="466434"/>
          </a:xfrm>
          <a:prstGeom prst="rect">
            <a:avLst/>
          </a:prstGeom>
        </p:spPr>
        <p:txBody>
          <a:bodyPr vert="horz" lIns="93170" tIns="46586" rIns="93170" bIns="46586"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970938" y="0"/>
            <a:ext cx="3037840" cy="466434"/>
          </a:xfrm>
          <a:prstGeom prst="rect">
            <a:avLst/>
          </a:prstGeom>
        </p:spPr>
        <p:txBody>
          <a:bodyPr vert="horz" lIns="93170" tIns="46586" rIns="93170" bIns="46586" rtlCol="0"/>
          <a:lstStyle>
            <a:lvl1pPr algn="r">
              <a:defRPr sz="1200"/>
            </a:lvl1pPr>
          </a:lstStyle>
          <a:p>
            <a:fld id="{F352A77B-D33C-49B3-A83C-450AA2ED72B3}" type="datetimeFigureOut">
              <a:rPr lang="en-US" smtClean="0"/>
              <a:t>7/21/2026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829968"/>
            <a:ext cx="3037840" cy="466434"/>
          </a:xfrm>
          <a:prstGeom prst="rect">
            <a:avLst/>
          </a:prstGeom>
        </p:spPr>
        <p:txBody>
          <a:bodyPr vert="horz" lIns="93170" tIns="46586" rIns="93170" bIns="46586"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970938" y="8829968"/>
            <a:ext cx="3037840" cy="466434"/>
          </a:xfrm>
          <a:prstGeom prst="rect">
            <a:avLst/>
          </a:prstGeom>
        </p:spPr>
        <p:txBody>
          <a:bodyPr vert="horz" lIns="93170" tIns="46586" rIns="93170" bIns="46586"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0" tIns="46586" rIns="93170" bIns="46586"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0" tIns="46586" rIns="93170" bIns="46586" rtlCol="0"/>
          <a:lstStyle>
            <a:lvl1pPr algn="r">
              <a:defRPr sz="1200"/>
            </a:lvl1pPr>
          </a:lstStyle>
          <a:p>
            <a:fld id="{E38D8F9A-F5CB-4EF8-A859-ED5E107B9763}" type="datetimeFigureOut">
              <a:rPr lang="en-US" smtClean="0"/>
              <a:t>7/21/2026</a:t>
            </a:fld>
            <a:endParaRPr lang="en-US" dirty="0"/>
          </a:p>
        </p:txBody>
      </p:sp>
      <p:sp>
        <p:nvSpPr>
          <p:cNvPr id="4" name="Slide Image Placeholder 3"/>
          <p:cNvSpPr>
            <a:spLocks noGrp="1" noRot="1" noChangeAspect="1"/>
          </p:cNvSpPr>
          <p:nvPr>
            <p:ph type="sldImg" idx="2"/>
          </p:nvPr>
        </p:nvSpPr>
        <p:spPr>
          <a:xfrm>
            <a:off x="715963" y="1162050"/>
            <a:ext cx="5580062" cy="3138488"/>
          </a:xfrm>
          <a:prstGeom prst="rect">
            <a:avLst/>
          </a:prstGeom>
          <a:noFill/>
          <a:ln w="12700">
            <a:solidFill>
              <a:prstClr val="black"/>
            </a:solidFill>
          </a:ln>
        </p:spPr>
        <p:txBody>
          <a:bodyPr vert="horz" lIns="93170" tIns="46586" rIns="93170" bIns="46586"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0" tIns="46586" rIns="93170"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3170" tIns="46586" rIns="93170" bIns="4658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3170" tIns="46586" rIns="93170" bIns="46586"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Flight</a:t>
            </a:r>
            <a:r>
              <a:rPr lang="ja-JP" altLang="en-US" dirty="0"/>
              <a:t>で</a:t>
            </a:r>
            <a:endParaRPr lang="en-US" altLang="ja-JP" dirty="0"/>
          </a:p>
          <a:p>
            <a:r>
              <a:rPr lang="ja-JP" altLang="en-US" dirty="0"/>
              <a:t>おススメの便が３つ</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8129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色々と考慮できる要素があると思いますが、</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1119774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無意識のうちに期待される</a:t>
            </a:r>
            <a:endParaRPr lang="en-US" altLang="ja-JP" dirty="0"/>
          </a:p>
          <a:p>
            <a:endParaRPr lang="en-US" dirty="0"/>
          </a:p>
          <a:p>
            <a:endParaRPr lang="en-US" dirty="0"/>
          </a:p>
          <a:p>
            <a:r>
              <a:rPr lang="ja-JP" altLang="en-US" dirty="0"/>
              <a:t>私自身こういった分野が存在することを現在の職場で働き始めてから、初めて知りました。</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2868781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endParaRPr lang="en-US" altLang="ja-JP" dirty="0"/>
          </a:p>
          <a:p>
            <a:r>
              <a:rPr lang="ja-JP" altLang="en-US" dirty="0"/>
              <a:t>私個人の研究の話はあまりしない。</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1937771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ja-JP" altLang="en-US" dirty="0"/>
              <a:t>１で定義や分析の流れ</a:t>
            </a:r>
            <a:endParaRPr lang="en-US" altLang="ja-JP" dirty="0"/>
          </a:p>
          <a:p>
            <a:r>
              <a:rPr lang="ja-JP" altLang="en-US" dirty="0"/>
              <a:t>２でもう少し具体的に実際に体験して</a:t>
            </a:r>
            <a:endParaRPr lang="en-US" altLang="ja-JP" dirty="0"/>
          </a:p>
          <a:p>
            <a:r>
              <a:rPr lang="ja-JP" altLang="en-US" dirty="0"/>
              <a:t>３は現実にどこで使われるか</a:t>
            </a:r>
            <a:endParaRPr lang="en-US" altLang="ja-JP" dirty="0"/>
          </a:p>
          <a:p>
            <a:endParaRPr lang="en-US" dirty="0"/>
          </a:p>
          <a:p>
            <a:r>
              <a:rPr lang="ja-JP" altLang="en-US" dirty="0"/>
              <a:t>ちなみに、</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1715965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endParaRPr lang="en-US" altLang="ja-JP" dirty="0"/>
          </a:p>
          <a:p>
            <a:r>
              <a:rPr lang="ja-JP" altLang="en-US" dirty="0"/>
              <a:t>例は医療多め</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847280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意思決定にかかわる問題と目的を設定します</a:t>
            </a:r>
            <a:endParaRPr lang="en-US" altLang="ja-JP" dirty="0"/>
          </a:p>
          <a:p>
            <a:r>
              <a:rPr lang="ja-JP" altLang="en-US" dirty="0"/>
              <a:t>意思決定にかかわる問題とは、複数の選択肢</a:t>
            </a:r>
            <a:endParaRPr lang="en-US" altLang="ja-JP" dirty="0"/>
          </a:p>
          <a:p>
            <a:endParaRPr lang="en-US" dirty="0"/>
          </a:p>
          <a:p>
            <a:endParaRPr lang="en-US" dirty="0"/>
          </a:p>
          <a:p>
            <a:r>
              <a:rPr lang="ja-JP" altLang="en-US" dirty="0"/>
              <a:t>意思決定した後にどうなりたいのか、目的</a:t>
            </a:r>
            <a:endParaRPr lang="en-US" altLang="ja-JP" dirty="0"/>
          </a:p>
          <a:p>
            <a:endParaRPr lang="en-US"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3374491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医療経済では</a:t>
            </a:r>
            <a:r>
              <a:rPr lang="en-US" altLang="ja-JP" dirty="0"/>
              <a:t>QALYs(</a:t>
            </a:r>
            <a:r>
              <a:rPr lang="zh-TW" altLang="en-US" dirty="0"/>
              <a:t>質調整生存年</a:t>
            </a:r>
            <a:r>
              <a:rPr lang="en-US" altLang="zh-TW" dirty="0"/>
              <a:t>)</a:t>
            </a:r>
            <a:r>
              <a:rPr lang="ja-JP" altLang="en-US" dirty="0"/>
              <a:t>を効果としてよく使用</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3372847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少し唐突に感じられるかもしれませんが、分析においてはシミュレーションモデルを作成することが頻繁にあります。</a:t>
            </a:r>
            <a:endParaRPr lang="en-US" altLang="ja-JP" dirty="0"/>
          </a:p>
          <a:p>
            <a:r>
              <a:rPr lang="ja-JP" altLang="en-US" dirty="0"/>
              <a:t>というのも、問題に直面している状況というのは、</a:t>
            </a:r>
            <a:endParaRPr lang="en-US" altLang="ja-JP" dirty="0"/>
          </a:p>
          <a:p>
            <a:r>
              <a:rPr lang="ja-JP" altLang="en-US" dirty="0"/>
              <a:t>複数の選択肢の全部を実際にやって確かめることができないから悩んでいる状況なので、</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917214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梅毒は経過が長い病気。</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16</a:t>
            </a:fld>
            <a:endParaRPr lang="en-US" dirty="0"/>
          </a:p>
        </p:txBody>
      </p:sp>
    </p:spTree>
    <p:extLst>
      <p:ext uri="{BB962C8B-B14F-4D97-AF65-F5344CB8AC3E}">
        <p14:creationId xmlns:p14="http://schemas.microsoft.com/office/powerpoint/2010/main" val="101547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r>
              <a:rPr lang="en-US" altLang="ja-JP" dirty="0"/>
              <a:t>RCT</a:t>
            </a:r>
            <a:r>
              <a:rPr lang="ja-JP" altLang="en-US" dirty="0"/>
              <a:t>：介入や治療の因果効果を最も信頼性高く評価するための実験的手法</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18</a:t>
            </a:fld>
            <a:endParaRPr lang="en-US" dirty="0"/>
          </a:p>
        </p:txBody>
      </p:sp>
    </p:spTree>
    <p:extLst>
      <p:ext uri="{BB962C8B-B14F-4D97-AF65-F5344CB8AC3E}">
        <p14:creationId xmlns:p14="http://schemas.microsoft.com/office/powerpoint/2010/main" val="3939030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確率的不確実性：コイントスで実際にコインを投げないと表が出るか裏が出るかわからない</a:t>
            </a:r>
            <a:endParaRPr lang="en-US" altLang="ja-JP" dirty="0"/>
          </a:p>
          <a:p>
            <a:endParaRPr lang="en-US" dirty="0"/>
          </a:p>
          <a:p>
            <a:r>
              <a:rPr lang="ja-JP" altLang="en-US" dirty="0"/>
              <a:t>モデルの不確実性：マラリア患者で、偽陰性が出た場合に試験的治療をするのか、２回目の検査をするのか</a:t>
            </a:r>
            <a:endParaRPr lang="en-US" altLang="ja-JP" dirty="0"/>
          </a:p>
          <a:p>
            <a:endParaRPr lang="en-US" dirty="0"/>
          </a:p>
          <a:p>
            <a:r>
              <a:rPr lang="ja-JP" altLang="en-US" dirty="0"/>
              <a:t>パラメータの不確実性：各パラメータの値は一義的には決まらない。信頼区間</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21</a:t>
            </a:fld>
            <a:endParaRPr lang="en-US" dirty="0"/>
          </a:p>
        </p:txBody>
      </p:sp>
    </p:spTree>
    <p:extLst>
      <p:ext uri="{BB962C8B-B14F-4D97-AF65-F5344CB8AC3E}">
        <p14:creationId xmlns:p14="http://schemas.microsoft.com/office/powerpoint/2010/main" val="10859777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a:p>
            <a:r>
              <a:rPr lang="en-US" altLang="ja-JP" dirty="0"/>
              <a:t>QAH</a:t>
            </a:r>
            <a:r>
              <a:rPr lang="ja-JP" altLang="en-US" dirty="0"/>
              <a:t>という指標は実在しない。今回限りの発明</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29</a:t>
            </a:fld>
            <a:endParaRPr lang="en-US" dirty="0"/>
          </a:p>
        </p:txBody>
      </p:sp>
    </p:spTree>
    <p:extLst>
      <p:ext uri="{BB962C8B-B14F-4D97-AF65-F5344CB8AC3E}">
        <p14:creationId xmlns:p14="http://schemas.microsoft.com/office/powerpoint/2010/main" val="561751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今からお話するのは想像上のシチュエーションです</a:t>
            </a:r>
            <a:endParaRPr lang="en-US" altLang="ja-JP"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32</a:t>
            </a:fld>
            <a:endParaRPr lang="en-US" dirty="0"/>
          </a:p>
        </p:txBody>
      </p:sp>
    </p:spTree>
    <p:extLst>
      <p:ext uri="{BB962C8B-B14F-4D97-AF65-F5344CB8AC3E}">
        <p14:creationId xmlns:p14="http://schemas.microsoft.com/office/powerpoint/2010/main" val="3706800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ja-JP" altLang="en-US" dirty="0"/>
              <a:t>医療の場合でも同じこと</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44</a:t>
            </a:fld>
            <a:endParaRPr lang="en-US" dirty="0"/>
          </a:p>
        </p:txBody>
      </p:sp>
    </p:spTree>
    <p:extLst>
      <p:ext uri="{BB962C8B-B14F-4D97-AF65-F5344CB8AC3E}">
        <p14:creationId xmlns:p14="http://schemas.microsoft.com/office/powerpoint/2010/main" val="4083565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このグラフの見方</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50</a:t>
            </a:fld>
            <a:endParaRPr lang="en-US" dirty="0"/>
          </a:p>
        </p:txBody>
      </p:sp>
    </p:spTree>
    <p:extLst>
      <p:ext uri="{BB962C8B-B14F-4D97-AF65-F5344CB8AC3E}">
        <p14:creationId xmlns:p14="http://schemas.microsoft.com/office/powerpoint/2010/main" val="385014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では、この意思決定科学が世の中でどう使われているか３つの分野におけるユースケースをお話します</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51</a:t>
            </a:fld>
            <a:endParaRPr lang="en-US" dirty="0"/>
          </a:p>
        </p:txBody>
      </p:sp>
    </p:spTree>
    <p:extLst>
      <p:ext uri="{BB962C8B-B14F-4D97-AF65-F5344CB8AC3E}">
        <p14:creationId xmlns:p14="http://schemas.microsoft.com/office/powerpoint/2010/main" val="26916576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医療におけるユースケースです。</a:t>
            </a:r>
            <a:endParaRPr lang="en-US" altLang="ja-JP" dirty="0"/>
          </a:p>
          <a:p>
            <a:r>
              <a:rPr lang="ja-JP" altLang="en-US" dirty="0"/>
              <a:t>個別具体の治療や病気に使えるというのはお分かりいただけたと思いますが、</a:t>
            </a:r>
            <a:endParaRPr lang="en-US" altLang="ja-JP"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52</a:t>
            </a:fld>
            <a:endParaRPr lang="en-US" dirty="0"/>
          </a:p>
        </p:txBody>
      </p:sp>
    </p:spTree>
    <p:extLst>
      <p:ext uri="{BB962C8B-B14F-4D97-AF65-F5344CB8AC3E}">
        <p14:creationId xmlns:p14="http://schemas.microsoft.com/office/powerpoint/2010/main" val="3310177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a:t>ACIP</a:t>
            </a:r>
            <a:r>
              <a:rPr lang="ja-JP" altLang="en-US" dirty="0"/>
              <a:t>の助言が正式に採用されると、</a:t>
            </a:r>
            <a:r>
              <a:rPr lang="en-US" altLang="ja-JP" dirty="0"/>
              <a:t>CDC</a:t>
            </a:r>
            <a:r>
              <a:rPr lang="ja-JP" altLang="en-US" dirty="0"/>
              <a:t>や</a:t>
            </a:r>
            <a:r>
              <a:rPr lang="en-US" altLang="ja-JP" dirty="0"/>
              <a:t>HHS</a:t>
            </a:r>
            <a:r>
              <a:rPr lang="ja-JP" altLang="en-US" dirty="0"/>
              <a:t>の正式なワクチンのレコメンデーションになります。</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53</a:t>
            </a:fld>
            <a:endParaRPr lang="en-US" dirty="0"/>
          </a:p>
        </p:txBody>
      </p:sp>
    </p:spTree>
    <p:extLst>
      <p:ext uri="{BB962C8B-B14F-4D97-AF65-F5344CB8AC3E}">
        <p14:creationId xmlns:p14="http://schemas.microsoft.com/office/powerpoint/2010/main" val="2841834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日本との関係、また意思決定科学が歴史的に使われてきた分野として</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54</a:t>
            </a:fld>
            <a:endParaRPr lang="en-US" dirty="0"/>
          </a:p>
        </p:txBody>
      </p:sp>
    </p:spTree>
    <p:extLst>
      <p:ext uri="{BB962C8B-B14F-4D97-AF65-F5344CB8AC3E}">
        <p14:creationId xmlns:p14="http://schemas.microsoft.com/office/powerpoint/2010/main" val="3971670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ja-JP" altLang="en-US" dirty="0">
                <a:effectLst/>
              </a:rPr>
              <a:t>中央社会保険医療協議会とは、健康保険制度や診療報酬の改定などについて審議する厚労省の諮問機関</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55</a:t>
            </a:fld>
            <a:endParaRPr lang="en-US" dirty="0"/>
          </a:p>
        </p:txBody>
      </p:sp>
    </p:spTree>
    <p:extLst>
      <p:ext uri="{BB962C8B-B14F-4D97-AF65-F5344CB8AC3E}">
        <p14:creationId xmlns:p14="http://schemas.microsoft.com/office/powerpoint/2010/main" val="4098976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ja-JP" altLang="en-US" dirty="0"/>
              <a:t>問の対象になっているパラメータというのは</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57</a:t>
            </a:fld>
            <a:endParaRPr lang="en-US" dirty="0"/>
          </a:p>
        </p:txBody>
      </p:sp>
    </p:spTree>
    <p:extLst>
      <p:ext uri="{BB962C8B-B14F-4D97-AF65-F5344CB8AC3E}">
        <p14:creationId xmlns:p14="http://schemas.microsoft.com/office/powerpoint/2010/main" val="329935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一サンプルあたりの追加期待価値</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58</a:t>
            </a:fld>
            <a:endParaRPr lang="en-US" dirty="0"/>
          </a:p>
        </p:txBody>
      </p:sp>
    </p:spTree>
    <p:extLst>
      <p:ext uri="{BB962C8B-B14F-4D97-AF65-F5344CB8AC3E}">
        <p14:creationId xmlns:p14="http://schemas.microsoft.com/office/powerpoint/2010/main" val="4545970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そろそろまとめ</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61</a:t>
            </a:fld>
            <a:endParaRPr lang="en-US" dirty="0"/>
          </a:p>
        </p:txBody>
      </p:sp>
    </p:spTree>
    <p:extLst>
      <p:ext uri="{BB962C8B-B14F-4D97-AF65-F5344CB8AC3E}">
        <p14:creationId xmlns:p14="http://schemas.microsoft.com/office/powerpoint/2010/main" val="15500743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本講演の練習に付き合ってくださった方に、この場を借りてお礼を申し上げたいと思います。</a:t>
            </a:r>
            <a:endParaRPr lang="en-US" altLang="ja-JP" dirty="0"/>
          </a:p>
          <a:p>
            <a:endParaRPr lang="en-US" altLang="ja-JP" dirty="0"/>
          </a:p>
          <a:p>
            <a:r>
              <a:rPr lang="ja-JP" altLang="en-US" dirty="0"/>
              <a:t>今後もこの分野で研究を続けていくので、ご関心やご相談がありましたら、</a:t>
            </a:r>
            <a:endParaRPr lang="en-US" altLang="ja-JP" dirty="0"/>
          </a:p>
          <a:p>
            <a:r>
              <a:rPr lang="ja-JP" altLang="en-US" dirty="0"/>
              <a:t>お気軽にご連絡いただけますと幸いです。</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65</a:t>
            </a:fld>
            <a:endParaRPr lang="en-US" dirty="0"/>
          </a:p>
        </p:txBody>
      </p:sp>
    </p:spTree>
    <p:extLst>
      <p:ext uri="{BB962C8B-B14F-4D97-AF65-F5344CB8AC3E}">
        <p14:creationId xmlns:p14="http://schemas.microsoft.com/office/powerpoint/2010/main" val="25390071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rgbClr val="00206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454" t="1728"/>
          <a:stretch/>
        </p:blipFill>
        <p:spPr>
          <a:xfrm>
            <a:off x="-1" y="0"/>
            <a:ext cx="8264995" cy="5320146"/>
          </a:xfrm>
          <a:prstGeom prst="rect">
            <a:avLst/>
          </a:prstGeom>
        </p:spPr>
      </p:pic>
      <p:sp>
        <p:nvSpPr>
          <p:cNvPr id="2" name="Rectangle 1">
            <a:extLst>
              <a:ext uri="{FF2B5EF4-FFF2-40B4-BE49-F238E27FC236}">
                <a16:creationId xmlns:a16="http://schemas.microsoft.com/office/drawing/2014/main" id="{D8A73C3B-6575-90FE-BFBB-756A111AF003}"/>
              </a:ext>
            </a:extLst>
          </p:cNvPr>
          <p:cNvSpPr/>
          <p:nvPr userDrawn="1"/>
        </p:nvSpPr>
        <p:spPr>
          <a:xfrm>
            <a:off x="0" y="6581775"/>
            <a:ext cx="3028950" cy="27622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85000"/>
                  </a:schemeClr>
                </a:solidFill>
                <a:latin typeface="Meiryo UI" panose="020B0604030504040204" pitchFamily="50" charset="-128"/>
                <a:ea typeface="Meiryo UI" panose="020B0604030504040204" pitchFamily="50" charset="-128"/>
              </a:rPr>
              <a:t>© Satoshi Koiso</a:t>
            </a:r>
          </a:p>
        </p:txBody>
      </p:sp>
    </p:spTree>
    <p:extLst>
      <p:ext uri="{BB962C8B-B14F-4D97-AF65-F5344CB8AC3E}">
        <p14:creationId xmlns:p14="http://schemas.microsoft.com/office/powerpoint/2010/main" val="38108473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10211071" y="-715403"/>
            <a:ext cx="1266663" cy="2697632"/>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467139" y="589724"/>
            <a:ext cx="11221278" cy="362776"/>
          </a:xfrm>
          <a:prstGeom prst="rect">
            <a:avLst/>
          </a:prstGeom>
        </p:spPr>
        <p:txBody>
          <a:bodyPr lIns="0" tIns="0" rIns="0" bIns="0" anchor="ctr">
            <a:noAutofit/>
          </a:bodyPr>
          <a:lstStyle>
            <a:lvl1pPr>
              <a:lnSpc>
                <a:spcPct val="100000"/>
              </a:lnSpc>
              <a:spcAft>
                <a:spcPts val="0"/>
              </a:spcAft>
              <a:defRPr sz="2800" b="1">
                <a:solidFill>
                  <a:srgbClr val="002060"/>
                </a:solidFill>
              </a:defRPr>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467139" y="1938131"/>
            <a:ext cx="11221278" cy="4622672"/>
          </a:xfrm>
        </p:spPr>
        <p:txBody>
          <a:bodyPr lIns="0" tIns="0" rIns="0" bIns="0">
            <a:noAutofit/>
          </a:bodyPr>
          <a:lstStyle>
            <a:lvl1pPr>
              <a:lnSpc>
                <a:spcPct val="100000"/>
              </a:lnSpc>
              <a:defRPr sz="2400"/>
            </a:lvl1pPr>
          </a:lstStyle>
          <a:p>
            <a:r>
              <a:rPr lang="en-US" dirty="0"/>
              <a:t>Click icon to add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11554312" y="6560803"/>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cxnSp>
        <p:nvCxnSpPr>
          <p:cNvPr id="4" name="Straight Connector 3">
            <a:extLst>
              <a:ext uri="{FF2B5EF4-FFF2-40B4-BE49-F238E27FC236}">
                <a16:creationId xmlns:a16="http://schemas.microsoft.com/office/drawing/2014/main" id="{76AA6E50-66C3-6BC1-F8C9-4A376131E4DA}"/>
              </a:ext>
            </a:extLst>
          </p:cNvPr>
          <p:cNvCxnSpPr/>
          <p:nvPr userDrawn="1"/>
        </p:nvCxnSpPr>
        <p:spPr>
          <a:xfrm>
            <a:off x="0" y="983974"/>
            <a:ext cx="9412357"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Table Placeholder 8">
            <a:extLst>
              <a:ext uri="{FF2B5EF4-FFF2-40B4-BE49-F238E27FC236}">
                <a16:creationId xmlns:a16="http://schemas.microsoft.com/office/drawing/2014/main" id="{98987AD4-4C38-3E07-9A18-6847AC4C7450}"/>
              </a:ext>
            </a:extLst>
          </p:cNvPr>
          <p:cNvSpPr>
            <a:spLocks noGrp="1"/>
          </p:cNvSpPr>
          <p:nvPr>
            <p:ph type="tbl" sz="quarter" idx="11"/>
          </p:nvPr>
        </p:nvSpPr>
        <p:spPr>
          <a:xfrm>
            <a:off x="467139" y="1093305"/>
            <a:ext cx="11221278" cy="735496"/>
          </a:xfrm>
          <a:prstGeom prst="rect">
            <a:avLst/>
          </a:prstGeom>
        </p:spPr>
        <p:txBody>
          <a:bodyPr lIns="0" tIns="0" rIns="0" bIns="0">
            <a:noAutofit/>
          </a:bodyPr>
          <a:lstStyle>
            <a:lvl1pPr marL="0" indent="0">
              <a:buNone/>
              <a:defRPr sz="2400" b="1">
                <a:solidFill>
                  <a:srgbClr val="002060"/>
                </a:solidFill>
              </a:defRPr>
            </a:lvl1pPr>
          </a:lstStyle>
          <a:p>
            <a:r>
              <a:rPr lang="en-US" dirty="0"/>
              <a:t>Click icon to add table</a:t>
            </a:r>
          </a:p>
        </p:txBody>
      </p:sp>
      <p:sp>
        <p:nvSpPr>
          <p:cNvPr id="2" name="Rectangle 1">
            <a:extLst>
              <a:ext uri="{FF2B5EF4-FFF2-40B4-BE49-F238E27FC236}">
                <a16:creationId xmlns:a16="http://schemas.microsoft.com/office/drawing/2014/main" id="{0370BBD7-411C-DEB1-E248-62BF3C0133A1}"/>
              </a:ext>
            </a:extLst>
          </p:cNvPr>
          <p:cNvSpPr/>
          <p:nvPr userDrawn="1"/>
        </p:nvSpPr>
        <p:spPr>
          <a:xfrm>
            <a:off x="0" y="6581775"/>
            <a:ext cx="3028950" cy="276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50000"/>
                  </a:schemeClr>
                </a:solidFill>
                <a:latin typeface="Meiryo UI" panose="020B0604030504040204" pitchFamily="50" charset="-128"/>
                <a:ea typeface="Meiryo UI" panose="020B0604030504040204" pitchFamily="50" charset="-128"/>
              </a:rPr>
              <a:t>© Satoshi Koiso</a:t>
            </a:r>
          </a:p>
        </p:txBody>
      </p:sp>
    </p:spTree>
    <p:extLst>
      <p:ext uri="{BB962C8B-B14F-4D97-AF65-F5344CB8AC3E}">
        <p14:creationId xmlns:p14="http://schemas.microsoft.com/office/powerpoint/2010/main" val="27707804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00206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rgbClr val="002060"/>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rgbClr val="00206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Meiryo" panose="020B0604030504040204" pitchFamily="34" charset="-128"/>
                <a:ea typeface="Meiryo" panose="020B0604030504040204" pitchFamily="34" charset="-128"/>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Meiryo" panose="020B0604030504040204" pitchFamily="34" charset="-128"/>
                <a:ea typeface="Meiryo" panose="020B0604030504040204" pitchFamily="34" charset="-128"/>
              </a:defRPr>
            </a:lvl1pPr>
          </a:lstStyle>
          <a:p>
            <a:r>
              <a:rPr lang="en-US"/>
              <a:t>Pitch Deck</a:t>
            </a:r>
            <a:endParaRPr lang="en-US" dirty="0"/>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Meiryo" panose="020B0604030504040204" pitchFamily="34" charset="-128"/>
                <a:ea typeface="Meiryo" panose="020B0604030504040204" pitchFamily="34" charset="-128"/>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19" r:id="rId2"/>
    <p:sldLayoutId id="2147483716" r:id="rId3"/>
    <p:sldLayoutId id="2147483718" r:id="rId4"/>
    <p:sldLayoutId id="2147483708" r:id="rId5"/>
    <p:sldLayoutId id="2147483709" r:id="rId6"/>
    <p:sldLayoutId id="2147483712" r:id="rId7"/>
    <p:sldLayoutId id="2147483710" r:id="rId8"/>
    <p:sldLayoutId id="2147483711" r:id="rId9"/>
    <p:sldLayoutId id="2147483713" r:id="rId10"/>
    <p:sldLayoutId id="2147483714" r:id="rId11"/>
    <p:sldLayoutId id="2147483715" r:id="rId12"/>
    <p:sldLayoutId id="2147483717" r:id="rId13"/>
    <p:sldLayoutId id="2147483706" r:id="rId14"/>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3.png"/><Relationship Id="rId7"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hyperlink" Target="https://ameblo.jp/socchidiary/entry-12687858014.html" TargetMode="External"/><Relationship Id="rId4" Type="http://schemas.microsoft.com/office/2007/relationships/hdphoto" Target="../media/hdphoto1.wdp"/><Relationship Id="rId9" Type="http://schemas.openxmlformats.org/officeDocument/2006/relationships/image" Target="../media/image3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40FB97-D7F2-8229-DF1D-44421E58DF71}"/>
              </a:ext>
            </a:extLst>
          </p:cNvPr>
          <p:cNvSpPr/>
          <p:nvPr/>
        </p:nvSpPr>
        <p:spPr>
          <a:xfrm>
            <a:off x="6129444" y="4820351"/>
            <a:ext cx="5657850" cy="9758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bg1"/>
                </a:solidFill>
                <a:latin typeface="Meiryo UI" panose="020B0604030504040204" pitchFamily="50" charset="-128"/>
                <a:ea typeface="Meiryo UI" panose="020B0604030504040204" pitchFamily="50" charset="-128"/>
              </a:rPr>
              <a:t>Massachusetts General Hospital</a:t>
            </a:r>
          </a:p>
          <a:p>
            <a:pPr algn="r"/>
            <a:r>
              <a:rPr lang="en-US" sz="2400" dirty="0">
                <a:solidFill>
                  <a:schemeClr val="bg1"/>
                </a:solidFill>
                <a:latin typeface="Meiryo UI" panose="020B0604030504040204" pitchFamily="50" charset="-128"/>
                <a:ea typeface="Meiryo UI" panose="020B0604030504040204" pitchFamily="50" charset="-128"/>
              </a:rPr>
              <a:t>Medical Practice Evaluation Center</a:t>
            </a:r>
          </a:p>
          <a:p>
            <a:pPr algn="r"/>
            <a:r>
              <a:rPr lang="ja-JP" altLang="en-US" sz="2400" dirty="0">
                <a:solidFill>
                  <a:schemeClr val="bg1"/>
                </a:solidFill>
                <a:latin typeface="Meiryo UI" panose="020B0604030504040204" pitchFamily="50" charset="-128"/>
                <a:ea typeface="Meiryo UI" panose="020B0604030504040204" pitchFamily="50" charset="-128"/>
              </a:rPr>
              <a:t>小磯　聡</a:t>
            </a:r>
            <a:endParaRPr lang="en-US" sz="2400" dirty="0">
              <a:solidFill>
                <a:schemeClr val="bg1"/>
              </a:solidFill>
              <a:latin typeface="Meiryo UI" panose="020B0604030504040204" pitchFamily="50" charset="-128"/>
              <a:ea typeface="Meiryo UI" panose="020B0604030504040204" pitchFamily="50" charset="-128"/>
            </a:endParaRPr>
          </a:p>
        </p:txBody>
      </p:sp>
      <p:sp>
        <p:nvSpPr>
          <p:cNvPr id="4" name="Rectangle 3">
            <a:extLst>
              <a:ext uri="{FF2B5EF4-FFF2-40B4-BE49-F238E27FC236}">
                <a16:creationId xmlns:a16="http://schemas.microsoft.com/office/drawing/2014/main" id="{DE3F9140-EC34-B8CA-E824-A34C7CA20A32}"/>
              </a:ext>
            </a:extLst>
          </p:cNvPr>
          <p:cNvSpPr/>
          <p:nvPr/>
        </p:nvSpPr>
        <p:spPr>
          <a:xfrm>
            <a:off x="5887156" y="2847630"/>
            <a:ext cx="5900138" cy="18259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ja-JP" altLang="en-US" sz="4000" b="1" dirty="0">
                <a:latin typeface="Meiryo UI" panose="020B0604030504040204" pitchFamily="50" charset="-128"/>
                <a:ea typeface="Meiryo UI" panose="020B0604030504040204" pitchFamily="50" charset="-128"/>
              </a:rPr>
              <a:t>意思決定を科学する</a:t>
            </a:r>
            <a:br>
              <a:rPr lang="en-US" altLang="ja-JP" sz="4000" b="1" dirty="0">
                <a:latin typeface="Meiryo UI" panose="020B0604030504040204" pitchFamily="50" charset="-128"/>
                <a:ea typeface="Meiryo UI" panose="020B0604030504040204" pitchFamily="50" charset="-128"/>
              </a:rPr>
            </a:br>
            <a:r>
              <a:rPr lang="ja-JP" altLang="en-US" sz="4000" dirty="0">
                <a:latin typeface="Meiryo UI" panose="020B0604030504040204" pitchFamily="50" charset="-128"/>
                <a:ea typeface="Meiryo UI" panose="020B0604030504040204" pitchFamily="50" charset="-128"/>
              </a:rPr>
              <a:t>医療経済学の手法で考える政策立案・治療方針</a:t>
            </a:r>
            <a:endParaRPr lang="en-US" sz="1600" dirty="0">
              <a:solidFill>
                <a:schemeClr val="bg1"/>
              </a:solidFill>
              <a:latin typeface="Meiryo UI" panose="020B0604030504040204" pitchFamily="50" charset="-128"/>
              <a:ea typeface="Meiryo UI" panose="020B0604030504040204" pitchFamily="50" charset="-128"/>
            </a:endParaRPr>
          </a:p>
        </p:txBody>
      </p:sp>
      <p:sp>
        <p:nvSpPr>
          <p:cNvPr id="5" name="Rectangle 4">
            <a:extLst>
              <a:ext uri="{FF2B5EF4-FFF2-40B4-BE49-F238E27FC236}">
                <a16:creationId xmlns:a16="http://schemas.microsoft.com/office/drawing/2014/main" id="{F9085391-A357-8ED8-F15D-CEA05582359D}"/>
              </a:ext>
            </a:extLst>
          </p:cNvPr>
          <p:cNvSpPr/>
          <p:nvPr/>
        </p:nvSpPr>
        <p:spPr>
          <a:xfrm>
            <a:off x="4436533" y="6163733"/>
            <a:ext cx="7350761" cy="4734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400" dirty="0">
                <a:solidFill>
                  <a:schemeClr val="bg1"/>
                </a:solidFill>
                <a:latin typeface="Meiryo UI" panose="020B0604030504040204" pitchFamily="50" charset="-128"/>
                <a:ea typeface="Meiryo UI" panose="020B0604030504040204" pitchFamily="50" charset="-128"/>
              </a:rPr>
              <a:t>2025</a:t>
            </a:r>
            <a:r>
              <a:rPr lang="ja-JP" altLang="en-US" sz="2400" dirty="0">
                <a:solidFill>
                  <a:schemeClr val="bg1"/>
                </a:solidFill>
                <a:latin typeface="Meiryo UI" panose="020B0604030504040204" pitchFamily="50" charset="-128"/>
                <a:ea typeface="Meiryo UI" panose="020B0604030504040204" pitchFamily="50" charset="-128"/>
              </a:rPr>
              <a:t>年</a:t>
            </a:r>
            <a:r>
              <a:rPr lang="en-US" altLang="ja-JP" sz="2400" dirty="0">
                <a:solidFill>
                  <a:schemeClr val="bg1"/>
                </a:solidFill>
                <a:latin typeface="Meiryo UI" panose="020B0604030504040204" pitchFamily="50" charset="-128"/>
                <a:ea typeface="Meiryo UI" panose="020B0604030504040204" pitchFamily="50" charset="-128"/>
              </a:rPr>
              <a:t>4</a:t>
            </a:r>
            <a:r>
              <a:rPr lang="ja-JP" altLang="en-US" sz="2400" dirty="0">
                <a:solidFill>
                  <a:schemeClr val="bg1"/>
                </a:solidFill>
                <a:latin typeface="Meiryo UI" panose="020B0604030504040204" pitchFamily="50" charset="-128"/>
                <a:ea typeface="Meiryo UI" panose="020B0604030504040204" pitchFamily="50" charset="-128"/>
              </a:rPr>
              <a:t>月　ボストン日本人研究者交流会</a:t>
            </a:r>
            <a:endParaRPr lang="en-US" sz="2400"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E1E27-99C9-1FD0-8715-CE5F939CF124}"/>
              </a:ext>
            </a:extLst>
          </p:cNvPr>
          <p:cNvSpPr>
            <a:spLocks noGrp="1"/>
          </p:cNvSpPr>
          <p:nvPr>
            <p:ph type="title"/>
          </p:nvPr>
        </p:nvSpPr>
        <p:spPr/>
        <p:txBody>
          <a:bodyPr/>
          <a:lstStyle/>
          <a:p>
            <a:r>
              <a:rPr lang="ja-JP" altLang="en-US" dirty="0"/>
              <a:t>前置き</a:t>
            </a:r>
            <a:endParaRPr lang="en-US" dirty="0"/>
          </a:p>
        </p:txBody>
      </p:sp>
      <p:sp>
        <p:nvSpPr>
          <p:cNvPr id="4" name="Slide Number Placeholder 3">
            <a:extLst>
              <a:ext uri="{FF2B5EF4-FFF2-40B4-BE49-F238E27FC236}">
                <a16:creationId xmlns:a16="http://schemas.microsoft.com/office/drawing/2014/main" id="{21F2E736-CB30-5B67-3E0D-45CDFB76EFA2}"/>
              </a:ext>
            </a:extLst>
          </p:cNvPr>
          <p:cNvSpPr>
            <a:spLocks noGrp="1"/>
          </p:cNvSpPr>
          <p:nvPr>
            <p:ph type="sldNum" sz="quarter" idx="4"/>
          </p:nvPr>
        </p:nvSpPr>
        <p:spPr/>
        <p:txBody>
          <a:bodyPr/>
          <a:lstStyle/>
          <a:p>
            <a:fld id="{B5CEABB6-07DC-46E8-9B57-56EC44A396E5}" type="slidenum">
              <a:rPr lang="en-US" smtClean="0"/>
              <a:pPr/>
              <a:t>2</a:t>
            </a:fld>
            <a:endParaRPr lang="en-US" dirty="0"/>
          </a:p>
        </p:txBody>
      </p:sp>
      <p:sp>
        <p:nvSpPr>
          <p:cNvPr id="5" name="Table Placeholder 4">
            <a:extLst>
              <a:ext uri="{FF2B5EF4-FFF2-40B4-BE49-F238E27FC236}">
                <a16:creationId xmlns:a16="http://schemas.microsoft.com/office/drawing/2014/main" id="{A5A45340-25A8-C918-5E2B-798653AAB3F1}"/>
              </a:ext>
            </a:extLst>
          </p:cNvPr>
          <p:cNvSpPr>
            <a:spLocks noGrp="1"/>
          </p:cNvSpPr>
          <p:nvPr>
            <p:ph type="tbl" sz="quarter" idx="11"/>
          </p:nvPr>
        </p:nvSpPr>
        <p:spPr/>
        <p:txBody>
          <a:bodyPr/>
          <a:lstStyle/>
          <a:p>
            <a:r>
              <a:rPr lang="ja-JP" altLang="en-US" dirty="0"/>
              <a:t>今日日本に飛ぶとしたら、どのフライトを選びますか？</a:t>
            </a:r>
            <a:endParaRPr lang="en-US" dirty="0"/>
          </a:p>
        </p:txBody>
      </p:sp>
      <p:pic>
        <p:nvPicPr>
          <p:cNvPr id="7" name="Picture 6">
            <a:extLst>
              <a:ext uri="{FF2B5EF4-FFF2-40B4-BE49-F238E27FC236}">
                <a16:creationId xmlns:a16="http://schemas.microsoft.com/office/drawing/2014/main" id="{1695FF58-20E9-B133-E2F8-13CC9A5AE36F}"/>
              </a:ext>
            </a:extLst>
          </p:cNvPr>
          <p:cNvPicPr>
            <a:picLocks noChangeAspect="1"/>
          </p:cNvPicPr>
          <p:nvPr/>
        </p:nvPicPr>
        <p:blipFill>
          <a:blip r:embed="rId3"/>
          <a:stretch>
            <a:fillRect/>
          </a:stretch>
        </p:blipFill>
        <p:spPr>
          <a:xfrm>
            <a:off x="1384010" y="1614992"/>
            <a:ext cx="9423980" cy="4928497"/>
          </a:xfrm>
          <a:prstGeom prst="rect">
            <a:avLst/>
          </a:prstGeom>
        </p:spPr>
      </p:pic>
    </p:spTree>
    <p:extLst>
      <p:ext uri="{BB962C8B-B14F-4D97-AF65-F5344CB8AC3E}">
        <p14:creationId xmlns:p14="http://schemas.microsoft.com/office/powerpoint/2010/main" val="3205745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4062E-A2E8-090A-999C-1BE3BD6C5056}"/>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C7A7045E-B1ED-3833-3095-9C3303AA48AF}"/>
              </a:ext>
            </a:extLst>
          </p:cNvPr>
          <p:cNvPicPr>
            <a:picLocks noChangeAspect="1"/>
          </p:cNvPicPr>
          <p:nvPr/>
        </p:nvPicPr>
        <p:blipFill>
          <a:blip r:embed="rId3"/>
          <a:stretch>
            <a:fillRect/>
          </a:stretch>
        </p:blipFill>
        <p:spPr>
          <a:xfrm>
            <a:off x="1384010" y="1614992"/>
            <a:ext cx="9423980" cy="4928497"/>
          </a:xfrm>
          <a:prstGeom prst="rect">
            <a:avLst/>
          </a:prstGeom>
        </p:spPr>
      </p:pic>
      <p:sp>
        <p:nvSpPr>
          <p:cNvPr id="2" name="Title 1">
            <a:extLst>
              <a:ext uri="{FF2B5EF4-FFF2-40B4-BE49-F238E27FC236}">
                <a16:creationId xmlns:a16="http://schemas.microsoft.com/office/drawing/2014/main" id="{4A79D46F-36B8-1090-1229-40F1665AE119}"/>
              </a:ext>
            </a:extLst>
          </p:cNvPr>
          <p:cNvSpPr>
            <a:spLocks noGrp="1"/>
          </p:cNvSpPr>
          <p:nvPr>
            <p:ph type="title"/>
          </p:nvPr>
        </p:nvSpPr>
        <p:spPr/>
        <p:txBody>
          <a:bodyPr/>
          <a:lstStyle/>
          <a:p>
            <a:r>
              <a:rPr lang="ja-JP" altLang="en-US" dirty="0"/>
              <a:t>前置き</a:t>
            </a:r>
            <a:endParaRPr lang="en-US" dirty="0"/>
          </a:p>
        </p:txBody>
      </p:sp>
      <p:sp>
        <p:nvSpPr>
          <p:cNvPr id="4" name="Slide Number Placeholder 3">
            <a:extLst>
              <a:ext uri="{FF2B5EF4-FFF2-40B4-BE49-F238E27FC236}">
                <a16:creationId xmlns:a16="http://schemas.microsoft.com/office/drawing/2014/main" id="{EA0A3759-D176-5E46-1496-A6BA18992715}"/>
              </a:ext>
            </a:extLst>
          </p:cNvPr>
          <p:cNvSpPr>
            <a:spLocks noGrp="1"/>
          </p:cNvSpPr>
          <p:nvPr>
            <p:ph type="sldNum" sz="quarter" idx="4"/>
          </p:nvPr>
        </p:nvSpPr>
        <p:spPr/>
        <p:txBody>
          <a:bodyPr/>
          <a:lstStyle/>
          <a:p>
            <a:fld id="{B5CEABB6-07DC-46E8-9B57-56EC44A396E5}" type="slidenum">
              <a:rPr lang="en-US" smtClean="0"/>
              <a:pPr/>
              <a:t>3</a:t>
            </a:fld>
            <a:endParaRPr lang="en-US" dirty="0"/>
          </a:p>
        </p:txBody>
      </p:sp>
      <p:sp>
        <p:nvSpPr>
          <p:cNvPr id="5" name="Table Placeholder 4">
            <a:extLst>
              <a:ext uri="{FF2B5EF4-FFF2-40B4-BE49-F238E27FC236}">
                <a16:creationId xmlns:a16="http://schemas.microsoft.com/office/drawing/2014/main" id="{0D26E3CF-9C3F-8088-E8C1-EE3CCE832438}"/>
              </a:ext>
            </a:extLst>
          </p:cNvPr>
          <p:cNvSpPr>
            <a:spLocks noGrp="1"/>
          </p:cNvSpPr>
          <p:nvPr>
            <p:ph type="tbl" sz="quarter" idx="11"/>
          </p:nvPr>
        </p:nvSpPr>
        <p:spPr/>
        <p:txBody>
          <a:bodyPr/>
          <a:lstStyle/>
          <a:p>
            <a:r>
              <a:rPr lang="ja-JP" altLang="en-US" dirty="0"/>
              <a:t>何を考慮してフライトを選びますか？</a:t>
            </a:r>
            <a:endParaRPr lang="en-US" dirty="0"/>
          </a:p>
        </p:txBody>
      </p:sp>
      <p:sp>
        <p:nvSpPr>
          <p:cNvPr id="3" name="Speech Bubble: Rectangle 2">
            <a:extLst>
              <a:ext uri="{FF2B5EF4-FFF2-40B4-BE49-F238E27FC236}">
                <a16:creationId xmlns:a16="http://schemas.microsoft.com/office/drawing/2014/main" id="{C60AA262-6C00-59FD-8153-C892021E8DE9}"/>
              </a:ext>
            </a:extLst>
          </p:cNvPr>
          <p:cNvSpPr/>
          <p:nvPr/>
        </p:nvSpPr>
        <p:spPr>
          <a:xfrm>
            <a:off x="1529191" y="3703761"/>
            <a:ext cx="1187760" cy="562707"/>
          </a:xfrm>
          <a:prstGeom prst="wedgeRectCallout">
            <a:avLst>
              <a:gd name="adj1" fmla="val 30653"/>
              <a:gd name="adj2" fmla="val 78572"/>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出発時間</a:t>
            </a:r>
            <a:endParaRPr lang="en-US" dirty="0">
              <a:solidFill>
                <a:schemeClr val="tx1"/>
              </a:solidFill>
              <a:latin typeface="Meiryo UI" panose="020B0604030504040204" pitchFamily="50" charset="-128"/>
              <a:ea typeface="Meiryo UI" panose="020B0604030504040204" pitchFamily="50" charset="-128"/>
            </a:endParaRPr>
          </a:p>
        </p:txBody>
      </p:sp>
      <p:sp>
        <p:nvSpPr>
          <p:cNvPr id="6" name="Speech Bubble: Rectangle 5">
            <a:extLst>
              <a:ext uri="{FF2B5EF4-FFF2-40B4-BE49-F238E27FC236}">
                <a16:creationId xmlns:a16="http://schemas.microsoft.com/office/drawing/2014/main" id="{BC1C0F7A-A543-4764-6391-CE613CA32E69}"/>
              </a:ext>
            </a:extLst>
          </p:cNvPr>
          <p:cNvSpPr/>
          <p:nvPr/>
        </p:nvSpPr>
        <p:spPr>
          <a:xfrm>
            <a:off x="4687420" y="3422406"/>
            <a:ext cx="1269443" cy="562707"/>
          </a:xfrm>
          <a:prstGeom prst="wedgeRectCallout">
            <a:avLst>
              <a:gd name="adj1" fmla="val -17724"/>
              <a:gd name="adj2" fmla="val 121429"/>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所要時間</a:t>
            </a:r>
            <a:endParaRPr lang="en-US" dirty="0">
              <a:solidFill>
                <a:schemeClr val="tx1"/>
              </a:solidFill>
              <a:latin typeface="Meiryo UI" panose="020B0604030504040204" pitchFamily="50" charset="-128"/>
              <a:ea typeface="Meiryo UI" panose="020B0604030504040204" pitchFamily="50" charset="-128"/>
            </a:endParaRPr>
          </a:p>
        </p:txBody>
      </p:sp>
      <p:sp>
        <p:nvSpPr>
          <p:cNvPr id="8" name="Speech Bubble: Rectangle 7">
            <a:extLst>
              <a:ext uri="{FF2B5EF4-FFF2-40B4-BE49-F238E27FC236}">
                <a16:creationId xmlns:a16="http://schemas.microsoft.com/office/drawing/2014/main" id="{C48927F6-8F1A-C21A-C944-E24FD3E0BE49}"/>
              </a:ext>
            </a:extLst>
          </p:cNvPr>
          <p:cNvSpPr/>
          <p:nvPr/>
        </p:nvSpPr>
        <p:spPr>
          <a:xfrm>
            <a:off x="3950468" y="4842270"/>
            <a:ext cx="974690" cy="562707"/>
          </a:xfrm>
          <a:prstGeom prst="wedgeRectCallout">
            <a:avLst>
              <a:gd name="adj1" fmla="val 97826"/>
              <a:gd name="adj2" fmla="val -45201"/>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到着地</a:t>
            </a:r>
            <a:endParaRPr lang="en-US" dirty="0">
              <a:solidFill>
                <a:schemeClr val="tx1"/>
              </a:solidFill>
              <a:latin typeface="Meiryo UI" panose="020B0604030504040204" pitchFamily="50" charset="-128"/>
              <a:ea typeface="Meiryo UI" panose="020B0604030504040204" pitchFamily="50" charset="-128"/>
            </a:endParaRPr>
          </a:p>
        </p:txBody>
      </p:sp>
      <p:sp>
        <p:nvSpPr>
          <p:cNvPr id="9" name="Speech Bubble: Rectangle 8">
            <a:extLst>
              <a:ext uri="{FF2B5EF4-FFF2-40B4-BE49-F238E27FC236}">
                <a16:creationId xmlns:a16="http://schemas.microsoft.com/office/drawing/2014/main" id="{7F953C68-6AD8-BE54-3B4F-9D1E7F3A32BA}"/>
              </a:ext>
            </a:extLst>
          </p:cNvPr>
          <p:cNvSpPr/>
          <p:nvPr/>
        </p:nvSpPr>
        <p:spPr>
          <a:xfrm>
            <a:off x="6144912" y="3703759"/>
            <a:ext cx="1198630" cy="562707"/>
          </a:xfrm>
          <a:prstGeom prst="wedgeRectCallout">
            <a:avLst>
              <a:gd name="adj1" fmla="val -12016"/>
              <a:gd name="adj2" fmla="val 122005"/>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乗継時間</a:t>
            </a:r>
            <a:endParaRPr lang="en-US" dirty="0">
              <a:solidFill>
                <a:schemeClr val="tx1"/>
              </a:solidFill>
              <a:latin typeface="Meiryo UI" panose="020B0604030504040204" pitchFamily="50" charset="-128"/>
              <a:ea typeface="Meiryo UI" panose="020B0604030504040204" pitchFamily="50" charset="-128"/>
            </a:endParaRPr>
          </a:p>
        </p:txBody>
      </p:sp>
      <p:sp>
        <p:nvSpPr>
          <p:cNvPr id="10" name="Speech Bubble: Rectangle 9">
            <a:extLst>
              <a:ext uri="{FF2B5EF4-FFF2-40B4-BE49-F238E27FC236}">
                <a16:creationId xmlns:a16="http://schemas.microsoft.com/office/drawing/2014/main" id="{6637B420-BB87-5896-6853-6126B95566D4}"/>
              </a:ext>
            </a:extLst>
          </p:cNvPr>
          <p:cNvSpPr/>
          <p:nvPr/>
        </p:nvSpPr>
        <p:spPr>
          <a:xfrm>
            <a:off x="7499979" y="3429000"/>
            <a:ext cx="1306285" cy="562707"/>
          </a:xfrm>
          <a:prstGeom prst="wedgeRectCallout">
            <a:avLst>
              <a:gd name="adj1" fmla="val -31054"/>
              <a:gd name="adj2" fmla="val 133929"/>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環境負荷</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Speech Bubble: Rectangle 10">
            <a:extLst>
              <a:ext uri="{FF2B5EF4-FFF2-40B4-BE49-F238E27FC236}">
                <a16:creationId xmlns:a16="http://schemas.microsoft.com/office/drawing/2014/main" id="{C2CF9272-D868-3462-CB7D-7661002D74A3}"/>
              </a:ext>
            </a:extLst>
          </p:cNvPr>
          <p:cNvSpPr/>
          <p:nvPr/>
        </p:nvSpPr>
        <p:spPr>
          <a:xfrm>
            <a:off x="9305088" y="3710353"/>
            <a:ext cx="836094" cy="562707"/>
          </a:xfrm>
          <a:prstGeom prst="wedgeRectCallout">
            <a:avLst>
              <a:gd name="adj1" fmla="val 15390"/>
              <a:gd name="adj2" fmla="val 93620"/>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Speech Bubble: Rectangle 11">
            <a:extLst>
              <a:ext uri="{FF2B5EF4-FFF2-40B4-BE49-F238E27FC236}">
                <a16:creationId xmlns:a16="http://schemas.microsoft.com/office/drawing/2014/main" id="{4191361F-A8B6-BC28-D85C-5DEFBAB959F9}"/>
              </a:ext>
            </a:extLst>
          </p:cNvPr>
          <p:cNvSpPr/>
          <p:nvPr/>
        </p:nvSpPr>
        <p:spPr>
          <a:xfrm>
            <a:off x="344558" y="4266468"/>
            <a:ext cx="904597" cy="562707"/>
          </a:xfrm>
          <a:prstGeom prst="wedgeRectCallout">
            <a:avLst>
              <a:gd name="adj1" fmla="val 106792"/>
              <a:gd name="adj2" fmla="val 19643"/>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ブランド</a:t>
            </a:r>
            <a:endParaRPr lang="en-US" dirty="0">
              <a:solidFill>
                <a:schemeClr val="tx1"/>
              </a:solidFill>
              <a:latin typeface="Meiryo UI" panose="020B0604030504040204" pitchFamily="50" charset="-128"/>
              <a:ea typeface="Meiryo UI" panose="020B0604030504040204" pitchFamily="50" charset="-128"/>
            </a:endParaRPr>
          </a:p>
        </p:txBody>
      </p:sp>
      <p:sp>
        <p:nvSpPr>
          <p:cNvPr id="13" name="Speech Bubble: Rectangle 12">
            <a:extLst>
              <a:ext uri="{FF2B5EF4-FFF2-40B4-BE49-F238E27FC236}">
                <a16:creationId xmlns:a16="http://schemas.microsoft.com/office/drawing/2014/main" id="{079A46BE-DF14-56D1-4CB0-5E9940F9F0DC}"/>
              </a:ext>
            </a:extLst>
          </p:cNvPr>
          <p:cNvSpPr/>
          <p:nvPr/>
        </p:nvSpPr>
        <p:spPr>
          <a:xfrm>
            <a:off x="2943624" y="3703760"/>
            <a:ext cx="1187760" cy="562707"/>
          </a:xfrm>
          <a:prstGeom prst="wedgeRectCallout">
            <a:avLst>
              <a:gd name="adj1" fmla="val -3187"/>
              <a:gd name="adj2" fmla="val 78572"/>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到着時間</a:t>
            </a:r>
            <a:endParaRPr lang="en-US"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04702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7646-255B-9914-BD72-83821AB8539F}"/>
              </a:ext>
            </a:extLst>
          </p:cNvPr>
          <p:cNvSpPr>
            <a:spLocks noGrp="1"/>
          </p:cNvSpPr>
          <p:nvPr>
            <p:ph type="title"/>
          </p:nvPr>
        </p:nvSpPr>
        <p:spPr>
          <a:xfrm>
            <a:off x="467139" y="589724"/>
            <a:ext cx="11221278" cy="362776"/>
          </a:xfrm>
        </p:spPr>
        <p:txBody>
          <a:bodyPr/>
          <a:lstStyle/>
          <a:p>
            <a:r>
              <a:rPr lang="ja-JP" altLang="en-US" dirty="0"/>
              <a:t>意思決定をする際に何を考慮するか</a:t>
            </a:r>
            <a:endParaRPr lang="en-US" dirty="0"/>
          </a:p>
        </p:txBody>
      </p:sp>
      <p:sp>
        <p:nvSpPr>
          <p:cNvPr id="3" name="Table Placeholder 2">
            <a:extLst>
              <a:ext uri="{FF2B5EF4-FFF2-40B4-BE49-F238E27FC236}">
                <a16:creationId xmlns:a16="http://schemas.microsoft.com/office/drawing/2014/main" id="{075791E2-FE7B-BBBF-768D-829E4D16FDAE}"/>
              </a:ext>
            </a:extLst>
          </p:cNvPr>
          <p:cNvSpPr>
            <a:spLocks noGrp="1"/>
          </p:cNvSpPr>
          <p:nvPr>
            <p:ph type="tbl" sz="quarter" idx="10"/>
          </p:nvPr>
        </p:nvSpPr>
        <p:spPr/>
        <p:txBody>
          <a:bodyPr/>
          <a:lstStyle/>
          <a:p>
            <a:endParaRPr lang="en-US" altLang="ja-JP" sz="2800" dirty="0"/>
          </a:p>
          <a:p>
            <a:r>
              <a:rPr lang="ja-JP" altLang="en-US" sz="2800" dirty="0"/>
              <a:t>期待されるメリット</a:t>
            </a:r>
            <a:endParaRPr lang="en-US" altLang="ja-JP" sz="2800" dirty="0"/>
          </a:p>
          <a:p>
            <a:pPr lvl="1">
              <a:lnSpc>
                <a:spcPct val="100000"/>
              </a:lnSpc>
            </a:pPr>
            <a:r>
              <a:rPr lang="ja-JP" altLang="en-US" dirty="0"/>
              <a:t>利便性、快適さ、機内サービス</a:t>
            </a:r>
            <a:r>
              <a:rPr lang="en-US" altLang="ja-JP" dirty="0"/>
              <a:t>	</a:t>
            </a:r>
            <a:r>
              <a:rPr lang="ja-JP" altLang="en-US" dirty="0"/>
              <a:t>など</a:t>
            </a:r>
            <a:endParaRPr lang="en-US" altLang="ja-JP" sz="2800" dirty="0"/>
          </a:p>
          <a:p>
            <a:r>
              <a:rPr lang="ja-JP" altLang="en-US" sz="2800" dirty="0"/>
              <a:t>期待されるデメリット</a:t>
            </a:r>
          </a:p>
          <a:p>
            <a:pPr lvl="1">
              <a:lnSpc>
                <a:spcPct val="100000"/>
              </a:lnSpc>
            </a:pPr>
            <a:r>
              <a:rPr lang="ja-JP" altLang="en-US" dirty="0"/>
              <a:t>費用、所要時間、乗継の有無と回数</a:t>
            </a:r>
            <a:r>
              <a:rPr lang="en-US" altLang="ja-JP" dirty="0"/>
              <a:t>	</a:t>
            </a:r>
            <a:r>
              <a:rPr lang="ja-JP" altLang="en-US" dirty="0"/>
              <a:t>など</a:t>
            </a:r>
            <a:endParaRPr lang="en-US" altLang="ja-JP" sz="2800" dirty="0"/>
          </a:p>
          <a:p>
            <a:r>
              <a:rPr lang="ja-JP" altLang="en-US" sz="2800" dirty="0"/>
              <a:t>期待が裏切られる程度</a:t>
            </a:r>
            <a:r>
              <a:rPr lang="en-US" altLang="ja-JP" sz="2800" dirty="0"/>
              <a:t>(</a:t>
            </a:r>
            <a:r>
              <a:rPr lang="ja-JP" altLang="en-US" sz="2800" dirty="0"/>
              <a:t>不確実性</a:t>
            </a:r>
            <a:r>
              <a:rPr lang="en-US" altLang="ja-JP" sz="2800" dirty="0"/>
              <a:t>)</a:t>
            </a:r>
            <a:endParaRPr lang="ja-JP" altLang="en-US" sz="2800" dirty="0"/>
          </a:p>
          <a:p>
            <a:pPr lvl="1">
              <a:lnSpc>
                <a:spcPct val="100000"/>
              </a:lnSpc>
            </a:pPr>
            <a:r>
              <a:rPr lang="ja-JP" altLang="en-US" dirty="0"/>
              <a:t>出発遅延、乗継失敗、フライトキャンセル</a:t>
            </a:r>
            <a:r>
              <a:rPr lang="en-US" altLang="ja-JP" dirty="0"/>
              <a:t>	</a:t>
            </a:r>
            <a:r>
              <a:rPr lang="ja-JP" altLang="en-US" dirty="0"/>
              <a:t>など</a:t>
            </a:r>
            <a:endParaRPr lang="en-US" sz="2800" dirty="0"/>
          </a:p>
        </p:txBody>
      </p:sp>
      <p:sp>
        <p:nvSpPr>
          <p:cNvPr id="4" name="Slide Number Placeholder 3">
            <a:extLst>
              <a:ext uri="{FF2B5EF4-FFF2-40B4-BE49-F238E27FC236}">
                <a16:creationId xmlns:a16="http://schemas.microsoft.com/office/drawing/2014/main" id="{9E080ED2-AE7F-E7B4-B277-7FF95780B0FC}"/>
              </a:ext>
            </a:extLst>
          </p:cNvPr>
          <p:cNvSpPr>
            <a:spLocks noGrp="1"/>
          </p:cNvSpPr>
          <p:nvPr>
            <p:ph type="sldNum" sz="quarter" idx="4"/>
          </p:nvPr>
        </p:nvSpPr>
        <p:spPr/>
        <p:txBody>
          <a:bodyPr/>
          <a:lstStyle/>
          <a:p>
            <a:fld id="{B5CEABB6-07DC-46E8-9B57-56EC44A396E5}" type="slidenum">
              <a:rPr lang="en-US" smtClean="0"/>
              <a:pPr/>
              <a:t>4</a:t>
            </a:fld>
            <a:endParaRPr lang="en-US" dirty="0"/>
          </a:p>
        </p:txBody>
      </p:sp>
      <p:sp>
        <p:nvSpPr>
          <p:cNvPr id="5" name="Table Placeholder 4">
            <a:extLst>
              <a:ext uri="{FF2B5EF4-FFF2-40B4-BE49-F238E27FC236}">
                <a16:creationId xmlns:a16="http://schemas.microsoft.com/office/drawing/2014/main" id="{00BE120F-8577-E7E6-F104-4B64D2D6CE2E}"/>
              </a:ext>
            </a:extLst>
          </p:cNvPr>
          <p:cNvSpPr>
            <a:spLocks noGrp="1"/>
          </p:cNvSpPr>
          <p:nvPr>
            <p:ph type="tbl" sz="quarter" idx="11"/>
          </p:nvPr>
        </p:nvSpPr>
        <p:spPr/>
        <p:txBody>
          <a:bodyPr/>
          <a:lstStyle/>
          <a:p>
            <a:r>
              <a:rPr lang="ja-JP" altLang="en-US" dirty="0"/>
              <a:t>無意識のうちにメリット・デメリット・不確実性を考慮しているのではないか。実はこれらを考慮して科学的に意思決定を分析する学問分野が存在する</a:t>
            </a:r>
            <a:endParaRPr lang="en-US" dirty="0"/>
          </a:p>
        </p:txBody>
      </p:sp>
    </p:spTree>
    <p:extLst>
      <p:ext uri="{BB962C8B-B14F-4D97-AF65-F5344CB8AC3E}">
        <p14:creationId xmlns:p14="http://schemas.microsoft.com/office/powerpoint/2010/main" val="180632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6A5B-301C-EE63-589D-1AC4EBA1CF45}"/>
              </a:ext>
            </a:extLst>
          </p:cNvPr>
          <p:cNvSpPr>
            <a:spLocks noGrp="1"/>
          </p:cNvSpPr>
          <p:nvPr>
            <p:ph type="title"/>
          </p:nvPr>
        </p:nvSpPr>
        <p:spPr/>
        <p:txBody>
          <a:bodyPr/>
          <a:lstStyle/>
          <a:p>
            <a:r>
              <a:rPr lang="ja-JP" altLang="en-US" dirty="0"/>
              <a:t>本講演の目的</a:t>
            </a:r>
            <a:endParaRPr lang="en-US" dirty="0"/>
          </a:p>
        </p:txBody>
      </p:sp>
      <p:sp>
        <p:nvSpPr>
          <p:cNvPr id="3" name="Table Placeholder 2">
            <a:extLst>
              <a:ext uri="{FF2B5EF4-FFF2-40B4-BE49-F238E27FC236}">
                <a16:creationId xmlns:a16="http://schemas.microsoft.com/office/drawing/2014/main" id="{851997D4-EB27-3B85-4241-5C39F598B5AB}"/>
              </a:ext>
            </a:extLst>
          </p:cNvPr>
          <p:cNvSpPr>
            <a:spLocks noGrp="1"/>
          </p:cNvSpPr>
          <p:nvPr>
            <p:ph type="tbl" sz="quarter" idx="10"/>
          </p:nvPr>
        </p:nvSpPr>
        <p:spPr/>
        <p:txBody>
          <a:bodyPr/>
          <a:lstStyle/>
          <a:p>
            <a:pPr>
              <a:lnSpc>
                <a:spcPct val="100000"/>
              </a:lnSpc>
            </a:pPr>
            <a:r>
              <a:rPr lang="ja-JP" altLang="en-US" sz="2800" dirty="0"/>
              <a:t>意思決定科学</a:t>
            </a:r>
            <a:r>
              <a:rPr lang="en-US" altLang="ja-JP" sz="2800" dirty="0"/>
              <a:t>(Decision Science)</a:t>
            </a:r>
            <a:r>
              <a:rPr lang="ja-JP" altLang="en-US" sz="2800" dirty="0"/>
              <a:t>の基本的な考え方と枠組を紹介し、分野全体の理解を深めてもらう</a:t>
            </a:r>
            <a:endParaRPr lang="en-US" altLang="ja-JP" sz="2800" dirty="0"/>
          </a:p>
          <a:p>
            <a:pPr>
              <a:lnSpc>
                <a:spcPct val="100000"/>
              </a:lnSpc>
            </a:pPr>
            <a:endParaRPr lang="en-US" altLang="ja-JP" sz="2800" dirty="0"/>
          </a:p>
          <a:p>
            <a:pPr>
              <a:lnSpc>
                <a:spcPct val="100000"/>
              </a:lnSpc>
            </a:pPr>
            <a:r>
              <a:rPr lang="ja-JP" altLang="en-US" sz="2800" dirty="0"/>
              <a:t>効果・費用・不確実性をどのように考慮し、意思決定を科学的に　分析するのか、具体的な事例を通じて示す</a:t>
            </a:r>
            <a:endParaRPr lang="en-US" altLang="ja-JP" sz="2800" dirty="0"/>
          </a:p>
          <a:p>
            <a:pPr>
              <a:lnSpc>
                <a:spcPct val="100000"/>
              </a:lnSpc>
            </a:pPr>
            <a:endParaRPr lang="en-US" altLang="ja-JP" sz="2800" dirty="0"/>
          </a:p>
          <a:p>
            <a:pPr>
              <a:lnSpc>
                <a:spcPct val="100000"/>
              </a:lnSpc>
            </a:pPr>
            <a:r>
              <a:rPr lang="ja-JP" altLang="en-US" sz="2800" dirty="0"/>
              <a:t>参加者の研究や実務において「意思決定を構造化して考える」視点を提供し、新たな発想や気づきに繋げる</a:t>
            </a:r>
            <a:endParaRPr lang="en-US" sz="2800" dirty="0"/>
          </a:p>
        </p:txBody>
      </p:sp>
      <p:sp>
        <p:nvSpPr>
          <p:cNvPr id="4" name="Slide Number Placeholder 3">
            <a:extLst>
              <a:ext uri="{FF2B5EF4-FFF2-40B4-BE49-F238E27FC236}">
                <a16:creationId xmlns:a16="http://schemas.microsoft.com/office/drawing/2014/main" id="{E0A5B02F-9CA3-0887-AC22-6C38638DCBA8}"/>
              </a:ext>
            </a:extLst>
          </p:cNvPr>
          <p:cNvSpPr>
            <a:spLocks noGrp="1"/>
          </p:cNvSpPr>
          <p:nvPr>
            <p:ph type="sldNum" sz="quarter" idx="4"/>
          </p:nvPr>
        </p:nvSpPr>
        <p:spPr/>
        <p:txBody>
          <a:bodyPr/>
          <a:lstStyle/>
          <a:p>
            <a:fld id="{B5CEABB6-07DC-46E8-9B57-56EC44A396E5}" type="slidenum">
              <a:rPr lang="en-US" smtClean="0"/>
              <a:pPr/>
              <a:t>5</a:t>
            </a:fld>
            <a:endParaRPr lang="en-US" dirty="0"/>
          </a:p>
        </p:txBody>
      </p:sp>
      <p:sp>
        <p:nvSpPr>
          <p:cNvPr id="5" name="Table Placeholder 4">
            <a:extLst>
              <a:ext uri="{FF2B5EF4-FFF2-40B4-BE49-F238E27FC236}">
                <a16:creationId xmlns:a16="http://schemas.microsoft.com/office/drawing/2014/main" id="{E357CB82-471D-266E-B30C-435F624E186F}"/>
              </a:ext>
            </a:extLst>
          </p:cNvPr>
          <p:cNvSpPr>
            <a:spLocks noGrp="1"/>
          </p:cNvSpPr>
          <p:nvPr>
            <p:ph type="tbl" sz="quarter" idx="11"/>
          </p:nvPr>
        </p:nvSpPr>
        <p:spPr/>
        <p:txBody>
          <a:bodyPr/>
          <a:lstStyle/>
          <a:p>
            <a:r>
              <a:rPr lang="ja-JP" altLang="en-US" dirty="0"/>
              <a:t>意思決定をどう科学的に分析するか、実際の意思決定に活かせるのかを話す</a:t>
            </a:r>
          </a:p>
        </p:txBody>
      </p:sp>
    </p:spTree>
    <p:extLst>
      <p:ext uri="{BB962C8B-B14F-4D97-AF65-F5344CB8AC3E}">
        <p14:creationId xmlns:p14="http://schemas.microsoft.com/office/powerpoint/2010/main" val="3493793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5B58-CBA0-683B-3483-0D260908D155}"/>
              </a:ext>
            </a:extLst>
          </p:cNvPr>
          <p:cNvSpPr>
            <a:spLocks noGrp="1"/>
          </p:cNvSpPr>
          <p:nvPr>
            <p:ph type="title"/>
          </p:nvPr>
        </p:nvSpPr>
        <p:spPr>
          <a:xfrm>
            <a:off x="467139" y="589724"/>
            <a:ext cx="11221278" cy="362776"/>
          </a:xfrm>
        </p:spPr>
        <p:txBody>
          <a:bodyPr/>
          <a:lstStyle/>
          <a:p>
            <a:r>
              <a:rPr lang="ja-JP" altLang="en-US" dirty="0"/>
              <a:t>アジェンダ</a:t>
            </a:r>
            <a:endParaRPr lang="en-US" dirty="0"/>
          </a:p>
        </p:txBody>
      </p:sp>
      <p:sp>
        <p:nvSpPr>
          <p:cNvPr id="4" name="Slide Number Placeholder 3">
            <a:extLst>
              <a:ext uri="{FF2B5EF4-FFF2-40B4-BE49-F238E27FC236}">
                <a16:creationId xmlns:a16="http://schemas.microsoft.com/office/drawing/2014/main" id="{14F24589-153D-4571-B22D-21EC9937519C}"/>
              </a:ext>
            </a:extLst>
          </p:cNvPr>
          <p:cNvSpPr>
            <a:spLocks noGrp="1"/>
          </p:cNvSpPr>
          <p:nvPr>
            <p:ph type="sldNum" sz="quarter" idx="4"/>
          </p:nvPr>
        </p:nvSpPr>
        <p:spPr/>
        <p:txBody>
          <a:bodyPr/>
          <a:lstStyle/>
          <a:p>
            <a:fld id="{B5CEABB6-07DC-46E8-9B57-56EC44A396E5}" type="slidenum">
              <a:rPr lang="en-US" smtClean="0"/>
              <a:pPr/>
              <a:t>6</a:t>
            </a:fld>
            <a:endParaRPr lang="en-US" dirty="0"/>
          </a:p>
        </p:txBody>
      </p:sp>
      <p:sp>
        <p:nvSpPr>
          <p:cNvPr id="5" name="Table Placeholder 4">
            <a:extLst>
              <a:ext uri="{FF2B5EF4-FFF2-40B4-BE49-F238E27FC236}">
                <a16:creationId xmlns:a16="http://schemas.microsoft.com/office/drawing/2014/main" id="{9A88C35A-D415-BCD5-44B9-FB204DCBE218}"/>
              </a:ext>
            </a:extLst>
          </p:cNvPr>
          <p:cNvSpPr>
            <a:spLocks noGrp="1"/>
          </p:cNvSpPr>
          <p:nvPr>
            <p:ph type="tbl" sz="quarter" idx="11"/>
          </p:nvPr>
        </p:nvSpPr>
        <p:spPr/>
        <p:txBody>
          <a:bodyPr/>
          <a:lstStyle/>
          <a:p>
            <a:endParaRPr lang="en-US" dirty="0"/>
          </a:p>
        </p:txBody>
      </p:sp>
      <p:sp>
        <p:nvSpPr>
          <p:cNvPr id="6" name="Rectangle 5">
            <a:extLst>
              <a:ext uri="{FF2B5EF4-FFF2-40B4-BE49-F238E27FC236}">
                <a16:creationId xmlns:a16="http://schemas.microsoft.com/office/drawing/2014/main" id="{5CDB5598-0159-A688-0E67-5570D6B55E8A}"/>
              </a:ext>
            </a:extLst>
          </p:cNvPr>
          <p:cNvSpPr/>
          <p:nvPr/>
        </p:nvSpPr>
        <p:spPr>
          <a:xfrm>
            <a:off x="467139" y="2064970"/>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Meiryo UI" panose="020B0604030504040204" pitchFamily="50" charset="-128"/>
                <a:ea typeface="Meiryo UI" panose="020B0604030504040204" pitchFamily="50" charset="-128"/>
              </a:rPr>
              <a:t>1. </a:t>
            </a:r>
            <a:r>
              <a:rPr lang="ja-JP" altLang="en-US" sz="2400" b="1" dirty="0">
                <a:latin typeface="Meiryo UI" panose="020B0604030504040204" pitchFamily="50" charset="-128"/>
                <a:ea typeface="Meiryo UI" panose="020B0604030504040204" pitchFamily="50" charset="-128"/>
              </a:rPr>
              <a:t>意思決定科学とは何か・どう分析するか</a:t>
            </a:r>
            <a:r>
              <a:rPr lang="en-US" sz="2400" b="1" dirty="0">
                <a:latin typeface="Meiryo UI" panose="020B0604030504040204" pitchFamily="50" charset="-128"/>
                <a:ea typeface="Meiryo UI" panose="020B0604030504040204" pitchFamily="50" charset="-128"/>
              </a:rPr>
              <a:t> </a:t>
            </a:r>
          </a:p>
        </p:txBody>
      </p:sp>
      <p:sp>
        <p:nvSpPr>
          <p:cNvPr id="7" name="Rectangle 6">
            <a:extLst>
              <a:ext uri="{FF2B5EF4-FFF2-40B4-BE49-F238E27FC236}">
                <a16:creationId xmlns:a16="http://schemas.microsoft.com/office/drawing/2014/main" id="{1D30FC8F-584D-2C92-769A-EE9034D424FC}"/>
              </a:ext>
            </a:extLst>
          </p:cNvPr>
          <p:cNvSpPr/>
          <p:nvPr/>
        </p:nvSpPr>
        <p:spPr>
          <a:xfrm>
            <a:off x="467139" y="3506988"/>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２</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意思決定科学を実際に体験してみる</a:t>
            </a:r>
            <a:r>
              <a:rPr lang="en-US" sz="2400" b="1" dirty="0">
                <a:latin typeface="Meiryo UI" panose="020B0604030504040204" pitchFamily="50" charset="-128"/>
                <a:ea typeface="Meiryo UI" panose="020B0604030504040204" pitchFamily="50" charset="-128"/>
              </a:rPr>
              <a:t> </a:t>
            </a:r>
          </a:p>
        </p:txBody>
      </p:sp>
      <p:sp>
        <p:nvSpPr>
          <p:cNvPr id="8" name="Rectangle 7">
            <a:extLst>
              <a:ext uri="{FF2B5EF4-FFF2-40B4-BE49-F238E27FC236}">
                <a16:creationId xmlns:a16="http://schemas.microsoft.com/office/drawing/2014/main" id="{688CEFA3-C06B-BD4E-B24C-4FF5FEED8B13}"/>
              </a:ext>
            </a:extLst>
          </p:cNvPr>
          <p:cNvSpPr/>
          <p:nvPr/>
        </p:nvSpPr>
        <p:spPr>
          <a:xfrm>
            <a:off x="467139" y="4949006"/>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３</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意思決定科学のユースケース</a:t>
            </a:r>
            <a:endParaRPr lang="en-US" sz="24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5024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20FA0-B7A7-8A76-F4A7-72370BFAF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27D4A-3684-BFDC-5D58-48FC32EF5416}"/>
              </a:ext>
            </a:extLst>
          </p:cNvPr>
          <p:cNvSpPr>
            <a:spLocks noGrp="1"/>
          </p:cNvSpPr>
          <p:nvPr>
            <p:ph type="title"/>
          </p:nvPr>
        </p:nvSpPr>
        <p:spPr>
          <a:xfrm>
            <a:off x="467139" y="589724"/>
            <a:ext cx="11221278" cy="362776"/>
          </a:xfrm>
        </p:spPr>
        <p:txBody>
          <a:bodyPr/>
          <a:lstStyle/>
          <a:p>
            <a:r>
              <a:rPr lang="ja-JP" altLang="en-US" dirty="0"/>
              <a:t>アジェンダ</a:t>
            </a:r>
            <a:endParaRPr lang="en-US" dirty="0"/>
          </a:p>
        </p:txBody>
      </p:sp>
      <p:sp>
        <p:nvSpPr>
          <p:cNvPr id="4" name="Slide Number Placeholder 3">
            <a:extLst>
              <a:ext uri="{FF2B5EF4-FFF2-40B4-BE49-F238E27FC236}">
                <a16:creationId xmlns:a16="http://schemas.microsoft.com/office/drawing/2014/main" id="{DAF5567D-22B2-D7A7-225E-00DA3734FEA9}"/>
              </a:ext>
            </a:extLst>
          </p:cNvPr>
          <p:cNvSpPr>
            <a:spLocks noGrp="1"/>
          </p:cNvSpPr>
          <p:nvPr>
            <p:ph type="sldNum" sz="quarter" idx="4"/>
          </p:nvPr>
        </p:nvSpPr>
        <p:spPr/>
        <p:txBody>
          <a:bodyPr/>
          <a:lstStyle/>
          <a:p>
            <a:fld id="{B5CEABB6-07DC-46E8-9B57-56EC44A396E5}" type="slidenum">
              <a:rPr lang="en-US" smtClean="0"/>
              <a:pPr/>
              <a:t>7</a:t>
            </a:fld>
            <a:endParaRPr lang="en-US" dirty="0"/>
          </a:p>
        </p:txBody>
      </p:sp>
      <p:sp>
        <p:nvSpPr>
          <p:cNvPr id="5" name="Table Placeholder 4">
            <a:extLst>
              <a:ext uri="{FF2B5EF4-FFF2-40B4-BE49-F238E27FC236}">
                <a16:creationId xmlns:a16="http://schemas.microsoft.com/office/drawing/2014/main" id="{12C16827-6A2A-1103-2D35-2A509CA039C0}"/>
              </a:ext>
            </a:extLst>
          </p:cNvPr>
          <p:cNvSpPr>
            <a:spLocks noGrp="1"/>
          </p:cNvSpPr>
          <p:nvPr>
            <p:ph type="tbl" sz="quarter" idx="11"/>
          </p:nvPr>
        </p:nvSpPr>
        <p:spPr/>
        <p:txBody>
          <a:bodyPr/>
          <a:lstStyle/>
          <a:p>
            <a:endParaRPr lang="en-US" dirty="0"/>
          </a:p>
        </p:txBody>
      </p:sp>
      <p:sp>
        <p:nvSpPr>
          <p:cNvPr id="6" name="Rectangle 5">
            <a:extLst>
              <a:ext uri="{FF2B5EF4-FFF2-40B4-BE49-F238E27FC236}">
                <a16:creationId xmlns:a16="http://schemas.microsoft.com/office/drawing/2014/main" id="{3BA77F4C-D6B5-6B1A-CE03-59B5DE914202}"/>
              </a:ext>
            </a:extLst>
          </p:cNvPr>
          <p:cNvSpPr/>
          <p:nvPr/>
        </p:nvSpPr>
        <p:spPr>
          <a:xfrm>
            <a:off x="467139" y="2064970"/>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Meiryo UI" panose="020B0604030504040204" pitchFamily="50" charset="-128"/>
                <a:ea typeface="Meiryo UI" panose="020B0604030504040204" pitchFamily="50" charset="-128"/>
              </a:rPr>
              <a:t>1. </a:t>
            </a:r>
            <a:r>
              <a:rPr lang="ja-JP" altLang="en-US" sz="2400" b="1" dirty="0">
                <a:latin typeface="Meiryo UI" panose="020B0604030504040204" pitchFamily="50" charset="-128"/>
                <a:ea typeface="Meiryo UI" panose="020B0604030504040204" pitchFamily="50" charset="-128"/>
              </a:rPr>
              <a:t>意思決定科学とは何か・どう分析するか</a:t>
            </a:r>
            <a:r>
              <a:rPr lang="en-US" sz="2400" b="1" dirty="0">
                <a:latin typeface="Meiryo UI" panose="020B0604030504040204" pitchFamily="50" charset="-128"/>
                <a:ea typeface="Meiryo UI" panose="020B0604030504040204" pitchFamily="50" charset="-128"/>
              </a:rPr>
              <a:t> </a:t>
            </a:r>
          </a:p>
        </p:txBody>
      </p:sp>
      <p:sp>
        <p:nvSpPr>
          <p:cNvPr id="7" name="Rectangle 6">
            <a:extLst>
              <a:ext uri="{FF2B5EF4-FFF2-40B4-BE49-F238E27FC236}">
                <a16:creationId xmlns:a16="http://schemas.microsoft.com/office/drawing/2014/main" id="{70A7E025-389E-17F9-F3E2-24EA4E4EBAB1}"/>
              </a:ext>
            </a:extLst>
          </p:cNvPr>
          <p:cNvSpPr/>
          <p:nvPr/>
        </p:nvSpPr>
        <p:spPr>
          <a:xfrm>
            <a:off x="467139" y="3506988"/>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２</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意思決定科学を実際に体験してみる</a:t>
            </a:r>
            <a:r>
              <a:rPr lang="en-US" sz="2400" b="1" dirty="0">
                <a:latin typeface="Meiryo UI" panose="020B0604030504040204" pitchFamily="50" charset="-128"/>
                <a:ea typeface="Meiryo UI" panose="020B0604030504040204" pitchFamily="50" charset="-128"/>
              </a:rPr>
              <a:t> </a:t>
            </a:r>
          </a:p>
        </p:txBody>
      </p:sp>
      <p:sp>
        <p:nvSpPr>
          <p:cNvPr id="8" name="Rectangle 7">
            <a:extLst>
              <a:ext uri="{FF2B5EF4-FFF2-40B4-BE49-F238E27FC236}">
                <a16:creationId xmlns:a16="http://schemas.microsoft.com/office/drawing/2014/main" id="{00E99AEA-DF39-CB31-E950-3A6F6F1F1F18}"/>
              </a:ext>
            </a:extLst>
          </p:cNvPr>
          <p:cNvSpPr/>
          <p:nvPr/>
        </p:nvSpPr>
        <p:spPr>
          <a:xfrm>
            <a:off x="467139" y="4949006"/>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３</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意思決定科学のユースケース</a:t>
            </a:r>
            <a:endParaRPr lang="en-US" sz="24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3202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6426-4DC7-C421-AA59-776F608847B0}"/>
              </a:ext>
            </a:extLst>
          </p:cNvPr>
          <p:cNvSpPr>
            <a:spLocks noGrp="1"/>
          </p:cNvSpPr>
          <p:nvPr>
            <p:ph type="title"/>
          </p:nvPr>
        </p:nvSpPr>
        <p:spPr/>
        <p:txBody>
          <a:bodyPr/>
          <a:lstStyle/>
          <a:p>
            <a:r>
              <a:rPr lang="ja-JP" altLang="en-US" dirty="0"/>
              <a:t>意思決定科学とは何か</a:t>
            </a:r>
            <a:endParaRPr lang="en-US" dirty="0"/>
          </a:p>
        </p:txBody>
      </p:sp>
      <p:sp>
        <p:nvSpPr>
          <p:cNvPr id="3" name="Table Placeholder 2">
            <a:extLst>
              <a:ext uri="{FF2B5EF4-FFF2-40B4-BE49-F238E27FC236}">
                <a16:creationId xmlns:a16="http://schemas.microsoft.com/office/drawing/2014/main" id="{B605A180-FC2C-8EB1-9955-75F8E781704D}"/>
              </a:ext>
            </a:extLst>
          </p:cNvPr>
          <p:cNvSpPr>
            <a:spLocks noGrp="1"/>
          </p:cNvSpPr>
          <p:nvPr>
            <p:ph type="tbl" sz="quarter" idx="10"/>
          </p:nvPr>
        </p:nvSpPr>
        <p:spPr/>
        <p:txBody>
          <a:bodyPr/>
          <a:lstStyle/>
          <a:p>
            <a:pPr>
              <a:lnSpc>
                <a:spcPct val="100000"/>
              </a:lnSpc>
            </a:pPr>
            <a:r>
              <a:rPr lang="ja-JP" altLang="en-US" sz="2800" dirty="0"/>
              <a:t>複雑な意思決定に係る課題を、効果・費用・不確実性などの要素を考慮して、体系的・定量的に分析する学際的分野</a:t>
            </a:r>
            <a:endParaRPr lang="en-US" altLang="ja-JP" sz="2800" dirty="0"/>
          </a:p>
          <a:p>
            <a:pPr>
              <a:lnSpc>
                <a:spcPct val="100000"/>
              </a:lnSpc>
            </a:pPr>
            <a:endParaRPr lang="ja-JP" altLang="en-US" sz="2800" dirty="0"/>
          </a:p>
          <a:p>
            <a:pPr>
              <a:lnSpc>
                <a:spcPct val="100000"/>
              </a:lnSpc>
            </a:pPr>
            <a:r>
              <a:rPr lang="ja-JP" altLang="en-US" sz="2800" dirty="0"/>
              <a:t>経済学、統計学、心理学、行動科学など多様な分野の手法を統合し、限られたリソースと不確実性の下で最適な選択を導くことを目指す</a:t>
            </a:r>
            <a:endParaRPr lang="en-US" altLang="ja-JP" sz="2800" dirty="0"/>
          </a:p>
          <a:p>
            <a:pPr>
              <a:lnSpc>
                <a:spcPct val="100000"/>
              </a:lnSpc>
            </a:pPr>
            <a:endParaRPr lang="ja-JP" altLang="en-US" sz="2800" dirty="0"/>
          </a:p>
          <a:p>
            <a:pPr>
              <a:lnSpc>
                <a:spcPct val="100000"/>
              </a:lnSpc>
            </a:pPr>
            <a:r>
              <a:rPr lang="ja-JP" altLang="en-US" sz="2800" dirty="0"/>
              <a:t>医療、公共政策、ビジネスなど幅広い領域で活用され、意思決定　プロセスの透明性向上と合意形成を支援する</a:t>
            </a:r>
            <a:endParaRPr lang="en-US" sz="2800" dirty="0"/>
          </a:p>
        </p:txBody>
      </p:sp>
      <p:sp>
        <p:nvSpPr>
          <p:cNvPr id="4" name="Slide Number Placeholder 3">
            <a:extLst>
              <a:ext uri="{FF2B5EF4-FFF2-40B4-BE49-F238E27FC236}">
                <a16:creationId xmlns:a16="http://schemas.microsoft.com/office/drawing/2014/main" id="{65C1CA99-940A-57C1-9DFF-6CF7DC9B90C4}"/>
              </a:ext>
            </a:extLst>
          </p:cNvPr>
          <p:cNvSpPr>
            <a:spLocks noGrp="1"/>
          </p:cNvSpPr>
          <p:nvPr>
            <p:ph type="sldNum" sz="quarter" idx="4"/>
          </p:nvPr>
        </p:nvSpPr>
        <p:spPr/>
        <p:txBody>
          <a:bodyPr/>
          <a:lstStyle/>
          <a:p>
            <a:fld id="{B5CEABB6-07DC-46E8-9B57-56EC44A396E5}" type="slidenum">
              <a:rPr lang="en-US" smtClean="0"/>
              <a:pPr/>
              <a:t>8</a:t>
            </a:fld>
            <a:endParaRPr lang="en-US" dirty="0"/>
          </a:p>
        </p:txBody>
      </p:sp>
      <p:sp>
        <p:nvSpPr>
          <p:cNvPr id="5" name="Table Placeholder 4">
            <a:extLst>
              <a:ext uri="{FF2B5EF4-FFF2-40B4-BE49-F238E27FC236}">
                <a16:creationId xmlns:a16="http://schemas.microsoft.com/office/drawing/2014/main" id="{BDB76AA7-75F1-7B82-6668-DA67432D7AF2}"/>
              </a:ext>
            </a:extLst>
          </p:cNvPr>
          <p:cNvSpPr>
            <a:spLocks noGrp="1"/>
          </p:cNvSpPr>
          <p:nvPr>
            <p:ph type="tbl" sz="quarter" idx="11"/>
          </p:nvPr>
        </p:nvSpPr>
        <p:spPr/>
        <p:txBody>
          <a:bodyPr/>
          <a:lstStyle/>
          <a:p>
            <a:r>
              <a:rPr lang="ja-JP" altLang="en-US" dirty="0"/>
              <a:t>効果・費用・不確実性を統合的に分析し、最適な意思決定を支援する学際的手法</a:t>
            </a:r>
            <a:endParaRPr lang="en-US" dirty="0"/>
          </a:p>
        </p:txBody>
      </p:sp>
      <p:grpSp>
        <p:nvGrpSpPr>
          <p:cNvPr id="6" name="Group 5">
            <a:extLst>
              <a:ext uri="{FF2B5EF4-FFF2-40B4-BE49-F238E27FC236}">
                <a16:creationId xmlns:a16="http://schemas.microsoft.com/office/drawing/2014/main" id="{1707319B-6C24-05F4-A9EB-2D73A28A4720}"/>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67E677F7-D4F1-66DB-A4CA-6F67A86041F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ED24C252-E3D6-8834-B6A1-DC68BB4BE2C7}"/>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A7CA203B-A3C9-3896-754A-67BAA09EF53C}"/>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406328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174C5-3842-69B7-5B33-DDC5A2CAB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AE6B0-CDAF-5700-7C49-87E6B9EB0A3E}"/>
              </a:ext>
            </a:extLst>
          </p:cNvPr>
          <p:cNvSpPr>
            <a:spLocks noGrp="1"/>
          </p:cNvSpPr>
          <p:nvPr>
            <p:ph type="title"/>
          </p:nvPr>
        </p:nvSpPr>
        <p:spPr/>
        <p:txBody>
          <a:bodyPr/>
          <a:lstStyle/>
          <a:p>
            <a:r>
              <a:rPr lang="ja-JP" altLang="en-US" dirty="0"/>
              <a:t>分析のプロセス</a:t>
            </a:r>
            <a:endParaRPr lang="en-US" dirty="0"/>
          </a:p>
        </p:txBody>
      </p:sp>
      <p:sp>
        <p:nvSpPr>
          <p:cNvPr id="3" name="Table Placeholder 2">
            <a:extLst>
              <a:ext uri="{FF2B5EF4-FFF2-40B4-BE49-F238E27FC236}">
                <a16:creationId xmlns:a16="http://schemas.microsoft.com/office/drawing/2014/main" id="{596E18B5-A2B9-C5AD-8D33-DF81BF2BFF0C}"/>
              </a:ext>
            </a:extLst>
          </p:cNvPr>
          <p:cNvSpPr>
            <a:spLocks noGrp="1"/>
          </p:cNvSpPr>
          <p:nvPr>
            <p:ph type="tbl" sz="quarter" idx="10"/>
          </p:nvPr>
        </p:nvSpPr>
        <p:spPr>
          <a:xfrm>
            <a:off x="4733365" y="1938131"/>
            <a:ext cx="6955051" cy="4622672"/>
          </a:xfrm>
        </p:spPr>
        <p:txBody>
          <a:bodyPr/>
          <a:lstStyle/>
          <a:p>
            <a:endParaRPr lang="en-US" altLang="ja-JP" sz="2800" dirty="0"/>
          </a:p>
        </p:txBody>
      </p:sp>
      <p:sp>
        <p:nvSpPr>
          <p:cNvPr id="4" name="Slide Number Placeholder 3">
            <a:extLst>
              <a:ext uri="{FF2B5EF4-FFF2-40B4-BE49-F238E27FC236}">
                <a16:creationId xmlns:a16="http://schemas.microsoft.com/office/drawing/2014/main" id="{5FACC626-247E-56FD-9A7D-C87CD9E3813E}"/>
              </a:ext>
            </a:extLst>
          </p:cNvPr>
          <p:cNvSpPr>
            <a:spLocks noGrp="1"/>
          </p:cNvSpPr>
          <p:nvPr>
            <p:ph type="sldNum" sz="quarter" idx="4"/>
          </p:nvPr>
        </p:nvSpPr>
        <p:spPr/>
        <p:txBody>
          <a:bodyPr/>
          <a:lstStyle/>
          <a:p>
            <a:fld id="{B5CEABB6-07DC-46E8-9B57-56EC44A396E5}" type="slidenum">
              <a:rPr lang="en-US" smtClean="0"/>
              <a:pPr/>
              <a:t>9</a:t>
            </a:fld>
            <a:endParaRPr lang="en-US" dirty="0"/>
          </a:p>
        </p:txBody>
      </p:sp>
      <p:sp>
        <p:nvSpPr>
          <p:cNvPr id="5" name="Table Placeholder 4">
            <a:extLst>
              <a:ext uri="{FF2B5EF4-FFF2-40B4-BE49-F238E27FC236}">
                <a16:creationId xmlns:a16="http://schemas.microsoft.com/office/drawing/2014/main" id="{9E9AEE1D-E81E-C69E-C8B4-353EDB7949C7}"/>
              </a:ext>
            </a:extLst>
          </p:cNvPr>
          <p:cNvSpPr>
            <a:spLocks noGrp="1"/>
          </p:cNvSpPr>
          <p:nvPr>
            <p:ph type="tbl" sz="quarter" idx="11"/>
          </p:nvPr>
        </p:nvSpPr>
        <p:spPr/>
        <p:txBody>
          <a:bodyPr/>
          <a:lstStyle/>
          <a:p>
            <a:r>
              <a:rPr lang="ja-JP" altLang="en-US" dirty="0"/>
              <a:t>８つのプロセスを例を含めて紹介する。実際にはプロセスが前後することもある</a:t>
            </a:r>
            <a:endParaRPr lang="en-US" dirty="0"/>
          </a:p>
        </p:txBody>
      </p:sp>
      <p:grpSp>
        <p:nvGrpSpPr>
          <p:cNvPr id="6" name="Group 5">
            <a:extLst>
              <a:ext uri="{FF2B5EF4-FFF2-40B4-BE49-F238E27FC236}">
                <a16:creationId xmlns:a16="http://schemas.microsoft.com/office/drawing/2014/main" id="{D5A5AE11-931F-3F9C-82F4-F050890B79CF}"/>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A7903D31-3C3E-AA85-17F4-5AB65BEDC3F0}"/>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BF3EB223-64EF-6AC9-8970-11AF970357D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F55A10BF-51C7-E6BD-674A-A86E3B389373}"/>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6E007C2D-689D-1293-C02F-B83D28CBAF09}"/>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2D3B59EA-1761-4306-1AFF-DC3385A5B5CE}"/>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9965FB82-4860-E53F-7AEC-1587074E758D}"/>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38D14422-6B1E-9A71-9851-278DB9C32558}"/>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F9F41A87-CCF7-5A58-962B-83CB47A8B622}"/>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69FFD6EF-E4A5-8220-C47D-3D47571588AA}"/>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6439201D-C0BB-3A45-D9E7-AB3E632B9998}"/>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5D3B5101-8E30-1AF5-CEA0-3F279F428B38}"/>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C589E384-F982-EFED-DCA5-6F35BB3DE396}"/>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284E9807-CFDC-B2D8-5F08-E543A9A87236}"/>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40C702E8-328A-EDCC-B066-5DDB3F3F27E5}"/>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1778EACA-A019-7E1D-57B3-CA3C572CCA3B}"/>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28639879-D0B7-3778-4FCF-F61DFBFE6C65}"/>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8B27AD48-15E2-3349-91EA-7893AF3293A9}"/>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9F6E6ECC-B68D-8994-F8BD-333DAEF368FD}"/>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7CCD8BB4-86B8-2068-367E-7BA77D2600E6}"/>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1D6B684D-4370-4C75-C8A5-208F6F19B997}"/>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A375CE8F-778E-44E6-8502-916DE8CB80EB}"/>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C73FE321-BA77-5BC5-DB56-52FE0B646CBF}"/>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94FF0B25-A8A2-4130-7223-59C14F1867CC}"/>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150A0FD9-756B-B922-BCF1-1B49ABC767EB}"/>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572AE56C-5D7A-45DE-95B2-274AF5B4CC99}"/>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9D92D08B-4FE8-07F0-F6F4-73D854EAC786}"/>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13006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2B625-6356-A123-A06C-F53D73FC0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B7DED-3357-30CC-843C-526C9E2D6B87}"/>
              </a:ext>
            </a:extLst>
          </p:cNvPr>
          <p:cNvSpPr>
            <a:spLocks noGrp="1"/>
          </p:cNvSpPr>
          <p:nvPr>
            <p:ph type="title"/>
          </p:nvPr>
        </p:nvSpPr>
        <p:spPr/>
        <p:txBody>
          <a:bodyPr/>
          <a:lstStyle/>
          <a:p>
            <a:r>
              <a:rPr lang="ja-JP" altLang="en-US" dirty="0"/>
              <a:t>分析のプロセス</a:t>
            </a:r>
            <a:r>
              <a:rPr lang="en-US" altLang="ja-JP" dirty="0"/>
              <a:t>―</a:t>
            </a:r>
            <a:r>
              <a:rPr lang="ja-JP" altLang="en-US" dirty="0"/>
              <a:t>①問題の特定・目的の設定</a:t>
            </a:r>
            <a:endParaRPr lang="en-US" dirty="0"/>
          </a:p>
        </p:txBody>
      </p:sp>
      <p:sp>
        <p:nvSpPr>
          <p:cNvPr id="3" name="Table Placeholder 2">
            <a:extLst>
              <a:ext uri="{FF2B5EF4-FFF2-40B4-BE49-F238E27FC236}">
                <a16:creationId xmlns:a16="http://schemas.microsoft.com/office/drawing/2014/main" id="{C9C17E78-716D-0585-92D0-C71F1ACC8398}"/>
              </a:ext>
            </a:extLst>
          </p:cNvPr>
          <p:cNvSpPr>
            <a:spLocks noGrp="1"/>
          </p:cNvSpPr>
          <p:nvPr>
            <p:ph type="tbl" sz="quarter" idx="10"/>
          </p:nvPr>
        </p:nvSpPr>
        <p:spPr>
          <a:xfrm>
            <a:off x="4815839" y="1938130"/>
            <a:ext cx="6909021" cy="4692045"/>
          </a:xfrm>
        </p:spPr>
        <p:txBody>
          <a:bodyPr/>
          <a:lstStyle/>
          <a:p>
            <a:r>
              <a:rPr lang="ja-JP" altLang="en-US" dirty="0"/>
              <a:t>複数の選択肢におけるジレンマの存在</a:t>
            </a:r>
            <a:endParaRPr lang="en-US" altLang="ja-JP" dirty="0"/>
          </a:p>
          <a:p>
            <a:pPr lvl="1"/>
            <a:r>
              <a:rPr lang="ja-JP" altLang="en-US" sz="2000" dirty="0"/>
              <a:t>新薬</a:t>
            </a:r>
            <a:r>
              <a:rPr lang="en-US" altLang="ja-JP" sz="1600" dirty="0"/>
              <a:t>(</a:t>
            </a:r>
            <a:r>
              <a:rPr lang="ja-JP" altLang="en-US" sz="1600" dirty="0"/>
              <a:t>高効果･高額</a:t>
            </a:r>
            <a:r>
              <a:rPr lang="en-US" altLang="ja-JP" sz="1600" dirty="0"/>
              <a:t>)</a:t>
            </a:r>
            <a:r>
              <a:rPr lang="en-US" altLang="ja-JP" sz="2000" dirty="0"/>
              <a:t> vs </a:t>
            </a:r>
            <a:r>
              <a:rPr lang="ja-JP" altLang="en-US" sz="2000" dirty="0"/>
              <a:t>従来薬</a:t>
            </a:r>
            <a:r>
              <a:rPr lang="en-US" altLang="ja-JP" sz="1600" dirty="0"/>
              <a:t>(</a:t>
            </a:r>
            <a:r>
              <a:rPr lang="ja-JP" altLang="en-US" sz="1600" dirty="0"/>
              <a:t>低効果･安価</a:t>
            </a:r>
            <a:r>
              <a:rPr lang="en-US" altLang="ja-JP" sz="1600" dirty="0"/>
              <a:t>)</a:t>
            </a:r>
            <a:endParaRPr lang="en-US" altLang="ja-JP" sz="2000" dirty="0"/>
          </a:p>
          <a:p>
            <a:pPr lvl="1"/>
            <a:r>
              <a:rPr lang="ja-JP" altLang="en-US" sz="2000" dirty="0"/>
              <a:t>早期がん手術</a:t>
            </a:r>
            <a:r>
              <a:rPr lang="en-US" altLang="ja-JP" sz="1600" dirty="0"/>
              <a:t>(</a:t>
            </a:r>
            <a:r>
              <a:rPr lang="ja-JP" altLang="en-US" sz="1600" dirty="0"/>
              <a:t>根治可能性･侵襲大</a:t>
            </a:r>
            <a:r>
              <a:rPr lang="en-US" altLang="ja-JP" sz="1600" dirty="0"/>
              <a:t>)</a:t>
            </a:r>
            <a:r>
              <a:rPr lang="en-US" altLang="ja-JP" sz="2000" dirty="0"/>
              <a:t> vs </a:t>
            </a:r>
            <a:r>
              <a:rPr lang="ja-JP" altLang="en-US" sz="2000" dirty="0"/>
              <a:t>経過観察</a:t>
            </a:r>
            <a:r>
              <a:rPr lang="en-US" altLang="ja-JP" sz="1600" dirty="0"/>
              <a:t>(</a:t>
            </a:r>
            <a:r>
              <a:rPr lang="ja-JP" altLang="en-US" sz="1600" dirty="0"/>
              <a:t>負担小･がん進行リスク</a:t>
            </a:r>
            <a:r>
              <a:rPr lang="en-US" altLang="ja-JP" sz="1600" dirty="0"/>
              <a:t>)</a:t>
            </a:r>
            <a:endParaRPr lang="en-US" altLang="ja-JP" sz="1800" dirty="0"/>
          </a:p>
          <a:p>
            <a:pPr lvl="1"/>
            <a:r>
              <a:rPr lang="ja-JP" altLang="en-US" sz="2000" dirty="0"/>
              <a:t>小児ワクチン追加接種</a:t>
            </a:r>
            <a:r>
              <a:rPr lang="en-US" altLang="ja-JP" sz="1600" dirty="0"/>
              <a:t>(</a:t>
            </a:r>
            <a:r>
              <a:rPr lang="ja-JP" altLang="en-US" sz="1600" dirty="0"/>
              <a:t>予防効果･副反応</a:t>
            </a:r>
            <a:r>
              <a:rPr lang="en-US" altLang="ja-JP" sz="1600" dirty="0"/>
              <a:t>)</a:t>
            </a:r>
            <a:r>
              <a:rPr lang="en-US" altLang="ja-JP" sz="2000" dirty="0"/>
              <a:t> vs </a:t>
            </a:r>
            <a:r>
              <a:rPr lang="ja-JP" altLang="en-US" sz="2000" dirty="0"/>
              <a:t>接種見送り</a:t>
            </a:r>
            <a:r>
              <a:rPr lang="en-US" altLang="ja-JP" sz="1600" dirty="0"/>
              <a:t>(</a:t>
            </a:r>
            <a:r>
              <a:rPr lang="ja-JP" altLang="en-US" sz="1600" dirty="0"/>
              <a:t>副反応回避･感染リスク</a:t>
            </a:r>
            <a:r>
              <a:rPr lang="en-US" altLang="ja-JP" sz="1600" dirty="0"/>
              <a:t>)</a:t>
            </a:r>
          </a:p>
          <a:p>
            <a:pPr lvl="1"/>
            <a:endParaRPr lang="en-US" altLang="ja-JP" sz="1800" dirty="0"/>
          </a:p>
          <a:p>
            <a:r>
              <a:rPr lang="ja-JP" altLang="en-US" dirty="0"/>
              <a:t>意思決定の目的を明確にする</a:t>
            </a:r>
            <a:endParaRPr lang="en-US" altLang="ja-JP" dirty="0"/>
          </a:p>
          <a:p>
            <a:pPr lvl="1"/>
            <a:r>
              <a:rPr lang="ja-JP" altLang="en-US" sz="2000" dirty="0"/>
              <a:t>メリットを最大化したい</a:t>
            </a:r>
          </a:p>
          <a:p>
            <a:pPr lvl="2"/>
            <a:r>
              <a:rPr lang="ja-JP" altLang="en-US" dirty="0"/>
              <a:t>余命を伸ばしたい、</a:t>
            </a:r>
            <a:r>
              <a:rPr lang="en-US" altLang="ja-JP" dirty="0"/>
              <a:t>QoL</a:t>
            </a:r>
            <a:r>
              <a:rPr lang="ja-JP" altLang="en-US" dirty="0"/>
              <a:t>を上げたい</a:t>
            </a:r>
            <a:endParaRPr lang="en-US" altLang="ja-JP" dirty="0"/>
          </a:p>
          <a:p>
            <a:pPr lvl="1"/>
            <a:r>
              <a:rPr lang="ja-JP" altLang="en-US" sz="2000" dirty="0"/>
              <a:t>デメリットを最小化したい</a:t>
            </a:r>
          </a:p>
          <a:p>
            <a:pPr lvl="2"/>
            <a:r>
              <a:rPr lang="ja-JP" altLang="en-US" dirty="0"/>
              <a:t>感染者数を抑えたい、費用を抑えたい</a:t>
            </a:r>
            <a:endParaRPr lang="en-US" altLang="ja-JP" dirty="0"/>
          </a:p>
          <a:p>
            <a:pPr lvl="1"/>
            <a:r>
              <a:rPr lang="ja-JP" altLang="en-US" sz="2000" dirty="0"/>
              <a:t>デメリットに対するメリットを最大化したい</a:t>
            </a:r>
          </a:p>
          <a:p>
            <a:pPr lvl="2"/>
            <a:r>
              <a:rPr lang="ja-JP" altLang="en-US" dirty="0"/>
              <a:t>かけた費用に対して余命を上げたい</a:t>
            </a:r>
            <a:endParaRPr lang="en-US" altLang="ja-JP" dirty="0"/>
          </a:p>
        </p:txBody>
      </p:sp>
      <p:sp>
        <p:nvSpPr>
          <p:cNvPr id="4" name="Slide Number Placeholder 3">
            <a:extLst>
              <a:ext uri="{FF2B5EF4-FFF2-40B4-BE49-F238E27FC236}">
                <a16:creationId xmlns:a16="http://schemas.microsoft.com/office/drawing/2014/main" id="{691A16A5-55F8-0E40-7B25-09D289F75AF1}"/>
              </a:ext>
            </a:extLst>
          </p:cNvPr>
          <p:cNvSpPr>
            <a:spLocks noGrp="1"/>
          </p:cNvSpPr>
          <p:nvPr>
            <p:ph type="sldNum" sz="quarter" idx="4"/>
          </p:nvPr>
        </p:nvSpPr>
        <p:spPr/>
        <p:txBody>
          <a:bodyPr/>
          <a:lstStyle/>
          <a:p>
            <a:fld id="{B5CEABB6-07DC-46E8-9B57-56EC44A396E5}" type="slidenum">
              <a:rPr lang="en-US" smtClean="0"/>
              <a:pPr/>
              <a:t>10</a:t>
            </a:fld>
            <a:endParaRPr lang="en-US" dirty="0"/>
          </a:p>
        </p:txBody>
      </p:sp>
      <p:sp>
        <p:nvSpPr>
          <p:cNvPr id="5" name="Table Placeholder 4">
            <a:extLst>
              <a:ext uri="{FF2B5EF4-FFF2-40B4-BE49-F238E27FC236}">
                <a16:creationId xmlns:a16="http://schemas.microsoft.com/office/drawing/2014/main" id="{D7A57DD7-B572-C33D-AD86-DB4B70EF787D}"/>
              </a:ext>
            </a:extLst>
          </p:cNvPr>
          <p:cNvSpPr>
            <a:spLocks noGrp="1"/>
          </p:cNvSpPr>
          <p:nvPr>
            <p:ph type="tbl" sz="quarter" idx="11"/>
          </p:nvPr>
        </p:nvSpPr>
        <p:spPr/>
        <p:txBody>
          <a:bodyPr/>
          <a:lstStyle/>
          <a:p>
            <a:r>
              <a:rPr lang="ja-JP" altLang="en-US" dirty="0"/>
              <a:t>メリット・デメリットが拮抗する問題において最適化したい価値を明確化</a:t>
            </a:r>
            <a:endParaRPr lang="en-US" dirty="0"/>
          </a:p>
        </p:txBody>
      </p:sp>
      <p:grpSp>
        <p:nvGrpSpPr>
          <p:cNvPr id="6" name="Group 5">
            <a:extLst>
              <a:ext uri="{FF2B5EF4-FFF2-40B4-BE49-F238E27FC236}">
                <a16:creationId xmlns:a16="http://schemas.microsoft.com/office/drawing/2014/main" id="{AF7E017F-0C28-CC67-D43F-66D3C6979931}"/>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F59A02D4-C3AA-D8B6-38A9-8426D6C368A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7415C387-0928-B2C0-FE19-CA48F6794137}"/>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87ECB219-2C82-B07B-CE59-D6A6D0D53212}"/>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9C30045E-AA14-F2C3-495D-E98B60570BAC}"/>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問題の特定・目的の設定</a:t>
            </a:r>
            <a:endParaRPr lang="en-US" b="1"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6CDF128B-6580-A0A9-9DC7-982B207461FE}"/>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17A8E918-E4D4-830A-8E72-A4BF9CA31751}"/>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E008BBF4-A150-4261-AF99-1592F2246C04}"/>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EBE23D37-3DE3-E373-05B2-ACBBD71BE2F9}"/>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EEE96242-2381-2D8D-651B-DFC1299CE5FE}"/>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0DCA025A-14FF-ACE9-7AB7-6CEEF4BA9596}"/>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E28E950D-1C14-2270-296C-E2F635E08EEE}"/>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9D79C392-2A45-70B7-9181-836E1A5EFDC1}"/>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A24CB6B6-F14A-EE94-DD8A-988ACA4AC737}"/>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8C623607-013F-3777-60C0-F4A6ECE376DD}"/>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8437EDDA-0A9A-9150-520B-6F6E3345B91B}"/>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FC9BB671-9754-158D-18EB-80D925E50491}"/>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1FF5465D-E2A4-8EA6-CA55-787D3A23317E}"/>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D9434571-E6B7-D7E4-5C0D-FC0A76109DFA}"/>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D7A662DF-1F9F-C1C8-7FC8-935CF769A0EB}"/>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1B2F44F1-27DA-37E6-60EC-F3FC8B0474F1}"/>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003E1D30-F937-45DA-6BC7-A25871A24BD0}"/>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953AF61A-AA38-8BB4-67C7-2B16242CB1E1}"/>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871BADFC-C5C1-D8DB-9082-461BE5881493}"/>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2A8C0000-61EC-BB3E-CF5E-4160B6CD8CCE}"/>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E269A905-3D26-3280-8641-B1581B7A62C1}"/>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CE554E37-A7A8-1AB0-EE22-5A5C0CDB9356}"/>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5D1DFB49-84D3-6998-65E1-1A0F210CFE5E}"/>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7E8B0780-73B2-A057-6B4C-24051F7ADA68}"/>
              </a:ext>
            </a:extLst>
          </p:cNvPr>
          <p:cNvCxnSpPr>
            <a:cxnSpLocks/>
            <a:stCxn id="10" idx="3"/>
            <a:endCxn id="40" idx="1"/>
          </p:cNvCxnSpPr>
          <p:nvPr/>
        </p:nvCxnSpPr>
        <p:spPr>
          <a:xfrm>
            <a:off x="3989294" y="2161372"/>
            <a:ext cx="705628" cy="212278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7810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AA72-4A16-FC48-BFAA-FD2D62F7BB53}"/>
            </a:ext>
          </a:extLst>
        </p:cNvPr>
        <p:cNvGrpSpPr/>
        <p:nvPr/>
      </p:nvGrpSpPr>
      <p:grpSpPr>
        <a:xfrm>
          <a:off x="0" y="0"/>
          <a:ext cx="0" cy="0"/>
          <a:chOff x="0" y="0"/>
          <a:chExt cx="0" cy="0"/>
        </a:xfrm>
      </p:grpSpPr>
      <p:sp>
        <p:nvSpPr>
          <p:cNvPr id="55" name="Freeform: Shape 54">
            <a:extLst>
              <a:ext uri="{FF2B5EF4-FFF2-40B4-BE49-F238E27FC236}">
                <a16:creationId xmlns:a16="http://schemas.microsoft.com/office/drawing/2014/main" id="{F4B7071C-61BB-43F6-E3F1-810FEC9E7636}"/>
              </a:ext>
            </a:extLst>
          </p:cNvPr>
          <p:cNvSpPr/>
          <p:nvPr/>
        </p:nvSpPr>
        <p:spPr>
          <a:xfrm>
            <a:off x="6102588" y="5164718"/>
            <a:ext cx="1974387" cy="1188000"/>
          </a:xfrm>
          <a:custGeom>
            <a:avLst/>
            <a:gdLst>
              <a:gd name="connsiteX0" fmla="*/ 0 w 1794897"/>
              <a:gd name="connsiteY0" fmla="*/ 0 h 1080000"/>
              <a:gd name="connsiteX1" fmla="*/ 359047 w 1794897"/>
              <a:gd name="connsiteY1" fmla="*/ 0 h 1080000"/>
              <a:gd name="connsiteX2" fmla="*/ 359047 w 1794897"/>
              <a:gd name="connsiteY2" fmla="*/ 216000 h 1080000"/>
              <a:gd name="connsiteX3" fmla="*/ 1079046 w 1794897"/>
              <a:gd name="connsiteY3" fmla="*/ 216000 h 1080000"/>
              <a:gd name="connsiteX4" fmla="*/ 1079046 w 1794897"/>
              <a:gd name="connsiteY4" fmla="*/ 540000 h 1080000"/>
              <a:gd name="connsiteX5" fmla="*/ 1794897 w 1794897"/>
              <a:gd name="connsiteY5" fmla="*/ 540000 h 1080000"/>
              <a:gd name="connsiteX6" fmla="*/ 1794897 w 1794897"/>
              <a:gd name="connsiteY6" fmla="*/ 1080000 h 1080000"/>
              <a:gd name="connsiteX7" fmla="*/ 1079046 w 1794897"/>
              <a:gd name="connsiteY7" fmla="*/ 1080000 h 1080000"/>
              <a:gd name="connsiteX8" fmla="*/ 1074897 w 1794897"/>
              <a:gd name="connsiteY8" fmla="*/ 1080000 h 1080000"/>
              <a:gd name="connsiteX9" fmla="*/ 359047 w 1794897"/>
              <a:gd name="connsiteY9" fmla="*/ 1080000 h 1080000"/>
              <a:gd name="connsiteX10" fmla="*/ 359046 w 1794897"/>
              <a:gd name="connsiteY10" fmla="*/ 1080000 h 1080000"/>
              <a:gd name="connsiteX11" fmla="*/ 0 w 1794897"/>
              <a:gd name="connsiteY11" fmla="*/ 108000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94897" h="1080000">
                <a:moveTo>
                  <a:pt x="0" y="0"/>
                </a:moveTo>
                <a:lnTo>
                  <a:pt x="359047" y="0"/>
                </a:lnTo>
                <a:lnTo>
                  <a:pt x="359047" y="216000"/>
                </a:lnTo>
                <a:lnTo>
                  <a:pt x="1079046" y="216000"/>
                </a:lnTo>
                <a:lnTo>
                  <a:pt x="1079046" y="540000"/>
                </a:lnTo>
                <a:lnTo>
                  <a:pt x="1794897" y="540000"/>
                </a:lnTo>
                <a:lnTo>
                  <a:pt x="1794897" y="1080000"/>
                </a:lnTo>
                <a:lnTo>
                  <a:pt x="1079046" y="1080000"/>
                </a:lnTo>
                <a:lnTo>
                  <a:pt x="1074897" y="1080000"/>
                </a:lnTo>
                <a:lnTo>
                  <a:pt x="359047" y="1080000"/>
                </a:lnTo>
                <a:lnTo>
                  <a:pt x="359046" y="1080000"/>
                </a:lnTo>
                <a:lnTo>
                  <a:pt x="0" y="1080000"/>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253DC4A3-F99C-7238-0EE2-D8A36E6AD2A6}"/>
              </a:ext>
            </a:extLst>
          </p:cNvPr>
          <p:cNvSpPr>
            <a:spLocks noGrp="1"/>
          </p:cNvSpPr>
          <p:nvPr>
            <p:ph type="title"/>
          </p:nvPr>
        </p:nvSpPr>
        <p:spPr/>
        <p:txBody>
          <a:bodyPr/>
          <a:lstStyle/>
          <a:p>
            <a:r>
              <a:rPr lang="ja-JP" altLang="en-US" dirty="0"/>
              <a:t>分析のプロセス</a:t>
            </a:r>
            <a:r>
              <a:rPr lang="en-US" altLang="ja-JP" dirty="0"/>
              <a:t>―</a:t>
            </a:r>
            <a:r>
              <a:rPr lang="ja-JP" altLang="en-US" dirty="0"/>
              <a:t>②アウトカムの設定</a:t>
            </a:r>
            <a:endParaRPr lang="en-US" dirty="0"/>
          </a:p>
        </p:txBody>
      </p:sp>
      <p:sp>
        <p:nvSpPr>
          <p:cNvPr id="3" name="Table Placeholder 2">
            <a:extLst>
              <a:ext uri="{FF2B5EF4-FFF2-40B4-BE49-F238E27FC236}">
                <a16:creationId xmlns:a16="http://schemas.microsoft.com/office/drawing/2014/main" id="{B2BEF136-67E6-EF10-AEA6-45A225B824E5}"/>
              </a:ext>
            </a:extLst>
          </p:cNvPr>
          <p:cNvSpPr>
            <a:spLocks noGrp="1"/>
          </p:cNvSpPr>
          <p:nvPr>
            <p:ph type="tbl" sz="quarter" idx="10"/>
          </p:nvPr>
        </p:nvSpPr>
        <p:spPr>
          <a:xfrm>
            <a:off x="4815839" y="1938130"/>
            <a:ext cx="6909021" cy="4692045"/>
          </a:xfrm>
        </p:spPr>
        <p:txBody>
          <a:bodyPr/>
          <a:lstStyle/>
          <a:p>
            <a:r>
              <a:rPr lang="ja-JP" altLang="en-US" dirty="0"/>
              <a:t>「質」と「量」の両方を考慮した効果指標</a:t>
            </a:r>
            <a:endParaRPr lang="en-US" altLang="ja-JP" dirty="0"/>
          </a:p>
          <a:p>
            <a:pPr lvl="1"/>
            <a:r>
              <a:rPr lang="ja-JP" altLang="en-US" sz="2000" dirty="0"/>
              <a:t>質「効用」＝</a:t>
            </a:r>
            <a:r>
              <a:rPr lang="en-US" altLang="ja-JP" sz="2000" dirty="0"/>
              <a:t>QoL</a:t>
            </a:r>
          </a:p>
          <a:p>
            <a:pPr lvl="2"/>
            <a:r>
              <a:rPr lang="ja-JP" altLang="en-US" dirty="0"/>
              <a:t>「０</a:t>
            </a:r>
            <a:r>
              <a:rPr lang="en-US" altLang="ja-JP" dirty="0"/>
              <a:t>=</a:t>
            </a:r>
            <a:r>
              <a:rPr lang="ja-JP" altLang="en-US" dirty="0"/>
              <a:t>死」から「１＝完全な健康状態」で表す</a:t>
            </a:r>
            <a:endParaRPr lang="en-US" altLang="ja-JP" dirty="0"/>
          </a:p>
          <a:p>
            <a:pPr lvl="2"/>
            <a:r>
              <a:rPr lang="ja-JP" altLang="en-US" dirty="0"/>
              <a:t>症状を元にした客観的評価ではなく、本人の主観的な感じ方を元にした評価が使われる</a:t>
            </a:r>
            <a:endParaRPr lang="en-US" altLang="ja-JP" dirty="0"/>
          </a:p>
          <a:p>
            <a:pPr lvl="2"/>
            <a:r>
              <a:rPr lang="ja-JP" altLang="en-US" dirty="0"/>
              <a:t>質問や実験を通じて効用を測る</a:t>
            </a:r>
            <a:endParaRPr lang="en-US" altLang="ja-JP" dirty="0"/>
          </a:p>
          <a:p>
            <a:pPr lvl="1"/>
            <a:r>
              <a:rPr lang="ja-JP" altLang="en-US" sz="2000" dirty="0"/>
              <a:t>量「生存年数」</a:t>
            </a:r>
            <a:endParaRPr lang="en-US" altLang="ja-JP" sz="2000" dirty="0"/>
          </a:p>
          <a:p>
            <a:pPr lvl="1"/>
            <a:r>
              <a:rPr lang="ja-JP" altLang="en-US" sz="2000" dirty="0"/>
              <a:t>質</a:t>
            </a:r>
            <a:r>
              <a:rPr lang="en-US" altLang="ja-JP" sz="2000" dirty="0"/>
              <a:t>×</a:t>
            </a:r>
            <a:r>
              <a:rPr lang="ja-JP" altLang="en-US" sz="2000" dirty="0"/>
              <a:t>量＝</a:t>
            </a:r>
            <a:r>
              <a:rPr lang="en-US" altLang="zh-TW" sz="2000" dirty="0"/>
              <a:t>QALYs(</a:t>
            </a:r>
            <a:r>
              <a:rPr lang="zh-TW" altLang="en-US" sz="2000" dirty="0"/>
              <a:t>質調整生存年</a:t>
            </a:r>
            <a:r>
              <a:rPr lang="en-US" altLang="zh-TW" sz="2000" dirty="0"/>
              <a:t>)</a:t>
            </a:r>
          </a:p>
          <a:p>
            <a:pPr lvl="2"/>
            <a:r>
              <a:rPr lang="ja-JP" altLang="en-US" dirty="0"/>
              <a:t>どれだけ健康で長く生きているかを数値で表せる</a:t>
            </a:r>
            <a:endParaRPr lang="en-US" altLang="ja-JP" dirty="0"/>
          </a:p>
        </p:txBody>
      </p:sp>
      <p:sp>
        <p:nvSpPr>
          <p:cNvPr id="4" name="Slide Number Placeholder 3">
            <a:extLst>
              <a:ext uri="{FF2B5EF4-FFF2-40B4-BE49-F238E27FC236}">
                <a16:creationId xmlns:a16="http://schemas.microsoft.com/office/drawing/2014/main" id="{986BE569-A6F7-F31D-AB47-8E2A3EB5E135}"/>
              </a:ext>
            </a:extLst>
          </p:cNvPr>
          <p:cNvSpPr>
            <a:spLocks noGrp="1"/>
          </p:cNvSpPr>
          <p:nvPr>
            <p:ph type="sldNum" sz="quarter" idx="4"/>
          </p:nvPr>
        </p:nvSpPr>
        <p:spPr/>
        <p:txBody>
          <a:bodyPr/>
          <a:lstStyle/>
          <a:p>
            <a:fld id="{B5CEABB6-07DC-46E8-9B57-56EC44A396E5}" type="slidenum">
              <a:rPr lang="en-US" smtClean="0"/>
              <a:pPr/>
              <a:t>11</a:t>
            </a:fld>
            <a:endParaRPr lang="en-US" dirty="0"/>
          </a:p>
        </p:txBody>
      </p:sp>
      <p:sp>
        <p:nvSpPr>
          <p:cNvPr id="5" name="Table Placeholder 4">
            <a:extLst>
              <a:ext uri="{FF2B5EF4-FFF2-40B4-BE49-F238E27FC236}">
                <a16:creationId xmlns:a16="http://schemas.microsoft.com/office/drawing/2014/main" id="{1B58A72F-B7D6-7A30-47F6-DB0B11CBC15A}"/>
              </a:ext>
            </a:extLst>
          </p:cNvPr>
          <p:cNvSpPr>
            <a:spLocks noGrp="1"/>
          </p:cNvSpPr>
          <p:nvPr>
            <p:ph type="tbl" sz="quarter" idx="11"/>
          </p:nvPr>
        </p:nvSpPr>
        <p:spPr/>
        <p:txBody>
          <a:bodyPr/>
          <a:lstStyle/>
          <a:p>
            <a:r>
              <a:rPr lang="ja-JP" altLang="en-US" dirty="0"/>
              <a:t>目的に応じてメリット</a:t>
            </a:r>
            <a:r>
              <a:rPr lang="en-US" altLang="ja-JP" dirty="0"/>
              <a:t>(</a:t>
            </a:r>
            <a:r>
              <a:rPr lang="ja-JP" altLang="en-US" dirty="0"/>
              <a:t>効果</a:t>
            </a:r>
            <a:r>
              <a:rPr lang="en-US" altLang="ja-JP" dirty="0"/>
              <a:t>:effects)</a:t>
            </a:r>
            <a:r>
              <a:rPr lang="ja-JP" altLang="en-US" dirty="0"/>
              <a:t>とデメリット</a:t>
            </a:r>
            <a:r>
              <a:rPr lang="en-US" altLang="ja-JP" dirty="0"/>
              <a:t>(</a:t>
            </a:r>
            <a:r>
              <a:rPr lang="ja-JP" altLang="en-US" dirty="0"/>
              <a:t>費用</a:t>
            </a:r>
            <a:r>
              <a:rPr lang="en-US" altLang="ja-JP" dirty="0"/>
              <a:t>:costs)</a:t>
            </a:r>
            <a:r>
              <a:rPr lang="ja-JP" altLang="en-US" dirty="0"/>
              <a:t>を設定する　　医療経済では</a:t>
            </a:r>
            <a:r>
              <a:rPr lang="en-US" altLang="ja-JP" dirty="0"/>
              <a:t>QoL×</a:t>
            </a:r>
            <a:r>
              <a:rPr lang="ja-JP" altLang="en-US" dirty="0"/>
              <a:t>生存年を表す</a:t>
            </a:r>
            <a:r>
              <a:rPr lang="en-US" altLang="ja-JP" dirty="0"/>
              <a:t>QALYs(</a:t>
            </a:r>
            <a:r>
              <a:rPr lang="zh-TW" altLang="en-US" dirty="0"/>
              <a:t>質調整生存年</a:t>
            </a:r>
            <a:r>
              <a:rPr lang="en-US" altLang="zh-TW" dirty="0"/>
              <a:t>)</a:t>
            </a:r>
            <a:r>
              <a:rPr lang="ja-JP" altLang="en-US" dirty="0"/>
              <a:t>を効果としてよく使用</a:t>
            </a:r>
            <a:endParaRPr lang="en-US" dirty="0"/>
          </a:p>
        </p:txBody>
      </p:sp>
      <p:grpSp>
        <p:nvGrpSpPr>
          <p:cNvPr id="6" name="Group 5">
            <a:extLst>
              <a:ext uri="{FF2B5EF4-FFF2-40B4-BE49-F238E27FC236}">
                <a16:creationId xmlns:a16="http://schemas.microsoft.com/office/drawing/2014/main" id="{C73017AD-C1AC-B646-A065-B0F76936639C}"/>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9BFCCF7E-3ABC-67D8-920D-E0D09BCBF2F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A6897091-C4EB-49A1-D96A-3434551EBA16}"/>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5E004BC6-6530-8BDB-9B68-F58E5F30FABE}"/>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051BD9A0-0AD2-FED2-33BB-196552C21C0F}"/>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8788597A-AC0C-E40D-C827-F36ADD7F98E1}"/>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D69239FA-529C-ABB9-3049-FF6EF2489117}"/>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9ADF9C5E-43DF-0314-A8BD-0C687066522C}"/>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C9F96F6A-82FA-FC61-2674-91119E82FE8B}"/>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アウトカムの設定</a:t>
            </a:r>
            <a:endParaRPr lang="en-US" b="1"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74577145-3F7A-405B-4174-3A07C48942F7}"/>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08455961-2F81-239E-41D8-9C7B3BE2986F}"/>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6CD33FD1-F57E-ED6B-4698-9F8ABE1453B4}"/>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A37B97CE-28C5-48BB-5330-D051BBB3A992}"/>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7AFF3653-AF83-92C8-C7A3-94B34E897635}"/>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E5D4A328-D142-0373-32B5-BF8E8D7AFFA7}"/>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40BDEFDD-F1E2-467B-09BB-4EAB946D4564}"/>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CA2829B9-40F9-CBB5-D3C1-887E1D2ACDE4}"/>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66223CBC-9C45-7913-5764-C38981F075FF}"/>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D626947A-E365-3B19-4BFE-B531BAE156C7}"/>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6A52ECD5-7300-B638-AD4D-561839705615}"/>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336F7132-8ED6-6E32-5CB4-FD9314C99C99}"/>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２</a:t>
            </a:r>
            <a:endParaRPr lang="en-US" b="1"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06C6B552-F1AA-7B9F-B3FC-79025B3B45ED}"/>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B0A9A9F0-198B-8B1D-86C2-234A692155D2}"/>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39DD12DB-3381-E5DE-92CC-95236D6A563E}"/>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98345E6D-5BE2-479C-D124-D19E045BD00E}"/>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F67A6E1D-3CDF-1289-CACB-AE3FABB4FECF}"/>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65DE44EF-1E20-DCB5-592B-A8A5122514DB}"/>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C5DE55A2-8248-D931-4551-3CC5335017D6}"/>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87E81931-5650-DEE5-6F95-FCC8C73025DE}"/>
              </a:ext>
            </a:extLst>
          </p:cNvPr>
          <p:cNvCxnSpPr>
            <a:cxnSpLocks/>
            <a:stCxn id="14" idx="3"/>
            <a:endCxn id="40" idx="1"/>
          </p:cNvCxnSpPr>
          <p:nvPr/>
        </p:nvCxnSpPr>
        <p:spPr>
          <a:xfrm>
            <a:off x="3989294" y="2767882"/>
            <a:ext cx="705628" cy="151627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CE7CA334-59CE-559D-D9D2-F4AB0FD8EAC4}"/>
              </a:ext>
            </a:extLst>
          </p:cNvPr>
          <p:cNvGrpSpPr/>
          <p:nvPr/>
        </p:nvGrpSpPr>
        <p:grpSpPr>
          <a:xfrm>
            <a:off x="5839371" y="5074351"/>
            <a:ext cx="2412053" cy="1598303"/>
            <a:chOff x="8657895" y="2511220"/>
            <a:chExt cx="1993431" cy="1091662"/>
          </a:xfrm>
        </p:grpSpPr>
        <p:sp>
          <p:nvSpPr>
            <p:cNvPr id="43" name="Rectangle 42">
              <a:extLst>
                <a:ext uri="{FF2B5EF4-FFF2-40B4-BE49-F238E27FC236}">
                  <a16:creationId xmlns:a16="http://schemas.microsoft.com/office/drawing/2014/main" id="{5286448A-B68D-130D-D4E4-49D796A15B6F}"/>
                </a:ext>
              </a:extLst>
            </p:cNvPr>
            <p:cNvSpPr/>
            <p:nvPr/>
          </p:nvSpPr>
          <p:spPr>
            <a:xfrm>
              <a:off x="9065486" y="3436938"/>
              <a:ext cx="1225938" cy="1423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生存年数</a:t>
              </a:r>
              <a:endParaRPr lang="en-US" dirty="0">
                <a:solidFill>
                  <a:schemeClr val="tx1"/>
                </a:solidFill>
                <a:latin typeface="Meiryo UI" panose="020B0604030504040204" pitchFamily="50" charset="-128"/>
                <a:ea typeface="Meiryo UI" panose="020B0604030504040204" pitchFamily="50" charset="-128"/>
              </a:endParaRPr>
            </a:p>
          </p:txBody>
        </p:sp>
        <p:cxnSp>
          <p:nvCxnSpPr>
            <p:cNvPr id="36" name="Straight Arrow Connector 35">
              <a:extLst>
                <a:ext uri="{FF2B5EF4-FFF2-40B4-BE49-F238E27FC236}">
                  <a16:creationId xmlns:a16="http://schemas.microsoft.com/office/drawing/2014/main" id="{76B3DFD0-1874-1474-3A47-2B03044E59C3}"/>
                </a:ext>
              </a:extLst>
            </p:cNvPr>
            <p:cNvCxnSpPr>
              <a:cxnSpLocks/>
              <a:stCxn id="55" idx="11"/>
            </p:cNvCxnSpPr>
            <p:nvPr/>
          </p:nvCxnSpPr>
          <p:spPr>
            <a:xfrm flipV="1">
              <a:off x="8875432" y="2511220"/>
              <a:ext cx="0" cy="8731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9151E51-0FDE-7147-51FC-E9B03174B143}"/>
                </a:ext>
              </a:extLst>
            </p:cNvPr>
            <p:cNvSpPr/>
            <p:nvPr/>
          </p:nvSpPr>
          <p:spPr>
            <a:xfrm>
              <a:off x="8657895" y="261627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効用</a:t>
              </a:r>
              <a:endParaRPr lang="en-US" dirty="0">
                <a:solidFill>
                  <a:schemeClr val="tx1"/>
                </a:solidFill>
                <a:latin typeface="Meiryo UI" panose="020B0604030504040204" pitchFamily="50" charset="-128"/>
                <a:ea typeface="Meiryo UI" panose="020B0604030504040204" pitchFamily="50" charset="-128"/>
              </a:endParaRPr>
            </a:p>
          </p:txBody>
        </p:sp>
        <p:sp>
          <p:nvSpPr>
            <p:cNvPr id="42" name="Rectangle 41">
              <a:extLst>
                <a:ext uri="{FF2B5EF4-FFF2-40B4-BE49-F238E27FC236}">
                  <a16:creationId xmlns:a16="http://schemas.microsoft.com/office/drawing/2014/main" id="{9D1FE38E-E40E-8134-538E-7B7D6DB0E943}"/>
                </a:ext>
              </a:extLst>
            </p:cNvPr>
            <p:cNvSpPr/>
            <p:nvPr/>
          </p:nvSpPr>
          <p:spPr>
            <a:xfrm>
              <a:off x="10432425" y="3413375"/>
              <a:ext cx="197803" cy="189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5</a:t>
              </a:r>
            </a:p>
          </p:txBody>
        </p:sp>
        <p:cxnSp>
          <p:nvCxnSpPr>
            <p:cNvPr id="37" name="Straight Arrow Connector 36">
              <a:extLst>
                <a:ext uri="{FF2B5EF4-FFF2-40B4-BE49-F238E27FC236}">
                  <a16:creationId xmlns:a16="http://schemas.microsoft.com/office/drawing/2014/main" id="{3F281303-F03D-9253-30B5-1B853DC284DD}"/>
                </a:ext>
              </a:extLst>
            </p:cNvPr>
            <p:cNvCxnSpPr>
              <a:cxnSpLocks/>
              <a:stCxn id="55" idx="11"/>
            </p:cNvCxnSpPr>
            <p:nvPr/>
          </p:nvCxnSpPr>
          <p:spPr>
            <a:xfrm>
              <a:off x="8875432" y="3384362"/>
              <a:ext cx="1775894" cy="6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Rectangle 44">
            <a:extLst>
              <a:ext uri="{FF2B5EF4-FFF2-40B4-BE49-F238E27FC236}">
                <a16:creationId xmlns:a16="http://schemas.microsoft.com/office/drawing/2014/main" id="{CC8E1487-614B-114B-06B8-92572630888A}"/>
              </a:ext>
            </a:extLst>
          </p:cNvPr>
          <p:cNvSpPr/>
          <p:nvPr/>
        </p:nvSpPr>
        <p:spPr>
          <a:xfrm>
            <a:off x="5833140" y="5081297"/>
            <a:ext cx="239341"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a:t>
            </a:r>
          </a:p>
        </p:txBody>
      </p:sp>
      <p:sp>
        <p:nvSpPr>
          <p:cNvPr id="62" name="Rectangle 61">
            <a:extLst>
              <a:ext uri="{FF2B5EF4-FFF2-40B4-BE49-F238E27FC236}">
                <a16:creationId xmlns:a16="http://schemas.microsoft.com/office/drawing/2014/main" id="{65C7BA08-9848-A2C0-CF08-C9D3198C5785}"/>
              </a:ext>
            </a:extLst>
          </p:cNvPr>
          <p:cNvSpPr/>
          <p:nvPr/>
        </p:nvSpPr>
        <p:spPr>
          <a:xfrm>
            <a:off x="8527311" y="5362058"/>
            <a:ext cx="3318466" cy="9248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１</a:t>
            </a:r>
            <a:r>
              <a:rPr lang="en-US" altLang="ja-JP" dirty="0">
                <a:solidFill>
                  <a:schemeClr val="tx1"/>
                </a:solidFill>
                <a:latin typeface="Meiryo UI" panose="020B0604030504040204" pitchFamily="50" charset="-128"/>
                <a:ea typeface="Meiryo UI" panose="020B0604030504040204" pitchFamily="50" charset="-128"/>
              </a:rPr>
              <a:t>×1</a:t>
            </a:r>
            <a:r>
              <a:rPr lang="ja-JP" altLang="en-US" dirty="0">
                <a:solidFill>
                  <a:schemeClr val="tx1"/>
                </a:solidFill>
                <a:latin typeface="Meiryo UI" panose="020B0604030504040204" pitchFamily="50" charset="-128"/>
                <a:ea typeface="Meiryo UI" panose="020B0604030504040204" pitchFamily="50" charset="-128"/>
              </a:rPr>
              <a:t>年＋</a:t>
            </a:r>
            <a:r>
              <a:rPr lang="en-US" altLang="ja-JP" dirty="0">
                <a:solidFill>
                  <a:schemeClr val="tx1"/>
                </a:solidFill>
                <a:latin typeface="Meiryo UI" panose="020B0604030504040204" pitchFamily="50" charset="-128"/>
                <a:ea typeface="Meiryo UI" panose="020B0604030504040204" pitchFamily="50" charset="-128"/>
              </a:rPr>
              <a:t>0.8×2</a:t>
            </a:r>
            <a:r>
              <a:rPr lang="ja-JP" altLang="en-US" dirty="0">
                <a:solidFill>
                  <a:schemeClr val="tx1"/>
                </a:solidFill>
                <a:latin typeface="Meiryo UI" panose="020B0604030504040204" pitchFamily="50" charset="-128"/>
                <a:ea typeface="Meiryo UI" panose="020B0604030504040204" pitchFamily="50" charset="-128"/>
              </a:rPr>
              <a:t>年＋</a:t>
            </a:r>
            <a:r>
              <a:rPr lang="en-US" altLang="ja-JP" dirty="0">
                <a:solidFill>
                  <a:schemeClr val="tx1"/>
                </a:solidFill>
                <a:latin typeface="Meiryo UI" panose="020B0604030504040204" pitchFamily="50" charset="-128"/>
                <a:ea typeface="Meiryo UI" panose="020B0604030504040204" pitchFamily="50" charset="-128"/>
              </a:rPr>
              <a:t>0.5×2</a:t>
            </a:r>
            <a:r>
              <a:rPr lang="ja-JP" altLang="en-US" dirty="0">
                <a:solidFill>
                  <a:schemeClr val="tx1"/>
                </a:solidFill>
                <a:latin typeface="Meiryo UI" panose="020B0604030504040204" pitchFamily="50" charset="-128"/>
                <a:ea typeface="Meiryo UI" panose="020B0604030504040204" pitchFamily="50" charset="-128"/>
              </a:rPr>
              <a:t>年</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＝１＋</a:t>
            </a:r>
            <a:r>
              <a:rPr lang="en-US" altLang="ja-JP" dirty="0">
                <a:solidFill>
                  <a:schemeClr val="tx1"/>
                </a:solidFill>
                <a:latin typeface="Meiryo UI" panose="020B0604030504040204" pitchFamily="50" charset="-128"/>
                <a:ea typeface="Meiryo UI" panose="020B0604030504040204" pitchFamily="50" charset="-128"/>
              </a:rPr>
              <a:t>1.6</a:t>
            </a:r>
            <a:r>
              <a:rPr lang="ja-JP" altLang="en-US" dirty="0">
                <a:solidFill>
                  <a:schemeClr val="tx1"/>
                </a:solidFill>
                <a:latin typeface="Meiryo UI" panose="020B0604030504040204" pitchFamily="50" charset="-128"/>
                <a:ea typeface="Meiryo UI" panose="020B0604030504040204" pitchFamily="50" charset="-128"/>
              </a:rPr>
              <a:t>＋１</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latin typeface="Meiryo UI" panose="020B0604030504040204" pitchFamily="50" charset="-128"/>
                <a:ea typeface="Meiryo UI" panose="020B0604030504040204" pitchFamily="50" charset="-128"/>
              </a:rPr>
              <a:t>＝</a:t>
            </a:r>
            <a:r>
              <a:rPr lang="en-US" altLang="ja-JP" dirty="0">
                <a:solidFill>
                  <a:schemeClr val="tx1"/>
                </a:solidFill>
                <a:latin typeface="Meiryo UI" panose="020B0604030504040204" pitchFamily="50" charset="-128"/>
                <a:ea typeface="Meiryo UI" panose="020B0604030504040204" pitchFamily="50" charset="-128"/>
              </a:rPr>
              <a:t>3.6</a:t>
            </a:r>
            <a:endParaRPr lang="en-US" dirty="0">
              <a:solidFill>
                <a:schemeClr val="tx1"/>
              </a:solidFill>
              <a:latin typeface="Meiryo UI" panose="020B0604030504040204" pitchFamily="50" charset="-128"/>
              <a:ea typeface="Meiryo UI" panose="020B0604030504040204" pitchFamily="50" charset="-128"/>
            </a:endParaRPr>
          </a:p>
        </p:txBody>
      </p:sp>
      <p:cxnSp>
        <p:nvCxnSpPr>
          <p:cNvPr id="64" name="Straight Connector 63">
            <a:extLst>
              <a:ext uri="{FF2B5EF4-FFF2-40B4-BE49-F238E27FC236}">
                <a16:creationId xmlns:a16="http://schemas.microsoft.com/office/drawing/2014/main" id="{BC8C9C70-E1D0-5F39-CF95-4B69D11C9D6E}"/>
              </a:ext>
            </a:extLst>
          </p:cNvPr>
          <p:cNvCxnSpPr>
            <a:cxnSpLocks/>
            <a:endCxn id="62" idx="1"/>
          </p:cNvCxnSpPr>
          <p:nvPr/>
        </p:nvCxnSpPr>
        <p:spPr>
          <a:xfrm flipV="1">
            <a:off x="7848657" y="5824464"/>
            <a:ext cx="678654" cy="1559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60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6B4C-BC28-7337-94AB-D43CCE16BA68}"/>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606A49CF-01B3-9BC0-42F2-A3A610AE9C92}"/>
              </a:ext>
            </a:extLst>
          </p:cNvPr>
          <p:cNvSpPr/>
          <p:nvPr/>
        </p:nvSpPr>
        <p:spPr>
          <a:xfrm>
            <a:off x="11529519" y="3719203"/>
            <a:ext cx="390684" cy="12847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複雑さ</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1A966D92-E2E9-F90D-EE7B-85B09D2328D2}"/>
              </a:ext>
            </a:extLst>
          </p:cNvPr>
          <p:cNvSpPr>
            <a:spLocks noGrp="1"/>
          </p:cNvSpPr>
          <p:nvPr>
            <p:ph type="title"/>
          </p:nvPr>
        </p:nvSpPr>
        <p:spPr/>
        <p:txBody>
          <a:bodyPr/>
          <a:lstStyle/>
          <a:p>
            <a:r>
              <a:rPr lang="ja-JP" altLang="en-US" dirty="0"/>
              <a:t>分析のプロセス</a:t>
            </a:r>
            <a:r>
              <a:rPr lang="en-US" altLang="ja-JP" dirty="0"/>
              <a:t>―</a:t>
            </a:r>
            <a:r>
              <a:rPr lang="ja-JP" altLang="en-US" dirty="0"/>
              <a:t>③シミュレーションモデルの選択</a:t>
            </a:r>
            <a:endParaRPr lang="en-US" dirty="0"/>
          </a:p>
        </p:txBody>
      </p:sp>
      <p:sp>
        <p:nvSpPr>
          <p:cNvPr id="4" name="Slide Number Placeholder 3">
            <a:extLst>
              <a:ext uri="{FF2B5EF4-FFF2-40B4-BE49-F238E27FC236}">
                <a16:creationId xmlns:a16="http://schemas.microsoft.com/office/drawing/2014/main" id="{56D82E96-43AF-1861-1BE8-D1494F64C87E}"/>
              </a:ext>
            </a:extLst>
          </p:cNvPr>
          <p:cNvSpPr>
            <a:spLocks noGrp="1"/>
          </p:cNvSpPr>
          <p:nvPr>
            <p:ph type="sldNum" sz="quarter" idx="4"/>
          </p:nvPr>
        </p:nvSpPr>
        <p:spPr/>
        <p:txBody>
          <a:bodyPr/>
          <a:lstStyle/>
          <a:p>
            <a:fld id="{B5CEABB6-07DC-46E8-9B57-56EC44A396E5}" type="slidenum">
              <a:rPr lang="en-US" smtClean="0"/>
              <a:pPr/>
              <a:t>12</a:t>
            </a:fld>
            <a:endParaRPr lang="en-US" dirty="0"/>
          </a:p>
        </p:txBody>
      </p:sp>
      <p:sp>
        <p:nvSpPr>
          <p:cNvPr id="5" name="Table Placeholder 4">
            <a:extLst>
              <a:ext uri="{FF2B5EF4-FFF2-40B4-BE49-F238E27FC236}">
                <a16:creationId xmlns:a16="http://schemas.microsoft.com/office/drawing/2014/main" id="{04522603-93C4-5658-186D-B11BDF9C2A1E}"/>
              </a:ext>
            </a:extLst>
          </p:cNvPr>
          <p:cNvSpPr>
            <a:spLocks noGrp="1"/>
          </p:cNvSpPr>
          <p:nvPr>
            <p:ph type="tbl" sz="quarter" idx="11"/>
          </p:nvPr>
        </p:nvSpPr>
        <p:spPr/>
        <p:txBody>
          <a:bodyPr/>
          <a:lstStyle/>
          <a:p>
            <a:r>
              <a:rPr lang="ja-JP" altLang="en-US" dirty="0"/>
              <a:t>複数の意思決定に係る選択肢の結果をシミュレーションするために、　　　　　目的に応じて最適なモデルを選ぶ</a:t>
            </a:r>
            <a:endParaRPr lang="en-US" dirty="0"/>
          </a:p>
        </p:txBody>
      </p:sp>
      <p:grpSp>
        <p:nvGrpSpPr>
          <p:cNvPr id="6" name="Group 5">
            <a:extLst>
              <a:ext uri="{FF2B5EF4-FFF2-40B4-BE49-F238E27FC236}">
                <a16:creationId xmlns:a16="http://schemas.microsoft.com/office/drawing/2014/main" id="{EF016EDE-F8F8-1CE4-7FBD-EA89CC0E518B}"/>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A82AA79D-B030-9680-68C6-12E1DB0C750A}"/>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5613EA4B-FF21-D016-26E3-E3AF4B832529}"/>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E4CBE283-4530-1DE0-7690-8C3E56521C54}"/>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7F0A2811-F278-21AA-E826-B89AC1E7DE1C}"/>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34B3E449-EE61-5778-7E67-11827C3CCC09}"/>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DE9E82DF-ACC0-F305-5EC4-4536261A0166}"/>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7B0E4151-5556-A9C8-072D-D389B970FC5B}"/>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　　シミュレーションモデルの選択</a:t>
            </a:r>
            <a:endParaRPr lang="en-US" b="1"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63E7844D-F443-7A89-726C-6EDB824B5978}"/>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D4B06F7E-B9D2-A841-F0EA-03EAE347AC53}"/>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9B37B15A-8A0D-5462-C2A1-BD31A07CBAD6}"/>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2CD3A5A9-FC94-2BF3-EB11-4D379A100EE9}"/>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B5D49CD0-9137-B477-1C2E-797166046891}"/>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425AA23D-4924-9894-CA85-D8923ED4CE8C}"/>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89D6A589-68E1-A6FF-B081-8D110A91DB82}"/>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F51B2623-781A-29D9-7B6D-23606A1EDF58}"/>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BBCE9E64-4B3E-F6A2-F31C-DC4FD6857A71}"/>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C44CC72C-D17A-4C07-17ED-3CA3B40AA12B}"/>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B21B80FB-5DB6-7D95-D610-3C4CA238676C}"/>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8DB0CB54-1956-D878-8DF1-4C9920B430A2}"/>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4D833306-5CFB-0E72-4545-4640B843307C}"/>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476A9223-DF7F-62F7-8EAC-D9A5A9BEB8AC}"/>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３</a:t>
            </a:r>
            <a:endParaRPr lang="en-US" b="1"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3EB682F1-E598-D7B9-4E1B-68D7201A69A7}"/>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2D85D2DE-AE68-5D50-E35D-6F70FAB86B75}"/>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6BD7F8C0-237A-7B26-9F7E-104197EDB388}"/>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E5D91B88-68E1-DB96-28B0-052291BF8326}"/>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1CFFEAB2-BFC3-B90D-9745-78C3BAF238E5}"/>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BBF17A21-7B36-D776-072C-7FA049A6341A}"/>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224FF065-D576-CBF2-8D49-4F85BD40226D}"/>
              </a:ext>
            </a:extLst>
          </p:cNvPr>
          <p:cNvCxnSpPr>
            <a:cxnSpLocks/>
            <a:stCxn id="13" idx="3"/>
            <a:endCxn id="40" idx="1"/>
          </p:cNvCxnSpPr>
          <p:nvPr/>
        </p:nvCxnSpPr>
        <p:spPr>
          <a:xfrm>
            <a:off x="3989294" y="3374392"/>
            <a:ext cx="705628" cy="90976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3F8B82B-6149-D7EF-5862-B80EFAA63218}"/>
              </a:ext>
            </a:extLst>
          </p:cNvPr>
          <p:cNvSpPr/>
          <p:nvPr/>
        </p:nvSpPr>
        <p:spPr>
          <a:xfrm>
            <a:off x="4881092" y="2269648"/>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決定木分析</a:t>
            </a:r>
            <a:r>
              <a:rPr lang="en-US" altLang="ja-JP" sz="1400" dirty="0">
                <a:solidFill>
                  <a:schemeClr val="tx1"/>
                </a:solidFill>
                <a:latin typeface="Meiryo UI" panose="020B0604030504040204" pitchFamily="50" charset="-128"/>
                <a:ea typeface="Meiryo UI" panose="020B0604030504040204" pitchFamily="50" charset="-128"/>
              </a:rPr>
              <a:t>(Decision Tree Analysis)(</a:t>
            </a:r>
            <a:r>
              <a:rPr lang="ja-JP" altLang="en-US" sz="1400" dirty="0">
                <a:solidFill>
                  <a:schemeClr val="tx1"/>
                </a:solidFill>
                <a:latin typeface="Meiryo UI" panose="020B0604030504040204" pitchFamily="50" charset="-128"/>
                <a:ea typeface="Meiryo UI" panose="020B0604030504040204" pitchFamily="50" charset="-128"/>
              </a:rPr>
              <a:t>注</a:t>
            </a:r>
            <a:r>
              <a:rPr lang="en-US" altLang="ja-JP" sz="1400"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35" name="Rectangle 34">
            <a:extLst>
              <a:ext uri="{FF2B5EF4-FFF2-40B4-BE49-F238E27FC236}">
                <a16:creationId xmlns:a16="http://schemas.microsoft.com/office/drawing/2014/main" id="{E224FA53-59B5-CA97-A18C-7021A7D4F887}"/>
              </a:ext>
            </a:extLst>
          </p:cNvPr>
          <p:cNvSpPr/>
          <p:nvPr/>
        </p:nvSpPr>
        <p:spPr>
          <a:xfrm>
            <a:off x="4881092" y="3170623"/>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マルコフモデル</a:t>
            </a:r>
            <a:endParaRPr lang="en-US" altLang="ja-JP" b="1" dirty="0">
              <a:solidFill>
                <a:schemeClr val="tx1"/>
              </a:solidFill>
              <a:latin typeface="Meiryo UI" panose="020B0604030504040204" pitchFamily="50" charset="-128"/>
              <a:ea typeface="Meiryo UI" panose="020B0604030504040204" pitchFamily="50" charset="-128"/>
            </a:endParaRPr>
          </a:p>
          <a:p>
            <a:pPr algn="ctr"/>
            <a:r>
              <a:rPr lang="en-US" sz="1400" dirty="0">
                <a:solidFill>
                  <a:schemeClr val="tx1"/>
                </a:solidFill>
                <a:latin typeface="Meiryo UI" panose="020B0604030504040204" pitchFamily="50" charset="-128"/>
                <a:ea typeface="Meiryo UI" panose="020B0604030504040204" pitchFamily="50" charset="-128"/>
              </a:rPr>
              <a:t>(Markov model)</a:t>
            </a:r>
          </a:p>
        </p:txBody>
      </p:sp>
      <p:sp>
        <p:nvSpPr>
          <p:cNvPr id="36" name="Rectangle 35">
            <a:extLst>
              <a:ext uri="{FF2B5EF4-FFF2-40B4-BE49-F238E27FC236}">
                <a16:creationId xmlns:a16="http://schemas.microsoft.com/office/drawing/2014/main" id="{157A1DC1-7B94-7A0A-B325-E7A69B30208A}"/>
              </a:ext>
            </a:extLst>
          </p:cNvPr>
          <p:cNvSpPr/>
          <p:nvPr/>
        </p:nvSpPr>
        <p:spPr>
          <a:xfrm>
            <a:off x="4881092" y="4071599"/>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マイクロ</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シミュレーション</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en-US" sz="1400" dirty="0">
                <a:solidFill>
                  <a:schemeClr val="tx1"/>
                </a:solidFill>
                <a:latin typeface="Meiryo UI" panose="020B0604030504040204" pitchFamily="50" charset="-128"/>
                <a:ea typeface="Meiryo UI" panose="020B0604030504040204" pitchFamily="50" charset="-128"/>
              </a:rPr>
              <a:t>(Microsimulation)</a:t>
            </a:r>
            <a:endParaRPr lang="en-US" dirty="0">
              <a:solidFill>
                <a:schemeClr val="tx1"/>
              </a:solidFill>
              <a:latin typeface="Meiryo UI" panose="020B0604030504040204" pitchFamily="50" charset="-128"/>
              <a:ea typeface="Meiryo UI" panose="020B0604030504040204" pitchFamily="50" charset="-128"/>
            </a:endParaRPr>
          </a:p>
        </p:txBody>
      </p:sp>
      <p:sp>
        <p:nvSpPr>
          <p:cNvPr id="38" name="Rectangle 37">
            <a:extLst>
              <a:ext uri="{FF2B5EF4-FFF2-40B4-BE49-F238E27FC236}">
                <a16:creationId xmlns:a16="http://schemas.microsoft.com/office/drawing/2014/main" id="{C8F7E176-9C19-283C-BBE1-DAECE0276B9D}"/>
              </a:ext>
            </a:extLst>
          </p:cNvPr>
          <p:cNvSpPr/>
          <p:nvPr/>
        </p:nvSpPr>
        <p:spPr>
          <a:xfrm>
            <a:off x="4881092" y="5873552"/>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エージェント</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ベースモデル</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en-US" sz="1400" dirty="0">
                <a:solidFill>
                  <a:schemeClr val="tx1"/>
                </a:solidFill>
                <a:latin typeface="Meiryo UI" panose="020B0604030504040204" pitchFamily="50" charset="-128"/>
                <a:ea typeface="Meiryo UI" panose="020B0604030504040204" pitchFamily="50" charset="-128"/>
              </a:rPr>
              <a:t>(Agent-based model)</a:t>
            </a:r>
          </a:p>
        </p:txBody>
      </p:sp>
      <p:sp>
        <p:nvSpPr>
          <p:cNvPr id="39" name="Rectangle 38">
            <a:extLst>
              <a:ext uri="{FF2B5EF4-FFF2-40B4-BE49-F238E27FC236}">
                <a16:creationId xmlns:a16="http://schemas.microsoft.com/office/drawing/2014/main" id="{1D641C14-E49E-4425-B43A-A24848C31ED8}"/>
              </a:ext>
            </a:extLst>
          </p:cNvPr>
          <p:cNvSpPr/>
          <p:nvPr/>
        </p:nvSpPr>
        <p:spPr>
          <a:xfrm>
            <a:off x="6855540" y="2269648"/>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選択と結果を分岐で可視化</a:t>
            </a:r>
            <a:endParaRPr lang="en-US" dirty="0">
              <a:solidFill>
                <a:schemeClr val="tx1"/>
              </a:solidFill>
              <a:latin typeface="Meiryo UI" panose="020B0604030504040204" pitchFamily="50" charset="-128"/>
              <a:ea typeface="Meiryo UI" panose="020B0604030504040204" pitchFamily="50" charset="-128"/>
            </a:endParaRPr>
          </a:p>
        </p:txBody>
      </p:sp>
      <p:sp>
        <p:nvSpPr>
          <p:cNvPr id="41" name="Rectangle 40">
            <a:extLst>
              <a:ext uri="{FF2B5EF4-FFF2-40B4-BE49-F238E27FC236}">
                <a16:creationId xmlns:a16="http://schemas.microsoft.com/office/drawing/2014/main" id="{AC12D85A-0E5E-76BF-8B91-CD3A68BC068C}"/>
              </a:ext>
            </a:extLst>
          </p:cNvPr>
          <p:cNvSpPr/>
          <p:nvPr/>
        </p:nvSpPr>
        <p:spPr>
          <a:xfrm>
            <a:off x="9116927" y="2269648"/>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時間軸を</a:t>
            </a:r>
            <a:r>
              <a:rPr lang="ja-JP" altLang="en-US" sz="1600">
                <a:solidFill>
                  <a:schemeClr val="tx1"/>
                </a:solidFill>
                <a:latin typeface="Meiryo UI" panose="020B0604030504040204" pitchFamily="50" charset="-128"/>
                <a:ea typeface="Meiryo UI" panose="020B0604030504040204" pitchFamily="50" charset="-128"/>
              </a:rPr>
              <a:t>考慮しづらい</a:t>
            </a:r>
            <a:endParaRPr lang="en-US" altLang="ja-JP" sz="1600" dirty="0">
              <a:solidFill>
                <a:schemeClr val="tx1"/>
              </a:solidFill>
              <a:latin typeface="Meiryo UI" panose="020B0604030504040204" pitchFamily="50" charset="-128"/>
              <a:ea typeface="Meiryo UI" panose="020B0604030504040204" pitchFamily="50" charset="-128"/>
            </a:endParaRPr>
          </a:p>
        </p:txBody>
      </p:sp>
      <p:cxnSp>
        <p:nvCxnSpPr>
          <p:cNvPr id="43" name="Straight Connector 42">
            <a:extLst>
              <a:ext uri="{FF2B5EF4-FFF2-40B4-BE49-F238E27FC236}">
                <a16:creationId xmlns:a16="http://schemas.microsoft.com/office/drawing/2014/main" id="{854731AF-8E08-6810-DEE8-AC8C2E99D98F}"/>
              </a:ext>
            </a:extLst>
          </p:cNvPr>
          <p:cNvCxnSpPr>
            <a:cxnSpLocks/>
          </p:cNvCxnSpPr>
          <p:nvPr/>
        </p:nvCxnSpPr>
        <p:spPr>
          <a:xfrm>
            <a:off x="4881092" y="2178208"/>
            <a:ext cx="19091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350CF32E-6B09-A3A1-38D5-63C895DBD94D}"/>
              </a:ext>
            </a:extLst>
          </p:cNvPr>
          <p:cNvSpPr/>
          <p:nvPr/>
        </p:nvSpPr>
        <p:spPr>
          <a:xfrm>
            <a:off x="4881092" y="1828801"/>
            <a:ext cx="190919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タイプ</a:t>
            </a:r>
            <a:endParaRPr lang="en-US" dirty="0">
              <a:solidFill>
                <a:schemeClr val="tx1"/>
              </a:solidFill>
              <a:latin typeface="Meiryo UI" panose="020B0604030504040204" pitchFamily="50" charset="-128"/>
              <a:ea typeface="Meiryo UI" panose="020B0604030504040204" pitchFamily="50" charset="-128"/>
            </a:endParaRPr>
          </a:p>
        </p:txBody>
      </p:sp>
      <p:sp>
        <p:nvSpPr>
          <p:cNvPr id="45" name="Rectangle 44">
            <a:extLst>
              <a:ext uri="{FF2B5EF4-FFF2-40B4-BE49-F238E27FC236}">
                <a16:creationId xmlns:a16="http://schemas.microsoft.com/office/drawing/2014/main" id="{C2A043D2-49E9-7A5B-5D1C-12E6FADBDF3D}"/>
              </a:ext>
            </a:extLst>
          </p:cNvPr>
          <p:cNvSpPr/>
          <p:nvPr/>
        </p:nvSpPr>
        <p:spPr>
          <a:xfrm>
            <a:off x="4881092" y="6630175"/>
            <a:ext cx="6597628" cy="2268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注</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機械学習における、目的変数に影響を及ぼしている説明変数を探す手法とは違う！</a:t>
            </a:r>
            <a:endParaRPr lang="en-US" sz="1200" dirty="0">
              <a:solidFill>
                <a:schemeClr val="tx1"/>
              </a:solidFill>
              <a:latin typeface="Meiryo UI" panose="020B0604030504040204" pitchFamily="50" charset="-128"/>
              <a:ea typeface="Meiryo UI" panose="020B0604030504040204" pitchFamily="50" charset="-128"/>
            </a:endParaRPr>
          </a:p>
        </p:txBody>
      </p:sp>
      <p:cxnSp>
        <p:nvCxnSpPr>
          <p:cNvPr id="46" name="Straight Connector 45">
            <a:extLst>
              <a:ext uri="{FF2B5EF4-FFF2-40B4-BE49-F238E27FC236}">
                <a16:creationId xmlns:a16="http://schemas.microsoft.com/office/drawing/2014/main" id="{641EE46A-51AF-366C-64FA-F1F43BA066D6}"/>
              </a:ext>
            </a:extLst>
          </p:cNvPr>
          <p:cNvCxnSpPr/>
          <p:nvPr/>
        </p:nvCxnSpPr>
        <p:spPr>
          <a:xfrm>
            <a:off x="6855540" y="2178208"/>
            <a:ext cx="21961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EED4B3BB-B32C-E07A-5765-48373BD89D1E}"/>
              </a:ext>
            </a:extLst>
          </p:cNvPr>
          <p:cNvSpPr/>
          <p:nvPr/>
        </p:nvSpPr>
        <p:spPr>
          <a:xfrm>
            <a:off x="6855540" y="1828801"/>
            <a:ext cx="2196135"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説明</a:t>
            </a:r>
            <a:endParaRPr lang="en-US" dirty="0">
              <a:solidFill>
                <a:schemeClr val="tx1"/>
              </a:solidFill>
              <a:latin typeface="Meiryo UI" panose="020B0604030504040204" pitchFamily="50" charset="-128"/>
              <a:ea typeface="Meiryo UI" panose="020B0604030504040204" pitchFamily="50" charset="-128"/>
            </a:endParaRPr>
          </a:p>
        </p:txBody>
      </p:sp>
      <p:cxnSp>
        <p:nvCxnSpPr>
          <p:cNvPr id="49" name="Straight Arrow Connector 48">
            <a:extLst>
              <a:ext uri="{FF2B5EF4-FFF2-40B4-BE49-F238E27FC236}">
                <a16:creationId xmlns:a16="http://schemas.microsoft.com/office/drawing/2014/main" id="{682F058B-41C6-2848-6C82-EBC3F5E3A67A}"/>
              </a:ext>
            </a:extLst>
          </p:cNvPr>
          <p:cNvCxnSpPr>
            <a:cxnSpLocks/>
            <a:stCxn id="51" idx="4"/>
            <a:endCxn id="52" idx="0"/>
          </p:cNvCxnSpPr>
          <p:nvPr/>
        </p:nvCxnSpPr>
        <p:spPr>
          <a:xfrm>
            <a:off x="11501432" y="2654588"/>
            <a:ext cx="0" cy="357776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151FDAE5-64DD-A1E9-F4AE-4C11BCA297E9}"/>
              </a:ext>
            </a:extLst>
          </p:cNvPr>
          <p:cNvSpPr/>
          <p:nvPr/>
        </p:nvSpPr>
        <p:spPr>
          <a:xfrm>
            <a:off x="11329259" y="2291812"/>
            <a:ext cx="344345" cy="36277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低</a:t>
            </a:r>
            <a:endParaRPr lang="en-US" dirty="0">
              <a:solidFill>
                <a:schemeClr val="tx1"/>
              </a:solidFill>
              <a:latin typeface="Meiryo UI" panose="020B0604030504040204" pitchFamily="50" charset="-128"/>
              <a:ea typeface="Meiryo UI" panose="020B0604030504040204" pitchFamily="50" charset="-128"/>
            </a:endParaRPr>
          </a:p>
        </p:txBody>
      </p:sp>
      <p:sp>
        <p:nvSpPr>
          <p:cNvPr id="52" name="Oval 51">
            <a:extLst>
              <a:ext uri="{FF2B5EF4-FFF2-40B4-BE49-F238E27FC236}">
                <a16:creationId xmlns:a16="http://schemas.microsoft.com/office/drawing/2014/main" id="{9200AD3B-A5A6-E571-52FD-8C0AE40F25DF}"/>
              </a:ext>
            </a:extLst>
          </p:cNvPr>
          <p:cNvSpPr/>
          <p:nvPr/>
        </p:nvSpPr>
        <p:spPr>
          <a:xfrm>
            <a:off x="11329259" y="6232354"/>
            <a:ext cx="344345" cy="36277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高</a:t>
            </a:r>
            <a:endParaRPr lang="en-US" dirty="0">
              <a:solidFill>
                <a:schemeClr val="tx1"/>
              </a:solidFill>
              <a:latin typeface="Meiryo UI" panose="020B0604030504040204" pitchFamily="50" charset="-128"/>
              <a:ea typeface="Meiryo UI" panose="020B0604030504040204" pitchFamily="50" charset="-128"/>
            </a:endParaRPr>
          </a:p>
        </p:txBody>
      </p:sp>
      <p:cxnSp>
        <p:nvCxnSpPr>
          <p:cNvPr id="58" name="Straight Connector 57">
            <a:extLst>
              <a:ext uri="{FF2B5EF4-FFF2-40B4-BE49-F238E27FC236}">
                <a16:creationId xmlns:a16="http://schemas.microsoft.com/office/drawing/2014/main" id="{05FEACE9-DD23-DDBD-F893-3D7187951315}"/>
              </a:ext>
            </a:extLst>
          </p:cNvPr>
          <p:cNvCxnSpPr/>
          <p:nvPr/>
        </p:nvCxnSpPr>
        <p:spPr>
          <a:xfrm>
            <a:off x="9116927" y="2178208"/>
            <a:ext cx="21961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AF11B49F-679C-245B-A951-2F59D950C98D}"/>
              </a:ext>
            </a:extLst>
          </p:cNvPr>
          <p:cNvSpPr/>
          <p:nvPr/>
        </p:nvSpPr>
        <p:spPr>
          <a:xfrm>
            <a:off x="9116927" y="1828801"/>
            <a:ext cx="2196135"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特徴</a:t>
            </a:r>
            <a:endParaRPr lang="en-US" dirty="0">
              <a:solidFill>
                <a:schemeClr val="tx1"/>
              </a:solidFill>
              <a:latin typeface="Meiryo UI" panose="020B0604030504040204" pitchFamily="50" charset="-128"/>
              <a:ea typeface="Meiryo UI" panose="020B0604030504040204" pitchFamily="50" charset="-128"/>
            </a:endParaRPr>
          </a:p>
        </p:txBody>
      </p:sp>
      <p:sp>
        <p:nvSpPr>
          <p:cNvPr id="60" name="Rectangle 59">
            <a:extLst>
              <a:ext uri="{FF2B5EF4-FFF2-40B4-BE49-F238E27FC236}">
                <a16:creationId xmlns:a16="http://schemas.microsoft.com/office/drawing/2014/main" id="{19D38219-D1D2-5C69-0695-ED9BF47D4AC0}"/>
              </a:ext>
            </a:extLst>
          </p:cNvPr>
          <p:cNvSpPr/>
          <p:nvPr/>
        </p:nvSpPr>
        <p:spPr>
          <a:xfrm>
            <a:off x="6855540" y="3170624"/>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時間経過と状態遷移を表現</a:t>
            </a:r>
            <a:endParaRPr lang="en-US" dirty="0">
              <a:solidFill>
                <a:schemeClr val="tx1"/>
              </a:solidFill>
              <a:latin typeface="Meiryo UI" panose="020B0604030504040204" pitchFamily="50" charset="-128"/>
              <a:ea typeface="Meiryo UI" panose="020B0604030504040204" pitchFamily="50" charset="-128"/>
            </a:endParaRPr>
          </a:p>
        </p:txBody>
      </p:sp>
      <p:sp>
        <p:nvSpPr>
          <p:cNvPr id="62" name="Rectangle 61">
            <a:extLst>
              <a:ext uri="{FF2B5EF4-FFF2-40B4-BE49-F238E27FC236}">
                <a16:creationId xmlns:a16="http://schemas.microsoft.com/office/drawing/2014/main" id="{70CE96F2-ABA4-D1D5-6AEE-EA25A15A036B}"/>
              </a:ext>
            </a:extLst>
          </p:cNvPr>
          <p:cNvSpPr/>
          <p:nvPr/>
        </p:nvSpPr>
        <p:spPr>
          <a:xfrm>
            <a:off x="9116927" y="3157306"/>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経時的に確率が追える事象に向く</a:t>
            </a:r>
            <a:endParaRPr lang="en-US" altLang="ja-JP" sz="1600" dirty="0">
              <a:solidFill>
                <a:schemeClr val="tx1"/>
              </a:solidFill>
              <a:latin typeface="Meiryo UI" panose="020B0604030504040204" pitchFamily="50" charset="-128"/>
              <a:ea typeface="Meiryo UI" panose="020B0604030504040204" pitchFamily="50" charset="-128"/>
            </a:endParaRPr>
          </a:p>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集団レベル</a:t>
            </a:r>
            <a:endParaRPr lang="en-US" altLang="ja-JP" sz="1600" dirty="0">
              <a:solidFill>
                <a:schemeClr val="tx1"/>
              </a:solidFill>
              <a:latin typeface="Meiryo UI" panose="020B0604030504040204" pitchFamily="50" charset="-128"/>
              <a:ea typeface="Meiryo UI" panose="020B0604030504040204" pitchFamily="50" charset="-128"/>
            </a:endParaRPr>
          </a:p>
        </p:txBody>
      </p:sp>
      <p:sp>
        <p:nvSpPr>
          <p:cNvPr id="63" name="Rectangle 62">
            <a:extLst>
              <a:ext uri="{FF2B5EF4-FFF2-40B4-BE49-F238E27FC236}">
                <a16:creationId xmlns:a16="http://schemas.microsoft.com/office/drawing/2014/main" id="{7B566519-A180-B523-2059-9AC5CDA898FB}"/>
              </a:ext>
            </a:extLst>
          </p:cNvPr>
          <p:cNvSpPr/>
          <p:nvPr/>
        </p:nvSpPr>
        <p:spPr>
          <a:xfrm>
            <a:off x="6855540" y="4086103"/>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個人別の特性を考慮した結果を予測</a:t>
            </a:r>
            <a:endParaRPr lang="en-US" dirty="0">
              <a:solidFill>
                <a:schemeClr val="tx1"/>
              </a:solidFill>
              <a:latin typeface="Meiryo UI" panose="020B0604030504040204" pitchFamily="50" charset="-128"/>
              <a:ea typeface="Meiryo UI" panose="020B0604030504040204" pitchFamily="50" charset="-128"/>
            </a:endParaRPr>
          </a:p>
        </p:txBody>
      </p:sp>
      <p:sp>
        <p:nvSpPr>
          <p:cNvPr id="64" name="Rectangle 63">
            <a:extLst>
              <a:ext uri="{FF2B5EF4-FFF2-40B4-BE49-F238E27FC236}">
                <a16:creationId xmlns:a16="http://schemas.microsoft.com/office/drawing/2014/main" id="{4B69DF4E-16E4-EB50-C872-BA8FA6D86191}"/>
              </a:ext>
            </a:extLst>
          </p:cNvPr>
          <p:cNvSpPr/>
          <p:nvPr/>
        </p:nvSpPr>
        <p:spPr>
          <a:xfrm>
            <a:off x="9116927" y="4072785"/>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個人レベル</a:t>
            </a:r>
            <a:endParaRPr lang="en-US" altLang="ja-JP" sz="1600" dirty="0">
              <a:solidFill>
                <a:schemeClr val="tx1"/>
              </a:solidFill>
              <a:latin typeface="Meiryo UI" panose="020B0604030504040204" pitchFamily="50" charset="-128"/>
              <a:ea typeface="Meiryo UI" panose="020B0604030504040204" pitchFamily="50" charset="-128"/>
            </a:endParaRPr>
          </a:p>
        </p:txBody>
      </p:sp>
      <p:sp>
        <p:nvSpPr>
          <p:cNvPr id="65" name="Rectangle 64">
            <a:extLst>
              <a:ext uri="{FF2B5EF4-FFF2-40B4-BE49-F238E27FC236}">
                <a16:creationId xmlns:a16="http://schemas.microsoft.com/office/drawing/2014/main" id="{657B5B83-74EF-C294-15F0-51CADB53CED4}"/>
              </a:ext>
            </a:extLst>
          </p:cNvPr>
          <p:cNvSpPr/>
          <p:nvPr/>
        </p:nvSpPr>
        <p:spPr>
          <a:xfrm>
            <a:off x="6855540" y="4981675"/>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イベントごとのタイミングをシミュレーション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66" name="Rectangle 65">
            <a:extLst>
              <a:ext uri="{FF2B5EF4-FFF2-40B4-BE49-F238E27FC236}">
                <a16:creationId xmlns:a16="http://schemas.microsoft.com/office/drawing/2014/main" id="{C4425871-4A13-E618-04D9-99BD3E90E731}"/>
              </a:ext>
            </a:extLst>
          </p:cNvPr>
          <p:cNvSpPr/>
          <p:nvPr/>
        </p:nvSpPr>
        <p:spPr>
          <a:xfrm>
            <a:off x="9116927" y="4968357"/>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一連のプロセスに焦点</a:t>
            </a:r>
            <a:endParaRPr lang="en-US" altLang="ja-JP" sz="1600" dirty="0">
              <a:solidFill>
                <a:schemeClr val="tx1"/>
              </a:solidFill>
              <a:latin typeface="Meiryo UI" panose="020B0604030504040204" pitchFamily="50" charset="-128"/>
              <a:ea typeface="Meiryo UI" panose="020B0604030504040204" pitchFamily="50" charset="-128"/>
            </a:endParaRPr>
          </a:p>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個人レベル</a:t>
            </a:r>
            <a:endParaRPr lang="en-US" altLang="ja-JP" sz="1600" dirty="0">
              <a:solidFill>
                <a:schemeClr val="tx1"/>
              </a:solidFill>
              <a:latin typeface="Meiryo UI" panose="020B0604030504040204" pitchFamily="50" charset="-128"/>
              <a:ea typeface="Meiryo UI" panose="020B0604030504040204" pitchFamily="50" charset="-128"/>
            </a:endParaRPr>
          </a:p>
        </p:txBody>
      </p:sp>
      <p:sp>
        <p:nvSpPr>
          <p:cNvPr id="67" name="Rectangle 66">
            <a:extLst>
              <a:ext uri="{FF2B5EF4-FFF2-40B4-BE49-F238E27FC236}">
                <a16:creationId xmlns:a16="http://schemas.microsoft.com/office/drawing/2014/main" id="{20796F8D-79F3-A258-2C64-BBA37CCDA00E}"/>
              </a:ext>
            </a:extLst>
          </p:cNvPr>
          <p:cNvSpPr/>
          <p:nvPr/>
        </p:nvSpPr>
        <p:spPr>
          <a:xfrm>
            <a:off x="6855540" y="5873552"/>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個人間の相互作用をシミュレーション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68" name="Rectangle 67">
            <a:extLst>
              <a:ext uri="{FF2B5EF4-FFF2-40B4-BE49-F238E27FC236}">
                <a16:creationId xmlns:a16="http://schemas.microsoft.com/office/drawing/2014/main" id="{3DF14669-BE8A-91E5-2C3D-3893573C9042}"/>
              </a:ext>
            </a:extLst>
          </p:cNvPr>
          <p:cNvSpPr/>
          <p:nvPr/>
        </p:nvSpPr>
        <p:spPr>
          <a:xfrm>
            <a:off x="9116927" y="5860234"/>
            <a:ext cx="2196135"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「個人」がルールに応じ行動</a:t>
            </a:r>
            <a:endParaRPr lang="en-US" altLang="ja-JP" sz="1600" dirty="0">
              <a:solidFill>
                <a:schemeClr val="tx1"/>
              </a:solidFill>
              <a:latin typeface="Meiryo UI" panose="020B0604030504040204" pitchFamily="50" charset="-128"/>
              <a:ea typeface="Meiryo UI" panose="020B0604030504040204" pitchFamily="50" charset="-128"/>
            </a:endParaRPr>
          </a:p>
          <a:p>
            <a:pPr marL="91440" indent="-90488">
              <a:buFont typeface="Arial" panose="020B0604020202020204" pitchFamily="34" charset="0"/>
              <a:buChar char="•"/>
            </a:pPr>
            <a:r>
              <a:rPr lang="ja-JP" altLang="en-US" sz="1600" dirty="0">
                <a:solidFill>
                  <a:schemeClr val="tx1"/>
                </a:solidFill>
                <a:latin typeface="Meiryo UI" panose="020B0604030504040204" pitchFamily="50" charset="-128"/>
                <a:ea typeface="Meiryo UI" panose="020B0604030504040204" pitchFamily="50" charset="-128"/>
              </a:rPr>
              <a:t>個人レベル</a:t>
            </a:r>
            <a:endParaRPr lang="en-US" altLang="ja-JP" sz="1600" dirty="0">
              <a:solidFill>
                <a:schemeClr val="tx1"/>
              </a:solidFill>
              <a:latin typeface="Meiryo UI" panose="020B0604030504040204" pitchFamily="50" charset="-128"/>
              <a:ea typeface="Meiryo UI" panose="020B0604030504040204" pitchFamily="50" charset="-128"/>
            </a:endParaRPr>
          </a:p>
        </p:txBody>
      </p:sp>
      <p:cxnSp>
        <p:nvCxnSpPr>
          <p:cNvPr id="70" name="Straight Connector 69">
            <a:extLst>
              <a:ext uri="{FF2B5EF4-FFF2-40B4-BE49-F238E27FC236}">
                <a16:creationId xmlns:a16="http://schemas.microsoft.com/office/drawing/2014/main" id="{C862B0BE-FCB5-0F72-2369-8D9AC1B91309}"/>
              </a:ext>
            </a:extLst>
          </p:cNvPr>
          <p:cNvCxnSpPr/>
          <p:nvPr/>
        </p:nvCxnSpPr>
        <p:spPr>
          <a:xfrm>
            <a:off x="4881092" y="3086646"/>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601ABAB-EB17-E760-98A4-C29BEDC65CEE}"/>
              </a:ext>
            </a:extLst>
          </p:cNvPr>
          <p:cNvCxnSpPr/>
          <p:nvPr/>
        </p:nvCxnSpPr>
        <p:spPr>
          <a:xfrm>
            <a:off x="4881092" y="3987622"/>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D3D23A9-A814-C3DF-3C87-05061A5860A0}"/>
              </a:ext>
            </a:extLst>
          </p:cNvPr>
          <p:cNvCxnSpPr/>
          <p:nvPr/>
        </p:nvCxnSpPr>
        <p:spPr>
          <a:xfrm>
            <a:off x="4881092" y="4888598"/>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9BE6745-F00D-3897-22EC-7F7C3FDFE316}"/>
              </a:ext>
            </a:extLst>
          </p:cNvPr>
          <p:cNvCxnSpPr/>
          <p:nvPr/>
        </p:nvCxnSpPr>
        <p:spPr>
          <a:xfrm>
            <a:off x="4881092" y="5789573"/>
            <a:ext cx="626013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85B549F-206F-1C52-A4D9-14F2B4D6AF47}"/>
              </a:ext>
            </a:extLst>
          </p:cNvPr>
          <p:cNvSpPr/>
          <p:nvPr/>
        </p:nvSpPr>
        <p:spPr>
          <a:xfrm>
            <a:off x="4881092" y="4972575"/>
            <a:ext cx="1909196" cy="733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離散イベント</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シミュレーション</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en-US" sz="1400" dirty="0">
                <a:solidFill>
                  <a:schemeClr val="tx1"/>
                </a:solidFill>
                <a:latin typeface="Meiryo UI" panose="020B0604030504040204" pitchFamily="50" charset="-128"/>
                <a:ea typeface="Meiryo UI" panose="020B0604030504040204" pitchFamily="50" charset="-128"/>
              </a:rPr>
              <a:t>(Discrete Event</a:t>
            </a:r>
          </a:p>
          <a:p>
            <a:pPr algn="ctr"/>
            <a:r>
              <a:rPr lang="en-US" sz="1400" dirty="0">
                <a:solidFill>
                  <a:schemeClr val="tx1"/>
                </a:solidFill>
                <a:latin typeface="Meiryo UI" panose="020B0604030504040204" pitchFamily="50" charset="-128"/>
                <a:ea typeface="Meiryo UI" panose="020B0604030504040204" pitchFamily="50" charset="-128"/>
              </a:rPr>
              <a:t> Simulation)</a:t>
            </a:r>
          </a:p>
        </p:txBody>
      </p:sp>
    </p:spTree>
    <p:extLst>
      <p:ext uri="{BB962C8B-B14F-4D97-AF65-F5344CB8AC3E}">
        <p14:creationId xmlns:p14="http://schemas.microsoft.com/office/powerpoint/2010/main" val="2046792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14CAB-2225-2299-C8DF-7EB843110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7A9BF-57A2-8E6D-D2ED-89D218034CA4}"/>
              </a:ext>
            </a:extLst>
          </p:cNvPr>
          <p:cNvSpPr>
            <a:spLocks noGrp="1"/>
          </p:cNvSpPr>
          <p:nvPr>
            <p:ph type="title"/>
          </p:nvPr>
        </p:nvSpPr>
        <p:spPr/>
        <p:txBody>
          <a:bodyPr/>
          <a:lstStyle/>
          <a:p>
            <a:r>
              <a:rPr lang="ja-JP" altLang="en-US" dirty="0"/>
              <a:t>分析のプロセス</a:t>
            </a:r>
            <a:r>
              <a:rPr lang="en-US" altLang="ja-JP" dirty="0"/>
              <a:t>―</a:t>
            </a:r>
            <a:r>
              <a:rPr lang="ja-JP" altLang="en-US" dirty="0"/>
              <a:t>④シミュレーションモデルの設計</a:t>
            </a:r>
            <a:endParaRPr lang="en-US" dirty="0"/>
          </a:p>
        </p:txBody>
      </p:sp>
      <p:sp>
        <p:nvSpPr>
          <p:cNvPr id="3" name="Table Placeholder 2">
            <a:extLst>
              <a:ext uri="{FF2B5EF4-FFF2-40B4-BE49-F238E27FC236}">
                <a16:creationId xmlns:a16="http://schemas.microsoft.com/office/drawing/2014/main" id="{D66DC0B9-A851-FEB1-AEFD-F7FF312F4A36}"/>
              </a:ext>
            </a:extLst>
          </p:cNvPr>
          <p:cNvSpPr>
            <a:spLocks noGrp="1"/>
          </p:cNvSpPr>
          <p:nvPr>
            <p:ph type="tbl" sz="quarter" idx="10"/>
          </p:nvPr>
        </p:nvSpPr>
        <p:spPr>
          <a:xfrm>
            <a:off x="4815839" y="1938130"/>
            <a:ext cx="6909021" cy="4692045"/>
          </a:xfrm>
        </p:spPr>
        <p:txBody>
          <a:bodyPr/>
          <a:lstStyle/>
          <a:p>
            <a:r>
              <a:rPr lang="ja-JP" altLang="en-US" dirty="0"/>
              <a:t>対象となっている問題の構造化</a:t>
            </a:r>
            <a:endParaRPr lang="en-US" altLang="ja-JP" dirty="0"/>
          </a:p>
          <a:p>
            <a:pPr lvl="1"/>
            <a:r>
              <a:rPr lang="ja-JP" altLang="en-US" dirty="0"/>
              <a:t>意思決定のタイミング</a:t>
            </a:r>
            <a:endParaRPr lang="en-US" altLang="ja-JP" dirty="0"/>
          </a:p>
          <a:p>
            <a:pPr lvl="1"/>
            <a:r>
              <a:rPr lang="ja-JP" altLang="en-US" dirty="0"/>
              <a:t>因果関係</a:t>
            </a:r>
            <a:endParaRPr lang="en-US" altLang="ja-JP" dirty="0"/>
          </a:p>
          <a:p>
            <a:pPr lvl="1"/>
            <a:r>
              <a:rPr lang="ja-JP" altLang="en-US" dirty="0"/>
              <a:t>時間関係</a:t>
            </a:r>
            <a:endParaRPr lang="en-US" altLang="ja-JP" dirty="0"/>
          </a:p>
          <a:p>
            <a:pPr lvl="1"/>
            <a:endParaRPr lang="ja-JP" altLang="en-US" dirty="0"/>
          </a:p>
          <a:p>
            <a:r>
              <a:rPr lang="ja-JP" altLang="en-US" dirty="0"/>
              <a:t>どう設計するかで結果が変わってくる</a:t>
            </a:r>
            <a:endParaRPr lang="en-US" altLang="ja-JP" dirty="0"/>
          </a:p>
          <a:p>
            <a:pPr lvl="1"/>
            <a:r>
              <a:rPr lang="ja-JP" altLang="en-US" dirty="0"/>
              <a:t>同じ現象でも意思決定者によって問題構造は違う。暗黙知の領域</a:t>
            </a:r>
            <a:endParaRPr lang="en-US" altLang="ja-JP" dirty="0"/>
          </a:p>
          <a:p>
            <a:pPr marL="457200" lvl="1" indent="0">
              <a:buNone/>
            </a:pPr>
            <a:r>
              <a:rPr lang="en-US" altLang="ja-JP" dirty="0"/>
              <a:t>	</a:t>
            </a:r>
            <a:r>
              <a:rPr lang="ja-JP" altLang="en-US" dirty="0"/>
              <a:t>→意思決定者とモデル構造の擦合わせ</a:t>
            </a:r>
            <a:endParaRPr lang="en-US" altLang="ja-JP" dirty="0"/>
          </a:p>
        </p:txBody>
      </p:sp>
      <p:sp>
        <p:nvSpPr>
          <p:cNvPr id="4" name="Slide Number Placeholder 3">
            <a:extLst>
              <a:ext uri="{FF2B5EF4-FFF2-40B4-BE49-F238E27FC236}">
                <a16:creationId xmlns:a16="http://schemas.microsoft.com/office/drawing/2014/main" id="{DFA77219-9D60-68AA-1589-4EA696B5C9EB}"/>
              </a:ext>
            </a:extLst>
          </p:cNvPr>
          <p:cNvSpPr>
            <a:spLocks noGrp="1"/>
          </p:cNvSpPr>
          <p:nvPr>
            <p:ph type="sldNum" sz="quarter" idx="4"/>
          </p:nvPr>
        </p:nvSpPr>
        <p:spPr/>
        <p:txBody>
          <a:bodyPr/>
          <a:lstStyle/>
          <a:p>
            <a:fld id="{B5CEABB6-07DC-46E8-9B57-56EC44A396E5}" type="slidenum">
              <a:rPr lang="en-US" smtClean="0"/>
              <a:pPr/>
              <a:t>13</a:t>
            </a:fld>
            <a:endParaRPr lang="en-US" dirty="0"/>
          </a:p>
        </p:txBody>
      </p:sp>
      <p:sp>
        <p:nvSpPr>
          <p:cNvPr id="5" name="Table Placeholder 4">
            <a:extLst>
              <a:ext uri="{FF2B5EF4-FFF2-40B4-BE49-F238E27FC236}">
                <a16:creationId xmlns:a16="http://schemas.microsoft.com/office/drawing/2014/main" id="{E065B1C3-CC79-A51E-C4AC-5F5E450102AC}"/>
              </a:ext>
            </a:extLst>
          </p:cNvPr>
          <p:cNvSpPr>
            <a:spLocks noGrp="1"/>
          </p:cNvSpPr>
          <p:nvPr>
            <p:ph type="tbl" sz="quarter" idx="11"/>
          </p:nvPr>
        </p:nvSpPr>
        <p:spPr/>
        <p:txBody>
          <a:bodyPr/>
          <a:lstStyle/>
          <a:p>
            <a:r>
              <a:rPr lang="ja-JP" altLang="en-US" dirty="0"/>
              <a:t>直面している問題の全体像を構造化する</a:t>
            </a:r>
            <a:endParaRPr lang="en-US" dirty="0"/>
          </a:p>
        </p:txBody>
      </p:sp>
      <p:grpSp>
        <p:nvGrpSpPr>
          <p:cNvPr id="6" name="Group 5">
            <a:extLst>
              <a:ext uri="{FF2B5EF4-FFF2-40B4-BE49-F238E27FC236}">
                <a16:creationId xmlns:a16="http://schemas.microsoft.com/office/drawing/2014/main" id="{424FC23E-614B-7A22-7BDE-BC18309CB067}"/>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B4519441-8619-EDAF-835D-8DC79FB6E340}"/>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175D6250-EE5A-0FE4-2501-FBE02DA25E7E}"/>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62E84A50-22EC-9766-D2E9-492B867E49B6}"/>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0F6375FF-C723-F4D6-C6C6-D4847A1E4969}"/>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E6B08650-FD66-BF48-932C-82ADCB2ACD96}"/>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a:t>
            </a:r>
            <a:r>
              <a:rPr lang="ja-JP" altLang="en-US" b="1" dirty="0">
                <a:solidFill>
                  <a:schemeClr val="tx1"/>
                </a:solidFill>
                <a:latin typeface="Meiryo UI" panose="020B0604030504040204" pitchFamily="50" charset="-128"/>
                <a:ea typeface="Meiryo UI" panose="020B0604030504040204" pitchFamily="50" charset="-128"/>
              </a:rPr>
              <a:t>シミュレーションモデルの設計</a:t>
            </a:r>
            <a:endParaRPr lang="en-US" b="1"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FF026104-3D1A-3D91-B60B-34728E62DF3F}"/>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DF628D12-AD38-6B1F-F91F-5F1051728FC5}"/>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DF43D2D2-620B-10B6-6A79-AA769B4BFF07}"/>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248D69EB-E566-38ED-02B4-787CA1984B7C}"/>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65DABC90-C0DE-0B1F-7B45-A1ED24CECA64}"/>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7749F2B8-C52C-DAD9-EE7E-98AF52C2D1D3}"/>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F5CEA28A-9419-4EDD-05C5-3514152164EC}"/>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D7B5919D-8BD8-E84D-6CB4-C68B842026B1}"/>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E64A3193-4B23-9D23-C275-558CED2CCBEA}"/>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19097FD3-D377-0BC8-60A6-19D351D2EA9B}"/>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7C807D7F-6C0A-FA47-4164-87DE7DD21EA1}"/>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7E9975D8-C756-C608-250B-70256E0245C4}"/>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B4106ACC-453E-6D00-C17E-B6FAB0D0A084}"/>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5008CD11-4856-5554-F224-22381EE602CE}"/>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18F01726-7645-C05A-EC26-3E73D28630A1}"/>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A11DAEA5-0F7F-FD08-9533-BD2A06BFF21F}"/>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BBBCE0EF-410B-ACFA-F3C5-4B6B2675E215}"/>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４</a:t>
            </a:r>
            <a:endParaRPr lang="en-US" b="1"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3396E8E9-5843-55B1-DC08-C3CCACD29388}"/>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2CDEE181-F3EB-861C-FB7F-2FFC48C745C1}"/>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797846A2-4EC0-1B60-9C05-261057444FFE}"/>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D05361AA-4639-0DB2-6978-D630C9E23E05}"/>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54C38536-998B-5DF8-FA97-341BCC41760C}"/>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4B6ED7A8-0152-73EB-E137-57947849CF83}"/>
              </a:ext>
            </a:extLst>
          </p:cNvPr>
          <p:cNvCxnSpPr>
            <a:cxnSpLocks/>
            <a:stCxn id="11" idx="3"/>
            <a:endCxn id="40" idx="1"/>
          </p:cNvCxnSpPr>
          <p:nvPr/>
        </p:nvCxnSpPr>
        <p:spPr>
          <a:xfrm>
            <a:off x="3989294" y="3980902"/>
            <a:ext cx="705628" cy="30325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651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24917-6B0C-71D9-98FD-25149958BA8D}"/>
            </a:ext>
          </a:extLst>
        </p:cNvPr>
        <p:cNvGrpSpPr/>
        <p:nvPr/>
      </p:nvGrpSpPr>
      <p:grpSpPr>
        <a:xfrm>
          <a:off x="0" y="0"/>
          <a:ext cx="0" cy="0"/>
          <a:chOff x="0" y="0"/>
          <a:chExt cx="0" cy="0"/>
        </a:xfrm>
      </p:grpSpPr>
      <p:sp>
        <p:nvSpPr>
          <p:cNvPr id="133" name="Rectangle 132">
            <a:extLst>
              <a:ext uri="{FF2B5EF4-FFF2-40B4-BE49-F238E27FC236}">
                <a16:creationId xmlns:a16="http://schemas.microsoft.com/office/drawing/2014/main" id="{6393F1D8-F865-FCCB-496A-EA4AE62DA93B}"/>
              </a:ext>
            </a:extLst>
          </p:cNvPr>
          <p:cNvSpPr/>
          <p:nvPr/>
        </p:nvSpPr>
        <p:spPr>
          <a:xfrm>
            <a:off x="6852919" y="3049322"/>
            <a:ext cx="1706273"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真陽性→治療</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DCEB5CB2-FC6E-A6CA-ECC3-1C94FDA7E063}"/>
              </a:ext>
            </a:extLst>
          </p:cNvPr>
          <p:cNvSpPr>
            <a:spLocks noGrp="1"/>
          </p:cNvSpPr>
          <p:nvPr>
            <p:ph type="title"/>
          </p:nvPr>
        </p:nvSpPr>
        <p:spPr/>
        <p:txBody>
          <a:bodyPr/>
          <a:lstStyle/>
          <a:p>
            <a:r>
              <a:rPr lang="ja-JP" altLang="en-US" dirty="0"/>
              <a:t>分析のプロセス</a:t>
            </a:r>
            <a:r>
              <a:rPr lang="en-US" altLang="ja-JP" dirty="0"/>
              <a:t>―</a:t>
            </a:r>
            <a:r>
              <a:rPr lang="ja-JP" altLang="en-US" dirty="0"/>
              <a:t>③シミュレーションモデルの選択</a:t>
            </a:r>
            <a:r>
              <a:rPr lang="en-US" altLang="ja-JP" dirty="0"/>
              <a:t>(</a:t>
            </a:r>
            <a:r>
              <a:rPr lang="ja-JP" altLang="en-US" dirty="0"/>
              <a:t>例</a:t>
            </a:r>
            <a:r>
              <a:rPr lang="en-US" altLang="ja-JP" dirty="0"/>
              <a:t>)</a:t>
            </a:r>
            <a:endParaRPr lang="en-US" dirty="0"/>
          </a:p>
        </p:txBody>
      </p:sp>
      <p:sp>
        <p:nvSpPr>
          <p:cNvPr id="4" name="Slide Number Placeholder 3">
            <a:extLst>
              <a:ext uri="{FF2B5EF4-FFF2-40B4-BE49-F238E27FC236}">
                <a16:creationId xmlns:a16="http://schemas.microsoft.com/office/drawing/2014/main" id="{1F3ECCD3-AF72-4724-08A0-AA1B35CE7032}"/>
              </a:ext>
            </a:extLst>
          </p:cNvPr>
          <p:cNvSpPr>
            <a:spLocks noGrp="1"/>
          </p:cNvSpPr>
          <p:nvPr>
            <p:ph type="sldNum" sz="quarter" idx="4"/>
          </p:nvPr>
        </p:nvSpPr>
        <p:spPr/>
        <p:txBody>
          <a:bodyPr/>
          <a:lstStyle/>
          <a:p>
            <a:fld id="{B5CEABB6-07DC-46E8-9B57-56EC44A396E5}" type="slidenum">
              <a:rPr lang="en-US" smtClean="0"/>
              <a:pPr/>
              <a:t>14</a:t>
            </a:fld>
            <a:endParaRPr lang="en-US" dirty="0"/>
          </a:p>
        </p:txBody>
      </p:sp>
      <p:sp>
        <p:nvSpPr>
          <p:cNvPr id="5" name="Table Placeholder 4">
            <a:extLst>
              <a:ext uri="{FF2B5EF4-FFF2-40B4-BE49-F238E27FC236}">
                <a16:creationId xmlns:a16="http://schemas.microsoft.com/office/drawing/2014/main" id="{4C0F23C9-1EBA-9DDF-1E37-DDE30C591A11}"/>
              </a:ext>
            </a:extLst>
          </p:cNvPr>
          <p:cNvSpPr>
            <a:spLocks noGrp="1"/>
          </p:cNvSpPr>
          <p:nvPr>
            <p:ph type="tbl" sz="quarter" idx="11"/>
          </p:nvPr>
        </p:nvSpPr>
        <p:spPr/>
        <p:txBody>
          <a:bodyPr/>
          <a:lstStyle/>
          <a:p>
            <a:r>
              <a:rPr lang="ja-JP" altLang="en-US" dirty="0"/>
              <a:t>決定木分析では意思決定を■、確率事象を●、結果を▲で表す</a:t>
            </a:r>
            <a:endParaRPr lang="en-US" dirty="0"/>
          </a:p>
        </p:txBody>
      </p:sp>
      <p:grpSp>
        <p:nvGrpSpPr>
          <p:cNvPr id="6" name="Group 5">
            <a:extLst>
              <a:ext uri="{FF2B5EF4-FFF2-40B4-BE49-F238E27FC236}">
                <a16:creationId xmlns:a16="http://schemas.microsoft.com/office/drawing/2014/main" id="{BE236517-149E-3425-7C6C-35918BA2015F}"/>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3C5E9B10-226A-3A90-6C21-E3EBE6912949}"/>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EC3D0D88-5775-C6C4-EA08-5521DC430DD6}"/>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FC53B359-15CB-4729-7FE8-5DFA5FC110FF}"/>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50087FBE-AF04-E56C-E30B-A26A51A8CEDF}"/>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302A0361-CCCF-F5A3-474A-FFCD142D1221}"/>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8D11C9F4-E34C-F150-9603-743561D4E06B}"/>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687F713A-9409-0520-9B1D-8794A504A01C}"/>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　　シミュレーションモデルの選択</a:t>
            </a:r>
            <a:endParaRPr lang="en-US" b="1"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C116A020-E096-45E6-14EF-B42AE6F5F03C}"/>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C758EACB-7D97-8503-A81A-DD58C45901BD}"/>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DD3E75B1-9EF4-6FC4-F1A5-0C187D7334DF}"/>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9C52ACF9-2E0B-508A-D21D-41D755AE93CB}"/>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FCB543A4-F6F5-9500-0613-1356517FDCC7}"/>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B5B34044-3EBE-A97F-B7F5-6D5E5450238E}"/>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96BC34D7-961D-CC49-033B-1F3692499270}"/>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B384C5D9-F91C-80BA-4A58-5C3DF43BBDBB}"/>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4716F91D-8614-4793-7B8D-3D2A460A0A67}"/>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729EC8CE-D6FB-5548-E963-38CBD06B17C9}"/>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069BEEB3-673D-D462-96BE-EC35BBEBD842}"/>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B1CF0629-2613-0030-9F8D-1BB3A4CFF372}"/>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16894209-7510-E20C-638D-EF24EB91D70D}"/>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9EA9F1FE-9F83-1628-5AE8-BB38FDCBE403}"/>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３</a:t>
            </a:r>
            <a:endParaRPr lang="en-US" b="1"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D30C8BE1-5BB8-CF75-C392-5D6670A87876}"/>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AAFBEDE6-91CB-A60D-9790-27BAE1A8B03A}"/>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3E0E822A-4CD2-B865-006D-60859995F0ED}"/>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5B14898C-C6F6-33BE-1B29-3BF634E36309}"/>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23664DF8-F53F-92B0-7BC3-3227243D05BB}"/>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66889E37-D098-5014-BA0C-DD2FDD6017F6}"/>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7BDB1BC3-3FB0-D9F2-6BB5-C657BF264575}"/>
              </a:ext>
            </a:extLst>
          </p:cNvPr>
          <p:cNvCxnSpPr>
            <a:cxnSpLocks/>
            <a:stCxn id="13" idx="3"/>
            <a:endCxn id="40" idx="1"/>
          </p:cNvCxnSpPr>
          <p:nvPr/>
        </p:nvCxnSpPr>
        <p:spPr>
          <a:xfrm>
            <a:off x="3989294" y="3374392"/>
            <a:ext cx="705628" cy="90976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E5D76A66-B615-5583-5C17-6580934580E7}"/>
              </a:ext>
            </a:extLst>
          </p:cNvPr>
          <p:cNvSpPr>
            <a:spLocks noGrp="1"/>
          </p:cNvSpPr>
          <p:nvPr>
            <p:ph type="tbl" sz="quarter" idx="10"/>
          </p:nvPr>
        </p:nvSpPr>
        <p:spPr>
          <a:xfrm>
            <a:off x="4907279" y="1938130"/>
            <a:ext cx="6817581" cy="4692045"/>
          </a:xfrm>
        </p:spPr>
        <p:txBody>
          <a:bodyPr/>
          <a:lstStyle/>
          <a:p>
            <a:pPr marL="0" indent="0">
              <a:buNone/>
            </a:pPr>
            <a:r>
              <a:rPr lang="ja-JP" altLang="en-US" sz="2000" dirty="0"/>
              <a:t>決定木分析の例：重症マラリアの患者に対する診断・治療</a:t>
            </a:r>
            <a:endParaRPr lang="en-US" altLang="ja-JP" sz="2000" dirty="0"/>
          </a:p>
        </p:txBody>
      </p:sp>
      <p:sp>
        <p:nvSpPr>
          <p:cNvPr id="42" name="Rectangle 41">
            <a:extLst>
              <a:ext uri="{FF2B5EF4-FFF2-40B4-BE49-F238E27FC236}">
                <a16:creationId xmlns:a16="http://schemas.microsoft.com/office/drawing/2014/main" id="{8A94C792-62D5-C81D-7B47-B0F8A11A3C81}"/>
              </a:ext>
            </a:extLst>
          </p:cNvPr>
          <p:cNvSpPr/>
          <p:nvPr/>
        </p:nvSpPr>
        <p:spPr>
          <a:xfrm>
            <a:off x="5466080" y="4465701"/>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53" name="Connector: Elbow 52">
            <a:extLst>
              <a:ext uri="{FF2B5EF4-FFF2-40B4-BE49-F238E27FC236}">
                <a16:creationId xmlns:a16="http://schemas.microsoft.com/office/drawing/2014/main" id="{0AA4B341-F799-48BC-2BDF-C9CB04D2794B}"/>
              </a:ext>
            </a:extLst>
          </p:cNvPr>
          <p:cNvCxnSpPr>
            <a:cxnSpLocks/>
            <a:stCxn id="42" idx="0"/>
            <a:endCxn id="56" idx="2"/>
          </p:cNvCxnSpPr>
          <p:nvPr/>
        </p:nvCxnSpPr>
        <p:spPr>
          <a:xfrm rot="5400000" flipH="1" flipV="1">
            <a:off x="5870245" y="3620186"/>
            <a:ext cx="563270" cy="112776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4B79B85B-356E-DD33-6A1B-08C87DDAD232}"/>
              </a:ext>
            </a:extLst>
          </p:cNvPr>
          <p:cNvCxnSpPr>
            <a:cxnSpLocks/>
            <a:stCxn id="42" idx="2"/>
            <a:endCxn id="116" idx="0"/>
          </p:cNvCxnSpPr>
          <p:nvPr/>
        </p:nvCxnSpPr>
        <p:spPr>
          <a:xfrm rot="16200000" flipH="1">
            <a:off x="7330560" y="2983855"/>
            <a:ext cx="1549609" cy="5034728"/>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F47B2ABC-588B-42B2-656E-92661A9D762A}"/>
              </a:ext>
            </a:extLst>
          </p:cNvPr>
          <p:cNvSpPr/>
          <p:nvPr/>
        </p:nvSpPr>
        <p:spPr>
          <a:xfrm>
            <a:off x="6715760" y="3765271"/>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61" name="Connector: Elbow 60">
            <a:extLst>
              <a:ext uri="{FF2B5EF4-FFF2-40B4-BE49-F238E27FC236}">
                <a16:creationId xmlns:a16="http://schemas.microsoft.com/office/drawing/2014/main" id="{CB378FAC-CDEC-A12B-34D3-BF8DD5C71486}"/>
              </a:ext>
            </a:extLst>
          </p:cNvPr>
          <p:cNvCxnSpPr>
            <a:cxnSpLocks/>
            <a:stCxn id="56" idx="0"/>
            <a:endCxn id="79" idx="2"/>
          </p:cNvCxnSpPr>
          <p:nvPr/>
        </p:nvCxnSpPr>
        <p:spPr>
          <a:xfrm rot="5400000" flipH="1" flipV="1">
            <a:off x="7731899" y="2515732"/>
            <a:ext cx="370560" cy="212851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2095A253-83A1-3674-B8CE-8DEBA5A01B65}"/>
              </a:ext>
            </a:extLst>
          </p:cNvPr>
          <p:cNvCxnSpPr>
            <a:cxnSpLocks/>
            <a:stCxn id="56" idx="4"/>
            <a:endCxn id="98" idx="1"/>
          </p:cNvCxnSpPr>
          <p:nvPr/>
        </p:nvCxnSpPr>
        <p:spPr>
          <a:xfrm rot="16200000" flipH="1">
            <a:off x="6814531" y="4077979"/>
            <a:ext cx="1102937" cy="102615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ECD16420-ECD2-D909-563E-C8AF958AE36C}"/>
              </a:ext>
            </a:extLst>
          </p:cNvPr>
          <p:cNvSpPr/>
          <p:nvPr/>
        </p:nvSpPr>
        <p:spPr>
          <a:xfrm>
            <a:off x="8981439" y="3257551"/>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82" name="Connector: Elbow 81">
            <a:extLst>
              <a:ext uri="{FF2B5EF4-FFF2-40B4-BE49-F238E27FC236}">
                <a16:creationId xmlns:a16="http://schemas.microsoft.com/office/drawing/2014/main" id="{F4F12828-B18F-271A-FBF0-58B4CC29BEA4}"/>
              </a:ext>
            </a:extLst>
          </p:cNvPr>
          <p:cNvCxnSpPr>
            <a:cxnSpLocks/>
            <a:stCxn id="79" idx="0"/>
            <a:endCxn id="87" idx="0"/>
          </p:cNvCxnSpPr>
          <p:nvPr/>
        </p:nvCxnSpPr>
        <p:spPr>
          <a:xfrm rot="5400000" flipH="1" flipV="1">
            <a:off x="9791745" y="2412383"/>
            <a:ext cx="172022" cy="151831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87" name="Isosceles Triangle 86">
            <a:extLst>
              <a:ext uri="{FF2B5EF4-FFF2-40B4-BE49-F238E27FC236}">
                <a16:creationId xmlns:a16="http://schemas.microsoft.com/office/drawing/2014/main" id="{31B10570-1032-D4B6-5D36-5C4B6EF4B8D0}"/>
              </a:ext>
            </a:extLst>
          </p:cNvPr>
          <p:cNvSpPr/>
          <p:nvPr/>
        </p:nvSpPr>
        <p:spPr>
          <a:xfrm rot="16200000">
            <a:off x="10636914" y="2948369"/>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91" name="Isosceles Triangle 90">
            <a:extLst>
              <a:ext uri="{FF2B5EF4-FFF2-40B4-BE49-F238E27FC236}">
                <a16:creationId xmlns:a16="http://schemas.microsoft.com/office/drawing/2014/main" id="{C9D114FE-8584-FCEF-6F64-AD863FFA60F3}"/>
              </a:ext>
            </a:extLst>
          </p:cNvPr>
          <p:cNvSpPr/>
          <p:nvPr/>
        </p:nvSpPr>
        <p:spPr>
          <a:xfrm rot="16200000">
            <a:off x="10636915" y="357105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92" name="Connector: Elbow 91">
            <a:extLst>
              <a:ext uri="{FF2B5EF4-FFF2-40B4-BE49-F238E27FC236}">
                <a16:creationId xmlns:a16="http://schemas.microsoft.com/office/drawing/2014/main" id="{9B521883-C5AE-C4DB-436C-811D4B0DD922}"/>
              </a:ext>
            </a:extLst>
          </p:cNvPr>
          <p:cNvCxnSpPr>
            <a:cxnSpLocks/>
            <a:stCxn id="79" idx="4"/>
            <a:endCxn id="91" idx="0"/>
          </p:cNvCxnSpPr>
          <p:nvPr/>
        </p:nvCxnSpPr>
        <p:spPr>
          <a:xfrm rot="16200000" flipH="1">
            <a:off x="9789585" y="2860885"/>
            <a:ext cx="176345" cy="151831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230F63FD-AC50-64B3-521E-9524B241CC52}"/>
              </a:ext>
            </a:extLst>
          </p:cNvPr>
          <p:cNvSpPr/>
          <p:nvPr/>
        </p:nvSpPr>
        <p:spPr>
          <a:xfrm>
            <a:off x="7879079" y="5012171"/>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1" name="Connector: Elbow 100">
            <a:extLst>
              <a:ext uri="{FF2B5EF4-FFF2-40B4-BE49-F238E27FC236}">
                <a16:creationId xmlns:a16="http://schemas.microsoft.com/office/drawing/2014/main" id="{395EE212-27FB-5164-73FE-F55D03A91B53}"/>
              </a:ext>
            </a:extLst>
          </p:cNvPr>
          <p:cNvCxnSpPr>
            <a:cxnSpLocks/>
            <a:stCxn id="98" idx="0"/>
            <a:endCxn id="102" idx="2"/>
          </p:cNvCxnSpPr>
          <p:nvPr/>
        </p:nvCxnSpPr>
        <p:spPr>
          <a:xfrm rot="5400000" flipH="1" flipV="1">
            <a:off x="8369897" y="4400629"/>
            <a:ext cx="242644" cy="98044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163B6BCC-918C-0CD8-0A1C-D823CE5E37D6}"/>
              </a:ext>
            </a:extLst>
          </p:cNvPr>
          <p:cNvSpPr/>
          <p:nvPr/>
        </p:nvSpPr>
        <p:spPr>
          <a:xfrm>
            <a:off x="8981440" y="4632367"/>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3" name="Connector: Elbow 102">
            <a:extLst>
              <a:ext uri="{FF2B5EF4-FFF2-40B4-BE49-F238E27FC236}">
                <a16:creationId xmlns:a16="http://schemas.microsoft.com/office/drawing/2014/main" id="{4ABE4048-FEFC-4519-E3CF-BED161C808DA}"/>
              </a:ext>
            </a:extLst>
          </p:cNvPr>
          <p:cNvCxnSpPr>
            <a:cxnSpLocks/>
            <a:stCxn id="102" idx="0"/>
            <a:endCxn id="104" idx="0"/>
          </p:cNvCxnSpPr>
          <p:nvPr/>
        </p:nvCxnSpPr>
        <p:spPr>
          <a:xfrm rot="5400000" flipH="1" flipV="1">
            <a:off x="9801058" y="3796511"/>
            <a:ext cx="153399" cy="1518314"/>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4" name="Isosceles Triangle 103">
            <a:extLst>
              <a:ext uri="{FF2B5EF4-FFF2-40B4-BE49-F238E27FC236}">
                <a16:creationId xmlns:a16="http://schemas.microsoft.com/office/drawing/2014/main" id="{73F5CD00-3986-FF24-4CF1-34B49E04BF94}"/>
              </a:ext>
            </a:extLst>
          </p:cNvPr>
          <p:cNvSpPr/>
          <p:nvPr/>
        </p:nvSpPr>
        <p:spPr>
          <a:xfrm rot="16200000">
            <a:off x="10636914" y="434180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05" name="Isosceles Triangle 104">
            <a:extLst>
              <a:ext uri="{FF2B5EF4-FFF2-40B4-BE49-F238E27FC236}">
                <a16:creationId xmlns:a16="http://schemas.microsoft.com/office/drawing/2014/main" id="{CC4D492F-9508-7D20-EC97-1D688D7321F1}"/>
              </a:ext>
            </a:extLst>
          </p:cNvPr>
          <p:cNvSpPr/>
          <p:nvPr/>
        </p:nvSpPr>
        <p:spPr>
          <a:xfrm rot="16200000">
            <a:off x="10636915" y="4964495"/>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6" name="Connector: Elbow 105">
            <a:extLst>
              <a:ext uri="{FF2B5EF4-FFF2-40B4-BE49-F238E27FC236}">
                <a16:creationId xmlns:a16="http://schemas.microsoft.com/office/drawing/2014/main" id="{39205C9F-940D-BBD7-A30C-B3271F031377}"/>
              </a:ext>
            </a:extLst>
          </p:cNvPr>
          <p:cNvCxnSpPr>
            <a:cxnSpLocks/>
            <a:stCxn id="102" idx="4"/>
            <a:endCxn id="105" idx="0"/>
          </p:cNvCxnSpPr>
          <p:nvPr/>
        </p:nvCxnSpPr>
        <p:spPr>
          <a:xfrm rot="16200000" flipH="1">
            <a:off x="9780273" y="4245013"/>
            <a:ext cx="194968" cy="151831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08" name="Connector: Elbow 107">
            <a:extLst>
              <a:ext uri="{FF2B5EF4-FFF2-40B4-BE49-F238E27FC236}">
                <a16:creationId xmlns:a16="http://schemas.microsoft.com/office/drawing/2014/main" id="{B23554AF-D46C-EB3C-DFC6-306EDDB9716B}"/>
              </a:ext>
            </a:extLst>
          </p:cNvPr>
          <p:cNvCxnSpPr>
            <a:cxnSpLocks/>
            <a:stCxn id="98" idx="2"/>
            <a:endCxn id="112" idx="0"/>
          </p:cNvCxnSpPr>
          <p:nvPr/>
        </p:nvCxnSpPr>
        <p:spPr>
          <a:xfrm rot="16200000" flipH="1">
            <a:off x="9094255" y="4179629"/>
            <a:ext cx="435217" cy="2621728"/>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12" name="Isosceles Triangle 111">
            <a:extLst>
              <a:ext uri="{FF2B5EF4-FFF2-40B4-BE49-F238E27FC236}">
                <a16:creationId xmlns:a16="http://schemas.microsoft.com/office/drawing/2014/main" id="{8CE90594-5676-1854-695A-CC5A2116B05B}"/>
              </a:ext>
            </a:extLst>
          </p:cNvPr>
          <p:cNvSpPr/>
          <p:nvPr/>
        </p:nvSpPr>
        <p:spPr>
          <a:xfrm rot="16200000">
            <a:off x="10622727" y="5570942"/>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16" name="Isosceles Triangle 115">
            <a:extLst>
              <a:ext uri="{FF2B5EF4-FFF2-40B4-BE49-F238E27FC236}">
                <a16:creationId xmlns:a16="http://schemas.microsoft.com/office/drawing/2014/main" id="{776D89FD-AF73-2FDF-6928-3192E0841241}"/>
              </a:ext>
            </a:extLst>
          </p:cNvPr>
          <p:cNvSpPr/>
          <p:nvPr/>
        </p:nvSpPr>
        <p:spPr>
          <a:xfrm rot="16200000">
            <a:off x="10622728" y="6138864"/>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19" name="Straight Connector 118">
            <a:extLst>
              <a:ext uri="{FF2B5EF4-FFF2-40B4-BE49-F238E27FC236}">
                <a16:creationId xmlns:a16="http://schemas.microsoft.com/office/drawing/2014/main" id="{39DBD71B-D5AE-D1A5-8844-33A0017CC9E3}"/>
              </a:ext>
            </a:extLst>
          </p:cNvPr>
          <p:cNvCxnSpPr>
            <a:cxnSpLocks/>
            <a:stCxn id="42" idx="1"/>
          </p:cNvCxnSpPr>
          <p:nvPr/>
        </p:nvCxnSpPr>
        <p:spPr>
          <a:xfrm flipH="1" flipV="1">
            <a:off x="4907279" y="4588953"/>
            <a:ext cx="558801" cy="71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1595B9DA-0D65-2345-77EC-FFC51E59B30E}"/>
              </a:ext>
            </a:extLst>
          </p:cNvPr>
          <p:cNvSpPr/>
          <p:nvPr/>
        </p:nvSpPr>
        <p:spPr>
          <a:xfrm>
            <a:off x="5629101" y="3543465"/>
            <a:ext cx="1025236"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検査する</a:t>
            </a:r>
            <a:endParaRPr lang="en-US" dirty="0">
              <a:solidFill>
                <a:schemeClr val="tx1"/>
              </a:solidFill>
              <a:latin typeface="Meiryo UI" panose="020B0604030504040204" pitchFamily="50" charset="-128"/>
              <a:ea typeface="Meiryo UI" panose="020B0604030504040204" pitchFamily="50" charset="-128"/>
            </a:endParaRPr>
          </a:p>
        </p:txBody>
      </p:sp>
      <p:sp>
        <p:nvSpPr>
          <p:cNvPr id="121" name="Rectangle 120">
            <a:extLst>
              <a:ext uri="{FF2B5EF4-FFF2-40B4-BE49-F238E27FC236}">
                <a16:creationId xmlns:a16="http://schemas.microsoft.com/office/drawing/2014/main" id="{7AC6F216-EA8F-437C-DA58-F2F5A29E7FBD}"/>
              </a:ext>
            </a:extLst>
          </p:cNvPr>
          <p:cNvSpPr/>
          <p:nvPr/>
        </p:nvSpPr>
        <p:spPr>
          <a:xfrm>
            <a:off x="5655399" y="5928060"/>
            <a:ext cx="2659201" cy="2697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何もしないか無関係の処置</a:t>
            </a:r>
            <a:endParaRPr lang="en-US" dirty="0">
              <a:solidFill>
                <a:schemeClr val="tx1"/>
              </a:solidFill>
              <a:latin typeface="Meiryo UI" panose="020B0604030504040204" pitchFamily="50" charset="-128"/>
              <a:ea typeface="Meiryo UI" panose="020B0604030504040204" pitchFamily="50" charset="-128"/>
            </a:endParaRPr>
          </a:p>
        </p:txBody>
      </p:sp>
      <p:sp>
        <p:nvSpPr>
          <p:cNvPr id="122" name="Rectangle 121">
            <a:extLst>
              <a:ext uri="{FF2B5EF4-FFF2-40B4-BE49-F238E27FC236}">
                <a16:creationId xmlns:a16="http://schemas.microsoft.com/office/drawing/2014/main" id="{3FA4C0DD-C99B-6A57-DDFA-5FBD95A44446}"/>
              </a:ext>
            </a:extLst>
          </p:cNvPr>
          <p:cNvSpPr/>
          <p:nvPr/>
        </p:nvSpPr>
        <p:spPr>
          <a:xfrm>
            <a:off x="4861809" y="4114361"/>
            <a:ext cx="70025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患者来院</a:t>
            </a:r>
            <a:endParaRPr lang="en-US" dirty="0">
              <a:solidFill>
                <a:schemeClr val="tx1"/>
              </a:solidFill>
              <a:latin typeface="Meiryo UI" panose="020B0604030504040204" pitchFamily="50" charset="-128"/>
              <a:ea typeface="Meiryo UI" panose="020B0604030504040204" pitchFamily="50" charset="-128"/>
            </a:endParaRPr>
          </a:p>
        </p:txBody>
      </p:sp>
      <p:sp>
        <p:nvSpPr>
          <p:cNvPr id="144" name="Rectangle 143">
            <a:extLst>
              <a:ext uri="{FF2B5EF4-FFF2-40B4-BE49-F238E27FC236}">
                <a16:creationId xmlns:a16="http://schemas.microsoft.com/office/drawing/2014/main" id="{AC73C7B3-7D77-E80C-DEAB-8B61306C355A}"/>
              </a:ext>
            </a:extLst>
          </p:cNvPr>
          <p:cNvSpPr/>
          <p:nvPr/>
        </p:nvSpPr>
        <p:spPr>
          <a:xfrm>
            <a:off x="9309214" y="2752404"/>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治療成功</a:t>
            </a:r>
            <a:endParaRPr lang="en-US" dirty="0">
              <a:solidFill>
                <a:schemeClr val="tx1"/>
              </a:solidFill>
              <a:latin typeface="Meiryo UI" panose="020B0604030504040204" pitchFamily="50" charset="-128"/>
              <a:ea typeface="Meiryo UI" panose="020B0604030504040204" pitchFamily="50" charset="-128"/>
            </a:endParaRPr>
          </a:p>
        </p:txBody>
      </p:sp>
      <p:sp>
        <p:nvSpPr>
          <p:cNvPr id="145" name="Rectangle 144">
            <a:extLst>
              <a:ext uri="{FF2B5EF4-FFF2-40B4-BE49-F238E27FC236}">
                <a16:creationId xmlns:a16="http://schemas.microsoft.com/office/drawing/2014/main" id="{D7803E0E-22D5-441D-345A-7634ED985642}"/>
              </a:ext>
            </a:extLst>
          </p:cNvPr>
          <p:cNvSpPr/>
          <p:nvPr/>
        </p:nvSpPr>
        <p:spPr>
          <a:xfrm>
            <a:off x="9309214" y="3392921"/>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治療失敗</a:t>
            </a:r>
            <a:endParaRPr lang="en-US" dirty="0">
              <a:solidFill>
                <a:schemeClr val="tx1"/>
              </a:solidFill>
              <a:latin typeface="Meiryo UI" panose="020B0604030504040204" pitchFamily="50" charset="-128"/>
              <a:ea typeface="Meiryo UI" panose="020B0604030504040204" pitchFamily="50" charset="-128"/>
            </a:endParaRPr>
          </a:p>
        </p:txBody>
      </p:sp>
      <p:sp>
        <p:nvSpPr>
          <p:cNvPr id="146" name="Rectangle 145">
            <a:extLst>
              <a:ext uri="{FF2B5EF4-FFF2-40B4-BE49-F238E27FC236}">
                <a16:creationId xmlns:a16="http://schemas.microsoft.com/office/drawing/2014/main" id="{617775F0-F3DC-617B-FBE9-22040A7B6DA0}"/>
              </a:ext>
            </a:extLst>
          </p:cNvPr>
          <p:cNvSpPr/>
          <p:nvPr/>
        </p:nvSpPr>
        <p:spPr>
          <a:xfrm>
            <a:off x="10897048" y="2933129"/>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回復</a:t>
            </a:r>
            <a:endParaRPr lang="en-US" dirty="0">
              <a:solidFill>
                <a:schemeClr val="tx1"/>
              </a:solidFill>
              <a:latin typeface="Meiryo UI" panose="020B0604030504040204" pitchFamily="50" charset="-128"/>
              <a:ea typeface="Meiryo UI" panose="020B0604030504040204" pitchFamily="50" charset="-128"/>
            </a:endParaRPr>
          </a:p>
        </p:txBody>
      </p:sp>
      <p:sp>
        <p:nvSpPr>
          <p:cNvPr id="147" name="Rectangle 146">
            <a:extLst>
              <a:ext uri="{FF2B5EF4-FFF2-40B4-BE49-F238E27FC236}">
                <a16:creationId xmlns:a16="http://schemas.microsoft.com/office/drawing/2014/main" id="{F44FF6D4-45CE-4E9D-4EFD-4F5748D5FC07}"/>
              </a:ext>
            </a:extLst>
          </p:cNvPr>
          <p:cNvSpPr/>
          <p:nvPr/>
        </p:nvSpPr>
        <p:spPr>
          <a:xfrm>
            <a:off x="10897048" y="3564372"/>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死亡</a:t>
            </a:r>
            <a:endParaRPr lang="en-US" dirty="0">
              <a:solidFill>
                <a:schemeClr val="tx1"/>
              </a:solidFill>
              <a:latin typeface="Meiryo UI" panose="020B0604030504040204" pitchFamily="50" charset="-128"/>
              <a:ea typeface="Meiryo UI" panose="020B0604030504040204" pitchFamily="50" charset="-128"/>
            </a:endParaRPr>
          </a:p>
        </p:txBody>
      </p:sp>
      <p:sp>
        <p:nvSpPr>
          <p:cNvPr id="148" name="Rectangle 147">
            <a:extLst>
              <a:ext uri="{FF2B5EF4-FFF2-40B4-BE49-F238E27FC236}">
                <a16:creationId xmlns:a16="http://schemas.microsoft.com/office/drawing/2014/main" id="{1C90661E-5E89-ADC9-726F-597698DE1E60}"/>
              </a:ext>
            </a:extLst>
          </p:cNvPr>
          <p:cNvSpPr/>
          <p:nvPr/>
        </p:nvSpPr>
        <p:spPr>
          <a:xfrm>
            <a:off x="10897048" y="432656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回復</a:t>
            </a:r>
            <a:endParaRPr lang="en-US" dirty="0">
              <a:solidFill>
                <a:schemeClr val="tx1"/>
              </a:solidFill>
              <a:latin typeface="Meiryo UI" panose="020B0604030504040204" pitchFamily="50" charset="-128"/>
              <a:ea typeface="Meiryo UI" panose="020B0604030504040204" pitchFamily="50" charset="-128"/>
            </a:endParaRPr>
          </a:p>
        </p:txBody>
      </p:sp>
      <p:sp>
        <p:nvSpPr>
          <p:cNvPr id="149" name="Rectangle 148">
            <a:extLst>
              <a:ext uri="{FF2B5EF4-FFF2-40B4-BE49-F238E27FC236}">
                <a16:creationId xmlns:a16="http://schemas.microsoft.com/office/drawing/2014/main" id="{DC068A3F-7FC4-019A-B4FA-E562BD210B10}"/>
              </a:ext>
            </a:extLst>
          </p:cNvPr>
          <p:cNvSpPr/>
          <p:nvPr/>
        </p:nvSpPr>
        <p:spPr>
          <a:xfrm>
            <a:off x="10897048" y="4957811"/>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死亡</a:t>
            </a:r>
            <a:endParaRPr lang="en-US" dirty="0">
              <a:solidFill>
                <a:schemeClr val="tx1"/>
              </a:solidFill>
              <a:latin typeface="Meiryo UI" panose="020B0604030504040204" pitchFamily="50" charset="-128"/>
              <a:ea typeface="Meiryo UI" panose="020B0604030504040204" pitchFamily="50" charset="-128"/>
            </a:endParaRPr>
          </a:p>
        </p:txBody>
      </p:sp>
      <p:sp>
        <p:nvSpPr>
          <p:cNvPr id="150" name="Rectangle 149">
            <a:extLst>
              <a:ext uri="{FF2B5EF4-FFF2-40B4-BE49-F238E27FC236}">
                <a16:creationId xmlns:a16="http://schemas.microsoft.com/office/drawing/2014/main" id="{33232505-0D64-E596-393B-5AFB2E989376}"/>
              </a:ext>
            </a:extLst>
          </p:cNvPr>
          <p:cNvSpPr/>
          <p:nvPr/>
        </p:nvSpPr>
        <p:spPr>
          <a:xfrm>
            <a:off x="9309214" y="414407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治療成功</a:t>
            </a:r>
            <a:endParaRPr lang="en-US" dirty="0">
              <a:solidFill>
                <a:schemeClr val="tx1"/>
              </a:solidFill>
              <a:latin typeface="Meiryo UI" panose="020B0604030504040204" pitchFamily="50" charset="-128"/>
              <a:ea typeface="Meiryo UI" panose="020B0604030504040204" pitchFamily="50" charset="-128"/>
            </a:endParaRPr>
          </a:p>
        </p:txBody>
      </p:sp>
      <p:sp>
        <p:nvSpPr>
          <p:cNvPr id="151" name="Rectangle 150">
            <a:extLst>
              <a:ext uri="{FF2B5EF4-FFF2-40B4-BE49-F238E27FC236}">
                <a16:creationId xmlns:a16="http://schemas.microsoft.com/office/drawing/2014/main" id="{ECDDD3D0-F68B-2B58-7829-B84260A06D6E}"/>
              </a:ext>
            </a:extLst>
          </p:cNvPr>
          <p:cNvSpPr/>
          <p:nvPr/>
        </p:nvSpPr>
        <p:spPr>
          <a:xfrm>
            <a:off x="9309214" y="4784595"/>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治療失敗</a:t>
            </a:r>
            <a:endParaRPr lang="en-US" dirty="0">
              <a:solidFill>
                <a:schemeClr val="tx1"/>
              </a:solidFill>
              <a:latin typeface="Meiryo UI" panose="020B0604030504040204" pitchFamily="50" charset="-128"/>
              <a:ea typeface="Meiryo UI" panose="020B0604030504040204" pitchFamily="50" charset="-128"/>
            </a:endParaRPr>
          </a:p>
        </p:txBody>
      </p:sp>
      <p:sp>
        <p:nvSpPr>
          <p:cNvPr id="152" name="Rectangle 151">
            <a:extLst>
              <a:ext uri="{FF2B5EF4-FFF2-40B4-BE49-F238E27FC236}">
                <a16:creationId xmlns:a16="http://schemas.microsoft.com/office/drawing/2014/main" id="{03B5DA10-714A-2FD3-4EC1-A42DB9F01DBC}"/>
              </a:ext>
            </a:extLst>
          </p:cNvPr>
          <p:cNvSpPr/>
          <p:nvPr/>
        </p:nvSpPr>
        <p:spPr>
          <a:xfrm>
            <a:off x="6932982" y="4815466"/>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偽陰性</a:t>
            </a:r>
            <a:endParaRPr lang="en-US" dirty="0">
              <a:solidFill>
                <a:schemeClr val="tx1"/>
              </a:solidFill>
              <a:latin typeface="Meiryo UI" panose="020B0604030504040204" pitchFamily="50" charset="-128"/>
              <a:ea typeface="Meiryo UI" panose="020B0604030504040204" pitchFamily="50" charset="-128"/>
            </a:endParaRPr>
          </a:p>
        </p:txBody>
      </p:sp>
      <p:sp>
        <p:nvSpPr>
          <p:cNvPr id="153" name="Rectangle 152">
            <a:extLst>
              <a:ext uri="{FF2B5EF4-FFF2-40B4-BE49-F238E27FC236}">
                <a16:creationId xmlns:a16="http://schemas.microsoft.com/office/drawing/2014/main" id="{1C965AED-996E-799D-C65E-8B0DD59382DB}"/>
              </a:ext>
            </a:extLst>
          </p:cNvPr>
          <p:cNvSpPr/>
          <p:nvPr/>
        </p:nvSpPr>
        <p:spPr>
          <a:xfrm>
            <a:off x="8069990" y="4187246"/>
            <a:ext cx="875587" cy="5345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試験的治療</a:t>
            </a:r>
            <a:endParaRPr lang="en-US" dirty="0">
              <a:solidFill>
                <a:schemeClr val="tx1"/>
              </a:solidFill>
              <a:latin typeface="Meiryo UI" panose="020B0604030504040204" pitchFamily="50" charset="-128"/>
              <a:ea typeface="Meiryo UI" panose="020B0604030504040204" pitchFamily="50" charset="-128"/>
            </a:endParaRPr>
          </a:p>
        </p:txBody>
      </p:sp>
      <p:sp>
        <p:nvSpPr>
          <p:cNvPr id="154" name="Rectangle 153">
            <a:extLst>
              <a:ext uri="{FF2B5EF4-FFF2-40B4-BE49-F238E27FC236}">
                <a16:creationId xmlns:a16="http://schemas.microsoft.com/office/drawing/2014/main" id="{D2D5528F-DA7C-E89D-9A77-7802A6C05AA6}"/>
              </a:ext>
            </a:extLst>
          </p:cNvPr>
          <p:cNvSpPr/>
          <p:nvPr/>
        </p:nvSpPr>
        <p:spPr>
          <a:xfrm>
            <a:off x="8061235" y="5370517"/>
            <a:ext cx="2659201" cy="2697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何もしないか無関係の治療</a:t>
            </a:r>
            <a:endParaRPr lang="en-US" dirty="0">
              <a:solidFill>
                <a:schemeClr val="tx1"/>
              </a:solidFill>
              <a:latin typeface="Meiryo UI" panose="020B0604030504040204" pitchFamily="50" charset="-128"/>
              <a:ea typeface="Meiryo UI" panose="020B0604030504040204" pitchFamily="50" charset="-128"/>
            </a:endParaRPr>
          </a:p>
        </p:txBody>
      </p:sp>
      <p:sp>
        <p:nvSpPr>
          <p:cNvPr id="155" name="Rectangle 154">
            <a:extLst>
              <a:ext uri="{FF2B5EF4-FFF2-40B4-BE49-F238E27FC236}">
                <a16:creationId xmlns:a16="http://schemas.microsoft.com/office/drawing/2014/main" id="{8EA9A273-016D-2740-1DCB-D59AB294C4F2}"/>
              </a:ext>
            </a:extLst>
          </p:cNvPr>
          <p:cNvSpPr/>
          <p:nvPr/>
        </p:nvSpPr>
        <p:spPr>
          <a:xfrm>
            <a:off x="10897048" y="5556702"/>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死亡</a:t>
            </a:r>
            <a:endParaRPr lang="en-US" dirty="0">
              <a:solidFill>
                <a:schemeClr val="tx1"/>
              </a:solidFill>
              <a:latin typeface="Meiryo UI" panose="020B0604030504040204" pitchFamily="50" charset="-128"/>
              <a:ea typeface="Meiryo UI" panose="020B0604030504040204" pitchFamily="50" charset="-128"/>
            </a:endParaRPr>
          </a:p>
        </p:txBody>
      </p:sp>
      <p:sp>
        <p:nvSpPr>
          <p:cNvPr id="156" name="Rectangle 155">
            <a:extLst>
              <a:ext uri="{FF2B5EF4-FFF2-40B4-BE49-F238E27FC236}">
                <a16:creationId xmlns:a16="http://schemas.microsoft.com/office/drawing/2014/main" id="{DA02026A-05FB-CE0B-40A4-2E412A0FFDC1}"/>
              </a:ext>
            </a:extLst>
          </p:cNvPr>
          <p:cNvSpPr/>
          <p:nvPr/>
        </p:nvSpPr>
        <p:spPr>
          <a:xfrm>
            <a:off x="10897048" y="6110092"/>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eiryo UI" panose="020B0604030504040204" pitchFamily="50" charset="-128"/>
                <a:ea typeface="Meiryo UI" panose="020B0604030504040204" pitchFamily="50" charset="-128"/>
              </a:rPr>
              <a:t>死亡</a:t>
            </a:r>
            <a:endParaRPr lang="en-US" dirty="0">
              <a:solidFill>
                <a:schemeClr val="tx1"/>
              </a:solidFill>
              <a:latin typeface="Meiryo UI" panose="020B0604030504040204" pitchFamily="50" charset="-128"/>
              <a:ea typeface="Meiryo UI" panose="020B0604030504040204" pitchFamily="50" charset="-128"/>
            </a:endParaRPr>
          </a:p>
        </p:txBody>
      </p:sp>
      <p:grpSp>
        <p:nvGrpSpPr>
          <p:cNvPr id="160" name="Group 159">
            <a:extLst>
              <a:ext uri="{FF2B5EF4-FFF2-40B4-BE49-F238E27FC236}">
                <a16:creationId xmlns:a16="http://schemas.microsoft.com/office/drawing/2014/main" id="{03C93579-5124-9799-4D3B-FCFBEDD25072}"/>
              </a:ext>
            </a:extLst>
          </p:cNvPr>
          <p:cNvGrpSpPr/>
          <p:nvPr/>
        </p:nvGrpSpPr>
        <p:grpSpPr>
          <a:xfrm>
            <a:off x="4939205" y="2383088"/>
            <a:ext cx="4068115" cy="292745"/>
            <a:chOff x="4911850" y="6335733"/>
            <a:chExt cx="4068115" cy="292745"/>
          </a:xfrm>
        </p:grpSpPr>
        <p:sp>
          <p:nvSpPr>
            <p:cNvPr id="126" name="Rectangle 125">
              <a:extLst>
                <a:ext uri="{FF2B5EF4-FFF2-40B4-BE49-F238E27FC236}">
                  <a16:creationId xmlns:a16="http://schemas.microsoft.com/office/drawing/2014/main" id="{0DA721CE-DFC1-01C3-3AD2-B9E1D86DBCE3}"/>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27" name="Rectangle 126">
              <a:extLst>
                <a:ext uri="{FF2B5EF4-FFF2-40B4-BE49-F238E27FC236}">
                  <a16:creationId xmlns:a16="http://schemas.microsoft.com/office/drawing/2014/main" id="{6121D3DD-59F5-7C6B-37EB-26AAA38D5D44}"/>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意思決定</a:t>
              </a:r>
              <a:endParaRPr lang="en-US" sz="1600" dirty="0">
                <a:solidFill>
                  <a:schemeClr val="tx1"/>
                </a:solidFill>
                <a:latin typeface="Meiryo UI" panose="020B0604030504040204" pitchFamily="50" charset="-128"/>
                <a:ea typeface="Meiryo UI" panose="020B0604030504040204" pitchFamily="50" charset="-128"/>
              </a:endParaRPr>
            </a:p>
          </p:txBody>
        </p:sp>
        <p:sp>
          <p:nvSpPr>
            <p:cNvPr id="131" name="Oval 130">
              <a:extLst>
                <a:ext uri="{FF2B5EF4-FFF2-40B4-BE49-F238E27FC236}">
                  <a16:creationId xmlns:a16="http://schemas.microsoft.com/office/drawing/2014/main" id="{50F82730-F343-946D-D5C9-44CC21E60E91}"/>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32" name="Rectangle 131">
              <a:extLst>
                <a:ext uri="{FF2B5EF4-FFF2-40B4-BE49-F238E27FC236}">
                  <a16:creationId xmlns:a16="http://schemas.microsoft.com/office/drawing/2014/main" id="{C7D29024-560C-ED61-F7F5-D731552AC57A}"/>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確率事象</a:t>
              </a:r>
              <a:endParaRPr lang="en-US" sz="1600" dirty="0">
                <a:solidFill>
                  <a:schemeClr val="tx1"/>
                </a:solidFill>
                <a:latin typeface="Meiryo UI" panose="020B0604030504040204" pitchFamily="50" charset="-128"/>
                <a:ea typeface="Meiryo UI" panose="020B0604030504040204" pitchFamily="50" charset="-128"/>
              </a:endParaRPr>
            </a:p>
          </p:txBody>
        </p:sp>
        <p:sp>
          <p:nvSpPr>
            <p:cNvPr id="158" name="Isosceles Triangle 157">
              <a:extLst>
                <a:ext uri="{FF2B5EF4-FFF2-40B4-BE49-F238E27FC236}">
                  <a16:creationId xmlns:a16="http://schemas.microsoft.com/office/drawing/2014/main" id="{6A036E1D-622E-A288-BA8C-1FCCE2A9F906}"/>
                </a:ext>
              </a:extLst>
            </p:cNvPr>
            <p:cNvSpPr/>
            <p:nvPr/>
          </p:nvSpPr>
          <p:spPr>
            <a:xfrm rot="16200000">
              <a:off x="7607938"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59" name="Rectangle 158">
              <a:extLst>
                <a:ext uri="{FF2B5EF4-FFF2-40B4-BE49-F238E27FC236}">
                  <a16:creationId xmlns:a16="http://schemas.microsoft.com/office/drawing/2014/main" id="{01D77B8D-04C5-0BD0-0292-53D7E4421368}"/>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結果</a:t>
              </a:r>
              <a:endParaRPr lang="en-US" sz="1600" dirty="0">
                <a:solidFill>
                  <a:schemeClr val="tx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190881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D5EA-2263-BC77-5AC7-53BBCE601A3E}"/>
            </a:ext>
          </a:extLst>
        </p:cNvPr>
        <p:cNvGrpSpPr/>
        <p:nvPr/>
      </p:nvGrpSpPr>
      <p:grpSpPr>
        <a:xfrm>
          <a:off x="0" y="0"/>
          <a:ext cx="0" cy="0"/>
          <a:chOff x="0" y="0"/>
          <a:chExt cx="0" cy="0"/>
        </a:xfrm>
      </p:grpSpPr>
      <p:pic>
        <p:nvPicPr>
          <p:cNvPr id="93" name="Picture 92">
            <a:extLst>
              <a:ext uri="{FF2B5EF4-FFF2-40B4-BE49-F238E27FC236}">
                <a16:creationId xmlns:a16="http://schemas.microsoft.com/office/drawing/2014/main" id="{DFCC5AB0-EC69-C701-CE69-FB72CBCB0383}"/>
              </a:ext>
            </a:extLst>
          </p:cNvPr>
          <p:cNvPicPr>
            <a:picLocks noChangeAspect="1"/>
          </p:cNvPicPr>
          <p:nvPr/>
        </p:nvPicPr>
        <p:blipFill>
          <a:blip r:embed="rId2"/>
          <a:stretch>
            <a:fillRect/>
          </a:stretch>
        </p:blipFill>
        <p:spPr>
          <a:xfrm>
            <a:off x="5187579" y="2300810"/>
            <a:ext cx="6256980" cy="3638887"/>
          </a:xfrm>
          <a:prstGeom prst="rect">
            <a:avLst/>
          </a:prstGeom>
          <a:ln>
            <a:solidFill>
              <a:schemeClr val="bg1">
                <a:lumMod val="50000"/>
              </a:schemeClr>
            </a:solidFill>
          </a:ln>
        </p:spPr>
      </p:pic>
      <p:sp>
        <p:nvSpPr>
          <p:cNvPr id="2" name="Title 1">
            <a:extLst>
              <a:ext uri="{FF2B5EF4-FFF2-40B4-BE49-F238E27FC236}">
                <a16:creationId xmlns:a16="http://schemas.microsoft.com/office/drawing/2014/main" id="{B5532203-7A7A-C3FE-EF19-044D9369237D}"/>
              </a:ext>
            </a:extLst>
          </p:cNvPr>
          <p:cNvSpPr>
            <a:spLocks noGrp="1"/>
          </p:cNvSpPr>
          <p:nvPr>
            <p:ph type="title"/>
          </p:nvPr>
        </p:nvSpPr>
        <p:spPr/>
        <p:txBody>
          <a:bodyPr/>
          <a:lstStyle/>
          <a:p>
            <a:r>
              <a:rPr lang="ja-JP" altLang="en-US" dirty="0"/>
              <a:t>分析のプロセス</a:t>
            </a:r>
            <a:r>
              <a:rPr lang="en-US" altLang="ja-JP" dirty="0"/>
              <a:t>―</a:t>
            </a:r>
            <a:r>
              <a:rPr lang="ja-JP" altLang="en-US" dirty="0"/>
              <a:t>④シミュレーションモデルの設計</a:t>
            </a:r>
            <a:r>
              <a:rPr lang="en-US" altLang="ja-JP" dirty="0"/>
              <a:t>(</a:t>
            </a:r>
            <a:r>
              <a:rPr lang="ja-JP" altLang="en-US" dirty="0"/>
              <a:t>例</a:t>
            </a:r>
            <a:r>
              <a:rPr lang="en-US" altLang="ja-JP" dirty="0"/>
              <a:t>)</a:t>
            </a:r>
            <a:endParaRPr lang="en-US" dirty="0"/>
          </a:p>
        </p:txBody>
      </p:sp>
      <p:sp>
        <p:nvSpPr>
          <p:cNvPr id="4" name="Slide Number Placeholder 3">
            <a:extLst>
              <a:ext uri="{FF2B5EF4-FFF2-40B4-BE49-F238E27FC236}">
                <a16:creationId xmlns:a16="http://schemas.microsoft.com/office/drawing/2014/main" id="{9F4AD497-EA7A-95AE-6437-30CE401E6FFE}"/>
              </a:ext>
            </a:extLst>
          </p:cNvPr>
          <p:cNvSpPr>
            <a:spLocks noGrp="1"/>
          </p:cNvSpPr>
          <p:nvPr>
            <p:ph type="sldNum" sz="quarter" idx="4"/>
          </p:nvPr>
        </p:nvSpPr>
        <p:spPr/>
        <p:txBody>
          <a:bodyPr/>
          <a:lstStyle/>
          <a:p>
            <a:fld id="{B5CEABB6-07DC-46E8-9B57-56EC44A396E5}" type="slidenum">
              <a:rPr lang="en-US" smtClean="0"/>
              <a:pPr/>
              <a:t>15</a:t>
            </a:fld>
            <a:endParaRPr lang="en-US" dirty="0"/>
          </a:p>
        </p:txBody>
      </p:sp>
      <p:sp>
        <p:nvSpPr>
          <p:cNvPr id="5" name="Table Placeholder 4">
            <a:extLst>
              <a:ext uri="{FF2B5EF4-FFF2-40B4-BE49-F238E27FC236}">
                <a16:creationId xmlns:a16="http://schemas.microsoft.com/office/drawing/2014/main" id="{8E0C644E-D438-2CB6-F437-361C1DA19674}"/>
              </a:ext>
            </a:extLst>
          </p:cNvPr>
          <p:cNvSpPr>
            <a:spLocks noGrp="1"/>
          </p:cNvSpPr>
          <p:nvPr>
            <p:ph type="tbl" sz="quarter" idx="11"/>
          </p:nvPr>
        </p:nvSpPr>
        <p:spPr/>
        <p:txBody>
          <a:bodyPr/>
          <a:lstStyle/>
          <a:p>
            <a:r>
              <a:rPr lang="ja-JP" altLang="en-US" dirty="0"/>
              <a:t>モデルの構造は意思決定者によって違うかもしれない</a:t>
            </a:r>
            <a:endParaRPr lang="en-US" dirty="0"/>
          </a:p>
        </p:txBody>
      </p:sp>
      <p:grpSp>
        <p:nvGrpSpPr>
          <p:cNvPr id="6" name="Group 5">
            <a:extLst>
              <a:ext uri="{FF2B5EF4-FFF2-40B4-BE49-F238E27FC236}">
                <a16:creationId xmlns:a16="http://schemas.microsoft.com/office/drawing/2014/main" id="{A83DCCDD-2C03-2969-A8FF-E2F9FE6C03EC}"/>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484F2DD5-1D71-4079-5D46-5869A8BF83D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6192B330-3881-49C6-8147-9BB6C455D30C}"/>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0A36AC05-6054-866F-BC3D-EBA5D32F669A}"/>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5D6F3D80-A21D-A3E5-BA7E-062FB3BE0F79}"/>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2538FE78-3A98-B908-B141-3FCBD74E34A7}"/>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a:t>
            </a:r>
            <a:r>
              <a:rPr lang="ja-JP" altLang="en-US" b="1" dirty="0">
                <a:solidFill>
                  <a:schemeClr val="tx1"/>
                </a:solidFill>
                <a:latin typeface="Meiryo UI" panose="020B0604030504040204" pitchFamily="50" charset="-128"/>
                <a:ea typeface="Meiryo UI" panose="020B0604030504040204" pitchFamily="50" charset="-128"/>
              </a:rPr>
              <a:t>シミュレーションモデルの設計</a:t>
            </a:r>
            <a:endParaRPr lang="en-US" b="1"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4FBAE136-312B-6EEA-BE63-7BDDB27E25F8}"/>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0C14D31D-B3AE-EA22-9AD9-54373D788621}"/>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090800DB-9B32-7C9E-D7BD-B4651CDD08ED}"/>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3577EE5A-67BB-E5D0-46C0-966B8A64B844}"/>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3DB2E958-64F1-89E3-387B-B93A4D21395C}"/>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BC6BFC80-A914-8047-5A47-3A72F4E80CD5}"/>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D030F9A7-9F7B-EB25-2D77-E8059FDEAC03}"/>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CD6B6DD4-C18D-619B-16CC-8C6CC7CDDC29}"/>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AC4D9FC0-D87D-D49A-3597-0E850086B112}"/>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0046643F-8E26-469F-7590-C2E443A1ADB6}"/>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D9BA6F0A-3F30-7DA8-B168-77CDAB0AE2A0}"/>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2F017F05-3050-234D-A938-06C703054AB7}"/>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AD4FB41D-1EBA-8C53-69A2-AD103B6EFF33}"/>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A39D1D08-B111-572C-EFDB-AC60AC1F5EA9}"/>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715A7CC0-B4E4-A717-7ACF-3DA5E6FCE59C}"/>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39DD29E0-FC4A-490C-5A4E-4B0E2C684368}"/>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6F13BA6C-FF02-DA2B-60B6-04C5567BDB3F}"/>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４</a:t>
            </a:r>
            <a:endParaRPr lang="en-US" b="1"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3E2C509F-3900-9ACC-BFD7-15D19FB2C801}"/>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7C60FA55-4FFB-8B02-0656-0A3B58CAE5AC}"/>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90C9034E-0B59-9F5D-A968-094B5E5D75CD}"/>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689E0606-292E-8F5C-EF6F-F9FAE3603653}"/>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37" name="Rectangle 36">
            <a:extLst>
              <a:ext uri="{FF2B5EF4-FFF2-40B4-BE49-F238E27FC236}">
                <a16:creationId xmlns:a16="http://schemas.microsoft.com/office/drawing/2014/main" id="{0E655098-15ED-630E-2872-9A0522DE8E92}"/>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8" name="Table Placeholder 2">
            <a:extLst>
              <a:ext uri="{FF2B5EF4-FFF2-40B4-BE49-F238E27FC236}">
                <a16:creationId xmlns:a16="http://schemas.microsoft.com/office/drawing/2014/main" id="{E0BE3220-D382-0709-A035-496851E294C5}"/>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決定木分析の例：重症マラリアの患者に対する診断・治療</a:t>
            </a:r>
            <a:endParaRPr lang="en-US" altLang="ja-JP" sz="2000" dirty="0"/>
          </a:p>
        </p:txBody>
      </p:sp>
      <p:cxnSp>
        <p:nvCxnSpPr>
          <p:cNvPr id="34" name="Straight Connector 33">
            <a:extLst>
              <a:ext uri="{FF2B5EF4-FFF2-40B4-BE49-F238E27FC236}">
                <a16:creationId xmlns:a16="http://schemas.microsoft.com/office/drawing/2014/main" id="{E33F4808-D958-F705-6091-EA5DF0C547BD}"/>
              </a:ext>
            </a:extLst>
          </p:cNvPr>
          <p:cNvCxnSpPr>
            <a:cxnSpLocks/>
            <a:stCxn id="11" idx="3"/>
            <a:endCxn id="37" idx="1"/>
          </p:cNvCxnSpPr>
          <p:nvPr/>
        </p:nvCxnSpPr>
        <p:spPr>
          <a:xfrm>
            <a:off x="3989294" y="3980902"/>
            <a:ext cx="705628" cy="30325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02E70D8D-7B2B-6854-3DAC-63C155C897A5}"/>
              </a:ext>
            </a:extLst>
          </p:cNvPr>
          <p:cNvSpPr/>
          <p:nvPr/>
        </p:nvSpPr>
        <p:spPr>
          <a:xfrm>
            <a:off x="8038024" y="3838226"/>
            <a:ext cx="3051580" cy="1009750"/>
          </a:xfrm>
          <a:prstGeom prst="roundRect">
            <a:avLst/>
          </a:prstGeom>
          <a:solidFill>
            <a:srgbClr val="D6DCE5">
              <a:alpha val="30196"/>
            </a:srgbClr>
          </a:solid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88" name="Straight Connector 87">
            <a:extLst>
              <a:ext uri="{FF2B5EF4-FFF2-40B4-BE49-F238E27FC236}">
                <a16:creationId xmlns:a16="http://schemas.microsoft.com/office/drawing/2014/main" id="{3B2B0E4B-604E-B248-88B2-7347E539E091}"/>
              </a:ext>
            </a:extLst>
          </p:cNvPr>
          <p:cNvCxnSpPr>
            <a:cxnSpLocks/>
            <a:stCxn id="86" idx="2"/>
            <a:endCxn id="102" idx="0"/>
          </p:cNvCxnSpPr>
          <p:nvPr/>
        </p:nvCxnSpPr>
        <p:spPr>
          <a:xfrm>
            <a:off x="9563814" y="4847976"/>
            <a:ext cx="10511" cy="1232382"/>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D5D002BD-4B6E-3E65-5255-066D2DDECA60}"/>
              </a:ext>
            </a:extLst>
          </p:cNvPr>
          <p:cNvSpPr/>
          <p:nvPr/>
        </p:nvSpPr>
        <p:spPr>
          <a:xfrm>
            <a:off x="7895956" y="6080358"/>
            <a:ext cx="3356737" cy="5747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試験的治療ではなく、</a:t>
            </a:r>
            <a:endParaRPr lang="en-US" altLang="ja-JP" sz="2000" dirty="0">
              <a:solidFill>
                <a:schemeClr val="tx1"/>
              </a:solidFill>
              <a:latin typeface="Meiryo UI" panose="020B0604030504040204" pitchFamily="50" charset="-128"/>
              <a:ea typeface="Meiryo UI" panose="020B0604030504040204" pitchFamily="50" charset="-128"/>
            </a:endParaRPr>
          </a:p>
          <a:p>
            <a:pPr algn="ctr"/>
            <a:r>
              <a:rPr lang="ja-JP" altLang="en-US" sz="2000" dirty="0">
                <a:solidFill>
                  <a:schemeClr val="tx1"/>
                </a:solidFill>
                <a:latin typeface="Meiryo UI" panose="020B0604030504040204" pitchFamily="50" charset="-128"/>
                <a:ea typeface="Meiryo UI" panose="020B0604030504040204" pitchFamily="50" charset="-128"/>
              </a:rPr>
              <a:t>「二回目の検査」かもしれない</a:t>
            </a:r>
            <a:endParaRPr lang="en-US" sz="20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8154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62869-27CC-945A-223D-F4B13D92AAFD}"/>
            </a:ext>
          </a:extLst>
        </p:cNvPr>
        <p:cNvGrpSpPr/>
        <p:nvPr/>
      </p:nvGrpSpPr>
      <p:grpSpPr>
        <a:xfrm>
          <a:off x="0" y="0"/>
          <a:ext cx="0" cy="0"/>
          <a:chOff x="0" y="0"/>
          <a:chExt cx="0" cy="0"/>
        </a:xfrm>
      </p:grpSpPr>
      <p:sp>
        <p:nvSpPr>
          <p:cNvPr id="176" name="Rectangle 175">
            <a:extLst>
              <a:ext uri="{FF2B5EF4-FFF2-40B4-BE49-F238E27FC236}">
                <a16:creationId xmlns:a16="http://schemas.microsoft.com/office/drawing/2014/main" id="{4C528E11-7EF6-11B2-FBDE-8E61B17DF7FF}"/>
              </a:ext>
            </a:extLst>
          </p:cNvPr>
          <p:cNvSpPr/>
          <p:nvPr/>
        </p:nvSpPr>
        <p:spPr>
          <a:xfrm>
            <a:off x="5104267" y="3591534"/>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solidFill>
                  <a:schemeClr val="tx1"/>
                </a:solidFill>
                <a:latin typeface="Meiryo UI" panose="020B0604030504040204" pitchFamily="50" charset="-128"/>
                <a:ea typeface="Meiryo UI" panose="020B0604030504040204" pitchFamily="50" charset="-128"/>
              </a:rPr>
              <a:t>スタート</a:t>
            </a:r>
            <a:endParaRPr lang="en-US" sz="1600"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2E9CE7EC-18BA-5CBE-6B98-2EC623C174A1}"/>
              </a:ext>
            </a:extLst>
          </p:cNvPr>
          <p:cNvSpPr>
            <a:spLocks noGrp="1"/>
          </p:cNvSpPr>
          <p:nvPr>
            <p:ph type="title"/>
          </p:nvPr>
        </p:nvSpPr>
        <p:spPr/>
        <p:txBody>
          <a:bodyPr/>
          <a:lstStyle/>
          <a:p>
            <a:r>
              <a:rPr lang="ja-JP" altLang="en-US" dirty="0"/>
              <a:t>分析のプロセス</a:t>
            </a:r>
            <a:r>
              <a:rPr lang="en-US" altLang="ja-JP" dirty="0"/>
              <a:t>―</a:t>
            </a:r>
            <a:r>
              <a:rPr lang="ja-JP" altLang="en-US" dirty="0"/>
              <a:t>③シミュレーションモデルの選択</a:t>
            </a:r>
            <a:r>
              <a:rPr lang="en-US" altLang="ja-JP" dirty="0"/>
              <a:t>(</a:t>
            </a:r>
            <a:r>
              <a:rPr lang="ja-JP" altLang="en-US" dirty="0"/>
              <a:t>例</a:t>
            </a:r>
            <a:r>
              <a:rPr lang="en-US" altLang="ja-JP" dirty="0"/>
              <a:t>)</a:t>
            </a:r>
            <a:endParaRPr lang="en-US" dirty="0"/>
          </a:p>
        </p:txBody>
      </p:sp>
      <p:sp>
        <p:nvSpPr>
          <p:cNvPr id="4" name="Slide Number Placeholder 3">
            <a:extLst>
              <a:ext uri="{FF2B5EF4-FFF2-40B4-BE49-F238E27FC236}">
                <a16:creationId xmlns:a16="http://schemas.microsoft.com/office/drawing/2014/main" id="{E05D5BAD-C1B1-43DF-E788-62ECD528B7B8}"/>
              </a:ext>
            </a:extLst>
          </p:cNvPr>
          <p:cNvSpPr>
            <a:spLocks noGrp="1"/>
          </p:cNvSpPr>
          <p:nvPr>
            <p:ph type="sldNum" sz="quarter" idx="4"/>
          </p:nvPr>
        </p:nvSpPr>
        <p:spPr/>
        <p:txBody>
          <a:bodyPr/>
          <a:lstStyle/>
          <a:p>
            <a:fld id="{B5CEABB6-07DC-46E8-9B57-56EC44A396E5}" type="slidenum">
              <a:rPr lang="en-US" smtClean="0"/>
              <a:pPr/>
              <a:t>16</a:t>
            </a:fld>
            <a:endParaRPr lang="en-US" dirty="0"/>
          </a:p>
        </p:txBody>
      </p:sp>
      <p:sp>
        <p:nvSpPr>
          <p:cNvPr id="5" name="Table Placeholder 4">
            <a:extLst>
              <a:ext uri="{FF2B5EF4-FFF2-40B4-BE49-F238E27FC236}">
                <a16:creationId xmlns:a16="http://schemas.microsoft.com/office/drawing/2014/main" id="{88D7967C-F5DE-97FB-7557-080D5EBE27A4}"/>
              </a:ext>
            </a:extLst>
          </p:cNvPr>
          <p:cNvSpPr>
            <a:spLocks noGrp="1"/>
          </p:cNvSpPr>
          <p:nvPr>
            <p:ph type="tbl" sz="quarter" idx="11"/>
          </p:nvPr>
        </p:nvSpPr>
        <p:spPr/>
        <p:txBody>
          <a:bodyPr/>
          <a:lstStyle/>
          <a:p>
            <a:r>
              <a:rPr lang="ja-JP" altLang="en-US" dirty="0"/>
              <a:t>マルコフモデルではモデル化された人口が各状態を時間当たり確率で遷移する</a:t>
            </a:r>
            <a:endParaRPr lang="en-US" dirty="0"/>
          </a:p>
        </p:txBody>
      </p:sp>
      <p:grpSp>
        <p:nvGrpSpPr>
          <p:cNvPr id="6" name="Group 5">
            <a:extLst>
              <a:ext uri="{FF2B5EF4-FFF2-40B4-BE49-F238E27FC236}">
                <a16:creationId xmlns:a16="http://schemas.microsoft.com/office/drawing/2014/main" id="{3C50FA4D-FABB-485E-CB2F-5D064071A6ED}"/>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29C46E7C-C8BF-E9CE-62F8-6B73C62559E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FCCB4092-0439-8A5D-0229-353A9E0DB645}"/>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029ADEA6-CED4-7A73-15E2-276B3324C104}"/>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E9524ADF-FA86-FFD7-FC0B-EDB9FE491D48}"/>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91B16200-C591-567A-9E5E-23E756FAEE85}"/>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E49E963C-1559-ECCF-1604-4169ED0900B1}"/>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71BE005C-E783-76A6-B299-3B48648FCB55}"/>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　　シミュレーションモデルの選択</a:t>
            </a:r>
            <a:endParaRPr lang="en-US" b="1"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2ABD2CDC-3C6C-734A-7188-EF5E8779ED2D}"/>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4414EA7F-C474-EFB4-CC05-721054CDCB12}"/>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DFBC1FE2-C62F-6E16-C43F-E0C017B6B892}"/>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EB581DC5-7CF9-BCAF-B71A-F15F94135B89}"/>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4D09E9C8-D46C-B833-4920-E08ABE173B2F}"/>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BD2C430B-6371-BE6E-4A60-50942500996B}"/>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BCEDB8AD-9011-5366-EE5C-B70511AA9B55}"/>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806B2660-BE38-8DBD-FE2A-F7EF0EFDBC4F}"/>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CD6E0C6E-7927-82E8-F7EC-0046B48CAA45}"/>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6C5C0660-A528-54DD-70E3-32EFD4733990}"/>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41A9DC8B-59DE-A98F-7155-5A3F785D8E48}"/>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D05BD158-AB8A-61B3-891F-4AE7E240330E}"/>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26D7910E-1814-F229-93D4-3ED477E168AE}"/>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60A7AF91-CFC3-1476-1212-F473EC1DA843}"/>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３</a:t>
            </a:r>
            <a:endParaRPr lang="en-US" b="1"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CB0E2DF7-0B22-D55A-4915-674276E7815D}"/>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878228FE-8AB9-69DF-DD7F-0E6FE61A990A}"/>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7EF8B9CA-AC23-596A-5231-50C5F7DA0B77}"/>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3F11D432-3D46-46E0-9980-05088A216A71}"/>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6B598C94-36BD-65D1-6FC8-3056A7618152}"/>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94BD6F07-4283-E99E-3A60-1F699D328497}"/>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28455F67-4784-86BF-0551-7D2E3457F90E}"/>
              </a:ext>
            </a:extLst>
          </p:cNvPr>
          <p:cNvCxnSpPr>
            <a:cxnSpLocks/>
            <a:stCxn id="13" idx="3"/>
            <a:endCxn id="40" idx="1"/>
          </p:cNvCxnSpPr>
          <p:nvPr/>
        </p:nvCxnSpPr>
        <p:spPr>
          <a:xfrm>
            <a:off x="3989294" y="3374392"/>
            <a:ext cx="705628" cy="90976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84612F93-C282-CCB8-4778-85AA3A3A3408}"/>
              </a:ext>
            </a:extLst>
          </p:cNvPr>
          <p:cNvSpPr>
            <a:spLocks noGrp="1"/>
          </p:cNvSpPr>
          <p:nvPr>
            <p:ph type="tbl" sz="quarter" idx="10"/>
          </p:nvPr>
        </p:nvSpPr>
        <p:spPr>
          <a:xfrm>
            <a:off x="4907279" y="1938130"/>
            <a:ext cx="6817581" cy="4692045"/>
          </a:xfrm>
        </p:spPr>
        <p:txBody>
          <a:bodyPr/>
          <a:lstStyle/>
          <a:p>
            <a:pPr marL="0" indent="0">
              <a:buNone/>
            </a:pPr>
            <a:r>
              <a:rPr lang="ja-JP" altLang="en-US" sz="2000" dirty="0"/>
              <a:t>マルコフモデルの例：梅毒の進行モデル</a:t>
            </a:r>
            <a:r>
              <a:rPr lang="en-US" altLang="ja-JP" sz="1800" dirty="0"/>
              <a:t>(Lee et al. 2023)</a:t>
            </a:r>
            <a:endParaRPr lang="en-US" altLang="ja-JP" sz="2000" dirty="0"/>
          </a:p>
        </p:txBody>
      </p:sp>
      <p:sp>
        <p:nvSpPr>
          <p:cNvPr id="127" name="Rectangle 126">
            <a:extLst>
              <a:ext uri="{FF2B5EF4-FFF2-40B4-BE49-F238E27FC236}">
                <a16:creationId xmlns:a16="http://schemas.microsoft.com/office/drawing/2014/main" id="{19BCAF89-74E1-AABD-85A3-7DB64841DAC5}"/>
              </a:ext>
            </a:extLst>
          </p:cNvPr>
          <p:cNvSpPr/>
          <p:nvPr/>
        </p:nvSpPr>
        <p:spPr>
          <a:xfrm>
            <a:off x="5487496" y="2282806"/>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病気進行</a:t>
            </a:r>
            <a:endParaRPr lang="en-US" sz="1600" dirty="0">
              <a:solidFill>
                <a:schemeClr val="tx1"/>
              </a:solidFill>
              <a:latin typeface="Meiryo UI" panose="020B0604030504040204" pitchFamily="50" charset="-128"/>
              <a:ea typeface="Meiryo UI" panose="020B0604030504040204" pitchFamily="50" charset="-128"/>
            </a:endParaRPr>
          </a:p>
        </p:txBody>
      </p:sp>
      <p:sp>
        <p:nvSpPr>
          <p:cNvPr id="132" name="Rectangle 131">
            <a:extLst>
              <a:ext uri="{FF2B5EF4-FFF2-40B4-BE49-F238E27FC236}">
                <a16:creationId xmlns:a16="http://schemas.microsoft.com/office/drawing/2014/main" id="{28C73C2F-F65C-2ACD-524C-2FFC9F6A03CA}"/>
              </a:ext>
            </a:extLst>
          </p:cNvPr>
          <p:cNvSpPr/>
          <p:nvPr/>
        </p:nvSpPr>
        <p:spPr>
          <a:xfrm>
            <a:off x="7045900" y="2273360"/>
            <a:ext cx="1935803"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1600" dirty="0">
                <a:solidFill>
                  <a:schemeClr val="tx1"/>
                </a:solidFill>
                <a:latin typeface="Meiryo UI" panose="020B0604030504040204" pitchFamily="50" charset="-128"/>
                <a:ea typeface="Meiryo UI" panose="020B0604030504040204" pitchFamily="50" charset="-128"/>
              </a:rPr>
              <a:t>…</a:t>
            </a:r>
            <a:r>
              <a:rPr lang="ja-JP" altLang="en-US" sz="1600" dirty="0">
                <a:solidFill>
                  <a:schemeClr val="tx1"/>
                </a:solidFill>
                <a:latin typeface="Meiryo UI" panose="020B0604030504040204" pitchFamily="50" charset="-128"/>
                <a:ea typeface="Meiryo UI" panose="020B0604030504040204" pitchFamily="50" charset="-128"/>
              </a:rPr>
              <a:t>検査＆治療した場合</a:t>
            </a:r>
            <a:endParaRPr lang="en-US" sz="1600" dirty="0">
              <a:solidFill>
                <a:schemeClr val="tx1"/>
              </a:solidFill>
              <a:latin typeface="Meiryo UI" panose="020B0604030504040204" pitchFamily="50" charset="-128"/>
              <a:ea typeface="Meiryo UI" panose="020B0604030504040204" pitchFamily="50" charset="-128"/>
            </a:endParaRPr>
          </a:p>
        </p:txBody>
      </p:sp>
      <p:sp>
        <p:nvSpPr>
          <p:cNvPr id="29" name="Oval 28">
            <a:extLst>
              <a:ext uri="{FF2B5EF4-FFF2-40B4-BE49-F238E27FC236}">
                <a16:creationId xmlns:a16="http://schemas.microsoft.com/office/drawing/2014/main" id="{DFA881D8-BFF5-DD1C-EC50-78CCB785273B}"/>
              </a:ext>
            </a:extLst>
          </p:cNvPr>
          <p:cNvSpPr/>
          <p:nvPr/>
        </p:nvSpPr>
        <p:spPr>
          <a:xfrm>
            <a:off x="5096175"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第１期</a:t>
            </a:r>
            <a:endParaRPr lang="en-US" dirty="0">
              <a:solidFill>
                <a:schemeClr val="tx1"/>
              </a:solidFill>
              <a:latin typeface="Meiryo UI" panose="020B0604030504040204" pitchFamily="50" charset="-128"/>
              <a:ea typeface="Meiryo UI" panose="020B0604030504040204" pitchFamily="50" charset="-128"/>
            </a:endParaRPr>
          </a:p>
        </p:txBody>
      </p:sp>
      <p:sp>
        <p:nvSpPr>
          <p:cNvPr id="35" name="Oval 34">
            <a:extLst>
              <a:ext uri="{FF2B5EF4-FFF2-40B4-BE49-F238E27FC236}">
                <a16:creationId xmlns:a16="http://schemas.microsoft.com/office/drawing/2014/main" id="{9DE1F6F7-8FC2-00E0-48FB-C8129B6FB541}"/>
              </a:ext>
            </a:extLst>
          </p:cNvPr>
          <p:cNvSpPr/>
          <p:nvPr/>
        </p:nvSpPr>
        <p:spPr>
          <a:xfrm>
            <a:off x="6500843"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第２期</a:t>
            </a:r>
            <a:endParaRPr lang="en-US" dirty="0">
              <a:solidFill>
                <a:schemeClr val="tx1"/>
              </a:solidFill>
              <a:latin typeface="Meiryo UI" panose="020B0604030504040204" pitchFamily="50" charset="-128"/>
              <a:ea typeface="Meiryo UI" panose="020B0604030504040204" pitchFamily="50" charset="-128"/>
            </a:endParaRPr>
          </a:p>
        </p:txBody>
      </p:sp>
      <p:sp>
        <p:nvSpPr>
          <p:cNvPr id="36" name="Oval 35">
            <a:extLst>
              <a:ext uri="{FF2B5EF4-FFF2-40B4-BE49-F238E27FC236}">
                <a16:creationId xmlns:a16="http://schemas.microsoft.com/office/drawing/2014/main" id="{CF989341-A8FA-E89D-8FD9-130FC14F5625}"/>
              </a:ext>
            </a:extLst>
          </p:cNvPr>
          <p:cNvSpPr/>
          <p:nvPr/>
        </p:nvSpPr>
        <p:spPr>
          <a:xfrm>
            <a:off x="7905511"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初期</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潜伏期</a:t>
            </a:r>
            <a:endParaRPr lang="en-US" dirty="0">
              <a:solidFill>
                <a:schemeClr val="tx1"/>
              </a:solidFill>
              <a:latin typeface="Meiryo UI" panose="020B0604030504040204" pitchFamily="50" charset="-128"/>
              <a:ea typeface="Meiryo UI" panose="020B0604030504040204" pitchFamily="50" charset="-128"/>
            </a:endParaRPr>
          </a:p>
        </p:txBody>
      </p:sp>
      <p:sp>
        <p:nvSpPr>
          <p:cNvPr id="37" name="Oval 36">
            <a:extLst>
              <a:ext uri="{FF2B5EF4-FFF2-40B4-BE49-F238E27FC236}">
                <a16:creationId xmlns:a16="http://schemas.microsoft.com/office/drawing/2014/main" id="{D63CE4B4-B616-0C04-E75F-CC4F6603B7FC}"/>
              </a:ext>
            </a:extLst>
          </p:cNvPr>
          <p:cNvSpPr/>
          <p:nvPr/>
        </p:nvSpPr>
        <p:spPr>
          <a:xfrm>
            <a:off x="9310179"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後期</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潜伏期</a:t>
            </a:r>
            <a:endParaRPr lang="en-US" dirty="0">
              <a:solidFill>
                <a:schemeClr val="tx1"/>
              </a:solidFill>
              <a:latin typeface="Meiryo UI" panose="020B0604030504040204" pitchFamily="50" charset="-128"/>
              <a:ea typeface="Meiryo UI" panose="020B0604030504040204" pitchFamily="50" charset="-128"/>
            </a:endParaRPr>
          </a:p>
        </p:txBody>
      </p:sp>
      <p:sp>
        <p:nvSpPr>
          <p:cNvPr id="38" name="Oval 37">
            <a:extLst>
              <a:ext uri="{FF2B5EF4-FFF2-40B4-BE49-F238E27FC236}">
                <a16:creationId xmlns:a16="http://schemas.microsoft.com/office/drawing/2014/main" id="{60A23917-94D4-DC93-5FA9-0AF033FE0F8E}"/>
              </a:ext>
            </a:extLst>
          </p:cNvPr>
          <p:cNvSpPr/>
          <p:nvPr/>
        </p:nvSpPr>
        <p:spPr>
          <a:xfrm>
            <a:off x="10714845" y="3829980"/>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未治療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第３期</a:t>
            </a:r>
            <a:endParaRPr lang="en-US" dirty="0">
              <a:solidFill>
                <a:schemeClr val="tx1"/>
              </a:solidFill>
              <a:latin typeface="Meiryo UI" panose="020B0604030504040204" pitchFamily="50" charset="-128"/>
              <a:ea typeface="Meiryo UI" panose="020B0604030504040204" pitchFamily="50" charset="-128"/>
            </a:endParaRPr>
          </a:p>
        </p:txBody>
      </p:sp>
      <p:sp>
        <p:nvSpPr>
          <p:cNvPr id="39" name="Oval 38">
            <a:extLst>
              <a:ext uri="{FF2B5EF4-FFF2-40B4-BE49-F238E27FC236}">
                <a16:creationId xmlns:a16="http://schemas.microsoft.com/office/drawing/2014/main" id="{A5752CFB-AA25-1986-C606-14B5F2DE85B2}"/>
              </a:ext>
            </a:extLst>
          </p:cNvPr>
          <p:cNvSpPr/>
          <p:nvPr/>
        </p:nvSpPr>
        <p:spPr>
          <a:xfrm>
            <a:off x="6500843" y="2917215"/>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初期</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神経梅毒</a:t>
            </a:r>
            <a:endParaRPr lang="en-US" dirty="0">
              <a:solidFill>
                <a:schemeClr val="tx1"/>
              </a:solidFill>
              <a:latin typeface="Meiryo UI" panose="020B0604030504040204" pitchFamily="50" charset="-128"/>
              <a:ea typeface="Meiryo UI" panose="020B0604030504040204" pitchFamily="50" charset="-128"/>
            </a:endParaRPr>
          </a:p>
        </p:txBody>
      </p:sp>
      <p:sp>
        <p:nvSpPr>
          <p:cNvPr id="41" name="Oval 40">
            <a:extLst>
              <a:ext uri="{FF2B5EF4-FFF2-40B4-BE49-F238E27FC236}">
                <a16:creationId xmlns:a16="http://schemas.microsoft.com/office/drawing/2014/main" id="{AD7E5EBA-36C3-79E9-F648-43D9A3CCEA86}"/>
              </a:ext>
            </a:extLst>
          </p:cNvPr>
          <p:cNvSpPr/>
          <p:nvPr/>
        </p:nvSpPr>
        <p:spPr>
          <a:xfrm>
            <a:off x="10012512" y="2869059"/>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後期</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神経梅毒</a:t>
            </a:r>
            <a:endParaRPr lang="en-US" dirty="0">
              <a:solidFill>
                <a:schemeClr val="tx1"/>
              </a:solidFill>
              <a:latin typeface="Meiryo UI" panose="020B0604030504040204" pitchFamily="50" charset="-128"/>
              <a:ea typeface="Meiryo UI" panose="020B0604030504040204" pitchFamily="50" charset="-128"/>
            </a:endParaRPr>
          </a:p>
        </p:txBody>
      </p:sp>
      <p:sp>
        <p:nvSpPr>
          <p:cNvPr id="43" name="Oval 42">
            <a:extLst>
              <a:ext uri="{FF2B5EF4-FFF2-40B4-BE49-F238E27FC236}">
                <a16:creationId xmlns:a16="http://schemas.microsoft.com/office/drawing/2014/main" id="{877B252F-A745-E1BE-C0DA-C15A0B877916}"/>
              </a:ext>
            </a:extLst>
          </p:cNvPr>
          <p:cNvSpPr/>
          <p:nvPr/>
        </p:nvSpPr>
        <p:spPr>
          <a:xfrm>
            <a:off x="6500843" y="4830722"/>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治療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後遺症無</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44" name="Oval 43">
            <a:extLst>
              <a:ext uri="{FF2B5EF4-FFF2-40B4-BE49-F238E27FC236}">
                <a16:creationId xmlns:a16="http://schemas.microsoft.com/office/drawing/2014/main" id="{43A2EF06-5C85-8D55-224F-607EC00E75D3}"/>
              </a:ext>
            </a:extLst>
          </p:cNvPr>
          <p:cNvSpPr/>
          <p:nvPr/>
        </p:nvSpPr>
        <p:spPr>
          <a:xfrm>
            <a:off x="10715059" y="4775192"/>
            <a:ext cx="1092710" cy="785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治療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後遺症有</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45" name="Oval 44">
            <a:extLst>
              <a:ext uri="{FF2B5EF4-FFF2-40B4-BE49-F238E27FC236}">
                <a16:creationId xmlns:a16="http://schemas.microsoft.com/office/drawing/2014/main" id="{7270A9B9-5E0A-3D1C-14E9-343288737E24}"/>
              </a:ext>
            </a:extLst>
          </p:cNvPr>
          <p:cNvSpPr/>
          <p:nvPr/>
        </p:nvSpPr>
        <p:spPr>
          <a:xfrm>
            <a:off x="7928482" y="5783680"/>
            <a:ext cx="1092710" cy="58874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死亡</a:t>
            </a:r>
            <a:endParaRPr lang="en-US" dirty="0">
              <a:solidFill>
                <a:schemeClr val="tx1"/>
              </a:solidFill>
              <a:latin typeface="Meiryo UI" panose="020B0604030504040204" pitchFamily="50" charset="-128"/>
              <a:ea typeface="Meiryo UI" panose="020B0604030504040204" pitchFamily="50" charset="-128"/>
            </a:endParaRPr>
          </a:p>
        </p:txBody>
      </p:sp>
      <p:cxnSp>
        <p:nvCxnSpPr>
          <p:cNvPr id="47" name="Straight Arrow Connector 46">
            <a:extLst>
              <a:ext uri="{FF2B5EF4-FFF2-40B4-BE49-F238E27FC236}">
                <a16:creationId xmlns:a16="http://schemas.microsoft.com/office/drawing/2014/main" id="{0A93FA49-03C9-1D19-C351-73E3312F1D9E}"/>
              </a:ext>
            </a:extLst>
          </p:cNvPr>
          <p:cNvCxnSpPr>
            <a:stCxn id="29" idx="6"/>
            <a:endCxn id="35" idx="2"/>
          </p:cNvCxnSpPr>
          <p:nvPr/>
        </p:nvCxnSpPr>
        <p:spPr>
          <a:xfrm>
            <a:off x="6188885" y="4222780"/>
            <a:ext cx="3119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A2D8178-5393-C38B-4215-924682462C5E}"/>
              </a:ext>
            </a:extLst>
          </p:cNvPr>
          <p:cNvCxnSpPr>
            <a:cxnSpLocks/>
            <a:stCxn id="35" idx="6"/>
            <a:endCxn id="36" idx="2"/>
          </p:cNvCxnSpPr>
          <p:nvPr/>
        </p:nvCxnSpPr>
        <p:spPr>
          <a:xfrm>
            <a:off x="7593553" y="4222780"/>
            <a:ext cx="3119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1AE295C-EE6B-0EFE-56F4-5FD0A6331404}"/>
              </a:ext>
            </a:extLst>
          </p:cNvPr>
          <p:cNvCxnSpPr>
            <a:cxnSpLocks/>
            <a:stCxn id="36" idx="6"/>
            <a:endCxn id="37" idx="2"/>
          </p:cNvCxnSpPr>
          <p:nvPr/>
        </p:nvCxnSpPr>
        <p:spPr>
          <a:xfrm>
            <a:off x="8998221" y="4222780"/>
            <a:ext cx="3119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F53B824-D8B3-8A49-31C2-A8965D75F934}"/>
              </a:ext>
            </a:extLst>
          </p:cNvPr>
          <p:cNvCxnSpPr>
            <a:cxnSpLocks/>
            <a:stCxn id="37" idx="6"/>
            <a:endCxn id="38" idx="2"/>
          </p:cNvCxnSpPr>
          <p:nvPr/>
        </p:nvCxnSpPr>
        <p:spPr>
          <a:xfrm>
            <a:off x="10402889" y="4222780"/>
            <a:ext cx="311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C55C962-8CD7-C19E-24D5-11D1D85B0981}"/>
              </a:ext>
            </a:extLst>
          </p:cNvPr>
          <p:cNvCxnSpPr>
            <a:cxnSpLocks/>
            <a:stCxn id="29" idx="7"/>
            <a:endCxn id="39" idx="3"/>
          </p:cNvCxnSpPr>
          <p:nvPr/>
        </p:nvCxnSpPr>
        <p:spPr>
          <a:xfrm flipV="1">
            <a:off x="6028861" y="3587767"/>
            <a:ext cx="632006" cy="3572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D506C6E-1EF3-6768-56A7-BB813FBC2E39}"/>
              </a:ext>
            </a:extLst>
          </p:cNvPr>
          <p:cNvCxnSpPr>
            <a:cxnSpLocks/>
            <a:stCxn id="35" idx="0"/>
            <a:endCxn id="39" idx="4"/>
          </p:cNvCxnSpPr>
          <p:nvPr/>
        </p:nvCxnSpPr>
        <p:spPr>
          <a:xfrm flipV="1">
            <a:off x="7047198" y="3702815"/>
            <a:ext cx="0" cy="1271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C65DECD-C096-9049-5129-A4B593FB5FE0}"/>
              </a:ext>
            </a:extLst>
          </p:cNvPr>
          <p:cNvCxnSpPr>
            <a:cxnSpLocks/>
            <a:stCxn id="36" idx="1"/>
            <a:endCxn id="39" idx="5"/>
          </p:cNvCxnSpPr>
          <p:nvPr/>
        </p:nvCxnSpPr>
        <p:spPr>
          <a:xfrm flipH="1" flipV="1">
            <a:off x="7433529" y="3587767"/>
            <a:ext cx="632006" cy="3572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20C8851-9B7A-E32B-6D7F-B612585ED8EF}"/>
              </a:ext>
            </a:extLst>
          </p:cNvPr>
          <p:cNvCxnSpPr>
            <a:cxnSpLocks/>
            <a:stCxn id="37" idx="0"/>
            <a:endCxn id="41" idx="3"/>
          </p:cNvCxnSpPr>
          <p:nvPr/>
        </p:nvCxnSpPr>
        <p:spPr>
          <a:xfrm flipV="1">
            <a:off x="9856534" y="3539611"/>
            <a:ext cx="316002" cy="2903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32D1680B-596E-87D4-5503-5489305C23A5}"/>
              </a:ext>
            </a:extLst>
          </p:cNvPr>
          <p:cNvCxnSpPr>
            <a:stCxn id="39" idx="0"/>
            <a:endCxn id="38" idx="0"/>
          </p:cNvCxnSpPr>
          <p:nvPr/>
        </p:nvCxnSpPr>
        <p:spPr>
          <a:xfrm rot="16200000" flipH="1">
            <a:off x="8697816" y="1266596"/>
            <a:ext cx="912765" cy="4214002"/>
          </a:xfrm>
          <a:prstGeom prst="bentConnector3">
            <a:avLst>
              <a:gd name="adj1" fmla="val -2504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F3F0D7AA-F3F6-E4E5-76B6-C5870354BA77}"/>
              </a:ext>
            </a:extLst>
          </p:cNvPr>
          <p:cNvCxnSpPr>
            <a:cxnSpLocks/>
            <a:stCxn id="29" idx="5"/>
            <a:endCxn id="43" idx="1"/>
          </p:cNvCxnSpPr>
          <p:nvPr/>
        </p:nvCxnSpPr>
        <p:spPr>
          <a:xfrm>
            <a:off x="6028861" y="4500532"/>
            <a:ext cx="632006" cy="445238"/>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7F7247F2-495C-46E5-1DDC-DA8B1855FEB1}"/>
              </a:ext>
            </a:extLst>
          </p:cNvPr>
          <p:cNvCxnSpPr>
            <a:cxnSpLocks/>
            <a:stCxn id="35" idx="4"/>
            <a:endCxn id="43" idx="0"/>
          </p:cNvCxnSpPr>
          <p:nvPr/>
        </p:nvCxnSpPr>
        <p:spPr>
          <a:xfrm>
            <a:off x="7047198" y="4615580"/>
            <a:ext cx="0" cy="21514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5FFBB85D-5D4E-769B-A988-B3D4446F2E8A}"/>
              </a:ext>
            </a:extLst>
          </p:cNvPr>
          <p:cNvCxnSpPr>
            <a:cxnSpLocks/>
            <a:stCxn id="36" idx="4"/>
            <a:endCxn id="43" idx="7"/>
          </p:cNvCxnSpPr>
          <p:nvPr/>
        </p:nvCxnSpPr>
        <p:spPr>
          <a:xfrm flipH="1">
            <a:off x="7433529" y="4615580"/>
            <a:ext cx="1018337" cy="33019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DA81178F-677E-7E46-AB70-AE063590F160}"/>
              </a:ext>
            </a:extLst>
          </p:cNvPr>
          <p:cNvCxnSpPr>
            <a:cxnSpLocks/>
            <a:stCxn id="38" idx="4"/>
            <a:endCxn id="44" idx="0"/>
          </p:cNvCxnSpPr>
          <p:nvPr/>
        </p:nvCxnSpPr>
        <p:spPr>
          <a:xfrm>
            <a:off x="11261200" y="4615580"/>
            <a:ext cx="214" cy="15961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33D1FF95-99E1-1864-C172-012FCD681138}"/>
              </a:ext>
            </a:extLst>
          </p:cNvPr>
          <p:cNvCxnSpPr>
            <a:cxnSpLocks/>
            <a:stCxn id="39" idx="2"/>
            <a:endCxn id="43" idx="2"/>
          </p:cNvCxnSpPr>
          <p:nvPr/>
        </p:nvCxnSpPr>
        <p:spPr>
          <a:xfrm rot="10800000" flipV="1">
            <a:off x="6500843" y="3310014"/>
            <a:ext cx="12700" cy="1913507"/>
          </a:xfrm>
          <a:prstGeom prst="bentConnector3">
            <a:avLst>
              <a:gd name="adj1" fmla="val 12360000"/>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365D81D5-404C-BDDA-7FA8-3E8F82AD6EAD}"/>
              </a:ext>
            </a:extLst>
          </p:cNvPr>
          <p:cNvCxnSpPr>
            <a:cxnSpLocks/>
            <a:stCxn id="37" idx="3"/>
            <a:endCxn id="43" idx="6"/>
          </p:cNvCxnSpPr>
          <p:nvPr/>
        </p:nvCxnSpPr>
        <p:spPr>
          <a:xfrm flipH="1">
            <a:off x="7593553" y="4500532"/>
            <a:ext cx="1876650" cy="72299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5B5463F8-EB60-1604-0A6A-D7CEDBCA1F7C}"/>
              </a:ext>
            </a:extLst>
          </p:cNvPr>
          <p:cNvCxnSpPr>
            <a:cxnSpLocks/>
            <a:stCxn id="41" idx="6"/>
            <a:endCxn id="44" idx="6"/>
          </p:cNvCxnSpPr>
          <p:nvPr/>
        </p:nvCxnSpPr>
        <p:spPr>
          <a:xfrm>
            <a:off x="11105222" y="3261859"/>
            <a:ext cx="702547" cy="1906133"/>
          </a:xfrm>
          <a:prstGeom prst="bentConnector3">
            <a:avLst>
              <a:gd name="adj1" fmla="val 132539"/>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2" name="Right Brace 141">
            <a:extLst>
              <a:ext uri="{FF2B5EF4-FFF2-40B4-BE49-F238E27FC236}">
                <a16:creationId xmlns:a16="http://schemas.microsoft.com/office/drawing/2014/main" id="{AD8DDB79-14CE-5969-2B12-3B6A6149E024}"/>
              </a:ext>
            </a:extLst>
          </p:cNvPr>
          <p:cNvSpPr/>
          <p:nvPr/>
        </p:nvSpPr>
        <p:spPr>
          <a:xfrm rot="5400000">
            <a:off x="8381502" y="2339844"/>
            <a:ext cx="195481" cy="669219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3" name="Arrow: Circular 162">
            <a:extLst>
              <a:ext uri="{FF2B5EF4-FFF2-40B4-BE49-F238E27FC236}">
                <a16:creationId xmlns:a16="http://schemas.microsoft.com/office/drawing/2014/main" id="{065127CC-7B5C-1F8E-FC4C-31FFF5417442}"/>
              </a:ext>
            </a:extLst>
          </p:cNvPr>
          <p:cNvSpPr/>
          <p:nvPr/>
        </p:nvSpPr>
        <p:spPr>
          <a:xfrm rot="16665435" flipH="1">
            <a:off x="6450569" y="2753075"/>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74" name="Arrow: Right 173">
            <a:extLst>
              <a:ext uri="{FF2B5EF4-FFF2-40B4-BE49-F238E27FC236}">
                <a16:creationId xmlns:a16="http://schemas.microsoft.com/office/drawing/2014/main" id="{6B446183-4F05-9F9A-53B2-B3462368A381}"/>
              </a:ext>
            </a:extLst>
          </p:cNvPr>
          <p:cNvSpPr/>
          <p:nvPr/>
        </p:nvSpPr>
        <p:spPr>
          <a:xfrm>
            <a:off x="4994820" y="2330384"/>
            <a:ext cx="502078" cy="186847"/>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75" name="Arrow: Right 174">
            <a:extLst>
              <a:ext uri="{FF2B5EF4-FFF2-40B4-BE49-F238E27FC236}">
                <a16:creationId xmlns:a16="http://schemas.microsoft.com/office/drawing/2014/main" id="{5A38AFBB-054E-C8DE-6BA9-59C7BFD6B5AB}"/>
              </a:ext>
            </a:extLst>
          </p:cNvPr>
          <p:cNvSpPr/>
          <p:nvPr/>
        </p:nvSpPr>
        <p:spPr>
          <a:xfrm>
            <a:off x="6537235" y="2330384"/>
            <a:ext cx="502078" cy="186847"/>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46" name="TextBox 45">
            <a:extLst>
              <a:ext uri="{FF2B5EF4-FFF2-40B4-BE49-F238E27FC236}">
                <a16:creationId xmlns:a16="http://schemas.microsoft.com/office/drawing/2014/main" id="{56F8C265-5B90-841B-4837-769E47D316DA}"/>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dirty="0">
                <a:latin typeface="Meiryo UI" panose="020B0604030504040204" pitchFamily="50" charset="-128"/>
                <a:ea typeface="Meiryo UI" panose="020B0604030504040204" pitchFamily="50" charset="-128"/>
              </a:rPr>
              <a:t>Lee K et al. Estimation of the Lifetime Quality-Adjusted Life Years (QALYs) Lost Due to Syphilis Acquired in the United States in 2018. CID. 2023;76(3):e810-e819. doi:10.1093/</a:t>
            </a:r>
            <a:r>
              <a:rPr lang="en-US" sz="1200" dirty="0" err="1">
                <a:latin typeface="Meiryo UI" panose="020B0604030504040204" pitchFamily="50" charset="-128"/>
                <a:ea typeface="Meiryo UI" panose="020B0604030504040204" pitchFamily="50" charset="-128"/>
              </a:rPr>
              <a:t>cid</a:t>
            </a:r>
            <a:r>
              <a:rPr lang="en-US" sz="1200" dirty="0">
                <a:latin typeface="Meiryo UI" panose="020B0604030504040204" pitchFamily="50" charset="-128"/>
                <a:ea typeface="Meiryo UI" panose="020B0604030504040204" pitchFamily="50" charset="-128"/>
              </a:rPr>
              <a:t>/ciac427</a:t>
            </a:r>
          </a:p>
        </p:txBody>
      </p:sp>
      <p:sp>
        <p:nvSpPr>
          <p:cNvPr id="50" name="Arrow: Circular 49">
            <a:extLst>
              <a:ext uri="{FF2B5EF4-FFF2-40B4-BE49-F238E27FC236}">
                <a16:creationId xmlns:a16="http://schemas.microsoft.com/office/drawing/2014/main" id="{D43378AB-91C8-4D31-E459-EC5E78FCD144}"/>
              </a:ext>
            </a:extLst>
          </p:cNvPr>
          <p:cNvSpPr/>
          <p:nvPr/>
        </p:nvSpPr>
        <p:spPr>
          <a:xfrm rot="16665435" flipH="1">
            <a:off x="9889028" y="2753075"/>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2" name="Arrow: Circular 51">
            <a:extLst>
              <a:ext uri="{FF2B5EF4-FFF2-40B4-BE49-F238E27FC236}">
                <a16:creationId xmlns:a16="http://schemas.microsoft.com/office/drawing/2014/main" id="{02F8E0BE-8305-CF8E-7D57-4EAE7702F7FC}"/>
              </a:ext>
            </a:extLst>
          </p:cNvPr>
          <p:cNvSpPr/>
          <p:nvPr/>
        </p:nvSpPr>
        <p:spPr>
          <a:xfrm rot="16665435" flipH="1">
            <a:off x="6450569"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3" name="Arrow: Circular 52">
            <a:extLst>
              <a:ext uri="{FF2B5EF4-FFF2-40B4-BE49-F238E27FC236}">
                <a16:creationId xmlns:a16="http://schemas.microsoft.com/office/drawing/2014/main" id="{C89CA2B7-F562-9503-EB9F-F3C14B99932F}"/>
              </a:ext>
            </a:extLst>
          </p:cNvPr>
          <p:cNvSpPr/>
          <p:nvPr/>
        </p:nvSpPr>
        <p:spPr>
          <a:xfrm rot="16665435" flipH="1">
            <a:off x="5004664"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4" name="Arrow: Circular 53">
            <a:extLst>
              <a:ext uri="{FF2B5EF4-FFF2-40B4-BE49-F238E27FC236}">
                <a16:creationId xmlns:a16="http://schemas.microsoft.com/office/drawing/2014/main" id="{B3EBB63A-A919-C556-5E81-397AA6CD325D}"/>
              </a:ext>
            </a:extLst>
          </p:cNvPr>
          <p:cNvSpPr/>
          <p:nvPr/>
        </p:nvSpPr>
        <p:spPr>
          <a:xfrm rot="16665435" flipH="1">
            <a:off x="8021841" y="3550824"/>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6" name="Arrow: Circular 55">
            <a:extLst>
              <a:ext uri="{FF2B5EF4-FFF2-40B4-BE49-F238E27FC236}">
                <a16:creationId xmlns:a16="http://schemas.microsoft.com/office/drawing/2014/main" id="{8EAE6D2C-8ABE-3298-A136-F8BF8E4A534E}"/>
              </a:ext>
            </a:extLst>
          </p:cNvPr>
          <p:cNvSpPr/>
          <p:nvPr/>
        </p:nvSpPr>
        <p:spPr>
          <a:xfrm rot="16665435" flipH="1">
            <a:off x="9248036"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8" name="Arrow: Circular 57">
            <a:extLst>
              <a:ext uri="{FF2B5EF4-FFF2-40B4-BE49-F238E27FC236}">
                <a16:creationId xmlns:a16="http://schemas.microsoft.com/office/drawing/2014/main" id="{380C9CAD-B840-4115-845A-8D936FDD195E}"/>
              </a:ext>
            </a:extLst>
          </p:cNvPr>
          <p:cNvSpPr/>
          <p:nvPr/>
        </p:nvSpPr>
        <p:spPr>
          <a:xfrm rot="16665435" flipH="1">
            <a:off x="10633757" y="3682579"/>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9" name="Arrow: Circular 58">
            <a:extLst>
              <a:ext uri="{FF2B5EF4-FFF2-40B4-BE49-F238E27FC236}">
                <a16:creationId xmlns:a16="http://schemas.microsoft.com/office/drawing/2014/main" id="{96812B89-516A-83B2-5D50-C6CD12AD4018}"/>
              </a:ext>
            </a:extLst>
          </p:cNvPr>
          <p:cNvSpPr/>
          <p:nvPr/>
        </p:nvSpPr>
        <p:spPr>
          <a:xfrm rot="16665435" flipH="1">
            <a:off x="6604442" y="4566195"/>
            <a:ext cx="365760" cy="365760"/>
          </a:xfrm>
          <a:prstGeom prst="circularArrow">
            <a:avLst>
              <a:gd name="adj1" fmla="val 11003"/>
              <a:gd name="adj2" fmla="val 1219713"/>
              <a:gd name="adj3" fmla="val 19819579"/>
              <a:gd name="adj4" fmla="val 5486935"/>
              <a:gd name="adj5" fmla="val 11196"/>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61" name="Arrow: Circular 60">
            <a:extLst>
              <a:ext uri="{FF2B5EF4-FFF2-40B4-BE49-F238E27FC236}">
                <a16:creationId xmlns:a16="http://schemas.microsoft.com/office/drawing/2014/main" id="{E7A1E9B2-6168-DCF2-3E2E-D0F2296543A5}"/>
              </a:ext>
            </a:extLst>
          </p:cNvPr>
          <p:cNvSpPr/>
          <p:nvPr/>
        </p:nvSpPr>
        <p:spPr>
          <a:xfrm rot="16665435" flipH="1">
            <a:off x="10633757" y="4632730"/>
            <a:ext cx="365760" cy="365760"/>
          </a:xfrm>
          <a:prstGeom prst="circularArrow">
            <a:avLst>
              <a:gd name="adj1" fmla="val 11003"/>
              <a:gd name="adj2" fmla="val 1219713"/>
              <a:gd name="adj3" fmla="val 19819579"/>
              <a:gd name="adj4" fmla="val 5486935"/>
              <a:gd name="adj5" fmla="val 11196"/>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62" name="Arrow: Circular 61">
            <a:extLst>
              <a:ext uri="{FF2B5EF4-FFF2-40B4-BE49-F238E27FC236}">
                <a16:creationId xmlns:a16="http://schemas.microsoft.com/office/drawing/2014/main" id="{5F35F36B-E0F8-0E7E-0577-DDCB1A8A905A}"/>
              </a:ext>
            </a:extLst>
          </p:cNvPr>
          <p:cNvSpPr/>
          <p:nvPr/>
        </p:nvSpPr>
        <p:spPr>
          <a:xfrm rot="16665435" flipH="1">
            <a:off x="7759817" y="5688027"/>
            <a:ext cx="365760" cy="365760"/>
          </a:xfrm>
          <a:prstGeom prst="circularArrow">
            <a:avLst>
              <a:gd name="adj1" fmla="val 11003"/>
              <a:gd name="adj2" fmla="val 1219713"/>
              <a:gd name="adj3" fmla="val 19819579"/>
              <a:gd name="adj4" fmla="val 5486935"/>
              <a:gd name="adj5" fmla="val 1119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88354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4DCED-BEF9-F722-C754-4891439C89D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C707F9-EFEC-35E0-8187-8251F3B4AFB5}"/>
              </a:ext>
            </a:extLst>
          </p:cNvPr>
          <p:cNvPicPr>
            <a:picLocks noChangeAspect="1"/>
          </p:cNvPicPr>
          <p:nvPr/>
        </p:nvPicPr>
        <p:blipFill>
          <a:blip r:embed="rId2"/>
          <a:stretch>
            <a:fillRect/>
          </a:stretch>
        </p:blipFill>
        <p:spPr>
          <a:xfrm>
            <a:off x="4881554" y="2244415"/>
            <a:ext cx="6534370" cy="3768763"/>
          </a:xfrm>
          <a:prstGeom prst="rect">
            <a:avLst/>
          </a:prstGeom>
        </p:spPr>
      </p:pic>
      <p:sp>
        <p:nvSpPr>
          <p:cNvPr id="2" name="Title 1">
            <a:extLst>
              <a:ext uri="{FF2B5EF4-FFF2-40B4-BE49-F238E27FC236}">
                <a16:creationId xmlns:a16="http://schemas.microsoft.com/office/drawing/2014/main" id="{E71058BF-17E3-9C6A-942F-EB5ED265C3B6}"/>
              </a:ext>
            </a:extLst>
          </p:cNvPr>
          <p:cNvSpPr>
            <a:spLocks noGrp="1"/>
          </p:cNvSpPr>
          <p:nvPr>
            <p:ph type="title"/>
          </p:nvPr>
        </p:nvSpPr>
        <p:spPr/>
        <p:txBody>
          <a:bodyPr/>
          <a:lstStyle/>
          <a:p>
            <a:r>
              <a:rPr lang="ja-JP" altLang="en-US" dirty="0"/>
              <a:t>分析のプロセス</a:t>
            </a:r>
            <a:r>
              <a:rPr lang="en-US" altLang="ja-JP" dirty="0"/>
              <a:t>―</a:t>
            </a:r>
            <a:r>
              <a:rPr lang="ja-JP" altLang="en-US" dirty="0"/>
              <a:t>④シミュレーションモデルの設計</a:t>
            </a:r>
            <a:r>
              <a:rPr lang="en-US" altLang="ja-JP" dirty="0"/>
              <a:t>(</a:t>
            </a:r>
            <a:r>
              <a:rPr lang="ja-JP" altLang="en-US" dirty="0"/>
              <a:t>例</a:t>
            </a:r>
            <a:r>
              <a:rPr lang="en-US" altLang="ja-JP" dirty="0"/>
              <a:t>)</a:t>
            </a:r>
            <a:endParaRPr lang="en-US" dirty="0"/>
          </a:p>
        </p:txBody>
      </p:sp>
      <p:sp>
        <p:nvSpPr>
          <p:cNvPr id="4" name="Slide Number Placeholder 3">
            <a:extLst>
              <a:ext uri="{FF2B5EF4-FFF2-40B4-BE49-F238E27FC236}">
                <a16:creationId xmlns:a16="http://schemas.microsoft.com/office/drawing/2014/main" id="{621DAF6C-6777-4A94-D0E8-69FC5271633B}"/>
              </a:ext>
            </a:extLst>
          </p:cNvPr>
          <p:cNvSpPr>
            <a:spLocks noGrp="1"/>
          </p:cNvSpPr>
          <p:nvPr>
            <p:ph type="sldNum" sz="quarter" idx="4"/>
          </p:nvPr>
        </p:nvSpPr>
        <p:spPr/>
        <p:txBody>
          <a:bodyPr/>
          <a:lstStyle/>
          <a:p>
            <a:fld id="{B5CEABB6-07DC-46E8-9B57-56EC44A396E5}" type="slidenum">
              <a:rPr lang="en-US" smtClean="0"/>
              <a:pPr/>
              <a:t>17</a:t>
            </a:fld>
            <a:endParaRPr lang="en-US" dirty="0"/>
          </a:p>
        </p:txBody>
      </p:sp>
      <p:sp>
        <p:nvSpPr>
          <p:cNvPr id="5" name="Table Placeholder 4">
            <a:extLst>
              <a:ext uri="{FF2B5EF4-FFF2-40B4-BE49-F238E27FC236}">
                <a16:creationId xmlns:a16="http://schemas.microsoft.com/office/drawing/2014/main" id="{1481204C-808E-E8C8-F3BE-52D4E6BF2FB3}"/>
              </a:ext>
            </a:extLst>
          </p:cNvPr>
          <p:cNvSpPr>
            <a:spLocks noGrp="1"/>
          </p:cNvSpPr>
          <p:nvPr>
            <p:ph type="tbl" sz="quarter" idx="11"/>
          </p:nvPr>
        </p:nvSpPr>
        <p:spPr/>
        <p:txBody>
          <a:bodyPr/>
          <a:lstStyle/>
          <a:p>
            <a:r>
              <a:rPr lang="ja-JP" altLang="en-US" dirty="0"/>
              <a:t>モデルの構造は意思決定者によって違うかもしれない</a:t>
            </a:r>
          </a:p>
        </p:txBody>
      </p:sp>
      <p:grpSp>
        <p:nvGrpSpPr>
          <p:cNvPr id="6" name="Group 5">
            <a:extLst>
              <a:ext uri="{FF2B5EF4-FFF2-40B4-BE49-F238E27FC236}">
                <a16:creationId xmlns:a16="http://schemas.microsoft.com/office/drawing/2014/main" id="{3017F4DD-BBFC-F014-50D2-DF194B67BA01}"/>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0ED80A4D-CC53-538D-3153-C6D75E95738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844C054B-AF02-C8F1-F696-FC62AA246023}"/>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08A5FE50-461D-24E0-EBF5-43485BCA92DB}"/>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AC87D9E1-824D-C01A-5472-A329CA564703}"/>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876E2337-D99D-4E0A-FE54-665C751F3EAD}"/>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　　シミュレーションモデルの設計</a:t>
            </a:r>
            <a:endParaRPr lang="en-US" b="1"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BE566BE3-2097-3E26-D2E7-677A0AD5477E}"/>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4A9F0774-FE8E-3359-4E78-0A83FFC14553}"/>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7C9BC976-928C-B9EA-3E86-E4FF87DDD294}"/>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F18A13D5-1658-F9AF-C607-63BDEE196978}"/>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546EF570-05CF-D28A-1608-FE45B2C55D88}"/>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50A2BE26-3340-7C50-1B9E-9407A026D4C3}"/>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9F6EA9CE-BDD9-8305-3CA9-E295D74A969B}"/>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C05157CC-B8D9-388D-0439-80BB0F175546}"/>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7A794579-0282-8D2B-88C2-192FCD7C0CB6}"/>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5DCD38C2-99AB-DA9A-BC14-84A00C8AA11C}"/>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507D0A8A-625E-5927-3F31-EFCF8BDCE2BA}"/>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9E587532-B2CA-08AC-BD1E-EB346351FB8C}"/>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CA3B81FC-0BC0-612D-0A3E-DC15BF37B2C7}"/>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2D9AAEA7-BDF7-3623-8B3E-C8C216C19D36}"/>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EC7B8158-12CA-313C-D393-34ACDE6C2FB9}"/>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65F5FC6C-4EEF-EF66-DC42-E2BDCBEAFDDD}"/>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C1A03A7C-DEA3-5C47-ACAE-8BADBD7724BF}"/>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４</a:t>
            </a:r>
            <a:endParaRPr lang="en-US" b="1"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F0571565-0553-BAC8-98A0-B3177193682E}"/>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090C0436-446C-B057-ED3C-D147FCE02001}"/>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9EAB638B-BDBE-939A-716A-46EE74E61EEE}"/>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D517043A-A3EF-713F-8675-6E9EF3A708F9}"/>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37" name="Rectangle 36">
            <a:extLst>
              <a:ext uri="{FF2B5EF4-FFF2-40B4-BE49-F238E27FC236}">
                <a16:creationId xmlns:a16="http://schemas.microsoft.com/office/drawing/2014/main" id="{0CD7B727-B326-0A51-4642-BE27D7153CE6}"/>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8" name="Table Placeholder 2">
            <a:extLst>
              <a:ext uri="{FF2B5EF4-FFF2-40B4-BE49-F238E27FC236}">
                <a16:creationId xmlns:a16="http://schemas.microsoft.com/office/drawing/2014/main" id="{5CDA3B97-51FA-A184-FC4A-C8E1544581FA}"/>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梅毒の進行モデル</a:t>
            </a:r>
            <a:r>
              <a:rPr lang="en-US" altLang="ja-JP" sz="1800" dirty="0"/>
              <a:t>(Lee et al. 2023)</a:t>
            </a:r>
            <a:endParaRPr lang="en-US" altLang="ja-JP" sz="2000" dirty="0"/>
          </a:p>
        </p:txBody>
      </p:sp>
      <p:cxnSp>
        <p:nvCxnSpPr>
          <p:cNvPr id="34" name="Straight Connector 33">
            <a:extLst>
              <a:ext uri="{FF2B5EF4-FFF2-40B4-BE49-F238E27FC236}">
                <a16:creationId xmlns:a16="http://schemas.microsoft.com/office/drawing/2014/main" id="{4F22FEBB-C7C9-5900-3F90-6257574EC1C6}"/>
              </a:ext>
            </a:extLst>
          </p:cNvPr>
          <p:cNvCxnSpPr>
            <a:cxnSpLocks/>
            <a:stCxn id="11" idx="3"/>
            <a:endCxn id="37" idx="1"/>
          </p:cNvCxnSpPr>
          <p:nvPr/>
        </p:nvCxnSpPr>
        <p:spPr>
          <a:xfrm>
            <a:off x="3989294" y="3980902"/>
            <a:ext cx="705628" cy="303251"/>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7AFCA854-D527-C026-C922-0965435BC844}"/>
              </a:ext>
            </a:extLst>
          </p:cNvPr>
          <p:cNvSpPr/>
          <p:nvPr/>
        </p:nvSpPr>
        <p:spPr>
          <a:xfrm>
            <a:off x="7511449" y="3597632"/>
            <a:ext cx="2453646" cy="965539"/>
          </a:xfrm>
          <a:prstGeom prst="roundRect">
            <a:avLst/>
          </a:prstGeom>
          <a:solidFill>
            <a:srgbClr val="D6DCE5">
              <a:alpha val="30196"/>
            </a:srgbClr>
          </a:solid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88" name="Straight Connector 87">
            <a:extLst>
              <a:ext uri="{FF2B5EF4-FFF2-40B4-BE49-F238E27FC236}">
                <a16:creationId xmlns:a16="http://schemas.microsoft.com/office/drawing/2014/main" id="{34B3A879-0992-D343-4E14-EF3D6354ED66}"/>
              </a:ext>
            </a:extLst>
          </p:cNvPr>
          <p:cNvCxnSpPr>
            <a:cxnSpLocks/>
            <a:stCxn id="86" idx="2"/>
            <a:endCxn id="102" idx="0"/>
          </p:cNvCxnSpPr>
          <p:nvPr/>
        </p:nvCxnSpPr>
        <p:spPr>
          <a:xfrm>
            <a:off x="8738272" y="4563171"/>
            <a:ext cx="1534794" cy="114086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33067B4C-77EF-83ED-E04A-D229E6F10094}"/>
              </a:ext>
            </a:extLst>
          </p:cNvPr>
          <p:cNvSpPr/>
          <p:nvPr/>
        </p:nvSpPr>
        <p:spPr>
          <a:xfrm>
            <a:off x="8986028" y="5704031"/>
            <a:ext cx="2574076" cy="3925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まとめてもよいかもしれない</a:t>
            </a:r>
            <a:endParaRPr lang="en-US" dirty="0">
              <a:solidFill>
                <a:schemeClr val="tx1"/>
              </a:solidFill>
              <a:latin typeface="Meiryo UI" panose="020B0604030504040204" pitchFamily="50" charset="-128"/>
              <a:ea typeface="Meiryo UI" panose="020B0604030504040204" pitchFamily="50" charset="-128"/>
            </a:endParaRPr>
          </a:p>
        </p:txBody>
      </p:sp>
      <p:sp>
        <p:nvSpPr>
          <p:cNvPr id="40" name="TextBox 39">
            <a:extLst>
              <a:ext uri="{FF2B5EF4-FFF2-40B4-BE49-F238E27FC236}">
                <a16:creationId xmlns:a16="http://schemas.microsoft.com/office/drawing/2014/main" id="{13B2681A-DCBE-3555-5186-D9BBD68EC48B}"/>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dirty="0">
                <a:latin typeface="Meiryo UI" panose="020B0604030504040204" pitchFamily="50" charset="-128"/>
                <a:ea typeface="Meiryo UI" panose="020B0604030504040204" pitchFamily="50" charset="-128"/>
              </a:rPr>
              <a:t>Lee K et al. Estimation of the Lifetime Quality-Adjusted Life Years (QALYs) Lost Due to Syphilis Acquired in the United States in 2018. CID. 2023;76(3):e810-e819. doi:10.1093/</a:t>
            </a:r>
            <a:r>
              <a:rPr lang="en-US" sz="1200" dirty="0" err="1">
                <a:latin typeface="Meiryo UI" panose="020B0604030504040204" pitchFamily="50" charset="-128"/>
                <a:ea typeface="Meiryo UI" panose="020B0604030504040204" pitchFamily="50" charset="-128"/>
              </a:rPr>
              <a:t>cid</a:t>
            </a:r>
            <a:r>
              <a:rPr lang="en-US" sz="1200" dirty="0">
                <a:latin typeface="Meiryo UI" panose="020B0604030504040204" pitchFamily="50" charset="-128"/>
                <a:ea typeface="Meiryo UI" panose="020B0604030504040204" pitchFamily="50" charset="-128"/>
              </a:rPr>
              <a:t>/ciac427</a:t>
            </a:r>
          </a:p>
        </p:txBody>
      </p:sp>
    </p:spTree>
    <p:extLst>
      <p:ext uri="{BB962C8B-B14F-4D97-AF65-F5344CB8AC3E}">
        <p14:creationId xmlns:p14="http://schemas.microsoft.com/office/powerpoint/2010/main" val="1752348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84205-2887-F6DD-5BF2-99B6C1F6D444}"/>
            </a:ext>
          </a:extLst>
        </p:cNvPr>
        <p:cNvGrpSpPr/>
        <p:nvPr/>
      </p:nvGrpSpPr>
      <p:grpSpPr>
        <a:xfrm>
          <a:off x="0" y="0"/>
          <a:ext cx="0" cy="0"/>
          <a:chOff x="0" y="0"/>
          <a:chExt cx="0" cy="0"/>
        </a:xfrm>
      </p:grpSpPr>
      <p:sp>
        <p:nvSpPr>
          <p:cNvPr id="3" name="Table Placeholder 2">
            <a:extLst>
              <a:ext uri="{FF2B5EF4-FFF2-40B4-BE49-F238E27FC236}">
                <a16:creationId xmlns:a16="http://schemas.microsoft.com/office/drawing/2014/main" id="{58D24263-8AAF-C672-F8A3-E7E80F83CE11}"/>
              </a:ext>
            </a:extLst>
          </p:cNvPr>
          <p:cNvSpPr>
            <a:spLocks noGrp="1"/>
          </p:cNvSpPr>
          <p:nvPr>
            <p:ph type="tbl" sz="quarter" idx="10"/>
          </p:nvPr>
        </p:nvSpPr>
        <p:spPr>
          <a:xfrm>
            <a:off x="4815839" y="1938130"/>
            <a:ext cx="6909021" cy="4692045"/>
          </a:xfrm>
          <a:ln>
            <a:noFill/>
          </a:ln>
        </p:spPr>
        <p:txBody>
          <a:bodyPr/>
          <a:lstStyle/>
          <a:p>
            <a:r>
              <a:rPr lang="ja-JP" altLang="en-US" dirty="0"/>
              <a:t>質の高いエビデンスを探す。ない場合もある</a:t>
            </a:r>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endParaRPr lang="ja-JP" altLang="en-US" dirty="0"/>
          </a:p>
          <a:p>
            <a:r>
              <a:rPr lang="ja-JP" altLang="en-US" dirty="0"/>
              <a:t>質の高いエビデンスでも不確実性は存在</a:t>
            </a:r>
            <a:endParaRPr lang="en-US" altLang="ja-JP" dirty="0"/>
          </a:p>
          <a:p>
            <a:pPr lvl="1"/>
            <a:r>
              <a:rPr lang="ja-JP" altLang="en-US" sz="2000" dirty="0"/>
              <a:t>例</a:t>
            </a:r>
            <a:r>
              <a:rPr lang="en-US" altLang="ja-JP" sz="2000" dirty="0"/>
              <a:t>:95%</a:t>
            </a:r>
            <a:r>
              <a:rPr lang="ja-JP" altLang="en-US" sz="2000" dirty="0"/>
              <a:t>信頼区間、四分位範囲→考慮する方法は後程</a:t>
            </a:r>
            <a:endParaRPr lang="en-US" altLang="ja-JP" sz="2000" dirty="0"/>
          </a:p>
        </p:txBody>
      </p:sp>
      <p:sp>
        <p:nvSpPr>
          <p:cNvPr id="42" name="Isosceles Triangle 41">
            <a:extLst>
              <a:ext uri="{FF2B5EF4-FFF2-40B4-BE49-F238E27FC236}">
                <a16:creationId xmlns:a16="http://schemas.microsoft.com/office/drawing/2014/main" id="{C3546FE5-29D3-3248-822C-41A3CB0B538B}"/>
              </a:ext>
            </a:extLst>
          </p:cNvPr>
          <p:cNvSpPr>
            <a:spLocks noChangeAspect="1"/>
          </p:cNvSpPr>
          <p:nvPr/>
        </p:nvSpPr>
        <p:spPr>
          <a:xfrm>
            <a:off x="6542222" y="2863273"/>
            <a:ext cx="3420000" cy="2565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9" name="Isosceles Triangle 38">
            <a:extLst>
              <a:ext uri="{FF2B5EF4-FFF2-40B4-BE49-F238E27FC236}">
                <a16:creationId xmlns:a16="http://schemas.microsoft.com/office/drawing/2014/main" id="{F76D9176-92D3-042A-5DDA-7C7DD252E3A0}"/>
              </a:ext>
            </a:extLst>
          </p:cNvPr>
          <p:cNvSpPr>
            <a:spLocks noChangeAspect="1"/>
          </p:cNvSpPr>
          <p:nvPr/>
        </p:nvSpPr>
        <p:spPr>
          <a:xfrm>
            <a:off x="6812222" y="2863273"/>
            <a:ext cx="2880000" cy="2160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8" name="Isosceles Triangle 37">
            <a:extLst>
              <a:ext uri="{FF2B5EF4-FFF2-40B4-BE49-F238E27FC236}">
                <a16:creationId xmlns:a16="http://schemas.microsoft.com/office/drawing/2014/main" id="{5FD1693C-5F0D-A5F7-4509-B2796B9C7D37}"/>
              </a:ext>
            </a:extLst>
          </p:cNvPr>
          <p:cNvSpPr>
            <a:spLocks noChangeAspect="1"/>
          </p:cNvSpPr>
          <p:nvPr/>
        </p:nvSpPr>
        <p:spPr>
          <a:xfrm>
            <a:off x="7082222" y="2863273"/>
            <a:ext cx="2340000" cy="1755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7" name="Isosceles Triangle 36">
            <a:extLst>
              <a:ext uri="{FF2B5EF4-FFF2-40B4-BE49-F238E27FC236}">
                <a16:creationId xmlns:a16="http://schemas.microsoft.com/office/drawing/2014/main" id="{07A2B10C-2E83-BA65-945E-E868F03DE563}"/>
              </a:ext>
            </a:extLst>
          </p:cNvPr>
          <p:cNvSpPr>
            <a:spLocks noChangeAspect="1"/>
          </p:cNvSpPr>
          <p:nvPr/>
        </p:nvSpPr>
        <p:spPr>
          <a:xfrm>
            <a:off x="7352222" y="2863273"/>
            <a:ext cx="1800000" cy="1350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6" name="Isosceles Triangle 35">
            <a:extLst>
              <a:ext uri="{FF2B5EF4-FFF2-40B4-BE49-F238E27FC236}">
                <a16:creationId xmlns:a16="http://schemas.microsoft.com/office/drawing/2014/main" id="{0657BD31-D51D-A47A-84CE-B22E90F0650B}"/>
              </a:ext>
            </a:extLst>
          </p:cNvPr>
          <p:cNvSpPr>
            <a:spLocks noChangeAspect="1"/>
          </p:cNvSpPr>
          <p:nvPr/>
        </p:nvSpPr>
        <p:spPr>
          <a:xfrm>
            <a:off x="7622222" y="2863273"/>
            <a:ext cx="1260000" cy="945000"/>
          </a:xfrm>
          <a:prstGeom prst="triangl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Meiryo UI" panose="020B0604030504040204" pitchFamily="50" charset="-128"/>
                <a:ea typeface="Meiryo UI" panose="020B0604030504040204" pitchFamily="50" charset="-128"/>
              </a:rPr>
              <a:t>RCT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E5F7013D-B32E-E1E1-0EE1-D5F296210D40}"/>
              </a:ext>
            </a:extLst>
          </p:cNvPr>
          <p:cNvSpPr>
            <a:spLocks noGrp="1"/>
          </p:cNvSpPr>
          <p:nvPr>
            <p:ph type="title"/>
          </p:nvPr>
        </p:nvSpPr>
        <p:spPr/>
        <p:txBody>
          <a:bodyPr/>
          <a:lstStyle/>
          <a:p>
            <a:r>
              <a:rPr lang="ja-JP" altLang="en-US" dirty="0"/>
              <a:t>分析のプロセス</a:t>
            </a:r>
            <a:r>
              <a:rPr lang="en-US" altLang="ja-JP" dirty="0"/>
              <a:t>―</a:t>
            </a:r>
            <a:r>
              <a:rPr lang="ja-JP" altLang="en-US" dirty="0"/>
              <a:t>⑤モデルのインプットの選択</a:t>
            </a:r>
            <a:endParaRPr lang="en-US" dirty="0"/>
          </a:p>
        </p:txBody>
      </p:sp>
      <p:sp>
        <p:nvSpPr>
          <p:cNvPr id="4" name="Slide Number Placeholder 3">
            <a:extLst>
              <a:ext uri="{FF2B5EF4-FFF2-40B4-BE49-F238E27FC236}">
                <a16:creationId xmlns:a16="http://schemas.microsoft.com/office/drawing/2014/main" id="{F77E6BFD-15A3-CFAA-8D01-71F0E153D7C0}"/>
              </a:ext>
            </a:extLst>
          </p:cNvPr>
          <p:cNvSpPr>
            <a:spLocks noGrp="1"/>
          </p:cNvSpPr>
          <p:nvPr>
            <p:ph type="sldNum" sz="quarter" idx="4"/>
          </p:nvPr>
        </p:nvSpPr>
        <p:spPr/>
        <p:txBody>
          <a:bodyPr/>
          <a:lstStyle/>
          <a:p>
            <a:fld id="{B5CEABB6-07DC-46E8-9B57-56EC44A396E5}" type="slidenum">
              <a:rPr lang="en-US" smtClean="0"/>
              <a:pPr/>
              <a:t>18</a:t>
            </a:fld>
            <a:endParaRPr lang="en-US" dirty="0"/>
          </a:p>
        </p:txBody>
      </p:sp>
      <p:sp>
        <p:nvSpPr>
          <p:cNvPr id="5" name="Table Placeholder 4">
            <a:extLst>
              <a:ext uri="{FF2B5EF4-FFF2-40B4-BE49-F238E27FC236}">
                <a16:creationId xmlns:a16="http://schemas.microsoft.com/office/drawing/2014/main" id="{5053BA13-5940-1B9B-E4DD-343E13044572}"/>
              </a:ext>
            </a:extLst>
          </p:cNvPr>
          <p:cNvSpPr>
            <a:spLocks noGrp="1"/>
          </p:cNvSpPr>
          <p:nvPr>
            <p:ph type="tbl" sz="quarter" idx="11"/>
          </p:nvPr>
        </p:nvSpPr>
        <p:spPr/>
        <p:txBody>
          <a:bodyPr/>
          <a:lstStyle/>
          <a:p>
            <a:r>
              <a:rPr lang="ja-JP" altLang="en-US" dirty="0"/>
              <a:t>構造化した要素関係やアウトカム指標に関する数値を既存のエビデンスから探す</a:t>
            </a:r>
            <a:endParaRPr lang="en-US" dirty="0"/>
          </a:p>
        </p:txBody>
      </p:sp>
      <p:grpSp>
        <p:nvGrpSpPr>
          <p:cNvPr id="6" name="Group 5">
            <a:extLst>
              <a:ext uri="{FF2B5EF4-FFF2-40B4-BE49-F238E27FC236}">
                <a16:creationId xmlns:a16="http://schemas.microsoft.com/office/drawing/2014/main" id="{C01ED72F-479F-D994-EDDF-35381AF3B6F0}"/>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5FAF4C5B-3E14-ECF9-2941-70C51BE7925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B1F4C542-A1C0-BBE1-76EA-23B068022473}"/>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EEB786A6-3027-520C-D64C-CB790C408134}"/>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6C5426AE-1A58-B680-1DE3-1970053632C9}"/>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7DED68B6-5857-255D-6E1B-75D46CA9B584}"/>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D3560BC2-F0A7-5291-6A15-DB5B241C799E}"/>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47C7030B-9508-6A36-BE59-3EF6A620CEE2}"/>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9B12E756-28A1-52BE-C9F3-9DF31ECAADD4}"/>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2B3A80C3-B6AA-1682-7A62-F27A7026D844}"/>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モデルのインプットの選択</a:t>
            </a:r>
            <a:endParaRPr lang="en-US" b="1"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CCFBDBBE-7A51-8536-116E-0F666940DFD5}"/>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5BBF5064-E8F5-5F33-78A0-06F4930FF42E}"/>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030B05E2-0DD5-3CCC-F6CB-E06A8BF6779D}"/>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9D495706-022A-677E-3F1D-69D001C726C8}"/>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9BB1FA20-BF13-40E2-404E-F0F8D8F1771C}"/>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784F52B5-B8DC-8DFA-E254-32F0D15AAA1A}"/>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55C10FE3-011F-FBFD-4B53-A2B074F78E2E}"/>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E247D7FE-D493-0503-97BB-8AEFD380DD29}"/>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D7BB8917-483F-B4B5-7086-EF8D3C27E712}"/>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D6C61843-C9F6-45A4-67EE-57BC451B30AC}"/>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3617E5E7-A665-E895-5D18-DF7784E62A2E}"/>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D2B315E8-84DA-8ED8-1E17-82D8DE8A7682}"/>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19469F9E-F822-6339-604B-599B9F0A9F12}"/>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371826F4-68E0-A74B-71AF-912F53A2D1DB}"/>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５</a:t>
            </a:r>
            <a:endParaRPr lang="en-US" b="1"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A57FF13C-44F4-0DC4-AEF7-753018EE724D}"/>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38B7A43F-E0AB-ACD0-6887-4D8C9D449443}"/>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2A853E5D-8E28-FC92-263D-821F553009B0}"/>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1854FC0E-1288-E571-A259-056A96905B99}"/>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1E4E4283-646F-8897-05D2-40CDDCE48208}"/>
              </a:ext>
            </a:extLst>
          </p:cNvPr>
          <p:cNvCxnSpPr>
            <a:cxnSpLocks/>
            <a:stCxn id="15" idx="3"/>
            <a:endCxn id="40" idx="1"/>
          </p:cNvCxnSpPr>
          <p:nvPr/>
        </p:nvCxnSpPr>
        <p:spPr>
          <a:xfrm flipV="1">
            <a:off x="3989294" y="4284153"/>
            <a:ext cx="705628" cy="30325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 name="Isosceles Triangle 28">
            <a:extLst>
              <a:ext uri="{FF2B5EF4-FFF2-40B4-BE49-F238E27FC236}">
                <a16:creationId xmlns:a16="http://schemas.microsoft.com/office/drawing/2014/main" id="{C57E0C5E-55C1-BE8C-9338-E713B327CF62}"/>
              </a:ext>
            </a:extLst>
          </p:cNvPr>
          <p:cNvSpPr>
            <a:spLocks noChangeAspect="1"/>
          </p:cNvSpPr>
          <p:nvPr/>
        </p:nvSpPr>
        <p:spPr>
          <a:xfrm>
            <a:off x="7892222" y="2863273"/>
            <a:ext cx="720000" cy="540000"/>
          </a:xfrm>
          <a:prstGeom prst="triangle">
            <a:avLst/>
          </a:prstGeom>
          <a:solidFill>
            <a:schemeClr val="accent5">
              <a:lumMod val="20000"/>
              <a:lumOff val="8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43" name="Rectangle 42">
            <a:extLst>
              <a:ext uri="{FF2B5EF4-FFF2-40B4-BE49-F238E27FC236}">
                <a16:creationId xmlns:a16="http://schemas.microsoft.com/office/drawing/2014/main" id="{7578CFC1-9219-5B29-40D9-1D2E2190F037}"/>
              </a:ext>
            </a:extLst>
          </p:cNvPr>
          <p:cNvSpPr/>
          <p:nvPr/>
        </p:nvSpPr>
        <p:spPr>
          <a:xfrm>
            <a:off x="9109502" y="2853494"/>
            <a:ext cx="2127274" cy="3812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メタアナリシス・</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システマティックレビュー</a:t>
            </a:r>
            <a:endParaRPr lang="en-US" dirty="0">
              <a:solidFill>
                <a:schemeClr val="tx1"/>
              </a:solidFill>
              <a:latin typeface="Meiryo UI" panose="020B0604030504040204" pitchFamily="50" charset="-128"/>
              <a:ea typeface="Meiryo UI" panose="020B0604030504040204" pitchFamily="50" charset="-128"/>
            </a:endParaRPr>
          </a:p>
        </p:txBody>
      </p:sp>
      <p:sp>
        <p:nvSpPr>
          <p:cNvPr id="44" name="Rectangle 43">
            <a:extLst>
              <a:ext uri="{FF2B5EF4-FFF2-40B4-BE49-F238E27FC236}">
                <a16:creationId xmlns:a16="http://schemas.microsoft.com/office/drawing/2014/main" id="{949509D2-FC81-AE78-AF61-D057311841A4}"/>
              </a:ext>
            </a:extLst>
          </p:cNvPr>
          <p:cNvSpPr/>
          <p:nvPr/>
        </p:nvSpPr>
        <p:spPr>
          <a:xfrm>
            <a:off x="7633146" y="3868548"/>
            <a:ext cx="1200790"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非ランダム化比較試験</a:t>
            </a:r>
            <a:endParaRPr lang="en-US" dirty="0">
              <a:solidFill>
                <a:schemeClr val="tx1"/>
              </a:solidFill>
              <a:latin typeface="Meiryo UI" panose="020B0604030504040204" pitchFamily="50" charset="-128"/>
              <a:ea typeface="Meiryo UI" panose="020B0604030504040204" pitchFamily="50" charset="-128"/>
            </a:endParaRPr>
          </a:p>
        </p:txBody>
      </p:sp>
      <p:sp>
        <p:nvSpPr>
          <p:cNvPr id="45" name="Rectangle 44">
            <a:extLst>
              <a:ext uri="{FF2B5EF4-FFF2-40B4-BE49-F238E27FC236}">
                <a16:creationId xmlns:a16="http://schemas.microsoft.com/office/drawing/2014/main" id="{1A435C04-0859-777F-08B4-81177C185257}"/>
              </a:ext>
            </a:extLst>
          </p:cNvPr>
          <p:cNvSpPr/>
          <p:nvPr/>
        </p:nvSpPr>
        <p:spPr>
          <a:xfrm>
            <a:off x="7434415" y="4270103"/>
            <a:ext cx="1598252"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コホート研究・症例対照研究</a:t>
            </a:r>
            <a:endParaRPr lang="en-US"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7D51B214-6C45-6EEF-4887-F7DFB5A5E326}"/>
              </a:ext>
            </a:extLst>
          </p:cNvPr>
          <p:cNvSpPr/>
          <p:nvPr/>
        </p:nvSpPr>
        <p:spPr>
          <a:xfrm>
            <a:off x="7169905" y="4661232"/>
            <a:ext cx="2127273"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症例報告</a:t>
            </a:r>
            <a:endParaRPr lang="en-US" dirty="0">
              <a:solidFill>
                <a:schemeClr val="tx1"/>
              </a:solidFill>
              <a:latin typeface="Meiryo UI" panose="020B0604030504040204" pitchFamily="50" charset="-128"/>
              <a:ea typeface="Meiryo UI" panose="020B0604030504040204" pitchFamily="50" charset="-128"/>
            </a:endParaRPr>
          </a:p>
        </p:txBody>
      </p:sp>
      <p:sp>
        <p:nvSpPr>
          <p:cNvPr id="47" name="Rectangle 46">
            <a:extLst>
              <a:ext uri="{FF2B5EF4-FFF2-40B4-BE49-F238E27FC236}">
                <a16:creationId xmlns:a16="http://schemas.microsoft.com/office/drawing/2014/main" id="{F4DBFEA4-E693-0E6B-B1A5-FB77908F7309}"/>
              </a:ext>
            </a:extLst>
          </p:cNvPr>
          <p:cNvSpPr/>
          <p:nvPr/>
        </p:nvSpPr>
        <p:spPr>
          <a:xfrm>
            <a:off x="7266599" y="5081826"/>
            <a:ext cx="1933885" cy="3150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専門家の意見・動物実験</a:t>
            </a:r>
            <a:endParaRPr lang="en-US" dirty="0">
              <a:solidFill>
                <a:schemeClr val="tx1"/>
              </a:solidFill>
              <a:latin typeface="Meiryo UI" panose="020B0604030504040204" pitchFamily="50" charset="-128"/>
              <a:ea typeface="Meiryo UI" panose="020B0604030504040204" pitchFamily="50" charset="-128"/>
            </a:endParaRPr>
          </a:p>
        </p:txBody>
      </p:sp>
      <p:sp>
        <p:nvSpPr>
          <p:cNvPr id="48" name="Rectangle 47">
            <a:extLst>
              <a:ext uri="{FF2B5EF4-FFF2-40B4-BE49-F238E27FC236}">
                <a16:creationId xmlns:a16="http://schemas.microsoft.com/office/drawing/2014/main" id="{75797A76-04FD-CD08-08BE-0A72044B5749}"/>
              </a:ext>
            </a:extLst>
          </p:cNvPr>
          <p:cNvSpPr/>
          <p:nvPr/>
        </p:nvSpPr>
        <p:spPr>
          <a:xfrm>
            <a:off x="5652222" y="2301111"/>
            <a:ext cx="5190851" cy="5224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エビデンスに基づく医療におけるエビデンスの質の高さ</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(Burns et al. 2011</a:t>
            </a:r>
            <a:r>
              <a:rPr lang="ja-JP" altLang="en-US" dirty="0">
                <a:solidFill>
                  <a:schemeClr val="tx1"/>
                </a:solidFill>
                <a:latin typeface="Meiryo UI" panose="020B0604030504040204" pitchFamily="50" charset="-128"/>
                <a:ea typeface="Meiryo UI" panose="020B0604030504040204" pitchFamily="50" charset="-128"/>
              </a:rPr>
              <a:t>を参考</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50" name="TextBox 49">
            <a:extLst>
              <a:ext uri="{FF2B5EF4-FFF2-40B4-BE49-F238E27FC236}">
                <a16:creationId xmlns:a16="http://schemas.microsoft.com/office/drawing/2014/main" id="{7C07CA1B-30D9-5D10-6828-EE2A6C9158BC}"/>
              </a:ext>
            </a:extLst>
          </p:cNvPr>
          <p:cNvSpPr txBox="1"/>
          <p:nvPr/>
        </p:nvSpPr>
        <p:spPr>
          <a:xfrm>
            <a:off x="4815839" y="6392547"/>
            <a:ext cx="6826342" cy="461665"/>
          </a:xfrm>
          <a:prstGeom prst="rect">
            <a:avLst/>
          </a:prstGeom>
          <a:noFill/>
        </p:spPr>
        <p:txBody>
          <a:bodyPr wrap="square">
            <a:spAutoFit/>
          </a:bodyPr>
          <a:lstStyle/>
          <a:p>
            <a:r>
              <a:rPr lang="en-US" sz="1200" dirty="0">
                <a:latin typeface="Meiryo UI" panose="020B0604030504040204" pitchFamily="50" charset="-128"/>
                <a:ea typeface="Meiryo UI" panose="020B0604030504040204" pitchFamily="50" charset="-128"/>
              </a:rPr>
              <a:t>Burns PB et al. The levels of evidence and their role in evidence-based medicine. Plast </a:t>
            </a:r>
            <a:r>
              <a:rPr lang="en-US" sz="1200" dirty="0" err="1">
                <a:latin typeface="Meiryo UI" panose="020B0604030504040204" pitchFamily="50" charset="-128"/>
                <a:ea typeface="Meiryo UI" panose="020B0604030504040204" pitchFamily="50" charset="-128"/>
              </a:rPr>
              <a:t>Reconstr</a:t>
            </a:r>
            <a:r>
              <a:rPr lang="en-US" sz="1200" dirty="0">
                <a:latin typeface="Meiryo UI" panose="020B0604030504040204" pitchFamily="50" charset="-128"/>
                <a:ea typeface="Meiryo UI" panose="020B0604030504040204" pitchFamily="50" charset="-128"/>
              </a:rPr>
              <a:t> Surg. 2011;128(1):305-310. doi:10.1097/PRS.0b013e318219c171</a:t>
            </a:r>
          </a:p>
        </p:txBody>
      </p:sp>
      <p:cxnSp>
        <p:nvCxnSpPr>
          <p:cNvPr id="51" name="Straight Connector 50">
            <a:extLst>
              <a:ext uri="{FF2B5EF4-FFF2-40B4-BE49-F238E27FC236}">
                <a16:creationId xmlns:a16="http://schemas.microsoft.com/office/drawing/2014/main" id="{D6B0093A-F64F-C39B-E595-9FEFDE645B6E}"/>
              </a:ext>
            </a:extLst>
          </p:cNvPr>
          <p:cNvCxnSpPr>
            <a:stCxn id="29" idx="5"/>
            <a:endCxn id="43" idx="1"/>
          </p:cNvCxnSpPr>
          <p:nvPr/>
        </p:nvCxnSpPr>
        <p:spPr>
          <a:xfrm flipV="1">
            <a:off x="8432222" y="3044121"/>
            <a:ext cx="677280" cy="891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18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2014-E218-2A28-B837-F8CE40A54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24E66-16B4-04A5-336A-9FCABAB2055D}"/>
              </a:ext>
            </a:extLst>
          </p:cNvPr>
          <p:cNvSpPr>
            <a:spLocks noGrp="1"/>
          </p:cNvSpPr>
          <p:nvPr>
            <p:ph type="title"/>
          </p:nvPr>
        </p:nvSpPr>
        <p:spPr/>
        <p:txBody>
          <a:bodyPr/>
          <a:lstStyle/>
          <a:p>
            <a:r>
              <a:rPr lang="ja-JP" altLang="en-US" dirty="0"/>
              <a:t>分析のプロセス</a:t>
            </a:r>
            <a:r>
              <a:rPr lang="en-US" altLang="ja-JP" dirty="0"/>
              <a:t>―</a:t>
            </a:r>
            <a:r>
              <a:rPr lang="ja-JP" altLang="en-US" dirty="0"/>
              <a:t>⑤モデルのインプットの選択</a:t>
            </a:r>
            <a:r>
              <a:rPr lang="en-US" altLang="ja-JP" dirty="0"/>
              <a:t>(</a:t>
            </a:r>
            <a:r>
              <a:rPr lang="ja-JP" altLang="en-US" dirty="0"/>
              <a:t>例</a:t>
            </a:r>
            <a:r>
              <a:rPr lang="en-US" altLang="ja-JP" dirty="0"/>
              <a:t>)</a:t>
            </a:r>
            <a:endParaRPr lang="en-US" dirty="0"/>
          </a:p>
        </p:txBody>
      </p:sp>
      <p:sp>
        <p:nvSpPr>
          <p:cNvPr id="4" name="Slide Number Placeholder 3">
            <a:extLst>
              <a:ext uri="{FF2B5EF4-FFF2-40B4-BE49-F238E27FC236}">
                <a16:creationId xmlns:a16="http://schemas.microsoft.com/office/drawing/2014/main" id="{F26F1B6E-6195-021B-1121-6E9B2C6F1C43}"/>
              </a:ext>
            </a:extLst>
          </p:cNvPr>
          <p:cNvSpPr>
            <a:spLocks noGrp="1"/>
          </p:cNvSpPr>
          <p:nvPr>
            <p:ph type="sldNum" sz="quarter" idx="4"/>
          </p:nvPr>
        </p:nvSpPr>
        <p:spPr/>
        <p:txBody>
          <a:bodyPr/>
          <a:lstStyle/>
          <a:p>
            <a:fld id="{B5CEABB6-07DC-46E8-9B57-56EC44A396E5}" type="slidenum">
              <a:rPr lang="en-US" smtClean="0"/>
              <a:pPr/>
              <a:t>19</a:t>
            </a:fld>
            <a:endParaRPr lang="en-US" dirty="0"/>
          </a:p>
        </p:txBody>
      </p:sp>
      <p:sp>
        <p:nvSpPr>
          <p:cNvPr id="5" name="Table Placeholder 4">
            <a:extLst>
              <a:ext uri="{FF2B5EF4-FFF2-40B4-BE49-F238E27FC236}">
                <a16:creationId xmlns:a16="http://schemas.microsoft.com/office/drawing/2014/main" id="{F75DA625-A419-3E58-7A2B-1724567D2C10}"/>
              </a:ext>
            </a:extLst>
          </p:cNvPr>
          <p:cNvSpPr>
            <a:spLocks noGrp="1"/>
          </p:cNvSpPr>
          <p:nvPr>
            <p:ph type="tbl" sz="quarter" idx="11"/>
          </p:nvPr>
        </p:nvSpPr>
        <p:spPr/>
        <p:txBody>
          <a:bodyPr/>
          <a:lstStyle/>
          <a:p>
            <a:r>
              <a:rPr lang="ja-JP" altLang="en-US" dirty="0"/>
              <a:t>構造化した要素関係やアウトカム指標に関する数値を既存のエビデンスから探す</a:t>
            </a:r>
            <a:endParaRPr lang="en-US" dirty="0"/>
          </a:p>
        </p:txBody>
      </p:sp>
      <p:grpSp>
        <p:nvGrpSpPr>
          <p:cNvPr id="6" name="Group 5">
            <a:extLst>
              <a:ext uri="{FF2B5EF4-FFF2-40B4-BE49-F238E27FC236}">
                <a16:creationId xmlns:a16="http://schemas.microsoft.com/office/drawing/2014/main" id="{636A88B3-85F4-D554-1E01-87A58A783288}"/>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A1DA3AEC-744F-3B61-4E97-CF0BCD9E6A20}"/>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160FF28D-6BBD-A76B-91B4-ACB9C14943EF}"/>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7C53666D-96C0-0AA0-8E81-5D4EAD34EA5C}"/>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1BE4E825-CD17-68F9-8CC4-38A0DE06C5B4}"/>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FF1CAC3D-36F1-C675-E6CC-2D647E9F4C90}"/>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8B38C1E4-7179-BF83-DB73-2C4AB08BFAAF}"/>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BF3317F6-9663-5BD2-6BE8-BD07BD429877}"/>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B54E5C42-6626-46E1-2D51-77BC3B7FB948}"/>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59AB091F-2972-80BA-E4ED-951D56CFB8B2}"/>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モデルのインプットの選択</a:t>
            </a:r>
            <a:endParaRPr lang="en-US" b="1"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260E57EE-9B5B-B323-8B7D-1C7B149B602B}"/>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3CD75B97-63E6-F4DA-3D8D-762587DFAFBA}"/>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33BB3A4F-CEDB-BC0D-4B43-624917565E2C}"/>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C175547E-F29B-C01F-42A7-218ADF7AFD8C}"/>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548A632F-D1D6-806E-3306-54F64FC6354F}"/>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37706E13-27C7-4B91-FED7-3603CC9E7615}"/>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EF2C0DE4-6D3B-8465-8987-A212BA4824B2}"/>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26B2462A-73B6-984A-CE54-AD8EE580FB3A}"/>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09309E87-C891-BDD7-AF61-3296D1A8F0EB}"/>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4B2EDC8E-82A3-BDFA-0D5C-5491D31A2438}"/>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844AB8B5-63AE-5775-A5FC-735132D1AB7F}"/>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21C28276-2104-F535-267F-13782DCEF473}"/>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B475B507-E25C-A5BE-B8AD-ECDABD00550E}"/>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F245EE6A-A3E4-5019-4C2D-B65EFFF622DF}"/>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５</a:t>
            </a:r>
            <a:endParaRPr lang="en-US" b="1"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62317B9A-C94A-744E-316B-10A1516A9C11}"/>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66F32BB3-CAA1-CFAF-B651-E81196A8C91F}"/>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54957BE2-C03D-BF32-29DC-08C8C8F22FFF}"/>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9" name="Rectangle 48">
            <a:extLst>
              <a:ext uri="{FF2B5EF4-FFF2-40B4-BE49-F238E27FC236}">
                <a16:creationId xmlns:a16="http://schemas.microsoft.com/office/drawing/2014/main" id="{415B9C5E-B963-A633-016A-1F48F9D0994C}"/>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1" name="Table Placeholder 2">
            <a:extLst>
              <a:ext uri="{FF2B5EF4-FFF2-40B4-BE49-F238E27FC236}">
                <a16:creationId xmlns:a16="http://schemas.microsoft.com/office/drawing/2014/main" id="{E65511AA-1B1D-D67A-D004-7B9FAE2D3EAA}"/>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ja-JP" altLang="en-US" sz="2000" dirty="0"/>
              <a:t>梅毒の進行モデル</a:t>
            </a:r>
            <a:r>
              <a:rPr lang="en-US" altLang="ja-JP" sz="1800" dirty="0"/>
              <a:t>(Lee et al. 2023)</a:t>
            </a:r>
          </a:p>
          <a:p>
            <a:pPr marL="0" indent="0">
              <a:buFont typeface="Arial" panose="020B0604020202020204" pitchFamily="34" charset="0"/>
              <a:buNone/>
            </a:pPr>
            <a:endParaRPr lang="en-US" altLang="ja-JP" sz="2000" dirty="0"/>
          </a:p>
          <a:p>
            <a:pPr marL="0" indent="0">
              <a:buFont typeface="Arial" panose="020B0604020202020204" pitchFamily="34" charset="0"/>
              <a:buNone/>
            </a:pPr>
            <a:endParaRPr lang="en-US" altLang="ja-JP" sz="2000" dirty="0"/>
          </a:p>
          <a:p>
            <a:pPr marL="0" indent="0">
              <a:buFont typeface="Arial" panose="020B0604020202020204" pitchFamily="34" charset="0"/>
              <a:buNone/>
            </a:pPr>
            <a:endParaRPr lang="en-US" altLang="ja-JP" sz="2000" dirty="0"/>
          </a:p>
          <a:p>
            <a:pPr marL="0" indent="0">
              <a:buFont typeface="Arial" panose="020B0604020202020204" pitchFamily="34" charset="0"/>
              <a:buNone/>
            </a:pPr>
            <a:endParaRPr lang="en-US" altLang="ja-JP" sz="2000" dirty="0"/>
          </a:p>
          <a:p>
            <a:pPr marL="0" indent="0">
              <a:buFont typeface="Arial" panose="020B0604020202020204" pitchFamily="34" charset="0"/>
              <a:buNone/>
            </a:pPr>
            <a:endParaRPr lang="en-US" altLang="ja-JP" sz="2000" dirty="0"/>
          </a:p>
        </p:txBody>
      </p:sp>
      <p:cxnSp>
        <p:nvCxnSpPr>
          <p:cNvPr id="34" name="Straight Connector 33">
            <a:extLst>
              <a:ext uri="{FF2B5EF4-FFF2-40B4-BE49-F238E27FC236}">
                <a16:creationId xmlns:a16="http://schemas.microsoft.com/office/drawing/2014/main" id="{4B57E64F-E09C-2801-4DAD-F085E5193B48}"/>
              </a:ext>
            </a:extLst>
          </p:cNvPr>
          <p:cNvCxnSpPr>
            <a:cxnSpLocks/>
            <a:stCxn id="15" idx="3"/>
            <a:endCxn id="49" idx="1"/>
          </p:cNvCxnSpPr>
          <p:nvPr/>
        </p:nvCxnSpPr>
        <p:spPr>
          <a:xfrm flipV="1">
            <a:off x="3989294" y="4284153"/>
            <a:ext cx="705628" cy="30325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aphicFrame>
        <p:nvGraphicFramePr>
          <p:cNvPr id="54" name="Table 53">
            <a:extLst>
              <a:ext uri="{FF2B5EF4-FFF2-40B4-BE49-F238E27FC236}">
                <a16:creationId xmlns:a16="http://schemas.microsoft.com/office/drawing/2014/main" id="{30D56CE1-4A44-FFFC-DDCD-736E06260062}"/>
              </a:ext>
            </a:extLst>
          </p:cNvPr>
          <p:cNvGraphicFramePr>
            <a:graphicFrameLocks noGrp="1"/>
          </p:cNvGraphicFramePr>
          <p:nvPr>
            <p:extLst>
              <p:ext uri="{D42A27DB-BD31-4B8C-83A1-F6EECF244321}">
                <p14:modId xmlns:p14="http://schemas.microsoft.com/office/powerpoint/2010/main" val="1051822007"/>
              </p:ext>
            </p:extLst>
          </p:nvPr>
        </p:nvGraphicFramePr>
        <p:xfrm>
          <a:off x="4907278" y="2341371"/>
          <a:ext cx="6817582" cy="2966720"/>
        </p:xfrm>
        <a:graphic>
          <a:graphicData uri="http://schemas.openxmlformats.org/drawingml/2006/table">
            <a:tbl>
              <a:tblPr firstRow="1" bandRow="1">
                <a:tableStyleId>{74C1A8A3-306A-4EB7-A6B1-4F7E0EB9C5D6}</a:tableStyleId>
              </a:tblPr>
              <a:tblGrid>
                <a:gridCol w="4279252">
                  <a:extLst>
                    <a:ext uri="{9D8B030D-6E8A-4147-A177-3AD203B41FA5}">
                      <a16:colId xmlns:a16="http://schemas.microsoft.com/office/drawing/2014/main" val="456710665"/>
                    </a:ext>
                  </a:extLst>
                </a:gridCol>
                <a:gridCol w="956930">
                  <a:extLst>
                    <a:ext uri="{9D8B030D-6E8A-4147-A177-3AD203B41FA5}">
                      <a16:colId xmlns:a16="http://schemas.microsoft.com/office/drawing/2014/main" val="1417184752"/>
                    </a:ext>
                  </a:extLst>
                </a:gridCol>
                <a:gridCol w="1581400">
                  <a:extLst>
                    <a:ext uri="{9D8B030D-6E8A-4147-A177-3AD203B41FA5}">
                      <a16:colId xmlns:a16="http://schemas.microsoft.com/office/drawing/2014/main" val="2581339851"/>
                    </a:ext>
                  </a:extLst>
                </a:gridCol>
              </a:tblGrid>
              <a:tr h="370840">
                <a:tc>
                  <a:txBody>
                    <a:bodyPr/>
                    <a:lstStyle/>
                    <a:p>
                      <a:r>
                        <a:rPr lang="ja-JP" altLang="en-US" dirty="0">
                          <a:latin typeface="Meiryo" panose="020B0604030504040204" pitchFamily="34" charset="-128"/>
                          <a:ea typeface="Meiryo" panose="020B0604030504040204" pitchFamily="34" charset="-128"/>
                        </a:rPr>
                        <a:t>パラメータ</a:t>
                      </a:r>
                      <a:endParaRPr lang="en-US" dirty="0">
                        <a:latin typeface="Meiryo" panose="020B0604030504040204" pitchFamily="34" charset="-128"/>
                        <a:ea typeface="Meiryo" panose="020B0604030504040204" pitchFamily="34" charset="-128"/>
                      </a:endParaRPr>
                    </a:p>
                  </a:txBody>
                  <a:tcPr marL="45720" marR="45720">
                    <a:solidFill>
                      <a:srgbClr val="0070C0"/>
                    </a:solidFill>
                  </a:tcPr>
                </a:tc>
                <a:tc>
                  <a:txBody>
                    <a:bodyPr/>
                    <a:lstStyle/>
                    <a:p>
                      <a:pPr algn="r"/>
                      <a:r>
                        <a:rPr lang="ja-JP" altLang="en-US" dirty="0">
                          <a:latin typeface="Meiryo" panose="020B0604030504040204" pitchFamily="34" charset="-128"/>
                          <a:ea typeface="Meiryo" panose="020B0604030504040204" pitchFamily="34" charset="-128"/>
                        </a:rPr>
                        <a:t>値</a:t>
                      </a:r>
                      <a:endParaRPr lang="en-US" dirty="0">
                        <a:latin typeface="Meiryo" panose="020B0604030504040204" pitchFamily="34" charset="-128"/>
                        <a:ea typeface="Meiryo" panose="020B0604030504040204" pitchFamily="34" charset="-128"/>
                      </a:endParaRPr>
                    </a:p>
                  </a:txBody>
                  <a:tcPr marL="45720" marR="45720">
                    <a:solidFill>
                      <a:srgbClr val="0070C0"/>
                    </a:solidFill>
                  </a:tcPr>
                </a:tc>
                <a:tc>
                  <a:txBody>
                    <a:bodyPr/>
                    <a:lstStyle/>
                    <a:p>
                      <a:pPr algn="r"/>
                      <a:r>
                        <a:rPr lang="en-US" altLang="ja-JP" dirty="0">
                          <a:latin typeface="Meiryo" panose="020B0604030504040204" pitchFamily="34" charset="-128"/>
                          <a:ea typeface="Meiryo" panose="020B0604030504040204" pitchFamily="34" charset="-128"/>
                        </a:rPr>
                        <a:t>[</a:t>
                      </a:r>
                      <a:r>
                        <a:rPr lang="ja-JP" altLang="en-US" dirty="0">
                          <a:latin typeface="Meiryo" panose="020B0604030504040204" pitchFamily="34" charset="-128"/>
                          <a:ea typeface="Meiryo" panose="020B0604030504040204" pitchFamily="34" charset="-128"/>
                        </a:rPr>
                        <a:t>信頼区間</a:t>
                      </a:r>
                      <a:r>
                        <a:rPr lang="en-US" altLang="ja-JP" dirty="0">
                          <a:latin typeface="Meiryo" panose="020B0604030504040204" pitchFamily="34" charset="-128"/>
                          <a:ea typeface="Meiryo" panose="020B0604030504040204" pitchFamily="34" charset="-128"/>
                        </a:rPr>
                        <a:t>]</a:t>
                      </a:r>
                      <a:endParaRPr lang="en-US" dirty="0">
                        <a:latin typeface="Meiryo" panose="020B0604030504040204" pitchFamily="34" charset="-128"/>
                        <a:ea typeface="Meiryo" panose="020B0604030504040204" pitchFamily="34" charset="-128"/>
                      </a:endParaRPr>
                    </a:p>
                  </a:txBody>
                  <a:tcPr marL="45720" marR="45720">
                    <a:solidFill>
                      <a:srgbClr val="0070C0"/>
                    </a:solidFill>
                  </a:tcPr>
                </a:tc>
                <a:extLst>
                  <a:ext uri="{0D108BD9-81ED-4DB2-BD59-A6C34878D82A}">
                    <a16:rowId xmlns:a16="http://schemas.microsoft.com/office/drawing/2014/main" val="2646646344"/>
                  </a:ext>
                </a:extLst>
              </a:tr>
              <a:tr h="370840">
                <a:tc>
                  <a:txBody>
                    <a:bodyPr/>
                    <a:lstStyle/>
                    <a:p>
                      <a:r>
                        <a:rPr lang="ja-JP" altLang="en-US" dirty="0">
                          <a:latin typeface="Meiryo" panose="020B0604030504040204" pitchFamily="34" charset="-128"/>
                          <a:ea typeface="Meiryo" panose="020B0604030504040204" pitchFamily="34" charset="-128"/>
                        </a:rPr>
                        <a:t>第１期の期間</a:t>
                      </a:r>
                      <a:r>
                        <a:rPr lang="en-US" altLang="ja-JP" dirty="0">
                          <a:latin typeface="Meiryo" panose="020B0604030504040204" pitchFamily="34" charset="-128"/>
                          <a:ea typeface="Meiryo" panose="020B0604030504040204" pitchFamily="34" charset="-128"/>
                        </a:rPr>
                        <a:t>(</a:t>
                      </a:r>
                      <a:r>
                        <a:rPr lang="ja-JP" altLang="en-US" dirty="0">
                          <a:latin typeface="Meiryo" panose="020B0604030504040204" pitchFamily="34" charset="-128"/>
                          <a:ea typeface="Meiryo" panose="020B0604030504040204" pitchFamily="34" charset="-128"/>
                        </a:rPr>
                        <a:t>月</a:t>
                      </a:r>
                      <a:r>
                        <a:rPr lang="en-US" altLang="ja-JP" dirty="0">
                          <a:latin typeface="Meiryo" panose="020B0604030504040204" pitchFamily="34" charset="-128"/>
                          <a:ea typeface="Meiryo" panose="020B0604030504040204" pitchFamily="34" charset="-128"/>
                        </a:rPr>
                        <a:t>)</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0.7</a:t>
                      </a:r>
                      <a:r>
                        <a:rPr lang="ja-JP" altLang="en-US" dirty="0">
                          <a:latin typeface="Meiryo" panose="020B0604030504040204" pitchFamily="34" charset="-128"/>
                          <a:ea typeface="Meiryo" panose="020B0604030504040204" pitchFamily="34" charset="-128"/>
                        </a:rPr>
                        <a:t>　</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[0.25-1.96]</a:t>
                      </a:r>
                    </a:p>
                  </a:txBody>
                  <a:tcPr marL="45720" marR="45720"/>
                </a:tc>
                <a:extLst>
                  <a:ext uri="{0D108BD9-81ED-4DB2-BD59-A6C34878D82A}">
                    <a16:rowId xmlns:a16="http://schemas.microsoft.com/office/drawing/2014/main" val="2051302043"/>
                  </a:ext>
                </a:extLst>
              </a:tr>
              <a:tr h="370840">
                <a:tc>
                  <a:txBody>
                    <a:bodyPr/>
                    <a:lstStyle/>
                    <a:p>
                      <a:r>
                        <a:rPr lang="ja-JP" altLang="en-US" dirty="0">
                          <a:latin typeface="Meiryo" panose="020B0604030504040204" pitchFamily="34" charset="-128"/>
                          <a:ea typeface="Meiryo" panose="020B0604030504040204" pitchFamily="34" charset="-128"/>
                        </a:rPr>
                        <a:t>第２期の期間</a:t>
                      </a:r>
                      <a:r>
                        <a:rPr lang="en-US" altLang="ja-JP" dirty="0">
                          <a:latin typeface="Meiryo" panose="020B0604030504040204" pitchFamily="34" charset="-128"/>
                          <a:ea typeface="Meiryo" panose="020B0604030504040204" pitchFamily="34" charset="-128"/>
                        </a:rPr>
                        <a:t>(</a:t>
                      </a:r>
                      <a:r>
                        <a:rPr lang="ja-JP" altLang="en-US" dirty="0">
                          <a:latin typeface="Meiryo" panose="020B0604030504040204" pitchFamily="34" charset="-128"/>
                          <a:ea typeface="Meiryo" panose="020B0604030504040204" pitchFamily="34" charset="-128"/>
                        </a:rPr>
                        <a:t>月</a:t>
                      </a:r>
                      <a:r>
                        <a:rPr lang="en-US" altLang="ja-JP" dirty="0">
                          <a:latin typeface="Meiryo" panose="020B0604030504040204" pitchFamily="34" charset="-128"/>
                          <a:ea typeface="Meiryo" panose="020B0604030504040204" pitchFamily="34" charset="-128"/>
                        </a:rPr>
                        <a:t>)</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3.6</a:t>
                      </a:r>
                      <a:r>
                        <a:rPr lang="ja-JP" altLang="en-US" dirty="0">
                          <a:latin typeface="Meiryo" panose="020B0604030504040204" pitchFamily="34" charset="-128"/>
                          <a:ea typeface="Meiryo" panose="020B0604030504040204" pitchFamily="34" charset="-128"/>
                        </a:rPr>
                        <a:t>　</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[2.16-5.99]</a:t>
                      </a:r>
                    </a:p>
                  </a:txBody>
                  <a:tcPr marL="45720" marR="45720"/>
                </a:tc>
                <a:extLst>
                  <a:ext uri="{0D108BD9-81ED-4DB2-BD59-A6C34878D82A}">
                    <a16:rowId xmlns:a16="http://schemas.microsoft.com/office/drawing/2014/main" val="2239220428"/>
                  </a:ext>
                </a:extLst>
              </a:tr>
              <a:tr h="370840">
                <a:tc>
                  <a:txBody>
                    <a:bodyPr/>
                    <a:lstStyle/>
                    <a:p>
                      <a:r>
                        <a:rPr lang="ja-JP" altLang="en-US" dirty="0">
                          <a:latin typeface="Meiryo" panose="020B0604030504040204" pitchFamily="34" charset="-128"/>
                          <a:ea typeface="Meiryo" panose="020B0604030504040204" pitchFamily="34" charset="-128"/>
                        </a:rPr>
                        <a:t>治療後に神経梅毒から回復する月次確率</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0.18</a:t>
                      </a:r>
                      <a:r>
                        <a:rPr lang="ja-JP" altLang="en-US" dirty="0">
                          <a:latin typeface="Meiryo" panose="020B0604030504040204" pitchFamily="34" charset="-128"/>
                          <a:ea typeface="Meiryo" panose="020B0604030504040204" pitchFamily="34" charset="-128"/>
                        </a:rPr>
                        <a:t>　</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[0.12–0.28]</a:t>
                      </a:r>
                    </a:p>
                  </a:txBody>
                  <a:tcPr marL="45720" marR="45720"/>
                </a:tc>
                <a:extLst>
                  <a:ext uri="{0D108BD9-81ED-4DB2-BD59-A6C34878D82A}">
                    <a16:rowId xmlns:a16="http://schemas.microsoft.com/office/drawing/2014/main" val="3976100734"/>
                  </a:ext>
                </a:extLst>
              </a:tr>
              <a:tr h="370840">
                <a:tc>
                  <a:txBody>
                    <a:bodyPr/>
                    <a:lstStyle/>
                    <a:p>
                      <a:r>
                        <a:rPr lang="ja-JP" altLang="en-US" dirty="0">
                          <a:latin typeface="Meiryo" panose="020B0604030504040204" pitchFamily="34" charset="-128"/>
                          <a:ea typeface="Meiryo" panose="020B0604030504040204" pitchFamily="34" charset="-128"/>
                        </a:rPr>
                        <a:t>治療が失敗する月次確率</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0.05</a:t>
                      </a:r>
                      <a:r>
                        <a:rPr lang="ja-JP" altLang="en-US" dirty="0">
                          <a:latin typeface="Meiryo" panose="020B0604030504040204" pitchFamily="34" charset="-128"/>
                          <a:ea typeface="Meiryo" panose="020B0604030504040204" pitchFamily="34" charset="-128"/>
                        </a:rPr>
                        <a:t>　</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[0–0.1]</a:t>
                      </a:r>
                    </a:p>
                  </a:txBody>
                  <a:tcPr marL="45720" marR="45720"/>
                </a:tc>
                <a:extLst>
                  <a:ext uri="{0D108BD9-81ED-4DB2-BD59-A6C34878D82A}">
                    <a16:rowId xmlns:a16="http://schemas.microsoft.com/office/drawing/2014/main" val="207159734"/>
                  </a:ext>
                </a:extLst>
              </a:tr>
              <a:tr h="370840">
                <a:tc>
                  <a:txBody>
                    <a:bodyPr/>
                    <a:lstStyle/>
                    <a:p>
                      <a:r>
                        <a:rPr lang="ja-JP" altLang="en-US" dirty="0">
                          <a:latin typeface="Meiryo" panose="020B0604030504040204" pitchFamily="34" charset="-128"/>
                          <a:ea typeface="Meiryo" panose="020B0604030504040204" pitchFamily="34" charset="-128"/>
                        </a:rPr>
                        <a:t>第１期中の効用の減少</a:t>
                      </a:r>
                      <a:endParaRPr lang="en-US" dirty="0">
                        <a:latin typeface="Meiryo" panose="020B0604030504040204" pitchFamily="34" charset="-128"/>
                        <a:ea typeface="Meiryo" panose="020B0604030504040204" pitchFamily="34" charset="-128"/>
                      </a:endParaRPr>
                    </a:p>
                  </a:txBody>
                  <a:tcPr marL="45720" marR="45720" anchor="b"/>
                </a:tc>
                <a:tc>
                  <a:txBody>
                    <a:bodyPr/>
                    <a:lstStyle/>
                    <a:p>
                      <a:pPr algn="r"/>
                      <a:r>
                        <a:rPr lang="en-US" dirty="0">
                          <a:latin typeface="Meiryo" panose="020B0604030504040204" pitchFamily="34" charset="-128"/>
                          <a:ea typeface="Meiryo" panose="020B0604030504040204" pitchFamily="34" charset="-128"/>
                        </a:rPr>
                        <a:t>-.006</a:t>
                      </a:r>
                      <a:r>
                        <a:rPr lang="ja-JP" altLang="en-US" dirty="0">
                          <a:latin typeface="Meiryo" panose="020B0604030504040204" pitchFamily="34" charset="-128"/>
                          <a:ea typeface="Meiryo" panose="020B0604030504040204" pitchFamily="34" charset="-128"/>
                        </a:rPr>
                        <a:t>　</a:t>
                      </a:r>
                      <a:endParaRPr lang="en-US" dirty="0">
                        <a:latin typeface="Meiryo" panose="020B0604030504040204" pitchFamily="34" charset="-128"/>
                        <a:ea typeface="Meiryo" panose="020B0604030504040204" pitchFamily="34" charset="-128"/>
                      </a:endParaRPr>
                    </a:p>
                  </a:txBody>
                  <a:tcPr marL="45720" marR="45720"/>
                </a:tc>
                <a:tc>
                  <a:txBody>
                    <a:bodyPr/>
                    <a:lstStyle/>
                    <a:p>
                      <a:pPr algn="r"/>
                      <a:r>
                        <a:rPr lang="en-US" dirty="0">
                          <a:latin typeface="Meiryo" panose="020B0604030504040204" pitchFamily="34" charset="-128"/>
                          <a:ea typeface="Meiryo" panose="020B0604030504040204" pitchFamily="34" charset="-128"/>
                        </a:rPr>
                        <a:t>[-.004– -.01]</a:t>
                      </a:r>
                    </a:p>
                  </a:txBody>
                  <a:tcPr marL="45720" marR="45720"/>
                </a:tc>
                <a:extLst>
                  <a:ext uri="{0D108BD9-81ED-4DB2-BD59-A6C34878D82A}">
                    <a16:rowId xmlns:a16="http://schemas.microsoft.com/office/drawing/2014/main" val="3364810176"/>
                  </a:ext>
                </a:extLst>
              </a:tr>
              <a:tr h="370840">
                <a:tc>
                  <a:txBody>
                    <a:bodyPr/>
                    <a:lstStyle/>
                    <a:p>
                      <a:r>
                        <a:rPr lang="en-US" dirty="0">
                          <a:latin typeface="Meiryo" panose="020B0604030504040204" pitchFamily="34" charset="-128"/>
                          <a:ea typeface="Meiryo" panose="020B0604030504040204" pitchFamily="34" charset="-128"/>
                        </a:rPr>
                        <a:t>…</a:t>
                      </a:r>
                    </a:p>
                  </a:txBody>
                  <a:tcPr marL="45720" marR="45720" anchor="b"/>
                </a:tc>
                <a:tc>
                  <a:txBody>
                    <a:bodyPr/>
                    <a:lstStyle/>
                    <a:p>
                      <a:endParaRPr lang="en-US" dirty="0">
                        <a:latin typeface="Meiryo" panose="020B0604030504040204" pitchFamily="34" charset="-128"/>
                        <a:ea typeface="Meiryo" panose="020B0604030504040204" pitchFamily="34" charset="-128"/>
                      </a:endParaRPr>
                    </a:p>
                  </a:txBody>
                  <a:tcPr marL="45720" marR="45720"/>
                </a:tc>
                <a:tc>
                  <a:txBody>
                    <a:bodyPr/>
                    <a:lstStyle/>
                    <a:p>
                      <a:endParaRPr lang="en-US" dirty="0">
                        <a:latin typeface="Meiryo" panose="020B0604030504040204" pitchFamily="34" charset="-128"/>
                        <a:ea typeface="Meiryo" panose="020B0604030504040204" pitchFamily="34" charset="-128"/>
                      </a:endParaRPr>
                    </a:p>
                  </a:txBody>
                  <a:tcPr marL="45720" marR="45720"/>
                </a:tc>
                <a:extLst>
                  <a:ext uri="{0D108BD9-81ED-4DB2-BD59-A6C34878D82A}">
                    <a16:rowId xmlns:a16="http://schemas.microsoft.com/office/drawing/2014/main" val="3785174442"/>
                  </a:ext>
                </a:extLst>
              </a:tr>
              <a:tr h="370840">
                <a:tc>
                  <a:txBody>
                    <a:bodyPr/>
                    <a:lstStyle/>
                    <a:p>
                      <a:r>
                        <a:rPr lang="ja-JP" altLang="en-US" dirty="0">
                          <a:latin typeface="Meiryo" panose="020B0604030504040204" pitchFamily="34" charset="-128"/>
                          <a:ea typeface="Meiryo" panose="020B0604030504040204" pitchFamily="34" charset="-128"/>
                        </a:rPr>
                        <a:t>など</a:t>
                      </a:r>
                      <a:endParaRPr lang="en-US" dirty="0">
                        <a:latin typeface="Meiryo" panose="020B0604030504040204" pitchFamily="34" charset="-128"/>
                        <a:ea typeface="Meiryo" panose="020B0604030504040204" pitchFamily="34" charset="-128"/>
                      </a:endParaRPr>
                    </a:p>
                  </a:txBody>
                  <a:tcPr marL="45720" marR="45720" anchor="b"/>
                </a:tc>
                <a:tc>
                  <a:txBody>
                    <a:bodyPr/>
                    <a:lstStyle/>
                    <a:p>
                      <a:endParaRPr lang="en-US" dirty="0">
                        <a:latin typeface="Meiryo" panose="020B0604030504040204" pitchFamily="34" charset="-128"/>
                        <a:ea typeface="Meiryo" panose="020B0604030504040204" pitchFamily="34" charset="-128"/>
                      </a:endParaRPr>
                    </a:p>
                  </a:txBody>
                  <a:tcPr marL="45720" marR="45720"/>
                </a:tc>
                <a:tc>
                  <a:txBody>
                    <a:bodyPr/>
                    <a:lstStyle/>
                    <a:p>
                      <a:endParaRPr lang="en-US" dirty="0">
                        <a:latin typeface="Meiryo" panose="020B0604030504040204" pitchFamily="34" charset="-128"/>
                        <a:ea typeface="Meiryo" panose="020B0604030504040204" pitchFamily="34" charset="-128"/>
                      </a:endParaRPr>
                    </a:p>
                  </a:txBody>
                  <a:tcPr marL="45720" marR="45720"/>
                </a:tc>
                <a:extLst>
                  <a:ext uri="{0D108BD9-81ED-4DB2-BD59-A6C34878D82A}">
                    <a16:rowId xmlns:a16="http://schemas.microsoft.com/office/drawing/2014/main" val="2719757609"/>
                  </a:ext>
                </a:extLst>
              </a:tr>
            </a:tbl>
          </a:graphicData>
        </a:graphic>
      </p:graphicFrame>
      <p:sp>
        <p:nvSpPr>
          <p:cNvPr id="55" name="TextBox 54">
            <a:extLst>
              <a:ext uri="{FF2B5EF4-FFF2-40B4-BE49-F238E27FC236}">
                <a16:creationId xmlns:a16="http://schemas.microsoft.com/office/drawing/2014/main" id="{A1CD1679-3BE8-39A3-7B47-A555142075D0}"/>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dirty="0">
                <a:latin typeface="Meiryo UI" panose="020B0604030504040204" pitchFamily="50" charset="-128"/>
                <a:ea typeface="Meiryo UI" panose="020B0604030504040204" pitchFamily="50" charset="-128"/>
              </a:rPr>
              <a:t>Lee K et al. Estimation of the Lifetime Quality-Adjusted Life Years (QALYs) Lost Due to Syphilis Acquired in the United States in 2018. CID. 2023;76(3):e810-e819. doi:10.1093/</a:t>
            </a:r>
            <a:r>
              <a:rPr lang="en-US" sz="1200" dirty="0" err="1">
                <a:latin typeface="Meiryo UI" panose="020B0604030504040204" pitchFamily="50" charset="-128"/>
                <a:ea typeface="Meiryo UI" panose="020B0604030504040204" pitchFamily="50" charset="-128"/>
              </a:rPr>
              <a:t>cid</a:t>
            </a:r>
            <a:r>
              <a:rPr lang="en-US" sz="1200" dirty="0">
                <a:latin typeface="Meiryo UI" panose="020B0604030504040204" pitchFamily="50" charset="-128"/>
                <a:ea typeface="Meiryo UI" panose="020B0604030504040204" pitchFamily="50" charset="-128"/>
              </a:rPr>
              <a:t>/ciac427</a:t>
            </a:r>
          </a:p>
        </p:txBody>
      </p:sp>
    </p:spTree>
    <p:extLst>
      <p:ext uri="{BB962C8B-B14F-4D97-AF65-F5344CB8AC3E}">
        <p14:creationId xmlns:p14="http://schemas.microsoft.com/office/powerpoint/2010/main" val="3793233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3AE8-6715-B93C-761D-C26C38AC6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24C2A-EF83-B1F0-60F7-0E31F183E6A7}"/>
              </a:ext>
            </a:extLst>
          </p:cNvPr>
          <p:cNvSpPr>
            <a:spLocks noGrp="1"/>
          </p:cNvSpPr>
          <p:nvPr>
            <p:ph type="title"/>
          </p:nvPr>
        </p:nvSpPr>
        <p:spPr/>
        <p:txBody>
          <a:bodyPr/>
          <a:lstStyle/>
          <a:p>
            <a:r>
              <a:rPr lang="ja-JP" altLang="en-US" dirty="0"/>
              <a:t>分析のプロセス</a:t>
            </a:r>
            <a:r>
              <a:rPr lang="en-US" altLang="ja-JP" dirty="0"/>
              <a:t>―</a:t>
            </a:r>
            <a:r>
              <a:rPr lang="ja-JP" altLang="en-US" dirty="0"/>
              <a:t>⑥複数の選択肢をシミュレーション</a:t>
            </a:r>
            <a:r>
              <a:rPr lang="en-US" altLang="ja-JP" dirty="0"/>
              <a:t>(</a:t>
            </a:r>
            <a:r>
              <a:rPr lang="ja-JP" altLang="en-US" dirty="0"/>
              <a:t>例</a:t>
            </a:r>
            <a:r>
              <a:rPr lang="en-US" altLang="ja-JP" dirty="0"/>
              <a:t>)</a:t>
            </a:r>
            <a:endParaRPr lang="en-US" dirty="0"/>
          </a:p>
        </p:txBody>
      </p:sp>
      <p:sp>
        <p:nvSpPr>
          <p:cNvPr id="4" name="Slide Number Placeholder 3">
            <a:extLst>
              <a:ext uri="{FF2B5EF4-FFF2-40B4-BE49-F238E27FC236}">
                <a16:creationId xmlns:a16="http://schemas.microsoft.com/office/drawing/2014/main" id="{471A0396-0A47-A184-4556-542CEA08B239}"/>
              </a:ext>
            </a:extLst>
          </p:cNvPr>
          <p:cNvSpPr>
            <a:spLocks noGrp="1"/>
          </p:cNvSpPr>
          <p:nvPr>
            <p:ph type="sldNum" sz="quarter" idx="4"/>
          </p:nvPr>
        </p:nvSpPr>
        <p:spPr/>
        <p:txBody>
          <a:bodyPr/>
          <a:lstStyle/>
          <a:p>
            <a:fld id="{B5CEABB6-07DC-46E8-9B57-56EC44A396E5}" type="slidenum">
              <a:rPr lang="en-US" smtClean="0"/>
              <a:pPr/>
              <a:t>20</a:t>
            </a:fld>
            <a:endParaRPr lang="en-US" dirty="0"/>
          </a:p>
        </p:txBody>
      </p:sp>
      <p:sp>
        <p:nvSpPr>
          <p:cNvPr id="5" name="Table Placeholder 4">
            <a:extLst>
              <a:ext uri="{FF2B5EF4-FFF2-40B4-BE49-F238E27FC236}">
                <a16:creationId xmlns:a16="http://schemas.microsoft.com/office/drawing/2014/main" id="{95E1A2E2-D28B-3083-23EF-707983582951}"/>
              </a:ext>
            </a:extLst>
          </p:cNvPr>
          <p:cNvSpPr>
            <a:spLocks noGrp="1"/>
          </p:cNvSpPr>
          <p:nvPr>
            <p:ph type="tbl" sz="quarter" idx="11"/>
          </p:nvPr>
        </p:nvSpPr>
        <p:spPr/>
        <p:txBody>
          <a:bodyPr/>
          <a:lstStyle/>
          <a:p>
            <a:r>
              <a:rPr lang="ja-JP" altLang="en-US" dirty="0"/>
              <a:t>意思決定の選択肢をモデル上でシミュレーションする</a:t>
            </a:r>
            <a:endParaRPr lang="en-US" dirty="0"/>
          </a:p>
        </p:txBody>
      </p:sp>
      <p:grpSp>
        <p:nvGrpSpPr>
          <p:cNvPr id="6" name="Group 5">
            <a:extLst>
              <a:ext uri="{FF2B5EF4-FFF2-40B4-BE49-F238E27FC236}">
                <a16:creationId xmlns:a16="http://schemas.microsoft.com/office/drawing/2014/main" id="{597D80F8-C66E-A051-BF46-57F8A03DF6E4}"/>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BA5A0BF2-9C64-3885-665C-DEFAA805A03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FEED5DC9-8005-0E81-223B-C447F719523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B546286D-E12E-C015-7E3F-A21054C99A93}"/>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2403A72C-AA0C-23AC-1E0F-F4952D55DB2F}"/>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73424484-0912-1568-9877-77490363B82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1333AC6A-3AC4-4539-E888-F6076E0060E9}"/>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E6D86198-3265-019F-6E43-9666CB14D836}"/>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1F9ABFD4-8252-E5BB-EDD3-12078A7271DD}"/>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0EA456E5-D5A1-6DF2-4EE0-B485FAA6B46C}"/>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92822373-421C-A74A-B818-5B6CC3CA8DE0}"/>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　　複数の選択肢をシミュレーション</a:t>
            </a:r>
            <a:endParaRPr lang="en-US" b="1"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1FBC0F13-F256-9386-7DEE-5BF520B02D36}"/>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49A6F0D2-092C-73C9-B2D6-8442A0A466ED}"/>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E879776D-C7C5-63A2-CA6F-DB0A6AD3AFF2}"/>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086DD5DD-FC18-B9E7-971D-4E16FD2AFD7C}"/>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51B3DBF0-C34A-6E58-55A7-8DD6FDB620EF}"/>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3FD1B4C8-7B20-95E0-8B13-4A47C1FFC5CB}"/>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80B35683-7954-A2A1-0868-B2D92B92CE47}"/>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486ECF0B-17DB-B2B9-F61A-E1F12A521BEE}"/>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A6F9C820-562A-5AAE-CA1A-8D8C66A751A1}"/>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29B86B74-6669-17F8-60C1-F0394400271D}"/>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87D91C42-F956-5CB6-8F0E-0615A217625F}"/>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D8A8CC37-590E-3C08-9535-F2DCA1E206A0}"/>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CC4CF446-6335-6C49-1DDB-02425D67D226}"/>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9734525B-93CE-CCD2-A229-D9D0EBBB040B}"/>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６</a:t>
            </a:r>
            <a:endParaRPr lang="en-US" b="1"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FD347836-0D80-1AFA-834C-522CE9CC292C}"/>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CFA7D668-D5B8-FEAC-89D9-B809AD2A6413}"/>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1" name="Rectangle 40">
            <a:extLst>
              <a:ext uri="{FF2B5EF4-FFF2-40B4-BE49-F238E27FC236}">
                <a16:creationId xmlns:a16="http://schemas.microsoft.com/office/drawing/2014/main" id="{7CCAE124-8B9A-E1E0-8DA5-382BEF3B154D}"/>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3" name="Table Placeholder 2">
            <a:extLst>
              <a:ext uri="{FF2B5EF4-FFF2-40B4-BE49-F238E27FC236}">
                <a16:creationId xmlns:a16="http://schemas.microsoft.com/office/drawing/2014/main" id="{D7313805-2338-A2DE-41A5-D13F036DD7C4}"/>
              </a:ext>
            </a:extLst>
          </p:cNvPr>
          <p:cNvSpPr txBox="1">
            <a:spLocks/>
          </p:cNvSpPr>
          <p:nvPr/>
        </p:nvSpPr>
        <p:spPr>
          <a:xfrm>
            <a:off x="4907279" y="1938130"/>
            <a:ext cx="6817581" cy="4692045"/>
          </a:xfrm>
          <a:prstGeom prst="rect">
            <a:avLst/>
          </a:prstGeom>
        </p:spPr>
        <p:txBody>
          <a:bodyPr vert="horz" lIns="0" tIns="0" rIns="0" bIns="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梅毒の進行モデル</a:t>
            </a:r>
            <a:r>
              <a:rPr lang="en-US" altLang="ja-JP" sz="1800" dirty="0"/>
              <a:t>(Lee et al. 2023)</a:t>
            </a:r>
            <a:endParaRPr lang="en-US" altLang="ja-JP" sz="2000" dirty="0"/>
          </a:p>
        </p:txBody>
      </p:sp>
      <p:sp>
        <p:nvSpPr>
          <p:cNvPr id="54" name="TextBox 53">
            <a:extLst>
              <a:ext uri="{FF2B5EF4-FFF2-40B4-BE49-F238E27FC236}">
                <a16:creationId xmlns:a16="http://schemas.microsoft.com/office/drawing/2014/main" id="{42DB1E3D-C5DB-4F6F-6F31-432555A86791}"/>
              </a:ext>
            </a:extLst>
          </p:cNvPr>
          <p:cNvSpPr txBox="1"/>
          <p:nvPr/>
        </p:nvSpPr>
        <p:spPr>
          <a:xfrm>
            <a:off x="4945378" y="6469597"/>
            <a:ext cx="7039358" cy="369332"/>
          </a:xfrm>
          <a:prstGeom prst="rect">
            <a:avLst/>
          </a:prstGeom>
          <a:solidFill>
            <a:schemeClr val="bg1"/>
          </a:solidFill>
        </p:spPr>
        <p:txBody>
          <a:bodyPr wrap="square" lIns="0" tIns="0" rIns="0" bIns="0">
            <a:spAutoFit/>
          </a:bodyPr>
          <a:lstStyle/>
          <a:p>
            <a:r>
              <a:rPr lang="en-US" sz="1200" dirty="0">
                <a:latin typeface="Meiryo UI" panose="020B0604030504040204" pitchFamily="50" charset="-128"/>
                <a:ea typeface="Meiryo UI" panose="020B0604030504040204" pitchFamily="50" charset="-128"/>
              </a:rPr>
              <a:t>Lee K et al. Estimation of the Lifetime Quality-Adjusted Life Years (QALYs) Lost Due to Syphilis Acquired in the United States in 2018. CID. 2023;76(3):e810-e819. doi:10.1093/</a:t>
            </a:r>
            <a:r>
              <a:rPr lang="en-US" sz="1200" dirty="0" err="1">
                <a:latin typeface="Meiryo UI" panose="020B0604030504040204" pitchFamily="50" charset="-128"/>
                <a:ea typeface="Meiryo UI" panose="020B0604030504040204" pitchFamily="50" charset="-128"/>
              </a:rPr>
              <a:t>cid</a:t>
            </a:r>
            <a:r>
              <a:rPr lang="en-US" sz="1200" dirty="0">
                <a:latin typeface="Meiryo UI" panose="020B0604030504040204" pitchFamily="50" charset="-128"/>
                <a:ea typeface="Meiryo UI" panose="020B0604030504040204" pitchFamily="50" charset="-128"/>
              </a:rPr>
              <a:t>/ciac427</a:t>
            </a:r>
          </a:p>
        </p:txBody>
      </p:sp>
      <p:cxnSp>
        <p:nvCxnSpPr>
          <p:cNvPr id="34" name="Straight Connector 33">
            <a:extLst>
              <a:ext uri="{FF2B5EF4-FFF2-40B4-BE49-F238E27FC236}">
                <a16:creationId xmlns:a16="http://schemas.microsoft.com/office/drawing/2014/main" id="{638F4ED0-8182-F21F-31F2-720867F46901}"/>
              </a:ext>
            </a:extLst>
          </p:cNvPr>
          <p:cNvCxnSpPr>
            <a:cxnSpLocks/>
            <a:stCxn id="16" idx="3"/>
            <a:endCxn id="41" idx="1"/>
          </p:cNvCxnSpPr>
          <p:nvPr/>
        </p:nvCxnSpPr>
        <p:spPr>
          <a:xfrm flipV="1">
            <a:off x="3989294" y="4284153"/>
            <a:ext cx="705628" cy="90976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0743B13E-5980-B2E9-3D50-027BFD5936F7}"/>
              </a:ext>
            </a:extLst>
          </p:cNvPr>
          <p:cNvSpPr/>
          <p:nvPr/>
        </p:nvSpPr>
        <p:spPr>
          <a:xfrm>
            <a:off x="4990703" y="2255082"/>
            <a:ext cx="1929250" cy="188782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検査＆治療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しなかった場合</a:t>
            </a:r>
            <a:endParaRPr lang="en-US" dirty="0">
              <a:solidFill>
                <a:schemeClr val="tx1"/>
              </a:solidFill>
              <a:latin typeface="Meiryo UI" panose="020B0604030504040204" pitchFamily="50" charset="-128"/>
              <a:ea typeface="Meiryo UI" panose="020B0604030504040204" pitchFamily="50" charset="-128"/>
            </a:endParaRPr>
          </a:p>
        </p:txBody>
      </p:sp>
      <p:sp>
        <p:nvSpPr>
          <p:cNvPr id="100" name="Rectangle 99">
            <a:extLst>
              <a:ext uri="{FF2B5EF4-FFF2-40B4-BE49-F238E27FC236}">
                <a16:creationId xmlns:a16="http://schemas.microsoft.com/office/drawing/2014/main" id="{0AFEC1DC-477D-B17D-438E-4D70847DC02F}"/>
              </a:ext>
            </a:extLst>
          </p:cNvPr>
          <p:cNvSpPr/>
          <p:nvPr/>
        </p:nvSpPr>
        <p:spPr>
          <a:xfrm>
            <a:off x="4990703" y="4421615"/>
            <a:ext cx="1929250" cy="188782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検査＆治療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した場合</a:t>
            </a:r>
            <a:endParaRPr lang="en-US" dirty="0">
              <a:solidFill>
                <a:schemeClr val="tx1"/>
              </a:solidFill>
              <a:latin typeface="Meiryo UI" panose="020B0604030504040204" pitchFamily="50" charset="-128"/>
              <a:ea typeface="Meiryo UI" panose="020B0604030504040204" pitchFamily="50" charset="-128"/>
            </a:endParaRPr>
          </a:p>
        </p:txBody>
      </p:sp>
      <p:pic>
        <p:nvPicPr>
          <p:cNvPr id="101" name="Picture 100">
            <a:extLst>
              <a:ext uri="{FF2B5EF4-FFF2-40B4-BE49-F238E27FC236}">
                <a16:creationId xmlns:a16="http://schemas.microsoft.com/office/drawing/2014/main" id="{ACFE54B2-43EC-198D-B3E1-D47B5E9C9C6A}"/>
              </a:ext>
            </a:extLst>
          </p:cNvPr>
          <p:cNvPicPr>
            <a:picLocks noChangeAspect="1"/>
          </p:cNvPicPr>
          <p:nvPr/>
        </p:nvPicPr>
        <p:blipFill>
          <a:blip r:embed="rId2"/>
          <a:stretch>
            <a:fillRect/>
          </a:stretch>
        </p:blipFill>
        <p:spPr>
          <a:xfrm>
            <a:off x="7349214" y="4284153"/>
            <a:ext cx="4315368" cy="2176547"/>
          </a:xfrm>
          <a:prstGeom prst="rect">
            <a:avLst/>
          </a:prstGeom>
        </p:spPr>
      </p:pic>
      <p:pic>
        <p:nvPicPr>
          <p:cNvPr id="140" name="Picture 139">
            <a:extLst>
              <a:ext uri="{FF2B5EF4-FFF2-40B4-BE49-F238E27FC236}">
                <a16:creationId xmlns:a16="http://schemas.microsoft.com/office/drawing/2014/main" id="{60FE00D2-8145-B50E-FDE6-586C0A60A205}"/>
              </a:ext>
            </a:extLst>
          </p:cNvPr>
          <p:cNvPicPr>
            <a:picLocks noChangeAspect="1"/>
          </p:cNvPicPr>
          <p:nvPr/>
        </p:nvPicPr>
        <p:blipFill>
          <a:blip r:embed="rId3"/>
          <a:stretch>
            <a:fillRect/>
          </a:stretch>
        </p:blipFill>
        <p:spPr>
          <a:xfrm>
            <a:off x="7204476" y="2255082"/>
            <a:ext cx="4523712" cy="1847485"/>
          </a:xfrm>
          <a:prstGeom prst="rect">
            <a:avLst/>
          </a:prstGeom>
        </p:spPr>
      </p:pic>
    </p:spTree>
    <p:extLst>
      <p:ext uri="{BB962C8B-B14F-4D97-AF65-F5344CB8AC3E}">
        <p14:creationId xmlns:p14="http://schemas.microsoft.com/office/powerpoint/2010/main" val="1365901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4428F-4188-ED58-D3CA-84B08E8C3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F7298-DEA9-A606-780C-792B0C66E354}"/>
              </a:ext>
            </a:extLst>
          </p:cNvPr>
          <p:cNvSpPr>
            <a:spLocks noGrp="1"/>
          </p:cNvSpPr>
          <p:nvPr>
            <p:ph type="title"/>
          </p:nvPr>
        </p:nvSpPr>
        <p:spPr/>
        <p:txBody>
          <a:bodyPr/>
          <a:lstStyle/>
          <a:p>
            <a:r>
              <a:rPr lang="ja-JP" altLang="en-US" dirty="0"/>
              <a:t>分析のプロセス</a:t>
            </a:r>
            <a:r>
              <a:rPr lang="en-US" altLang="ja-JP" dirty="0"/>
              <a:t>―</a:t>
            </a:r>
            <a:r>
              <a:rPr lang="ja-JP" altLang="en-US" dirty="0"/>
              <a:t>⑦感度分析・シナリオ分析</a:t>
            </a:r>
            <a:endParaRPr lang="en-US" dirty="0"/>
          </a:p>
        </p:txBody>
      </p:sp>
      <p:sp>
        <p:nvSpPr>
          <p:cNvPr id="3" name="Table Placeholder 2">
            <a:extLst>
              <a:ext uri="{FF2B5EF4-FFF2-40B4-BE49-F238E27FC236}">
                <a16:creationId xmlns:a16="http://schemas.microsoft.com/office/drawing/2014/main" id="{06E2C845-52A2-9568-4499-2A8885612331}"/>
              </a:ext>
            </a:extLst>
          </p:cNvPr>
          <p:cNvSpPr>
            <a:spLocks noGrp="1"/>
          </p:cNvSpPr>
          <p:nvPr>
            <p:ph type="tbl" sz="quarter" idx="10"/>
          </p:nvPr>
        </p:nvSpPr>
        <p:spPr>
          <a:xfrm>
            <a:off x="4815839" y="1938130"/>
            <a:ext cx="6909021" cy="4692045"/>
          </a:xfrm>
        </p:spPr>
        <p:txBody>
          <a:bodyPr/>
          <a:lstStyle/>
          <a:p>
            <a:r>
              <a:rPr lang="ja-JP" altLang="en-US" dirty="0"/>
              <a:t>不確実性をどう考慮するか</a:t>
            </a:r>
            <a:endParaRPr lang="en-US" altLang="ja-JP" dirty="0"/>
          </a:p>
          <a:p>
            <a:pPr lvl="1"/>
            <a:r>
              <a:rPr lang="ja-JP" altLang="en-US" dirty="0"/>
              <a:t>確率的不確実性：実際にやってみないと結果がわからない</a:t>
            </a:r>
            <a:endParaRPr lang="en-US" altLang="ja-JP" dirty="0"/>
          </a:p>
          <a:p>
            <a:pPr lvl="2">
              <a:buFont typeface="Wingdings" panose="05000000000000000000" pitchFamily="2" charset="2"/>
              <a:buChar char="Ø"/>
            </a:pPr>
            <a:r>
              <a:rPr lang="ja-JP" altLang="en-US" sz="2400" dirty="0"/>
              <a:t>シミュレーションする人数を増やす</a:t>
            </a:r>
            <a:endParaRPr lang="en-US" altLang="ja-JP" sz="2400" dirty="0"/>
          </a:p>
          <a:p>
            <a:pPr marL="914400" lvl="2" indent="0">
              <a:buNone/>
            </a:pPr>
            <a:endParaRPr lang="en-US" altLang="ja-JP" sz="2400" dirty="0"/>
          </a:p>
          <a:p>
            <a:pPr lvl="1"/>
            <a:r>
              <a:rPr lang="ja-JP" altLang="en-US" dirty="0"/>
              <a:t>モデルの不確実性：どんな構造かわからない</a:t>
            </a:r>
            <a:endParaRPr lang="en-US" altLang="ja-JP" dirty="0"/>
          </a:p>
          <a:p>
            <a:pPr lvl="2">
              <a:buFont typeface="Wingdings" panose="05000000000000000000" pitchFamily="2" charset="2"/>
              <a:buChar char="Ø"/>
            </a:pPr>
            <a:r>
              <a:rPr lang="ja-JP" altLang="en-US" sz="2400" dirty="0"/>
              <a:t>複数のモデル構造を試す</a:t>
            </a:r>
            <a:endParaRPr lang="en-US" altLang="ja-JP" sz="2400" dirty="0"/>
          </a:p>
          <a:p>
            <a:pPr lvl="2">
              <a:buFont typeface="Wingdings" panose="05000000000000000000" pitchFamily="2" charset="2"/>
              <a:buChar char="Ø"/>
            </a:pPr>
            <a:endParaRPr lang="ja-JP" altLang="en-US" sz="2400" dirty="0"/>
          </a:p>
          <a:p>
            <a:pPr lvl="1"/>
            <a:r>
              <a:rPr lang="ja-JP" altLang="en-US" dirty="0"/>
              <a:t>パラメータの不確実性：インプットの値が　わからない</a:t>
            </a:r>
            <a:endParaRPr lang="en-US" altLang="ja-JP" dirty="0"/>
          </a:p>
          <a:p>
            <a:pPr lvl="2">
              <a:buFont typeface="Wingdings" panose="05000000000000000000" pitchFamily="2" charset="2"/>
              <a:buChar char="Ø"/>
            </a:pPr>
            <a:r>
              <a:rPr lang="ja-JP" altLang="en-US" sz="2400" b="1" dirty="0"/>
              <a:t>ありえそうな値の範囲でパラメータを振って試行</a:t>
            </a:r>
            <a:endParaRPr lang="en-US" altLang="ja-JP" sz="2400" b="1" dirty="0"/>
          </a:p>
        </p:txBody>
      </p:sp>
      <p:sp>
        <p:nvSpPr>
          <p:cNvPr id="4" name="Slide Number Placeholder 3">
            <a:extLst>
              <a:ext uri="{FF2B5EF4-FFF2-40B4-BE49-F238E27FC236}">
                <a16:creationId xmlns:a16="http://schemas.microsoft.com/office/drawing/2014/main" id="{645233DF-4D4E-9D21-D096-FB9533938B67}"/>
              </a:ext>
            </a:extLst>
          </p:cNvPr>
          <p:cNvSpPr>
            <a:spLocks noGrp="1"/>
          </p:cNvSpPr>
          <p:nvPr>
            <p:ph type="sldNum" sz="quarter" idx="4"/>
          </p:nvPr>
        </p:nvSpPr>
        <p:spPr/>
        <p:txBody>
          <a:bodyPr/>
          <a:lstStyle/>
          <a:p>
            <a:fld id="{B5CEABB6-07DC-46E8-9B57-56EC44A396E5}" type="slidenum">
              <a:rPr lang="en-US" smtClean="0"/>
              <a:pPr/>
              <a:t>21</a:t>
            </a:fld>
            <a:endParaRPr lang="en-US" dirty="0"/>
          </a:p>
        </p:txBody>
      </p:sp>
      <p:sp>
        <p:nvSpPr>
          <p:cNvPr id="5" name="Table Placeholder 4">
            <a:extLst>
              <a:ext uri="{FF2B5EF4-FFF2-40B4-BE49-F238E27FC236}">
                <a16:creationId xmlns:a16="http://schemas.microsoft.com/office/drawing/2014/main" id="{A84FE957-5D37-D7B8-ADD1-DD398AA92F74}"/>
              </a:ext>
            </a:extLst>
          </p:cNvPr>
          <p:cNvSpPr>
            <a:spLocks noGrp="1"/>
          </p:cNvSpPr>
          <p:nvPr>
            <p:ph type="tbl" sz="quarter" idx="11"/>
          </p:nvPr>
        </p:nvSpPr>
        <p:spPr/>
        <p:txBody>
          <a:bodyPr/>
          <a:lstStyle/>
          <a:p>
            <a:r>
              <a:rPr lang="ja-JP" altLang="en-US" dirty="0"/>
              <a:t>複数の不確実性を考慮する</a:t>
            </a:r>
            <a:endParaRPr lang="en-US" dirty="0"/>
          </a:p>
        </p:txBody>
      </p:sp>
      <p:grpSp>
        <p:nvGrpSpPr>
          <p:cNvPr id="6" name="Group 5">
            <a:extLst>
              <a:ext uri="{FF2B5EF4-FFF2-40B4-BE49-F238E27FC236}">
                <a16:creationId xmlns:a16="http://schemas.microsoft.com/office/drawing/2014/main" id="{A0AD9181-C7DB-BDA3-6FB2-97EF3703D3C3}"/>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A9EBFD26-5A66-70B2-B6C0-0E7C0E47D7B3}"/>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7C8F41EA-2AE8-CF78-06CC-77CD63E92F7F}"/>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AE4A232F-8CDF-24A2-9618-B013001E37CB}"/>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C9393A53-3DDD-11E9-CAF7-DF6E8B0B5407}"/>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3F54DF47-B357-FFA5-AE7F-B8D869DBD5A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BFC7018F-997A-CF0C-E605-921035AB9961}"/>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B58A3AB9-DB92-594B-3B6F-C2D5A61897EA}"/>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35DBA7F4-3C6C-03D1-E85D-45507A0604F5}"/>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C1114F87-458A-4CFC-29EC-92CE4C488484}"/>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FB482608-6643-7891-A9D3-B157B0E50A0A}"/>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D7A46C1B-79FD-9C68-B7C2-C872198E8965}"/>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感度分析・シナリオ分析</a:t>
            </a:r>
            <a:endParaRPr lang="en-US" b="1"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528954C4-A935-01D8-3E3C-AE88BC288286}"/>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5EB5F2CC-92F1-B541-12B7-533B3F271928}"/>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A650CC70-5DB5-1B50-56FB-56D58FA65A2C}"/>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468D3593-9916-4CBD-0988-42288E49D9D0}"/>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F42EC620-595D-398D-8C11-4073A9A7D8DA}"/>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A42C64BC-802C-893C-EEBA-07A14294370E}"/>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2F9F2198-F408-17B9-2AB0-21DFCD56E1E7}"/>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BB068484-C514-1A9F-668C-0C82A7C2B8A1}"/>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DDADCF3D-5D4B-9B27-0768-B9B9C6786F48}"/>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FD00719A-7BBD-D6D7-8C2E-660CEF3652BC}"/>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79528765-571D-13F4-32AE-B16EB77A1702}"/>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EC5A8ED7-E1AC-8CF0-55B9-9A7D57C1ED4D}"/>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AA2B7BF1-13C4-F375-892B-A45CAB4133D9}"/>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E111E5C2-361E-7CB3-41A5-C02726B4793C}"/>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７</a:t>
            </a:r>
            <a:endParaRPr lang="en-US" b="1"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5B0C5F84-DB59-2B7F-F9C1-7B06D2298617}"/>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5562C2A1-2957-122A-4E51-E96AD42AE2E6}"/>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E56514D3-721D-7764-D1E5-B27EF02C8009}"/>
              </a:ext>
            </a:extLst>
          </p:cNvPr>
          <p:cNvCxnSpPr>
            <a:cxnSpLocks/>
            <a:stCxn id="17" idx="3"/>
            <a:endCxn id="40" idx="1"/>
          </p:cNvCxnSpPr>
          <p:nvPr/>
        </p:nvCxnSpPr>
        <p:spPr>
          <a:xfrm flipV="1">
            <a:off x="3989294" y="4284153"/>
            <a:ext cx="705628" cy="151627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6739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1A581-3E74-0097-F98E-A753EDA9D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F4FA84-108C-408F-996E-BAAD65499EB0}"/>
              </a:ext>
            </a:extLst>
          </p:cNvPr>
          <p:cNvSpPr>
            <a:spLocks noGrp="1"/>
          </p:cNvSpPr>
          <p:nvPr>
            <p:ph type="title"/>
          </p:nvPr>
        </p:nvSpPr>
        <p:spPr/>
        <p:txBody>
          <a:bodyPr/>
          <a:lstStyle/>
          <a:p>
            <a:r>
              <a:rPr lang="ja-JP" altLang="en-US" dirty="0"/>
              <a:t>分析のプロセス</a:t>
            </a:r>
            <a:r>
              <a:rPr lang="en-US" altLang="ja-JP" dirty="0"/>
              <a:t>―</a:t>
            </a:r>
            <a:r>
              <a:rPr lang="ja-JP" altLang="en-US" dirty="0"/>
              <a:t>⑦感度分析・シナリオ分析</a:t>
            </a:r>
            <a:r>
              <a:rPr lang="en-US" altLang="ja-JP" dirty="0"/>
              <a:t>(</a:t>
            </a:r>
            <a:r>
              <a:rPr lang="ja-JP" altLang="en-US" dirty="0"/>
              <a:t>例</a:t>
            </a:r>
            <a:r>
              <a:rPr lang="en-US" altLang="ja-JP" dirty="0"/>
              <a:t>)</a:t>
            </a:r>
            <a:endParaRPr lang="en-US" dirty="0"/>
          </a:p>
        </p:txBody>
      </p:sp>
      <p:sp>
        <p:nvSpPr>
          <p:cNvPr id="3" name="Table Placeholder 2">
            <a:extLst>
              <a:ext uri="{FF2B5EF4-FFF2-40B4-BE49-F238E27FC236}">
                <a16:creationId xmlns:a16="http://schemas.microsoft.com/office/drawing/2014/main" id="{62650BBE-2A63-5032-3183-459B4E2A4212}"/>
              </a:ext>
            </a:extLst>
          </p:cNvPr>
          <p:cNvSpPr>
            <a:spLocks noGrp="1"/>
          </p:cNvSpPr>
          <p:nvPr>
            <p:ph type="tbl" sz="quarter" idx="10"/>
          </p:nvPr>
        </p:nvSpPr>
        <p:spPr>
          <a:xfrm>
            <a:off x="4815839" y="1938130"/>
            <a:ext cx="6909021" cy="4692045"/>
          </a:xfrm>
        </p:spPr>
        <p:txBody>
          <a:bodyPr/>
          <a:lstStyle/>
          <a:p>
            <a:r>
              <a:rPr lang="ja-JP" altLang="en-US" dirty="0"/>
              <a:t>パラメータの不確実性を考慮する方法</a:t>
            </a:r>
            <a:endParaRPr lang="en-US" altLang="ja-JP" dirty="0"/>
          </a:p>
        </p:txBody>
      </p:sp>
      <p:sp>
        <p:nvSpPr>
          <p:cNvPr id="4" name="Slide Number Placeholder 3">
            <a:extLst>
              <a:ext uri="{FF2B5EF4-FFF2-40B4-BE49-F238E27FC236}">
                <a16:creationId xmlns:a16="http://schemas.microsoft.com/office/drawing/2014/main" id="{7D0C978F-886C-87DA-96C5-3F1AC33733F3}"/>
              </a:ext>
            </a:extLst>
          </p:cNvPr>
          <p:cNvSpPr>
            <a:spLocks noGrp="1"/>
          </p:cNvSpPr>
          <p:nvPr>
            <p:ph type="sldNum" sz="quarter" idx="4"/>
          </p:nvPr>
        </p:nvSpPr>
        <p:spPr/>
        <p:txBody>
          <a:bodyPr/>
          <a:lstStyle/>
          <a:p>
            <a:fld id="{B5CEABB6-07DC-46E8-9B57-56EC44A396E5}" type="slidenum">
              <a:rPr lang="en-US" smtClean="0"/>
              <a:pPr/>
              <a:t>22</a:t>
            </a:fld>
            <a:endParaRPr lang="en-US" dirty="0"/>
          </a:p>
        </p:txBody>
      </p:sp>
      <p:sp>
        <p:nvSpPr>
          <p:cNvPr id="5" name="Table Placeholder 4">
            <a:extLst>
              <a:ext uri="{FF2B5EF4-FFF2-40B4-BE49-F238E27FC236}">
                <a16:creationId xmlns:a16="http://schemas.microsoft.com/office/drawing/2014/main" id="{F74314DA-371B-CA7E-9FBA-E79CE3D80A18}"/>
              </a:ext>
            </a:extLst>
          </p:cNvPr>
          <p:cNvSpPr>
            <a:spLocks noGrp="1"/>
          </p:cNvSpPr>
          <p:nvPr>
            <p:ph type="tbl" sz="quarter" idx="11"/>
          </p:nvPr>
        </p:nvSpPr>
        <p:spPr/>
        <p:txBody>
          <a:bodyPr/>
          <a:lstStyle/>
          <a:p>
            <a:r>
              <a:rPr lang="ja-JP" altLang="en-US" dirty="0"/>
              <a:t>パラメータの不確実性を考慮するために、限界値を試す方法と確率分布から試行する方法がある</a:t>
            </a:r>
            <a:endParaRPr lang="en-US" dirty="0"/>
          </a:p>
        </p:txBody>
      </p:sp>
      <p:grpSp>
        <p:nvGrpSpPr>
          <p:cNvPr id="6" name="Group 5">
            <a:extLst>
              <a:ext uri="{FF2B5EF4-FFF2-40B4-BE49-F238E27FC236}">
                <a16:creationId xmlns:a16="http://schemas.microsoft.com/office/drawing/2014/main" id="{0C759CA2-9CE2-F280-EF7B-14AB3014FAD2}"/>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688BE7E0-F5D1-4F58-08E3-675008AD1693}"/>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1622662D-2B7B-AD99-91FF-FD4FAF1801E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29CF7A89-CD25-B4EB-5541-93227719F854}"/>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B6756D05-2905-E1C4-6F9B-5091F070C09E}"/>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D2557C28-3D6F-3914-4AC3-BEE943CF8F10}"/>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063F8D55-CD5B-0CA5-2F55-EEE9728CC4BB}"/>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0F16CAE4-DA85-E17E-4E00-79A8C77D407B}"/>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72B43A55-DF23-F9CD-DF38-B196BB5F2CD6}"/>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2AF09B88-375E-AC83-F0AF-9E956CC684C3}"/>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5682C739-2273-A4A9-1FB8-7EC20C98D0CB}"/>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18EA19FE-24BD-A99A-61A6-4C76E8B8D4B3}"/>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感度分析・シナリオ分析</a:t>
            </a:r>
            <a:endParaRPr lang="en-US" b="1"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3F5B2312-6FFB-3D6C-04EC-2CB00FC6B5E9}"/>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結果の評価</a:t>
            </a:r>
            <a:endParaRPr lang="en-US"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C63001B5-A3BE-69D5-C8EA-C7A7AF036C25}"/>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31F476E7-97B6-AECF-7F08-CBEC60BAD3F1}"/>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C6BE66B6-A53C-EDC7-1CA5-C75A59E73E17}"/>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C7841CDB-BB57-FC54-4580-5265FAD7F451}"/>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4F3D42FA-9CB6-5569-B1FD-F549D72B9F47}"/>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D39927ED-A97A-EF1D-4AC5-B0B4439B8266}"/>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B213A59A-A357-BE33-2A5F-572346B13B9F}"/>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8F4D1D71-9D3D-33DB-911F-0903507FFACD}"/>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7977FA7F-0720-CFDF-98D9-AF0B175826DA}"/>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8EDF1EFC-36A8-E9AB-EC7F-470B9B802432}"/>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A5219095-23E5-C7E3-D854-4034D4AD31A0}"/>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9752C0B4-550C-00A8-3FE2-BBBD0C5E1C96}"/>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F852EB85-7E0D-F140-963A-AFCF09F9EDF5}"/>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７</a:t>
            </a:r>
            <a:endParaRPr lang="en-US" b="1"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E4513A4F-024A-E73D-CD3F-0C66B0B71830}"/>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８</a:t>
            </a:r>
            <a:endParaRPr lang="en-US" dirty="0">
              <a:solidFill>
                <a:schemeClr val="bg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D82CFBBE-1F24-882C-0B20-3D94519BDD8B}"/>
              </a:ext>
            </a:extLst>
          </p:cNvPr>
          <p:cNvSpPr/>
          <p:nvPr/>
        </p:nvSpPr>
        <p:spPr>
          <a:xfrm>
            <a:off x="4694922" y="1938130"/>
            <a:ext cx="120917" cy="4692045"/>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31F86D48-0F7E-56A5-D24C-15DA72C3CF8D}"/>
              </a:ext>
            </a:extLst>
          </p:cNvPr>
          <p:cNvCxnSpPr>
            <a:cxnSpLocks/>
            <a:stCxn id="17" idx="3"/>
            <a:endCxn id="29" idx="1"/>
          </p:cNvCxnSpPr>
          <p:nvPr/>
        </p:nvCxnSpPr>
        <p:spPr>
          <a:xfrm flipV="1">
            <a:off x="3989294" y="4284153"/>
            <a:ext cx="705628" cy="1516279"/>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6" name="Arrow: Down 35">
            <a:extLst>
              <a:ext uri="{FF2B5EF4-FFF2-40B4-BE49-F238E27FC236}">
                <a16:creationId xmlns:a16="http://schemas.microsoft.com/office/drawing/2014/main" id="{770CAEC3-2034-A2B6-5EC1-4A3633146DB2}"/>
              </a:ext>
            </a:extLst>
          </p:cNvPr>
          <p:cNvSpPr/>
          <p:nvPr/>
        </p:nvSpPr>
        <p:spPr>
          <a:xfrm rot="2220979">
            <a:off x="6651211" y="3650616"/>
            <a:ext cx="726676" cy="7306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7" name="Arrow: Down 36">
            <a:extLst>
              <a:ext uri="{FF2B5EF4-FFF2-40B4-BE49-F238E27FC236}">
                <a16:creationId xmlns:a16="http://schemas.microsoft.com/office/drawing/2014/main" id="{6228E1B0-C05A-CA7D-2010-F5DADE9109D8}"/>
              </a:ext>
            </a:extLst>
          </p:cNvPr>
          <p:cNvSpPr/>
          <p:nvPr/>
        </p:nvSpPr>
        <p:spPr>
          <a:xfrm rot="18828884">
            <a:off x="9230910" y="3650616"/>
            <a:ext cx="726676" cy="7306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8" name="Rectangle 37">
            <a:extLst>
              <a:ext uri="{FF2B5EF4-FFF2-40B4-BE49-F238E27FC236}">
                <a16:creationId xmlns:a16="http://schemas.microsoft.com/office/drawing/2014/main" id="{110F4FA9-DF34-CD89-F658-74340091441E}"/>
              </a:ext>
            </a:extLst>
          </p:cNvPr>
          <p:cNvSpPr/>
          <p:nvPr/>
        </p:nvSpPr>
        <p:spPr>
          <a:xfrm>
            <a:off x="4876245" y="4475299"/>
            <a:ext cx="3545421"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あり得そうな値の限界値を試す</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9" name="Rectangle 38">
            <a:extLst>
              <a:ext uri="{FF2B5EF4-FFF2-40B4-BE49-F238E27FC236}">
                <a16:creationId xmlns:a16="http://schemas.microsoft.com/office/drawing/2014/main" id="{9E88A485-BC8C-C593-4CB9-A07C229AB84D}"/>
              </a:ext>
            </a:extLst>
          </p:cNvPr>
          <p:cNvSpPr/>
          <p:nvPr/>
        </p:nvSpPr>
        <p:spPr>
          <a:xfrm>
            <a:off x="9048175" y="4475299"/>
            <a:ext cx="2663727"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確率分布をつくって試行</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41" name="Rectangle 40">
            <a:extLst>
              <a:ext uri="{FF2B5EF4-FFF2-40B4-BE49-F238E27FC236}">
                <a16:creationId xmlns:a16="http://schemas.microsoft.com/office/drawing/2014/main" id="{A4352CC2-877D-467D-3A11-5B017B1F3289}"/>
              </a:ext>
            </a:extLst>
          </p:cNvPr>
          <p:cNvSpPr/>
          <p:nvPr/>
        </p:nvSpPr>
        <p:spPr>
          <a:xfrm>
            <a:off x="9048175" y="6268276"/>
            <a:ext cx="2663727"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各試行ごとのアウトカム</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42" name="Rectangle 41">
            <a:extLst>
              <a:ext uri="{FF2B5EF4-FFF2-40B4-BE49-F238E27FC236}">
                <a16:creationId xmlns:a16="http://schemas.microsoft.com/office/drawing/2014/main" id="{1CA5DD6A-777C-6ADB-3D06-F7238C1949E0}"/>
              </a:ext>
            </a:extLst>
          </p:cNvPr>
          <p:cNvSpPr/>
          <p:nvPr/>
        </p:nvSpPr>
        <p:spPr>
          <a:xfrm>
            <a:off x="5317092" y="6268276"/>
            <a:ext cx="2663727" cy="29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アウトカムに幅が出てくる</a:t>
            </a:r>
            <a:endParaRPr lang="en-US" sz="2000" dirty="0">
              <a:solidFill>
                <a:schemeClr val="tx1"/>
              </a:solidFill>
              <a:latin typeface="Meiryo UI" panose="020B0604030504040204" pitchFamily="50" charset="-128"/>
              <a:ea typeface="Meiryo UI" panose="020B0604030504040204" pitchFamily="50" charset="-128"/>
            </a:endParaRPr>
          </a:p>
        </p:txBody>
      </p:sp>
      <p:pic>
        <p:nvPicPr>
          <p:cNvPr id="43" name="Picture 42">
            <a:extLst>
              <a:ext uri="{FF2B5EF4-FFF2-40B4-BE49-F238E27FC236}">
                <a16:creationId xmlns:a16="http://schemas.microsoft.com/office/drawing/2014/main" id="{59C9BFE3-EAB0-3956-2E08-8CA6DBD91AE4}"/>
              </a:ext>
            </a:extLst>
          </p:cNvPr>
          <p:cNvPicPr>
            <a:picLocks noChangeAspect="1"/>
          </p:cNvPicPr>
          <p:nvPr/>
        </p:nvPicPr>
        <p:blipFill>
          <a:blip r:embed="rId2"/>
          <a:srcRect b="61667"/>
          <a:stretch/>
        </p:blipFill>
        <p:spPr>
          <a:xfrm>
            <a:off x="5011569" y="2336095"/>
            <a:ext cx="6834208" cy="1187180"/>
          </a:xfrm>
          <a:prstGeom prst="rect">
            <a:avLst/>
          </a:prstGeom>
        </p:spPr>
      </p:pic>
      <p:pic>
        <p:nvPicPr>
          <p:cNvPr id="44" name="Picture 43">
            <a:extLst>
              <a:ext uri="{FF2B5EF4-FFF2-40B4-BE49-F238E27FC236}">
                <a16:creationId xmlns:a16="http://schemas.microsoft.com/office/drawing/2014/main" id="{CE50C2B1-8901-F024-6375-AF44D4BB9778}"/>
              </a:ext>
            </a:extLst>
          </p:cNvPr>
          <p:cNvPicPr>
            <a:picLocks noChangeAspect="1"/>
          </p:cNvPicPr>
          <p:nvPr/>
        </p:nvPicPr>
        <p:blipFill>
          <a:blip r:embed="rId2"/>
          <a:srcRect l="63492" b="61667"/>
          <a:stretch/>
        </p:blipFill>
        <p:spPr>
          <a:xfrm>
            <a:off x="5111923" y="4776871"/>
            <a:ext cx="3019014" cy="1436488"/>
          </a:xfrm>
          <a:prstGeom prst="rect">
            <a:avLst/>
          </a:prstGeom>
        </p:spPr>
      </p:pic>
      <p:sp>
        <p:nvSpPr>
          <p:cNvPr id="45" name="Rectangle: Rounded Corners 44">
            <a:extLst>
              <a:ext uri="{FF2B5EF4-FFF2-40B4-BE49-F238E27FC236}">
                <a16:creationId xmlns:a16="http://schemas.microsoft.com/office/drawing/2014/main" id="{261529BE-C28F-3A40-995D-5735357FBCD6}"/>
              </a:ext>
            </a:extLst>
          </p:cNvPr>
          <p:cNvSpPr/>
          <p:nvPr/>
        </p:nvSpPr>
        <p:spPr>
          <a:xfrm>
            <a:off x="6529292" y="5283305"/>
            <a:ext cx="669851" cy="32810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47" name="Rectangle: Rounded Corners 46">
            <a:extLst>
              <a:ext uri="{FF2B5EF4-FFF2-40B4-BE49-F238E27FC236}">
                <a16:creationId xmlns:a16="http://schemas.microsoft.com/office/drawing/2014/main" id="{A1E0386F-D664-FE50-9760-3D766392DB9C}"/>
              </a:ext>
            </a:extLst>
          </p:cNvPr>
          <p:cNvSpPr/>
          <p:nvPr/>
        </p:nvSpPr>
        <p:spPr>
          <a:xfrm>
            <a:off x="7321653" y="5283305"/>
            <a:ext cx="669851" cy="32810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nvGrpSpPr>
          <p:cNvPr id="48" name="Group 47">
            <a:extLst>
              <a:ext uri="{FF2B5EF4-FFF2-40B4-BE49-F238E27FC236}">
                <a16:creationId xmlns:a16="http://schemas.microsoft.com/office/drawing/2014/main" id="{1DBC89CF-0ACE-055D-2D03-6087FA13ED9E}"/>
              </a:ext>
            </a:extLst>
          </p:cNvPr>
          <p:cNvGrpSpPr/>
          <p:nvPr/>
        </p:nvGrpSpPr>
        <p:grpSpPr>
          <a:xfrm>
            <a:off x="9048175" y="4807717"/>
            <a:ext cx="2678068" cy="1274865"/>
            <a:chOff x="8567512" y="2489858"/>
            <a:chExt cx="2678068" cy="1274865"/>
          </a:xfrm>
        </p:grpSpPr>
        <p:sp>
          <p:nvSpPr>
            <p:cNvPr id="49" name="Isosceles Triangle 24">
              <a:extLst>
                <a:ext uri="{FF2B5EF4-FFF2-40B4-BE49-F238E27FC236}">
                  <a16:creationId xmlns:a16="http://schemas.microsoft.com/office/drawing/2014/main" id="{A80E64CD-0EA4-C3CC-F9B1-7628CA4FBD13}"/>
                </a:ext>
              </a:extLst>
            </p:cNvPr>
            <p:cNvSpPr/>
            <p:nvPr/>
          </p:nvSpPr>
          <p:spPr>
            <a:xfrm>
              <a:off x="8861549" y="2546491"/>
              <a:ext cx="1744397" cy="819117"/>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50" name="Straight Arrow Connector 49">
              <a:extLst>
                <a:ext uri="{FF2B5EF4-FFF2-40B4-BE49-F238E27FC236}">
                  <a16:creationId xmlns:a16="http://schemas.microsoft.com/office/drawing/2014/main" id="{2B1E9C57-958E-C2EC-BF5B-F342E9C223D7}"/>
                </a:ext>
              </a:extLst>
            </p:cNvPr>
            <p:cNvCxnSpPr>
              <a:cxnSpLocks/>
              <a:stCxn id="49" idx="0"/>
            </p:cNvCxnSpPr>
            <p:nvPr/>
          </p:nvCxnSpPr>
          <p:spPr>
            <a:xfrm flipV="1">
              <a:off x="8861549" y="2489858"/>
              <a:ext cx="13433" cy="8625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CF15A0D-B3B9-3656-FD7F-6AE94E2A7668}"/>
                </a:ext>
              </a:extLst>
            </p:cNvPr>
            <p:cNvCxnSpPr>
              <a:cxnSpLocks/>
              <a:stCxn id="49" idx="0"/>
            </p:cNvCxnSpPr>
            <p:nvPr/>
          </p:nvCxnSpPr>
          <p:spPr>
            <a:xfrm>
              <a:off x="8861549" y="3352426"/>
              <a:ext cx="1939993" cy="208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21AAEEB0-51F8-D570-C81C-DAA0CD91EDD7}"/>
                </a:ext>
              </a:extLst>
            </p:cNvPr>
            <p:cNvSpPr/>
            <p:nvPr/>
          </p:nvSpPr>
          <p:spPr>
            <a:xfrm>
              <a:off x="8567512" y="256791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確率</a:t>
              </a:r>
              <a:endParaRPr lang="en-US" dirty="0">
                <a:solidFill>
                  <a:schemeClr val="tx1"/>
                </a:solidFill>
                <a:latin typeface="Meiryo UI" panose="020B0604030504040204" pitchFamily="50" charset="-128"/>
                <a:ea typeface="Meiryo UI" panose="020B0604030504040204" pitchFamily="50" charset="-128"/>
              </a:endParaRPr>
            </a:p>
          </p:txBody>
        </p:sp>
        <p:sp>
          <p:nvSpPr>
            <p:cNvPr id="53" name="Rectangle 52">
              <a:extLst>
                <a:ext uri="{FF2B5EF4-FFF2-40B4-BE49-F238E27FC236}">
                  <a16:creationId xmlns:a16="http://schemas.microsoft.com/office/drawing/2014/main" id="{B8946BED-F604-1D2A-1420-DC08C29E33B6}"/>
                </a:ext>
              </a:extLst>
            </p:cNvPr>
            <p:cNvSpPr/>
            <p:nvPr/>
          </p:nvSpPr>
          <p:spPr>
            <a:xfrm>
              <a:off x="8633856"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Meiryo UI" panose="020B0604030504040204" pitchFamily="50" charset="-128"/>
                  <a:ea typeface="Meiryo UI" panose="020B0604030504040204" pitchFamily="50" charset="-128"/>
                </a:rPr>
                <a:t>0.25</a:t>
              </a:r>
              <a:endParaRPr lang="en-US" dirty="0">
                <a:solidFill>
                  <a:schemeClr val="tx1"/>
                </a:solidFill>
                <a:latin typeface="Meiryo UI" panose="020B0604030504040204" pitchFamily="50" charset="-128"/>
                <a:ea typeface="Meiryo UI" panose="020B0604030504040204" pitchFamily="50" charset="-128"/>
              </a:endParaRPr>
            </a:p>
          </p:txBody>
        </p:sp>
        <p:sp>
          <p:nvSpPr>
            <p:cNvPr id="54" name="Rectangle 53">
              <a:extLst>
                <a:ext uri="{FF2B5EF4-FFF2-40B4-BE49-F238E27FC236}">
                  <a16:creationId xmlns:a16="http://schemas.microsoft.com/office/drawing/2014/main" id="{9BF32A91-5354-B7AD-5F1E-AA38AFCCE3CA}"/>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0.7</a:t>
              </a:r>
            </a:p>
          </p:txBody>
        </p:sp>
        <p:sp>
          <p:nvSpPr>
            <p:cNvPr id="56" name="Rectangle 55">
              <a:extLst>
                <a:ext uri="{FF2B5EF4-FFF2-40B4-BE49-F238E27FC236}">
                  <a16:creationId xmlns:a16="http://schemas.microsoft.com/office/drawing/2014/main" id="{DC9BEDCF-56FB-7A9F-23A8-07FAD121AFEA}"/>
                </a:ext>
              </a:extLst>
            </p:cNvPr>
            <p:cNvSpPr/>
            <p:nvPr/>
          </p:nvSpPr>
          <p:spPr>
            <a:xfrm>
              <a:off x="10777712" y="3391117"/>
              <a:ext cx="467868" cy="1499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月</a:t>
              </a:r>
              <a:endParaRPr lang="en-US" dirty="0">
                <a:solidFill>
                  <a:schemeClr val="tx1"/>
                </a:solidFill>
                <a:latin typeface="Meiryo UI" panose="020B0604030504040204" pitchFamily="50" charset="-128"/>
                <a:ea typeface="Meiryo UI" panose="020B0604030504040204" pitchFamily="50" charset="-128"/>
              </a:endParaRPr>
            </a:p>
          </p:txBody>
        </p:sp>
        <p:sp>
          <p:nvSpPr>
            <p:cNvPr id="55" name="Rectangle 54">
              <a:extLst>
                <a:ext uri="{FF2B5EF4-FFF2-40B4-BE49-F238E27FC236}">
                  <a16:creationId xmlns:a16="http://schemas.microsoft.com/office/drawing/2014/main" id="{ABD0B8A9-7A48-D97E-EB2D-84B0159CA939}"/>
                </a:ext>
              </a:extLst>
            </p:cNvPr>
            <p:cNvSpPr/>
            <p:nvPr/>
          </p:nvSpPr>
          <p:spPr>
            <a:xfrm>
              <a:off x="10171874" y="3429000"/>
              <a:ext cx="688371"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1.96</a:t>
              </a:r>
            </a:p>
          </p:txBody>
        </p:sp>
      </p:grpSp>
    </p:spTree>
    <p:extLst>
      <p:ext uri="{BB962C8B-B14F-4D97-AF65-F5344CB8AC3E}">
        <p14:creationId xmlns:p14="http://schemas.microsoft.com/office/powerpoint/2010/main" val="2305257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839CE-40D2-2C41-E352-86F07364C0FD}"/>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7E2A699B-AB39-9071-2879-45E754CC234E}"/>
              </a:ext>
            </a:extLst>
          </p:cNvPr>
          <p:cNvSpPr txBox="1"/>
          <p:nvPr/>
        </p:nvSpPr>
        <p:spPr>
          <a:xfrm>
            <a:off x="4945378" y="6469597"/>
            <a:ext cx="7039358" cy="184666"/>
          </a:xfrm>
          <a:prstGeom prst="rect">
            <a:avLst/>
          </a:prstGeom>
          <a:solidFill>
            <a:schemeClr val="bg1"/>
          </a:solidFill>
        </p:spPr>
        <p:txBody>
          <a:bodyPr wrap="square" lIns="0" tIns="0" rIns="0" bIns="0">
            <a:spAutoFit/>
          </a:bodyPr>
          <a:lstStyle/>
          <a:p>
            <a:r>
              <a:rPr lang="en-US" altLang="ja-JP" sz="1200" dirty="0">
                <a:latin typeface="Meiryo UI" panose="020B0604030504040204" pitchFamily="50" charset="-128"/>
                <a:ea typeface="Meiryo UI" panose="020B0604030504040204" pitchFamily="50" charset="-128"/>
              </a:rPr>
              <a:t>WHO. Introduction to Drug Utilization Research. 2003</a:t>
            </a:r>
            <a:endParaRPr lang="en-US" sz="1200" dirty="0">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2D949A6F-CEBF-370B-97A9-F9BFF70C76DC}"/>
              </a:ext>
            </a:extLst>
          </p:cNvPr>
          <p:cNvSpPr>
            <a:spLocks noGrp="1"/>
          </p:cNvSpPr>
          <p:nvPr>
            <p:ph type="title"/>
          </p:nvPr>
        </p:nvSpPr>
        <p:spPr/>
        <p:txBody>
          <a:bodyPr/>
          <a:lstStyle/>
          <a:p>
            <a:r>
              <a:rPr lang="ja-JP" altLang="en-US" dirty="0"/>
              <a:t>分析のプロセス</a:t>
            </a:r>
            <a:r>
              <a:rPr lang="en-US" altLang="ja-JP" dirty="0"/>
              <a:t>―</a:t>
            </a:r>
            <a:r>
              <a:rPr lang="ja-JP" altLang="en-US" dirty="0"/>
              <a:t>⑧結果の評価</a:t>
            </a:r>
            <a:endParaRPr lang="en-US" dirty="0"/>
          </a:p>
        </p:txBody>
      </p:sp>
      <p:sp>
        <p:nvSpPr>
          <p:cNvPr id="3" name="Table Placeholder 2">
            <a:extLst>
              <a:ext uri="{FF2B5EF4-FFF2-40B4-BE49-F238E27FC236}">
                <a16:creationId xmlns:a16="http://schemas.microsoft.com/office/drawing/2014/main" id="{8589A3CF-EC50-1467-BCDA-04FACB62C9C8}"/>
              </a:ext>
            </a:extLst>
          </p:cNvPr>
          <p:cNvSpPr>
            <a:spLocks noGrp="1"/>
          </p:cNvSpPr>
          <p:nvPr>
            <p:ph type="tbl" sz="quarter" idx="10"/>
          </p:nvPr>
        </p:nvSpPr>
        <p:spPr>
          <a:xfrm>
            <a:off x="4815839" y="1938130"/>
            <a:ext cx="6909021" cy="4692045"/>
          </a:xfrm>
        </p:spPr>
        <p:txBody>
          <a:bodyPr/>
          <a:lstStyle/>
          <a:p>
            <a:r>
              <a:rPr lang="ja-JP" altLang="en-US" dirty="0"/>
              <a:t>効果と費用のトレードオフを評価する</a:t>
            </a:r>
            <a:r>
              <a:rPr lang="en-US" altLang="ja-JP" sz="1800" dirty="0"/>
              <a:t>(WHO 2003)</a:t>
            </a:r>
            <a:endParaRPr lang="en-US" altLang="ja-JP" dirty="0"/>
          </a:p>
          <a:p>
            <a:pPr lvl="1"/>
            <a:r>
              <a:rPr lang="ja-JP" altLang="en-US" dirty="0"/>
              <a:t>費用最小化分析</a:t>
            </a:r>
            <a:r>
              <a:rPr lang="en-US" altLang="ja-JP" sz="1800" dirty="0"/>
              <a:t>(Cost-minimization analysis)</a:t>
            </a:r>
            <a:endParaRPr lang="en-US" altLang="ja-JP" dirty="0"/>
          </a:p>
          <a:p>
            <a:pPr lvl="2"/>
            <a:r>
              <a:rPr lang="ja-JP" altLang="en-US" dirty="0"/>
              <a:t>複数の選択肢の費用を比較。費用が小さいものを選ぶ。選択肢の効果が同程度である必要</a:t>
            </a:r>
            <a:endParaRPr lang="en-US" altLang="ja-JP" dirty="0"/>
          </a:p>
          <a:p>
            <a:pPr lvl="1"/>
            <a:endParaRPr lang="ja-JP" altLang="en-US" dirty="0"/>
          </a:p>
          <a:p>
            <a:pPr lvl="1"/>
            <a:r>
              <a:rPr lang="ja-JP" altLang="en-US" dirty="0"/>
              <a:t>費用便益分析</a:t>
            </a:r>
            <a:r>
              <a:rPr lang="en-US" altLang="ja-JP" sz="1800" dirty="0"/>
              <a:t>(Cost-benefit analysis)</a:t>
            </a:r>
            <a:endParaRPr lang="en-US" altLang="ja-JP" dirty="0"/>
          </a:p>
          <a:p>
            <a:pPr lvl="2"/>
            <a:r>
              <a:rPr lang="ja-JP" altLang="en-US" dirty="0"/>
              <a:t>金銭的価値に換算した効果と費用の差を比較。　差</a:t>
            </a:r>
            <a:r>
              <a:rPr lang="en-US" altLang="ja-JP" dirty="0"/>
              <a:t>(</a:t>
            </a:r>
            <a:r>
              <a:rPr lang="ja-JP" altLang="en-US" dirty="0"/>
              <a:t>利益</a:t>
            </a:r>
            <a:r>
              <a:rPr lang="en-US" altLang="ja-JP" dirty="0"/>
              <a:t>)</a:t>
            </a:r>
            <a:r>
              <a:rPr lang="ja-JP" altLang="en-US" dirty="0"/>
              <a:t>が大きい選択肢を選ぶ。効果を金銭的　価値に換算することが難しくあまり使われない</a:t>
            </a:r>
            <a:endParaRPr lang="en-US" altLang="ja-JP" dirty="0"/>
          </a:p>
          <a:p>
            <a:pPr lvl="1"/>
            <a:endParaRPr lang="ja-JP" altLang="en-US" dirty="0"/>
          </a:p>
          <a:p>
            <a:pPr lvl="1"/>
            <a:r>
              <a:rPr lang="ja-JP" altLang="en-US" b="1" dirty="0"/>
              <a:t>費用対効果分析</a:t>
            </a:r>
            <a:r>
              <a:rPr lang="en-US" altLang="ja-JP" sz="1800" dirty="0"/>
              <a:t>(Cot-effectiveness analysis)</a:t>
            </a:r>
            <a:endParaRPr lang="en-US" altLang="ja-JP" dirty="0"/>
          </a:p>
          <a:p>
            <a:pPr lvl="2"/>
            <a:r>
              <a:rPr lang="ja-JP" altLang="en-US" b="1" dirty="0"/>
              <a:t>複数の選択肢を、効果の増分あたりの費用の増分で比較</a:t>
            </a:r>
            <a:endParaRPr lang="en-US" altLang="ja-JP" sz="2400" b="1" dirty="0"/>
          </a:p>
        </p:txBody>
      </p:sp>
      <p:sp>
        <p:nvSpPr>
          <p:cNvPr id="4" name="Slide Number Placeholder 3">
            <a:extLst>
              <a:ext uri="{FF2B5EF4-FFF2-40B4-BE49-F238E27FC236}">
                <a16:creationId xmlns:a16="http://schemas.microsoft.com/office/drawing/2014/main" id="{61054BC2-3E13-9DCB-30A0-3A19625E889F}"/>
              </a:ext>
            </a:extLst>
          </p:cNvPr>
          <p:cNvSpPr>
            <a:spLocks noGrp="1"/>
          </p:cNvSpPr>
          <p:nvPr>
            <p:ph type="sldNum" sz="quarter" idx="4"/>
          </p:nvPr>
        </p:nvSpPr>
        <p:spPr/>
        <p:txBody>
          <a:bodyPr/>
          <a:lstStyle/>
          <a:p>
            <a:fld id="{B5CEABB6-07DC-46E8-9B57-56EC44A396E5}" type="slidenum">
              <a:rPr lang="en-US" smtClean="0"/>
              <a:pPr/>
              <a:t>23</a:t>
            </a:fld>
            <a:endParaRPr lang="en-US" dirty="0"/>
          </a:p>
        </p:txBody>
      </p:sp>
      <p:sp>
        <p:nvSpPr>
          <p:cNvPr id="5" name="Table Placeholder 4">
            <a:extLst>
              <a:ext uri="{FF2B5EF4-FFF2-40B4-BE49-F238E27FC236}">
                <a16:creationId xmlns:a16="http://schemas.microsoft.com/office/drawing/2014/main" id="{1672B496-8DDD-FBD6-022D-C37255B2711D}"/>
              </a:ext>
            </a:extLst>
          </p:cNvPr>
          <p:cNvSpPr>
            <a:spLocks noGrp="1"/>
          </p:cNvSpPr>
          <p:nvPr>
            <p:ph type="tbl" sz="quarter" idx="11"/>
          </p:nvPr>
        </p:nvSpPr>
        <p:spPr/>
        <p:txBody>
          <a:bodyPr/>
          <a:lstStyle/>
          <a:p>
            <a:r>
              <a:rPr lang="ja-JP" altLang="en-US" dirty="0"/>
              <a:t>アウトカムとして出てきた効果と費用のトレードオフを複数の選択肢間で評価。　　　　　　　　　　医療経済では費用対効果分析がよく使われる</a:t>
            </a:r>
            <a:endParaRPr lang="en-US" dirty="0"/>
          </a:p>
        </p:txBody>
      </p:sp>
      <p:grpSp>
        <p:nvGrpSpPr>
          <p:cNvPr id="6" name="Group 5">
            <a:extLst>
              <a:ext uri="{FF2B5EF4-FFF2-40B4-BE49-F238E27FC236}">
                <a16:creationId xmlns:a16="http://schemas.microsoft.com/office/drawing/2014/main" id="{1A98B453-5BD9-A453-2028-82B0A9B3E970}"/>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3FCE4080-34F6-DD80-97C1-075B476A1076}"/>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AEE59A45-0920-E89A-016E-4B0B8E085B8C}"/>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6C7B95C9-5570-F3D8-00BF-977B1819DD74}"/>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54BA8681-7E92-CA44-AC6B-7D4835BC4703}"/>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2B87E6BD-EEF6-13D8-310E-2AC0EE52FF6A}"/>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D5BDA14E-3A31-56FE-8174-77F328DED68C}"/>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B4D3845A-5A8E-8492-D6F6-C8626FB1D17C}"/>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7A10FCF7-AEBA-50D9-C745-C9A862BE2EAE}"/>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F2CA4A8F-FD3A-B5D2-1D8C-CDCA5A79BF77}"/>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74FA8125-AF87-98AA-855E-2FB9D3F99278}"/>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8713BC72-FC52-7849-A319-D9F01869CAD2}"/>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79181D5E-0D00-A609-CD73-4097339C6532}"/>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結果の評価</a:t>
            </a:r>
            <a:endParaRPr lang="en-US" b="1"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9B15D673-AC91-396D-9BA5-2AA6E011F490}"/>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D50752A3-5E5B-3A15-A8DB-90BD58A9B7CD}"/>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7F2A3FFD-A659-9660-7511-D24701F5C9FE}"/>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F31A741C-4673-3FCF-6E47-BEBF9C084AA1}"/>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F3987F22-2251-B0A0-2EF1-609F700F99D9}"/>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77051C02-2ABE-93C3-A848-90A7EBF551C1}"/>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3DC0D2BD-727D-B879-A73F-EB5789AAB367}"/>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BF2EE933-6381-8629-716D-8CD1F233AC49}"/>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30BE101B-C99C-CCB6-888B-F8F581DD4430}"/>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5BC54FF4-8E0F-2C2C-D50D-6371D072D013}"/>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E41DFC59-7452-0757-6CEF-281BB235A92F}"/>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5BB14A1E-C2F6-6867-91D8-34F60AC886A7}"/>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DD6A4E7E-073A-A670-16D9-6F11451010CD}"/>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5B0D1A88-C6F4-B6E3-AB40-D5F30B04103D}"/>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８</a:t>
            </a:r>
            <a:endParaRPr lang="en-US" b="1" dirty="0">
              <a:solidFill>
                <a:schemeClr val="bg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DD3155A9-18FB-7879-368E-8089BF918705}"/>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9E0A690C-3FAB-0421-CEDA-614A692A5A89}"/>
              </a:ext>
            </a:extLst>
          </p:cNvPr>
          <p:cNvCxnSpPr>
            <a:cxnSpLocks/>
            <a:stCxn id="18" idx="3"/>
            <a:endCxn id="40" idx="1"/>
          </p:cNvCxnSpPr>
          <p:nvPr/>
        </p:nvCxnSpPr>
        <p:spPr>
          <a:xfrm flipV="1">
            <a:off x="3989294" y="4284153"/>
            <a:ext cx="705628" cy="2122782"/>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266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F0E85-5495-5246-9C4F-91AFC213C66A}"/>
            </a:ext>
          </a:extLst>
        </p:cNvPr>
        <p:cNvGrpSpPr/>
        <p:nvPr/>
      </p:nvGrpSpPr>
      <p:grpSpPr>
        <a:xfrm>
          <a:off x="0" y="0"/>
          <a:ext cx="0" cy="0"/>
          <a:chOff x="0" y="0"/>
          <a:chExt cx="0" cy="0"/>
        </a:xfrm>
      </p:grpSpPr>
      <p:sp>
        <p:nvSpPr>
          <p:cNvPr id="72" name="Partial Circle 71">
            <a:extLst>
              <a:ext uri="{FF2B5EF4-FFF2-40B4-BE49-F238E27FC236}">
                <a16:creationId xmlns:a16="http://schemas.microsoft.com/office/drawing/2014/main" id="{FE52604E-112D-5A57-C941-088618FF835F}"/>
              </a:ext>
            </a:extLst>
          </p:cNvPr>
          <p:cNvSpPr/>
          <p:nvPr/>
        </p:nvSpPr>
        <p:spPr>
          <a:xfrm>
            <a:off x="6351748" y="4074148"/>
            <a:ext cx="1024136" cy="1037213"/>
          </a:xfrm>
          <a:prstGeom prst="pie">
            <a:avLst>
              <a:gd name="adj1" fmla="val 19616795"/>
              <a:gd name="adj2" fmla="val 21584148"/>
            </a:avLst>
          </a:prstGeom>
          <a:solidFill>
            <a:schemeClr val="accent5">
              <a:lumMod val="60000"/>
              <a:lumOff val="40000"/>
              <a:alpha val="50196"/>
            </a:schemeClr>
          </a:solidFill>
          <a:ln>
            <a:solidFill>
              <a:srgbClr val="00B0F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19498F10-3079-A21A-F839-716B00028BE1}"/>
              </a:ext>
            </a:extLst>
          </p:cNvPr>
          <p:cNvSpPr>
            <a:spLocks noGrp="1"/>
          </p:cNvSpPr>
          <p:nvPr>
            <p:ph type="title"/>
          </p:nvPr>
        </p:nvSpPr>
        <p:spPr/>
        <p:txBody>
          <a:bodyPr/>
          <a:lstStyle/>
          <a:p>
            <a:r>
              <a:rPr lang="ja-JP" altLang="en-US" dirty="0"/>
              <a:t>分析のプロセス</a:t>
            </a:r>
            <a:r>
              <a:rPr lang="en-US" altLang="ja-JP" dirty="0"/>
              <a:t>―</a:t>
            </a:r>
            <a:r>
              <a:rPr lang="ja-JP" altLang="en-US" dirty="0"/>
              <a:t>⑧結果の評価</a:t>
            </a:r>
            <a:endParaRPr lang="en-US" dirty="0"/>
          </a:p>
        </p:txBody>
      </p:sp>
      <p:sp>
        <p:nvSpPr>
          <p:cNvPr id="3" name="Table Placeholder 2">
            <a:extLst>
              <a:ext uri="{FF2B5EF4-FFF2-40B4-BE49-F238E27FC236}">
                <a16:creationId xmlns:a16="http://schemas.microsoft.com/office/drawing/2014/main" id="{1397C735-EB7F-06C9-B4E9-C21D5564B63D}"/>
              </a:ext>
            </a:extLst>
          </p:cNvPr>
          <p:cNvSpPr>
            <a:spLocks noGrp="1"/>
          </p:cNvSpPr>
          <p:nvPr>
            <p:ph type="tbl" sz="quarter" idx="10"/>
          </p:nvPr>
        </p:nvSpPr>
        <p:spPr>
          <a:xfrm>
            <a:off x="4815839" y="1938130"/>
            <a:ext cx="6909021" cy="4692045"/>
          </a:xfrm>
        </p:spPr>
        <p:txBody>
          <a:bodyPr/>
          <a:lstStyle/>
          <a:p>
            <a:r>
              <a:rPr lang="ja-JP" altLang="en-US" dirty="0"/>
              <a:t>効果の増分に対し費用の増分が低い方がよい</a:t>
            </a:r>
            <a:endParaRPr lang="en-US" altLang="ja-JP" dirty="0"/>
          </a:p>
          <a:p>
            <a:pPr lvl="1"/>
            <a:r>
              <a:rPr lang="ja-JP" altLang="en-US" sz="2000" dirty="0"/>
              <a:t>増分費用効果比</a:t>
            </a:r>
            <a:r>
              <a:rPr lang="en-US" altLang="ja-JP" sz="2000" dirty="0"/>
              <a:t>(ICER)</a:t>
            </a:r>
          </a:p>
          <a:p>
            <a:pPr marL="914400" lvl="2" indent="0">
              <a:buNone/>
            </a:pPr>
            <a:r>
              <a:rPr lang="en-US" altLang="ja-JP" dirty="0"/>
              <a:t>=</a:t>
            </a:r>
            <a:r>
              <a:rPr lang="ja-JP" altLang="en-US" dirty="0"/>
              <a:t>選択肢の効果と費用をプロットした時の傾き</a:t>
            </a: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marL="914400" lvl="2" indent="0">
              <a:buNone/>
            </a:pPr>
            <a:endParaRPr lang="en-US" altLang="ja-JP" dirty="0"/>
          </a:p>
          <a:p>
            <a:pPr lvl="1"/>
            <a:r>
              <a:rPr lang="ja-JP" altLang="en-US" sz="2000" dirty="0"/>
              <a:t>日本では、</a:t>
            </a:r>
            <a:r>
              <a:rPr lang="en-US" altLang="ja-JP" sz="2000" dirty="0"/>
              <a:t>ICER=500</a:t>
            </a:r>
            <a:r>
              <a:rPr lang="ja-JP" altLang="en-US" sz="2000" dirty="0"/>
              <a:t>万円以下</a:t>
            </a:r>
            <a:r>
              <a:rPr lang="en-US" altLang="ja-JP" sz="2000" dirty="0"/>
              <a:t>/QALY</a:t>
            </a:r>
            <a:r>
              <a:rPr lang="ja-JP" altLang="en-US" sz="2000" dirty="0"/>
              <a:t>が　　　　　「費用対効果が良い」とされる</a:t>
            </a:r>
            <a:endParaRPr lang="en-US" altLang="ja-JP" dirty="0"/>
          </a:p>
          <a:p>
            <a:pPr lvl="1"/>
            <a:endParaRPr lang="ja-JP" altLang="en-US" sz="2000" dirty="0"/>
          </a:p>
          <a:p>
            <a:pPr lvl="1"/>
            <a:endParaRPr lang="en-US" altLang="ja-JP" b="1" dirty="0"/>
          </a:p>
        </p:txBody>
      </p:sp>
      <p:sp>
        <p:nvSpPr>
          <p:cNvPr id="4" name="Slide Number Placeholder 3">
            <a:extLst>
              <a:ext uri="{FF2B5EF4-FFF2-40B4-BE49-F238E27FC236}">
                <a16:creationId xmlns:a16="http://schemas.microsoft.com/office/drawing/2014/main" id="{93AD013A-36CB-8E5F-5EAC-5DDD47D89528}"/>
              </a:ext>
            </a:extLst>
          </p:cNvPr>
          <p:cNvSpPr>
            <a:spLocks noGrp="1"/>
          </p:cNvSpPr>
          <p:nvPr>
            <p:ph type="sldNum" sz="quarter" idx="4"/>
          </p:nvPr>
        </p:nvSpPr>
        <p:spPr/>
        <p:txBody>
          <a:bodyPr/>
          <a:lstStyle/>
          <a:p>
            <a:fld id="{B5CEABB6-07DC-46E8-9B57-56EC44A396E5}" type="slidenum">
              <a:rPr lang="en-US" smtClean="0"/>
              <a:pPr/>
              <a:t>24</a:t>
            </a:fld>
            <a:endParaRPr lang="en-US" dirty="0"/>
          </a:p>
        </p:txBody>
      </p:sp>
      <p:sp>
        <p:nvSpPr>
          <p:cNvPr id="5" name="Table Placeholder 4">
            <a:extLst>
              <a:ext uri="{FF2B5EF4-FFF2-40B4-BE49-F238E27FC236}">
                <a16:creationId xmlns:a16="http://schemas.microsoft.com/office/drawing/2014/main" id="{A8B278F6-94C3-2A65-8267-618FA301A889}"/>
              </a:ext>
            </a:extLst>
          </p:cNvPr>
          <p:cNvSpPr>
            <a:spLocks noGrp="1"/>
          </p:cNvSpPr>
          <p:nvPr>
            <p:ph type="tbl" sz="quarter" idx="11"/>
          </p:nvPr>
        </p:nvSpPr>
        <p:spPr/>
        <p:txBody>
          <a:bodyPr/>
          <a:lstStyle/>
          <a:p>
            <a:r>
              <a:rPr lang="ja-JP" altLang="en-US" dirty="0"/>
              <a:t>費用対効果分析では、追加効果１単位あたりの追加費用</a:t>
            </a:r>
            <a:r>
              <a:rPr lang="en-US" altLang="ja-JP" dirty="0"/>
              <a:t>(ICER)</a:t>
            </a:r>
            <a:r>
              <a:rPr lang="ja-JP" altLang="en-US" dirty="0"/>
              <a:t>が低いものを選ぶ</a:t>
            </a:r>
            <a:endParaRPr lang="en-US" dirty="0"/>
          </a:p>
        </p:txBody>
      </p:sp>
      <p:grpSp>
        <p:nvGrpSpPr>
          <p:cNvPr id="6" name="Group 5">
            <a:extLst>
              <a:ext uri="{FF2B5EF4-FFF2-40B4-BE49-F238E27FC236}">
                <a16:creationId xmlns:a16="http://schemas.microsoft.com/office/drawing/2014/main" id="{9DDCD7E0-5FA3-3432-1CA3-38C74201F95F}"/>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6B9483A5-FA44-2FC7-C6CB-5425D29F763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4861B744-7BD0-D98F-6C68-83B599C3C328}"/>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BA516A37-028D-B5A6-D426-FC7DAE7E18B7}"/>
                </a:ext>
              </a:extLst>
            </p:cNvPr>
            <p:cNvSpPr/>
            <p:nvPr/>
          </p:nvSpPr>
          <p:spPr>
            <a:xfrm>
              <a:off x="562270"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①定義・分析</a:t>
              </a:r>
              <a:endParaRPr lang="en-US" altLang="ja-JP" sz="1600" b="1" dirty="0">
                <a:latin typeface="Meiryo UI" panose="020B0604030504040204" pitchFamily="50" charset="-128"/>
                <a:ea typeface="Meiryo UI" panose="020B0604030504040204" pitchFamily="50" charset="-128"/>
              </a:endParaRPr>
            </a:p>
          </p:txBody>
        </p:sp>
      </p:grpSp>
      <p:sp>
        <p:nvSpPr>
          <p:cNvPr id="10" name="Rectangle 9">
            <a:extLst>
              <a:ext uri="{FF2B5EF4-FFF2-40B4-BE49-F238E27FC236}">
                <a16:creationId xmlns:a16="http://schemas.microsoft.com/office/drawing/2014/main" id="{AB2E1782-8F47-A042-1023-D40A28A4838A}"/>
              </a:ext>
            </a:extLst>
          </p:cNvPr>
          <p:cNvSpPr/>
          <p:nvPr/>
        </p:nvSpPr>
        <p:spPr>
          <a:xfrm>
            <a:off x="467139" y="193813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問題の特定・目的の設定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1" name="Rectangle 10">
            <a:extLst>
              <a:ext uri="{FF2B5EF4-FFF2-40B4-BE49-F238E27FC236}">
                <a16:creationId xmlns:a16="http://schemas.microsoft.com/office/drawing/2014/main" id="{20C3535E-3198-8D81-C15C-5B4C5A2DA8D2}"/>
              </a:ext>
            </a:extLst>
          </p:cNvPr>
          <p:cNvSpPr/>
          <p:nvPr/>
        </p:nvSpPr>
        <p:spPr>
          <a:xfrm>
            <a:off x="467139" y="375766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シミュレーションモデルの設計</a:t>
            </a:r>
            <a:endParaRPr lang="en-US" dirty="0">
              <a:solidFill>
                <a:schemeClr val="tx1"/>
              </a:solidFill>
              <a:latin typeface="Meiryo UI" panose="020B0604030504040204" pitchFamily="50" charset="-128"/>
              <a:ea typeface="Meiryo UI" panose="020B0604030504040204" pitchFamily="50" charset="-128"/>
            </a:endParaRPr>
          </a:p>
        </p:txBody>
      </p:sp>
      <p:sp>
        <p:nvSpPr>
          <p:cNvPr id="12" name="Oval 11">
            <a:extLst>
              <a:ext uri="{FF2B5EF4-FFF2-40B4-BE49-F238E27FC236}">
                <a16:creationId xmlns:a16="http://schemas.microsoft.com/office/drawing/2014/main" id="{4389052A-7706-BA31-AAF8-7387DF00A762}"/>
              </a:ext>
            </a:extLst>
          </p:cNvPr>
          <p:cNvSpPr/>
          <p:nvPr/>
        </p:nvSpPr>
        <p:spPr>
          <a:xfrm>
            <a:off x="549819" y="198137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Meiryo UI" panose="020B0604030504040204" pitchFamily="50" charset="-128"/>
                <a:ea typeface="Meiryo UI" panose="020B0604030504040204" pitchFamily="50" charset="-128"/>
              </a:rPr>
              <a:t>1</a:t>
            </a:r>
          </a:p>
        </p:txBody>
      </p:sp>
      <p:sp>
        <p:nvSpPr>
          <p:cNvPr id="13" name="Rectangle 12">
            <a:extLst>
              <a:ext uri="{FF2B5EF4-FFF2-40B4-BE49-F238E27FC236}">
                <a16:creationId xmlns:a16="http://schemas.microsoft.com/office/drawing/2014/main" id="{50ED3D16-BE59-05DF-DC4D-3E5C04477054}"/>
              </a:ext>
            </a:extLst>
          </p:cNvPr>
          <p:cNvSpPr/>
          <p:nvPr/>
        </p:nvSpPr>
        <p:spPr>
          <a:xfrm>
            <a:off x="467139" y="315115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シミュレーションモデルの選択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630E4668-45E0-3055-B056-57F23209D681}"/>
              </a:ext>
            </a:extLst>
          </p:cNvPr>
          <p:cNvSpPr/>
          <p:nvPr/>
        </p:nvSpPr>
        <p:spPr>
          <a:xfrm>
            <a:off x="467139" y="254464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アウトカムの設定</a:t>
            </a:r>
            <a:endParaRPr lang="en-US" dirty="0">
              <a:solidFill>
                <a:schemeClr val="tx1"/>
              </a:solidFill>
              <a:latin typeface="Meiryo UI" panose="020B0604030504040204" pitchFamily="50" charset="-128"/>
              <a:ea typeface="Meiryo UI" panose="020B0604030504040204" pitchFamily="50" charset="-128"/>
            </a:endParaRPr>
          </a:p>
        </p:txBody>
      </p:sp>
      <p:sp>
        <p:nvSpPr>
          <p:cNvPr id="15" name="Rectangle 14">
            <a:extLst>
              <a:ext uri="{FF2B5EF4-FFF2-40B4-BE49-F238E27FC236}">
                <a16:creationId xmlns:a16="http://schemas.microsoft.com/office/drawing/2014/main" id="{B73D5B0F-CEB8-7434-7A14-84A11837A3B7}"/>
              </a:ext>
            </a:extLst>
          </p:cNvPr>
          <p:cNvSpPr/>
          <p:nvPr/>
        </p:nvSpPr>
        <p:spPr>
          <a:xfrm>
            <a:off x="467139" y="436417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モデルのインプットの選択</a:t>
            </a:r>
            <a:endParaRPr lang="en-US" dirty="0">
              <a:solidFill>
                <a:schemeClr val="tx1"/>
              </a:solidFill>
              <a:latin typeface="Meiryo UI" panose="020B0604030504040204" pitchFamily="50" charset="-128"/>
              <a:ea typeface="Meiryo UI" panose="020B0604030504040204" pitchFamily="50" charset="-128"/>
            </a:endParaRPr>
          </a:p>
        </p:txBody>
      </p:sp>
      <p:sp>
        <p:nvSpPr>
          <p:cNvPr id="16" name="Rectangle 15">
            <a:extLst>
              <a:ext uri="{FF2B5EF4-FFF2-40B4-BE49-F238E27FC236}">
                <a16:creationId xmlns:a16="http://schemas.microsoft.com/office/drawing/2014/main" id="{73DDAC99-962C-3B04-2251-FE9688A4D6F0}"/>
              </a:ext>
            </a:extLst>
          </p:cNvPr>
          <p:cNvSpPr/>
          <p:nvPr/>
        </p:nvSpPr>
        <p:spPr>
          <a:xfrm>
            <a:off x="467139" y="497068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　　複数の選択肢をシミュレーション</a:t>
            </a: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F7C95609-FEFB-11CF-1DD2-3189E5D72061}"/>
              </a:ext>
            </a:extLst>
          </p:cNvPr>
          <p:cNvSpPr/>
          <p:nvPr/>
        </p:nvSpPr>
        <p:spPr>
          <a:xfrm>
            <a:off x="467139" y="5577191"/>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感度分析・シナリオ分析</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B393DD26-AE78-6554-8CAA-3E40B3566565}"/>
              </a:ext>
            </a:extLst>
          </p:cNvPr>
          <p:cNvSpPr/>
          <p:nvPr/>
        </p:nvSpPr>
        <p:spPr>
          <a:xfrm>
            <a:off x="467139" y="6183694"/>
            <a:ext cx="3522155" cy="44648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UI" panose="020B0604030504040204" pitchFamily="50" charset="-128"/>
                <a:ea typeface="Meiryo UI" panose="020B0604030504040204" pitchFamily="50" charset="-128"/>
              </a:rPr>
              <a:t>結果の評価</a:t>
            </a:r>
            <a:endParaRPr lang="en-US" b="1" dirty="0">
              <a:solidFill>
                <a:schemeClr val="tx1"/>
              </a:solidFill>
              <a:latin typeface="Meiryo UI" panose="020B0604030504040204" pitchFamily="50" charset="-128"/>
              <a:ea typeface="Meiryo UI" panose="020B0604030504040204" pitchFamily="50" charset="-128"/>
            </a:endParaRPr>
          </a:p>
        </p:txBody>
      </p:sp>
      <p:sp>
        <p:nvSpPr>
          <p:cNvPr id="19" name="Isosceles Triangle 18">
            <a:extLst>
              <a:ext uri="{FF2B5EF4-FFF2-40B4-BE49-F238E27FC236}">
                <a16:creationId xmlns:a16="http://schemas.microsoft.com/office/drawing/2014/main" id="{4E062998-1106-3364-7826-0506408B0191}"/>
              </a:ext>
            </a:extLst>
          </p:cNvPr>
          <p:cNvSpPr/>
          <p:nvPr/>
        </p:nvSpPr>
        <p:spPr>
          <a:xfrm flipV="1">
            <a:off x="1918934" y="238720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0" name="Isosceles Triangle 19">
            <a:extLst>
              <a:ext uri="{FF2B5EF4-FFF2-40B4-BE49-F238E27FC236}">
                <a16:creationId xmlns:a16="http://schemas.microsoft.com/office/drawing/2014/main" id="{9336C460-AAFD-9D2D-111C-864A3F961D4B}"/>
              </a:ext>
            </a:extLst>
          </p:cNvPr>
          <p:cNvSpPr/>
          <p:nvPr/>
        </p:nvSpPr>
        <p:spPr>
          <a:xfrm flipV="1">
            <a:off x="1918934" y="299371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Isosceles Triangle 20">
            <a:extLst>
              <a:ext uri="{FF2B5EF4-FFF2-40B4-BE49-F238E27FC236}">
                <a16:creationId xmlns:a16="http://schemas.microsoft.com/office/drawing/2014/main" id="{F3ED20DE-1CA6-50C3-36B5-2BA3A4CD1821}"/>
              </a:ext>
            </a:extLst>
          </p:cNvPr>
          <p:cNvSpPr/>
          <p:nvPr/>
        </p:nvSpPr>
        <p:spPr>
          <a:xfrm flipV="1">
            <a:off x="1918934" y="360022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2" name="Isosceles Triangle 21">
            <a:extLst>
              <a:ext uri="{FF2B5EF4-FFF2-40B4-BE49-F238E27FC236}">
                <a16:creationId xmlns:a16="http://schemas.microsoft.com/office/drawing/2014/main" id="{4A362CD5-919B-D02A-6D77-80C6C69843A9}"/>
              </a:ext>
            </a:extLst>
          </p:cNvPr>
          <p:cNvSpPr/>
          <p:nvPr/>
        </p:nvSpPr>
        <p:spPr>
          <a:xfrm flipV="1">
            <a:off x="1918934" y="420673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3" name="Isosceles Triangle 22">
            <a:extLst>
              <a:ext uri="{FF2B5EF4-FFF2-40B4-BE49-F238E27FC236}">
                <a16:creationId xmlns:a16="http://schemas.microsoft.com/office/drawing/2014/main" id="{9403C497-9035-9B68-DD62-636843F4E6D0}"/>
              </a:ext>
            </a:extLst>
          </p:cNvPr>
          <p:cNvSpPr/>
          <p:nvPr/>
        </p:nvSpPr>
        <p:spPr>
          <a:xfrm flipV="1">
            <a:off x="1918934" y="481324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4" name="Isosceles Triangle 23">
            <a:extLst>
              <a:ext uri="{FF2B5EF4-FFF2-40B4-BE49-F238E27FC236}">
                <a16:creationId xmlns:a16="http://schemas.microsoft.com/office/drawing/2014/main" id="{4F0DECCA-BC6A-4EB9-7BFE-7787F305564F}"/>
              </a:ext>
            </a:extLst>
          </p:cNvPr>
          <p:cNvSpPr/>
          <p:nvPr/>
        </p:nvSpPr>
        <p:spPr>
          <a:xfrm flipV="1">
            <a:off x="1918934" y="5419758"/>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5" name="Isosceles Triangle 24">
            <a:extLst>
              <a:ext uri="{FF2B5EF4-FFF2-40B4-BE49-F238E27FC236}">
                <a16:creationId xmlns:a16="http://schemas.microsoft.com/office/drawing/2014/main" id="{16402429-208B-808C-720C-8A7F008F3A5A}"/>
              </a:ext>
            </a:extLst>
          </p:cNvPr>
          <p:cNvSpPr/>
          <p:nvPr/>
        </p:nvSpPr>
        <p:spPr>
          <a:xfrm flipV="1">
            <a:off x="1918934" y="6026267"/>
            <a:ext cx="618564" cy="154837"/>
          </a:xfrm>
          <a:prstGeom prst="triangl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6" name="Oval 25">
            <a:extLst>
              <a:ext uri="{FF2B5EF4-FFF2-40B4-BE49-F238E27FC236}">
                <a16:creationId xmlns:a16="http://schemas.microsoft.com/office/drawing/2014/main" id="{7A31EE6F-DAD2-BE81-E829-A07585315D7B}"/>
              </a:ext>
            </a:extLst>
          </p:cNvPr>
          <p:cNvSpPr/>
          <p:nvPr/>
        </p:nvSpPr>
        <p:spPr>
          <a:xfrm>
            <a:off x="549819" y="2589946"/>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２</a:t>
            </a:r>
            <a:endParaRPr lang="en-US" dirty="0">
              <a:solidFill>
                <a:schemeClr val="bg1"/>
              </a:solidFill>
              <a:latin typeface="Meiryo UI" panose="020B0604030504040204" pitchFamily="50" charset="-128"/>
              <a:ea typeface="Meiryo UI" panose="020B0604030504040204" pitchFamily="50" charset="-128"/>
            </a:endParaRPr>
          </a:p>
        </p:txBody>
      </p:sp>
      <p:sp>
        <p:nvSpPr>
          <p:cNvPr id="27" name="Oval 26">
            <a:extLst>
              <a:ext uri="{FF2B5EF4-FFF2-40B4-BE49-F238E27FC236}">
                <a16:creationId xmlns:a16="http://schemas.microsoft.com/office/drawing/2014/main" id="{D2EB9917-AABF-524E-6E06-E338C1F29FC8}"/>
              </a:ext>
            </a:extLst>
          </p:cNvPr>
          <p:cNvSpPr/>
          <p:nvPr/>
        </p:nvSpPr>
        <p:spPr>
          <a:xfrm>
            <a:off x="549819" y="319439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３</a:t>
            </a:r>
            <a:endParaRPr lang="en-US" dirty="0">
              <a:solidFill>
                <a:schemeClr val="bg1"/>
              </a:solidFill>
              <a:latin typeface="Meiryo UI" panose="020B0604030504040204" pitchFamily="50" charset="-128"/>
              <a:ea typeface="Meiryo UI" panose="020B0604030504040204" pitchFamily="50" charset="-128"/>
            </a:endParaRPr>
          </a:p>
        </p:txBody>
      </p:sp>
      <p:sp>
        <p:nvSpPr>
          <p:cNvPr id="28" name="Oval 27">
            <a:extLst>
              <a:ext uri="{FF2B5EF4-FFF2-40B4-BE49-F238E27FC236}">
                <a16:creationId xmlns:a16="http://schemas.microsoft.com/office/drawing/2014/main" id="{C990614D-3901-F790-E9DD-E925DD238F40}"/>
              </a:ext>
            </a:extLst>
          </p:cNvPr>
          <p:cNvSpPr/>
          <p:nvPr/>
        </p:nvSpPr>
        <p:spPr>
          <a:xfrm>
            <a:off x="549819" y="380090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４</a:t>
            </a:r>
            <a:endParaRPr lang="en-US" dirty="0">
              <a:solidFill>
                <a:schemeClr val="bg1"/>
              </a:solidFill>
              <a:latin typeface="Meiryo UI" panose="020B0604030504040204" pitchFamily="50" charset="-128"/>
              <a:ea typeface="Meiryo UI" panose="020B0604030504040204" pitchFamily="50" charset="-128"/>
            </a:endParaRPr>
          </a:p>
        </p:txBody>
      </p:sp>
      <p:sp>
        <p:nvSpPr>
          <p:cNvPr id="30" name="Oval 29">
            <a:extLst>
              <a:ext uri="{FF2B5EF4-FFF2-40B4-BE49-F238E27FC236}">
                <a16:creationId xmlns:a16="http://schemas.microsoft.com/office/drawing/2014/main" id="{9A4150C7-5C42-4E97-854F-CFD16F00159B}"/>
              </a:ext>
            </a:extLst>
          </p:cNvPr>
          <p:cNvSpPr/>
          <p:nvPr/>
        </p:nvSpPr>
        <p:spPr>
          <a:xfrm>
            <a:off x="549819" y="440741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５</a:t>
            </a:r>
            <a:endParaRPr lang="en-US" dirty="0">
              <a:solidFill>
                <a:schemeClr val="bg1"/>
              </a:solidFill>
              <a:latin typeface="Meiryo UI" panose="020B0604030504040204" pitchFamily="50" charset="-128"/>
              <a:ea typeface="Meiryo UI" panose="020B0604030504040204" pitchFamily="50" charset="-128"/>
            </a:endParaRPr>
          </a:p>
        </p:txBody>
      </p:sp>
      <p:sp>
        <p:nvSpPr>
          <p:cNvPr id="31" name="Oval 30">
            <a:extLst>
              <a:ext uri="{FF2B5EF4-FFF2-40B4-BE49-F238E27FC236}">
                <a16:creationId xmlns:a16="http://schemas.microsoft.com/office/drawing/2014/main" id="{56D911CF-657E-A4CF-C543-84DAAFB0542E}"/>
              </a:ext>
            </a:extLst>
          </p:cNvPr>
          <p:cNvSpPr/>
          <p:nvPr/>
        </p:nvSpPr>
        <p:spPr>
          <a:xfrm>
            <a:off x="549819" y="501392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６</a:t>
            </a:r>
            <a:endParaRPr lang="en-US" dirty="0">
              <a:solidFill>
                <a:schemeClr val="bg1"/>
              </a:solidFill>
              <a:latin typeface="Meiryo UI" panose="020B0604030504040204" pitchFamily="50" charset="-128"/>
              <a:ea typeface="Meiryo UI" panose="020B0604030504040204" pitchFamily="50" charset="-128"/>
            </a:endParaRPr>
          </a:p>
        </p:txBody>
      </p:sp>
      <p:sp>
        <p:nvSpPr>
          <p:cNvPr id="32" name="Oval 31">
            <a:extLst>
              <a:ext uri="{FF2B5EF4-FFF2-40B4-BE49-F238E27FC236}">
                <a16:creationId xmlns:a16="http://schemas.microsoft.com/office/drawing/2014/main" id="{14A8D4E1-7F2D-AB97-147D-1EC24CF2CA67}"/>
              </a:ext>
            </a:extLst>
          </p:cNvPr>
          <p:cNvSpPr/>
          <p:nvPr/>
        </p:nvSpPr>
        <p:spPr>
          <a:xfrm>
            <a:off x="549819" y="5620431"/>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solidFill>
                <a:latin typeface="Meiryo UI" panose="020B0604030504040204" pitchFamily="50" charset="-128"/>
                <a:ea typeface="Meiryo UI" panose="020B0604030504040204" pitchFamily="50" charset="-128"/>
              </a:rPr>
              <a:t>７</a:t>
            </a:r>
            <a:endParaRPr lang="en-US" dirty="0">
              <a:solidFill>
                <a:schemeClr val="bg1"/>
              </a:solidFill>
              <a:latin typeface="Meiryo UI" panose="020B0604030504040204" pitchFamily="50" charset="-128"/>
              <a:ea typeface="Meiryo UI" panose="020B0604030504040204" pitchFamily="50" charset="-128"/>
            </a:endParaRPr>
          </a:p>
        </p:txBody>
      </p:sp>
      <p:sp>
        <p:nvSpPr>
          <p:cNvPr id="33" name="Oval 32">
            <a:extLst>
              <a:ext uri="{FF2B5EF4-FFF2-40B4-BE49-F238E27FC236}">
                <a16:creationId xmlns:a16="http://schemas.microsoft.com/office/drawing/2014/main" id="{45CC3795-091A-5943-6E17-8F8FA99794D5}"/>
              </a:ext>
            </a:extLst>
          </p:cNvPr>
          <p:cNvSpPr/>
          <p:nvPr/>
        </p:nvSpPr>
        <p:spPr>
          <a:xfrm>
            <a:off x="549819" y="6226934"/>
            <a:ext cx="360000" cy="36000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bg1"/>
                </a:solidFill>
                <a:latin typeface="Meiryo UI" panose="020B0604030504040204" pitchFamily="50" charset="-128"/>
                <a:ea typeface="Meiryo UI" panose="020B0604030504040204" pitchFamily="50" charset="-128"/>
              </a:rPr>
              <a:t>８</a:t>
            </a:r>
            <a:endParaRPr lang="en-US" b="1" dirty="0">
              <a:solidFill>
                <a:schemeClr val="bg1"/>
              </a:solidFill>
              <a:latin typeface="Meiryo UI" panose="020B0604030504040204" pitchFamily="50" charset="-128"/>
              <a:ea typeface="Meiryo UI" panose="020B0604030504040204" pitchFamily="50" charset="-128"/>
            </a:endParaRPr>
          </a:p>
        </p:txBody>
      </p:sp>
      <p:cxnSp>
        <p:nvCxnSpPr>
          <p:cNvPr id="37" name="Straight Arrow Connector 36">
            <a:extLst>
              <a:ext uri="{FF2B5EF4-FFF2-40B4-BE49-F238E27FC236}">
                <a16:creationId xmlns:a16="http://schemas.microsoft.com/office/drawing/2014/main" id="{E653A91C-A327-EC10-632E-9B10EB80B229}"/>
              </a:ext>
            </a:extLst>
          </p:cNvPr>
          <p:cNvCxnSpPr>
            <a:cxnSpLocks/>
          </p:cNvCxnSpPr>
          <p:nvPr/>
        </p:nvCxnSpPr>
        <p:spPr>
          <a:xfrm>
            <a:off x="6099248" y="5249862"/>
            <a:ext cx="261674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FFB582D-F404-3F81-8B20-194CE176E339}"/>
              </a:ext>
            </a:extLst>
          </p:cNvPr>
          <p:cNvCxnSpPr>
            <a:cxnSpLocks/>
          </p:cNvCxnSpPr>
          <p:nvPr/>
        </p:nvCxnSpPr>
        <p:spPr>
          <a:xfrm flipV="1">
            <a:off x="6099248" y="3205586"/>
            <a:ext cx="0" cy="20442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E548174-62D1-4E8D-BC66-E86A73BD2EFD}"/>
              </a:ext>
            </a:extLst>
          </p:cNvPr>
          <p:cNvSpPr/>
          <p:nvPr/>
        </p:nvSpPr>
        <p:spPr>
          <a:xfrm>
            <a:off x="6566233" y="5601673"/>
            <a:ext cx="1618842" cy="2774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効果</a:t>
            </a:r>
            <a:r>
              <a:rPr lang="en-US" altLang="ja-JP" dirty="0">
                <a:solidFill>
                  <a:schemeClr val="tx1"/>
                </a:solidFill>
                <a:latin typeface="Meiryo UI" panose="020B0604030504040204" pitchFamily="50" charset="-128"/>
                <a:ea typeface="Meiryo UI" panose="020B0604030504040204" pitchFamily="50" charset="-128"/>
              </a:rPr>
              <a:t>(QALYs)</a:t>
            </a:r>
            <a:endParaRPr lang="en-US" dirty="0">
              <a:solidFill>
                <a:schemeClr val="tx1"/>
              </a:solidFill>
              <a:latin typeface="Meiryo UI" panose="020B0604030504040204" pitchFamily="50" charset="-128"/>
              <a:ea typeface="Meiryo UI" panose="020B0604030504040204" pitchFamily="50" charset="-128"/>
            </a:endParaRPr>
          </a:p>
        </p:txBody>
      </p:sp>
      <p:sp>
        <p:nvSpPr>
          <p:cNvPr id="44" name="Rectangle 43">
            <a:extLst>
              <a:ext uri="{FF2B5EF4-FFF2-40B4-BE49-F238E27FC236}">
                <a16:creationId xmlns:a16="http://schemas.microsoft.com/office/drawing/2014/main" id="{E8EA7018-6293-E4FE-6FB0-88982CA85D97}"/>
              </a:ext>
            </a:extLst>
          </p:cNvPr>
          <p:cNvSpPr/>
          <p:nvPr/>
        </p:nvSpPr>
        <p:spPr>
          <a:xfrm>
            <a:off x="5793190" y="2954306"/>
            <a:ext cx="241400" cy="7545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endParaRPr lang="en-US" dirty="0">
              <a:solidFill>
                <a:schemeClr val="tx1"/>
              </a:solidFill>
              <a:latin typeface="Meiryo UI" panose="020B0604030504040204" pitchFamily="50" charset="-128"/>
              <a:ea typeface="Meiryo UI" panose="020B0604030504040204" pitchFamily="50" charset="-128"/>
            </a:endParaRPr>
          </a:p>
        </p:txBody>
      </p:sp>
      <p:sp>
        <p:nvSpPr>
          <p:cNvPr id="45" name="Oval 44">
            <a:extLst>
              <a:ext uri="{FF2B5EF4-FFF2-40B4-BE49-F238E27FC236}">
                <a16:creationId xmlns:a16="http://schemas.microsoft.com/office/drawing/2014/main" id="{B219274D-62C8-1C4F-2C94-9C0B03313CBE}"/>
              </a:ext>
            </a:extLst>
          </p:cNvPr>
          <p:cNvSpPr/>
          <p:nvPr/>
        </p:nvSpPr>
        <p:spPr>
          <a:xfrm>
            <a:off x="6799638" y="4501366"/>
            <a:ext cx="182880" cy="18288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24D4C166-BF5C-B3E5-49F2-BA724B9601F5}"/>
              </a:ext>
            </a:extLst>
          </p:cNvPr>
          <p:cNvSpPr/>
          <p:nvPr/>
        </p:nvSpPr>
        <p:spPr>
          <a:xfrm>
            <a:off x="6136219" y="4195339"/>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選択肢</a:t>
            </a:r>
            <a:r>
              <a:rPr lang="en-US" altLang="ja-JP" dirty="0">
                <a:solidFill>
                  <a:schemeClr val="tx1"/>
                </a:solidFill>
                <a:latin typeface="Meiryo UI" panose="020B0604030504040204" pitchFamily="50" charset="-128"/>
                <a:ea typeface="Meiryo UI" panose="020B0604030504040204" pitchFamily="50" charset="-128"/>
              </a:rPr>
              <a:t>A</a:t>
            </a:r>
            <a:endParaRPr lang="en-US" dirty="0">
              <a:solidFill>
                <a:schemeClr val="tx1"/>
              </a:solidFill>
              <a:latin typeface="Meiryo UI" panose="020B0604030504040204" pitchFamily="50" charset="-128"/>
              <a:ea typeface="Meiryo UI" panose="020B0604030504040204" pitchFamily="50" charset="-128"/>
            </a:endParaRPr>
          </a:p>
        </p:txBody>
      </p:sp>
      <p:sp>
        <p:nvSpPr>
          <p:cNvPr id="47" name="Oval 46">
            <a:extLst>
              <a:ext uri="{FF2B5EF4-FFF2-40B4-BE49-F238E27FC236}">
                <a16:creationId xmlns:a16="http://schemas.microsoft.com/office/drawing/2014/main" id="{01B52601-4E74-96CF-EE83-3FAE473C3872}"/>
              </a:ext>
            </a:extLst>
          </p:cNvPr>
          <p:cNvSpPr/>
          <p:nvPr/>
        </p:nvSpPr>
        <p:spPr>
          <a:xfrm>
            <a:off x="7868925" y="3752767"/>
            <a:ext cx="182880" cy="182880"/>
          </a:xfrm>
          <a:prstGeom prst="ellips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48" name="Rectangle 47">
            <a:extLst>
              <a:ext uri="{FF2B5EF4-FFF2-40B4-BE49-F238E27FC236}">
                <a16:creationId xmlns:a16="http://schemas.microsoft.com/office/drawing/2014/main" id="{82181C00-E55C-AB14-6A6F-6C4D2734477B}"/>
              </a:ext>
            </a:extLst>
          </p:cNvPr>
          <p:cNvSpPr/>
          <p:nvPr/>
        </p:nvSpPr>
        <p:spPr>
          <a:xfrm>
            <a:off x="7521643" y="3363715"/>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選択肢</a:t>
            </a:r>
            <a:r>
              <a:rPr lang="en-US" altLang="ja-JP" dirty="0">
                <a:solidFill>
                  <a:schemeClr val="tx1"/>
                </a:solidFill>
                <a:latin typeface="Meiryo UI" panose="020B0604030504040204" pitchFamily="50" charset="-128"/>
                <a:ea typeface="Meiryo UI" panose="020B0604030504040204" pitchFamily="50" charset="-128"/>
              </a:rPr>
              <a:t>B</a:t>
            </a:r>
            <a:endParaRPr lang="en-US" dirty="0">
              <a:solidFill>
                <a:schemeClr val="tx1"/>
              </a:solidFill>
              <a:latin typeface="Meiryo UI" panose="020B0604030504040204" pitchFamily="50" charset="-128"/>
              <a:ea typeface="Meiryo UI" panose="020B0604030504040204" pitchFamily="50" charset="-128"/>
            </a:endParaRPr>
          </a:p>
        </p:txBody>
      </p:sp>
      <p:cxnSp>
        <p:nvCxnSpPr>
          <p:cNvPr id="50" name="Straight Connector 49">
            <a:extLst>
              <a:ext uri="{FF2B5EF4-FFF2-40B4-BE49-F238E27FC236}">
                <a16:creationId xmlns:a16="http://schemas.microsoft.com/office/drawing/2014/main" id="{9481E762-CF81-A520-B949-F6B7647936C9}"/>
              </a:ext>
            </a:extLst>
          </p:cNvPr>
          <p:cNvCxnSpPr>
            <a:stCxn id="45" idx="4"/>
          </p:cNvCxnSpPr>
          <p:nvPr/>
        </p:nvCxnSpPr>
        <p:spPr>
          <a:xfrm>
            <a:off x="6891078" y="4684246"/>
            <a:ext cx="0" cy="56561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6C26E39-3FB2-78DF-F5C5-C472380A9F3A}"/>
              </a:ext>
            </a:extLst>
          </p:cNvPr>
          <p:cNvCxnSpPr>
            <a:cxnSpLocks/>
            <a:stCxn id="47" idx="4"/>
          </p:cNvCxnSpPr>
          <p:nvPr/>
        </p:nvCxnSpPr>
        <p:spPr>
          <a:xfrm>
            <a:off x="7960365" y="3935647"/>
            <a:ext cx="0" cy="131421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E4DDAED-C229-0925-BE6F-B599A6CDC60D}"/>
              </a:ext>
            </a:extLst>
          </p:cNvPr>
          <p:cNvCxnSpPr>
            <a:cxnSpLocks/>
            <a:stCxn id="45" idx="2"/>
          </p:cNvCxnSpPr>
          <p:nvPr/>
        </p:nvCxnSpPr>
        <p:spPr>
          <a:xfrm flipV="1">
            <a:off x="6799638" y="4592754"/>
            <a:ext cx="17" cy="5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15FCE20-4177-D065-2ED1-4F4A2E8805F5}"/>
              </a:ext>
            </a:extLst>
          </p:cNvPr>
          <p:cNvCxnSpPr>
            <a:cxnSpLocks/>
            <a:stCxn id="45" idx="2"/>
          </p:cNvCxnSpPr>
          <p:nvPr/>
        </p:nvCxnSpPr>
        <p:spPr>
          <a:xfrm flipH="1">
            <a:off x="6099248" y="4592806"/>
            <a:ext cx="700390" cy="0"/>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495565F-0249-6C63-6813-610D7E21552A}"/>
              </a:ext>
            </a:extLst>
          </p:cNvPr>
          <p:cNvCxnSpPr>
            <a:cxnSpLocks/>
            <a:stCxn id="47" idx="2"/>
          </p:cNvCxnSpPr>
          <p:nvPr/>
        </p:nvCxnSpPr>
        <p:spPr>
          <a:xfrm flipH="1">
            <a:off x="6099248" y="3844207"/>
            <a:ext cx="1769677" cy="7314"/>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0306049-3185-0313-15D4-6630C8740439}"/>
              </a:ext>
            </a:extLst>
          </p:cNvPr>
          <p:cNvCxnSpPr>
            <a:cxnSpLocks/>
            <a:stCxn id="47" idx="3"/>
            <a:endCxn id="45" idx="7"/>
          </p:cNvCxnSpPr>
          <p:nvPr/>
        </p:nvCxnSpPr>
        <p:spPr>
          <a:xfrm flipH="1">
            <a:off x="6955736" y="3908865"/>
            <a:ext cx="939971" cy="619283"/>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F892D21-53AC-9D4A-0F15-345AEF47AB99}"/>
              </a:ext>
            </a:extLst>
          </p:cNvPr>
          <p:cNvCxnSpPr>
            <a:cxnSpLocks/>
            <a:endCxn id="45" idx="6"/>
          </p:cNvCxnSpPr>
          <p:nvPr/>
        </p:nvCxnSpPr>
        <p:spPr>
          <a:xfrm flipH="1">
            <a:off x="6982518" y="4589149"/>
            <a:ext cx="977847" cy="3657"/>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F82C6344-E638-A5F4-E23D-95FCCF0B370C}"/>
              </a:ext>
            </a:extLst>
          </p:cNvPr>
          <p:cNvSpPr/>
          <p:nvPr/>
        </p:nvSpPr>
        <p:spPr>
          <a:xfrm>
            <a:off x="6447115" y="5295825"/>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効果</a:t>
            </a:r>
            <a:r>
              <a:rPr lang="en-US" altLang="ja-JP" dirty="0">
                <a:solidFill>
                  <a:schemeClr val="tx1"/>
                </a:solidFill>
                <a:latin typeface="Meiryo UI" panose="020B0604030504040204" pitchFamily="50" charset="-128"/>
                <a:ea typeface="Meiryo UI" panose="020B0604030504040204" pitchFamily="50" charset="-128"/>
              </a:rPr>
              <a:t>A</a:t>
            </a:r>
            <a:endParaRPr lang="en-US" dirty="0">
              <a:solidFill>
                <a:schemeClr val="tx1"/>
              </a:solidFill>
              <a:latin typeface="Meiryo UI" panose="020B0604030504040204" pitchFamily="50" charset="-128"/>
              <a:ea typeface="Meiryo UI" panose="020B0604030504040204" pitchFamily="50" charset="-128"/>
            </a:endParaRPr>
          </a:p>
        </p:txBody>
      </p:sp>
      <p:sp>
        <p:nvSpPr>
          <p:cNvPr id="75" name="Rectangle 74">
            <a:extLst>
              <a:ext uri="{FF2B5EF4-FFF2-40B4-BE49-F238E27FC236}">
                <a16:creationId xmlns:a16="http://schemas.microsoft.com/office/drawing/2014/main" id="{A1DB5259-20D9-5700-AB9F-08542DBBCB21}"/>
              </a:ext>
            </a:extLst>
          </p:cNvPr>
          <p:cNvSpPr/>
          <p:nvPr/>
        </p:nvSpPr>
        <p:spPr>
          <a:xfrm>
            <a:off x="7554095" y="5295825"/>
            <a:ext cx="877444"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効果</a:t>
            </a:r>
            <a:r>
              <a:rPr lang="en-US" altLang="ja-JP" dirty="0">
                <a:solidFill>
                  <a:schemeClr val="tx1"/>
                </a:solidFill>
                <a:latin typeface="Meiryo UI" panose="020B0604030504040204" pitchFamily="50" charset="-128"/>
                <a:ea typeface="Meiryo UI" panose="020B0604030504040204" pitchFamily="50" charset="-128"/>
              </a:rPr>
              <a:t>B</a:t>
            </a:r>
            <a:endParaRPr lang="en-US" dirty="0">
              <a:solidFill>
                <a:schemeClr val="tx1"/>
              </a:solidFill>
              <a:latin typeface="Meiryo UI" panose="020B0604030504040204" pitchFamily="50" charset="-128"/>
              <a:ea typeface="Meiryo UI" panose="020B0604030504040204" pitchFamily="50" charset="-128"/>
            </a:endParaRPr>
          </a:p>
        </p:txBody>
      </p:sp>
      <p:sp>
        <p:nvSpPr>
          <p:cNvPr id="76" name="Rectangle 75">
            <a:extLst>
              <a:ext uri="{FF2B5EF4-FFF2-40B4-BE49-F238E27FC236}">
                <a16:creationId xmlns:a16="http://schemas.microsoft.com/office/drawing/2014/main" id="{2113FDC4-C95B-B96D-6105-F01FDE72C44C}"/>
              </a:ext>
            </a:extLst>
          </p:cNvPr>
          <p:cNvSpPr/>
          <p:nvPr/>
        </p:nvSpPr>
        <p:spPr>
          <a:xfrm>
            <a:off x="5392379" y="4414303"/>
            <a:ext cx="642211"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r>
              <a:rPr lang="en-US" altLang="ja-JP" dirty="0">
                <a:solidFill>
                  <a:schemeClr val="tx1"/>
                </a:solidFill>
                <a:latin typeface="Meiryo UI" panose="020B0604030504040204" pitchFamily="50" charset="-128"/>
                <a:ea typeface="Meiryo UI" panose="020B0604030504040204" pitchFamily="50" charset="-128"/>
              </a:rPr>
              <a:t>A</a:t>
            </a:r>
            <a:endParaRPr lang="en-US" dirty="0">
              <a:solidFill>
                <a:schemeClr val="tx1"/>
              </a:solidFill>
              <a:latin typeface="Meiryo UI" panose="020B0604030504040204" pitchFamily="50" charset="-128"/>
              <a:ea typeface="Meiryo UI" panose="020B0604030504040204" pitchFamily="50" charset="-128"/>
            </a:endParaRPr>
          </a:p>
        </p:txBody>
      </p:sp>
      <p:sp>
        <p:nvSpPr>
          <p:cNvPr id="77" name="Rectangle 76">
            <a:extLst>
              <a:ext uri="{FF2B5EF4-FFF2-40B4-BE49-F238E27FC236}">
                <a16:creationId xmlns:a16="http://schemas.microsoft.com/office/drawing/2014/main" id="{9224C181-F5E6-1C06-47D6-2047D6B8911E}"/>
              </a:ext>
            </a:extLst>
          </p:cNvPr>
          <p:cNvSpPr/>
          <p:nvPr/>
        </p:nvSpPr>
        <p:spPr>
          <a:xfrm>
            <a:off x="5392379" y="3687411"/>
            <a:ext cx="642211" cy="3052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r>
              <a:rPr lang="en-US" altLang="ja-JP" dirty="0">
                <a:solidFill>
                  <a:schemeClr val="tx1"/>
                </a:solidFill>
                <a:latin typeface="Meiryo UI" panose="020B0604030504040204" pitchFamily="50" charset="-128"/>
                <a:ea typeface="Meiryo UI" panose="020B0604030504040204" pitchFamily="50" charset="-128"/>
              </a:rPr>
              <a:t>B</a:t>
            </a:r>
            <a:endParaRPr lang="en-US" dirty="0">
              <a:solidFill>
                <a:schemeClr val="tx1"/>
              </a:solidFill>
              <a:latin typeface="Meiryo UI" panose="020B0604030504040204" pitchFamily="50" charset="-128"/>
              <a:ea typeface="Meiryo UI" panose="020B0604030504040204" pitchFamily="50" charset="-128"/>
            </a:endParaRPr>
          </a:p>
        </p:txBody>
      </p:sp>
      <p:cxnSp>
        <p:nvCxnSpPr>
          <p:cNvPr id="79" name="Straight Arrow Connector 78">
            <a:extLst>
              <a:ext uri="{FF2B5EF4-FFF2-40B4-BE49-F238E27FC236}">
                <a16:creationId xmlns:a16="http://schemas.microsoft.com/office/drawing/2014/main" id="{079E650B-768D-FCB7-6AAF-70AEFCB6A059}"/>
              </a:ext>
            </a:extLst>
          </p:cNvPr>
          <p:cNvCxnSpPr/>
          <p:nvPr/>
        </p:nvCxnSpPr>
        <p:spPr>
          <a:xfrm flipV="1">
            <a:off x="7471441" y="3949617"/>
            <a:ext cx="1643376" cy="46468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A6184FEB-EAF9-ED86-2214-5C332DDC5F16}"/>
              </a:ext>
            </a:extLst>
          </p:cNvPr>
          <p:cNvSpPr/>
          <p:nvPr/>
        </p:nvSpPr>
        <p:spPr>
          <a:xfrm>
            <a:off x="9179452" y="3781315"/>
            <a:ext cx="2374860"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81" name="Rectangle 80">
            <a:extLst>
              <a:ext uri="{FF2B5EF4-FFF2-40B4-BE49-F238E27FC236}">
                <a16:creationId xmlns:a16="http://schemas.microsoft.com/office/drawing/2014/main" id="{40A8D6F5-2E87-0E7F-D332-B38B7B4601DB}"/>
              </a:ext>
            </a:extLst>
          </p:cNvPr>
          <p:cNvSpPr/>
          <p:nvPr/>
        </p:nvSpPr>
        <p:spPr>
          <a:xfrm>
            <a:off x="9295313" y="3903028"/>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Meiryo UI" panose="020B0604030504040204" pitchFamily="50" charset="-128"/>
                <a:ea typeface="Meiryo UI" panose="020B0604030504040204" pitchFamily="50" charset="-128"/>
              </a:rPr>
              <a:t>効果</a:t>
            </a:r>
            <a:r>
              <a:rPr lang="en-US" altLang="ja-JP" sz="2000" b="1" dirty="0">
                <a:solidFill>
                  <a:schemeClr val="tx1"/>
                </a:solidFill>
                <a:latin typeface="Meiryo UI" panose="020B0604030504040204" pitchFamily="50" charset="-128"/>
                <a:ea typeface="Meiryo UI" panose="020B0604030504040204" pitchFamily="50" charset="-128"/>
              </a:rPr>
              <a:t>B</a:t>
            </a:r>
            <a:r>
              <a:rPr lang="ja-JP" altLang="en-US" sz="2000" b="1" dirty="0">
                <a:solidFill>
                  <a:schemeClr val="tx1"/>
                </a:solidFill>
                <a:latin typeface="Meiryo UI" panose="020B0604030504040204" pitchFamily="50" charset="-128"/>
                <a:ea typeface="Meiryo UI" panose="020B0604030504040204" pitchFamily="50" charset="-128"/>
              </a:rPr>
              <a:t>　ー　効果</a:t>
            </a:r>
            <a:r>
              <a:rPr lang="en-US" altLang="ja-JP" sz="2000" b="1" dirty="0">
                <a:solidFill>
                  <a:schemeClr val="tx1"/>
                </a:solidFill>
                <a:latin typeface="Meiryo UI" panose="020B0604030504040204" pitchFamily="50" charset="-128"/>
                <a:ea typeface="Meiryo UI" panose="020B0604030504040204" pitchFamily="50" charset="-128"/>
              </a:rPr>
              <a:t>A</a:t>
            </a:r>
            <a:endParaRPr lang="en-US" sz="2000" b="1" dirty="0">
              <a:solidFill>
                <a:schemeClr val="tx1"/>
              </a:solidFill>
              <a:latin typeface="Meiryo UI" panose="020B0604030504040204" pitchFamily="50" charset="-128"/>
              <a:ea typeface="Meiryo UI" panose="020B0604030504040204" pitchFamily="50" charset="-128"/>
            </a:endParaRPr>
          </a:p>
        </p:txBody>
      </p:sp>
      <p:sp>
        <p:nvSpPr>
          <p:cNvPr id="82" name="Rectangle 81">
            <a:extLst>
              <a:ext uri="{FF2B5EF4-FFF2-40B4-BE49-F238E27FC236}">
                <a16:creationId xmlns:a16="http://schemas.microsoft.com/office/drawing/2014/main" id="{6B157249-EE96-E4CC-A5C6-D2CD2359C9EC}"/>
              </a:ext>
            </a:extLst>
          </p:cNvPr>
          <p:cNvSpPr/>
          <p:nvPr/>
        </p:nvSpPr>
        <p:spPr>
          <a:xfrm>
            <a:off x="9295313" y="3427864"/>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Meiryo UI" panose="020B0604030504040204" pitchFamily="50" charset="-128"/>
                <a:ea typeface="Meiryo UI" panose="020B0604030504040204" pitchFamily="50" charset="-128"/>
              </a:rPr>
              <a:t>費用</a:t>
            </a:r>
            <a:r>
              <a:rPr lang="en-US" altLang="ja-JP" sz="2000" b="1" dirty="0">
                <a:solidFill>
                  <a:schemeClr val="tx1"/>
                </a:solidFill>
                <a:latin typeface="Meiryo UI" panose="020B0604030504040204" pitchFamily="50" charset="-128"/>
                <a:ea typeface="Meiryo UI" panose="020B0604030504040204" pitchFamily="50" charset="-128"/>
              </a:rPr>
              <a:t>B</a:t>
            </a:r>
            <a:r>
              <a:rPr lang="ja-JP" altLang="en-US" sz="2000" b="1" dirty="0">
                <a:solidFill>
                  <a:schemeClr val="tx1"/>
                </a:solidFill>
                <a:latin typeface="Meiryo UI" panose="020B0604030504040204" pitchFamily="50" charset="-128"/>
                <a:ea typeface="Meiryo UI" panose="020B0604030504040204" pitchFamily="50" charset="-128"/>
              </a:rPr>
              <a:t>　ー　費用</a:t>
            </a:r>
            <a:r>
              <a:rPr lang="en-US" altLang="ja-JP" sz="2000" b="1" dirty="0">
                <a:solidFill>
                  <a:schemeClr val="tx1"/>
                </a:solidFill>
                <a:latin typeface="Meiryo UI" panose="020B0604030504040204" pitchFamily="50" charset="-128"/>
                <a:ea typeface="Meiryo UI" panose="020B0604030504040204" pitchFamily="50" charset="-128"/>
              </a:rPr>
              <a:t>A</a:t>
            </a:r>
            <a:endParaRPr lang="en-US" sz="2000" b="1" dirty="0">
              <a:solidFill>
                <a:schemeClr val="tx1"/>
              </a:solidFill>
              <a:latin typeface="Meiryo UI" panose="020B0604030504040204" pitchFamily="50" charset="-128"/>
              <a:ea typeface="Meiryo UI" panose="020B0604030504040204" pitchFamily="50" charset="-128"/>
            </a:endParaRPr>
          </a:p>
        </p:txBody>
      </p:sp>
      <p:sp>
        <p:nvSpPr>
          <p:cNvPr id="83" name="Rectangle 82">
            <a:extLst>
              <a:ext uri="{FF2B5EF4-FFF2-40B4-BE49-F238E27FC236}">
                <a16:creationId xmlns:a16="http://schemas.microsoft.com/office/drawing/2014/main" id="{BC7AAA1A-5681-6A8D-74B3-53A8202EE2E7}"/>
              </a:ext>
            </a:extLst>
          </p:cNvPr>
          <p:cNvSpPr/>
          <p:nvPr/>
        </p:nvSpPr>
        <p:spPr>
          <a:xfrm>
            <a:off x="4694922" y="1938130"/>
            <a:ext cx="120917" cy="469204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F53AA714-D290-87DE-F50F-4E6F35611ED8}"/>
              </a:ext>
            </a:extLst>
          </p:cNvPr>
          <p:cNvCxnSpPr>
            <a:cxnSpLocks/>
            <a:stCxn id="18" idx="3"/>
            <a:endCxn id="83" idx="1"/>
          </p:cNvCxnSpPr>
          <p:nvPr/>
        </p:nvCxnSpPr>
        <p:spPr>
          <a:xfrm flipV="1">
            <a:off x="3989294" y="4284153"/>
            <a:ext cx="705628" cy="2122782"/>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6967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E447-BB7E-4C66-9BE4-E8CDDB106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49304-6F55-E633-3406-0BF8EF1B9E24}"/>
              </a:ext>
            </a:extLst>
          </p:cNvPr>
          <p:cNvSpPr>
            <a:spLocks noGrp="1"/>
          </p:cNvSpPr>
          <p:nvPr>
            <p:ph type="title"/>
          </p:nvPr>
        </p:nvSpPr>
        <p:spPr>
          <a:xfrm>
            <a:off x="467139" y="589724"/>
            <a:ext cx="11221278" cy="362776"/>
          </a:xfrm>
        </p:spPr>
        <p:txBody>
          <a:bodyPr/>
          <a:lstStyle/>
          <a:p>
            <a:r>
              <a:rPr lang="ja-JP" altLang="en-US" dirty="0"/>
              <a:t>アジェンダ</a:t>
            </a:r>
            <a:endParaRPr lang="en-US" dirty="0"/>
          </a:p>
        </p:txBody>
      </p:sp>
      <p:sp>
        <p:nvSpPr>
          <p:cNvPr id="4" name="Slide Number Placeholder 3">
            <a:extLst>
              <a:ext uri="{FF2B5EF4-FFF2-40B4-BE49-F238E27FC236}">
                <a16:creationId xmlns:a16="http://schemas.microsoft.com/office/drawing/2014/main" id="{DD8910C4-9C41-FC33-023C-2CD2245A1E9C}"/>
              </a:ext>
            </a:extLst>
          </p:cNvPr>
          <p:cNvSpPr>
            <a:spLocks noGrp="1"/>
          </p:cNvSpPr>
          <p:nvPr>
            <p:ph type="sldNum" sz="quarter" idx="4"/>
          </p:nvPr>
        </p:nvSpPr>
        <p:spPr/>
        <p:txBody>
          <a:bodyPr/>
          <a:lstStyle/>
          <a:p>
            <a:fld id="{B5CEABB6-07DC-46E8-9B57-56EC44A396E5}" type="slidenum">
              <a:rPr lang="en-US" smtClean="0"/>
              <a:pPr/>
              <a:t>25</a:t>
            </a:fld>
            <a:endParaRPr lang="en-US" dirty="0"/>
          </a:p>
        </p:txBody>
      </p:sp>
      <p:sp>
        <p:nvSpPr>
          <p:cNvPr id="5" name="Table Placeholder 4">
            <a:extLst>
              <a:ext uri="{FF2B5EF4-FFF2-40B4-BE49-F238E27FC236}">
                <a16:creationId xmlns:a16="http://schemas.microsoft.com/office/drawing/2014/main" id="{1216F958-7C0B-28E9-E360-D29F0847F027}"/>
              </a:ext>
            </a:extLst>
          </p:cNvPr>
          <p:cNvSpPr>
            <a:spLocks noGrp="1"/>
          </p:cNvSpPr>
          <p:nvPr>
            <p:ph type="tbl" sz="quarter" idx="11"/>
          </p:nvPr>
        </p:nvSpPr>
        <p:spPr/>
        <p:txBody>
          <a:bodyPr/>
          <a:lstStyle/>
          <a:p>
            <a:endParaRPr lang="en-US" dirty="0"/>
          </a:p>
        </p:txBody>
      </p:sp>
      <p:sp>
        <p:nvSpPr>
          <p:cNvPr id="6" name="Rectangle 5">
            <a:extLst>
              <a:ext uri="{FF2B5EF4-FFF2-40B4-BE49-F238E27FC236}">
                <a16:creationId xmlns:a16="http://schemas.microsoft.com/office/drawing/2014/main" id="{7344A75D-4E19-EF42-A6F5-54246A36B0AE}"/>
              </a:ext>
            </a:extLst>
          </p:cNvPr>
          <p:cNvSpPr/>
          <p:nvPr/>
        </p:nvSpPr>
        <p:spPr>
          <a:xfrm>
            <a:off x="467139" y="2064970"/>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Meiryo UI" panose="020B0604030504040204" pitchFamily="50" charset="-128"/>
                <a:ea typeface="Meiryo UI" panose="020B0604030504040204" pitchFamily="50" charset="-128"/>
              </a:rPr>
              <a:t>1. </a:t>
            </a:r>
            <a:r>
              <a:rPr lang="ja-JP" altLang="en-US" sz="2400" b="1" dirty="0">
                <a:latin typeface="Meiryo UI" panose="020B0604030504040204" pitchFamily="50" charset="-128"/>
                <a:ea typeface="Meiryo UI" panose="020B0604030504040204" pitchFamily="50" charset="-128"/>
              </a:rPr>
              <a:t>意思決定科学とは何か・どう分析するか</a:t>
            </a:r>
            <a:r>
              <a:rPr lang="en-US" sz="2400" b="1" dirty="0">
                <a:latin typeface="Meiryo UI" panose="020B0604030504040204" pitchFamily="50" charset="-128"/>
                <a:ea typeface="Meiryo UI" panose="020B0604030504040204" pitchFamily="50" charset="-128"/>
              </a:rPr>
              <a:t> </a:t>
            </a:r>
          </a:p>
        </p:txBody>
      </p:sp>
      <p:sp>
        <p:nvSpPr>
          <p:cNvPr id="7" name="Rectangle 6">
            <a:extLst>
              <a:ext uri="{FF2B5EF4-FFF2-40B4-BE49-F238E27FC236}">
                <a16:creationId xmlns:a16="http://schemas.microsoft.com/office/drawing/2014/main" id="{D05D9005-8ABE-ACAA-236E-84D77ED52A16}"/>
              </a:ext>
            </a:extLst>
          </p:cNvPr>
          <p:cNvSpPr/>
          <p:nvPr/>
        </p:nvSpPr>
        <p:spPr>
          <a:xfrm>
            <a:off x="467139" y="3506988"/>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２</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意思決定科学を実際に体験してみる</a:t>
            </a:r>
            <a:r>
              <a:rPr lang="en-US" sz="2400" b="1" dirty="0">
                <a:latin typeface="Meiryo UI" panose="020B0604030504040204" pitchFamily="50" charset="-128"/>
                <a:ea typeface="Meiryo UI" panose="020B0604030504040204" pitchFamily="50" charset="-128"/>
              </a:rPr>
              <a:t> </a:t>
            </a:r>
          </a:p>
        </p:txBody>
      </p:sp>
      <p:sp>
        <p:nvSpPr>
          <p:cNvPr id="8" name="Rectangle 7">
            <a:extLst>
              <a:ext uri="{FF2B5EF4-FFF2-40B4-BE49-F238E27FC236}">
                <a16:creationId xmlns:a16="http://schemas.microsoft.com/office/drawing/2014/main" id="{CD4D6377-6314-2CBF-0078-283CAD5A2A34}"/>
              </a:ext>
            </a:extLst>
          </p:cNvPr>
          <p:cNvSpPr/>
          <p:nvPr/>
        </p:nvSpPr>
        <p:spPr>
          <a:xfrm>
            <a:off x="467139" y="4949006"/>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３</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意思決定科学のユースケース</a:t>
            </a:r>
            <a:endParaRPr lang="en-US" sz="24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81353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BB4-B3FA-2E60-4470-28F8402612B4}"/>
              </a:ext>
            </a:extLst>
          </p:cNvPr>
          <p:cNvSpPr>
            <a:spLocks noGrp="1"/>
          </p:cNvSpPr>
          <p:nvPr>
            <p:ph type="title"/>
          </p:nvPr>
        </p:nvSpPr>
        <p:spPr/>
        <p:txBody>
          <a:bodyPr/>
          <a:lstStyle/>
          <a:p>
            <a:r>
              <a:rPr lang="ja-JP" altLang="en-US" dirty="0"/>
              <a:t>フライトの座席クラスを決める</a:t>
            </a:r>
            <a:endParaRPr lang="en-US" dirty="0"/>
          </a:p>
        </p:txBody>
      </p:sp>
      <p:sp>
        <p:nvSpPr>
          <p:cNvPr id="4" name="Slide Number Placeholder 3">
            <a:extLst>
              <a:ext uri="{FF2B5EF4-FFF2-40B4-BE49-F238E27FC236}">
                <a16:creationId xmlns:a16="http://schemas.microsoft.com/office/drawing/2014/main" id="{926A9F46-D769-BBCF-7012-39E082D159F7}"/>
              </a:ext>
            </a:extLst>
          </p:cNvPr>
          <p:cNvSpPr>
            <a:spLocks noGrp="1"/>
          </p:cNvSpPr>
          <p:nvPr>
            <p:ph type="sldNum" sz="quarter" idx="4"/>
          </p:nvPr>
        </p:nvSpPr>
        <p:spPr/>
        <p:txBody>
          <a:bodyPr/>
          <a:lstStyle/>
          <a:p>
            <a:fld id="{B5CEABB6-07DC-46E8-9B57-56EC44A396E5}" type="slidenum">
              <a:rPr lang="en-US" smtClean="0"/>
              <a:pPr/>
              <a:t>26</a:t>
            </a:fld>
            <a:endParaRPr lang="en-US" dirty="0"/>
          </a:p>
        </p:txBody>
      </p:sp>
      <p:sp>
        <p:nvSpPr>
          <p:cNvPr id="5" name="Table Placeholder 4">
            <a:extLst>
              <a:ext uri="{FF2B5EF4-FFF2-40B4-BE49-F238E27FC236}">
                <a16:creationId xmlns:a16="http://schemas.microsoft.com/office/drawing/2014/main" id="{58A91799-66FF-3EA2-403C-15FBB9205021}"/>
              </a:ext>
            </a:extLst>
          </p:cNvPr>
          <p:cNvSpPr>
            <a:spLocks noGrp="1"/>
          </p:cNvSpPr>
          <p:nvPr>
            <p:ph type="tbl" sz="quarter" idx="11"/>
          </p:nvPr>
        </p:nvSpPr>
        <p:spPr/>
        <p:txBody>
          <a:bodyPr/>
          <a:lstStyle/>
          <a:p>
            <a:r>
              <a:rPr lang="ja-JP" altLang="en-US" dirty="0"/>
              <a:t>先ほどの東京行きフライトでデルタを選ぶと仮定</a:t>
            </a:r>
            <a:endParaRPr lang="en-US" dirty="0"/>
          </a:p>
        </p:txBody>
      </p:sp>
      <p:grpSp>
        <p:nvGrpSpPr>
          <p:cNvPr id="8" name="Group 7">
            <a:extLst>
              <a:ext uri="{FF2B5EF4-FFF2-40B4-BE49-F238E27FC236}">
                <a16:creationId xmlns:a16="http://schemas.microsoft.com/office/drawing/2014/main" id="{42D6A408-6978-7DD1-7DD6-C5590E3CAF65}"/>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D6B05905-DB79-D44C-A18A-E9E0F6CB343D}"/>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5A76F32C-38EB-5AD3-CED8-3063AC23491A}"/>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C6A8580B-B562-B8BF-6E29-A2F6E6418AC8}"/>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3" name="Picture 2">
            <a:extLst>
              <a:ext uri="{FF2B5EF4-FFF2-40B4-BE49-F238E27FC236}">
                <a16:creationId xmlns:a16="http://schemas.microsoft.com/office/drawing/2014/main" id="{3BB41B42-B93B-9EE0-F000-ABA70336326D}"/>
              </a:ext>
            </a:extLst>
          </p:cNvPr>
          <p:cNvPicPr>
            <a:picLocks noChangeAspect="1"/>
          </p:cNvPicPr>
          <p:nvPr/>
        </p:nvPicPr>
        <p:blipFill>
          <a:blip r:embed="rId2"/>
          <a:stretch>
            <a:fillRect/>
          </a:stretch>
        </p:blipFill>
        <p:spPr>
          <a:xfrm>
            <a:off x="1384010" y="1614992"/>
            <a:ext cx="9423980" cy="4928497"/>
          </a:xfrm>
          <a:prstGeom prst="rect">
            <a:avLst/>
          </a:prstGeom>
        </p:spPr>
      </p:pic>
      <p:sp>
        <p:nvSpPr>
          <p:cNvPr id="13" name="Rectangle 12">
            <a:extLst>
              <a:ext uri="{FF2B5EF4-FFF2-40B4-BE49-F238E27FC236}">
                <a16:creationId xmlns:a16="http://schemas.microsoft.com/office/drawing/2014/main" id="{A6537B67-8FA4-D742-6E6E-B36DFC2B806F}"/>
              </a:ext>
            </a:extLst>
          </p:cNvPr>
          <p:cNvSpPr/>
          <p:nvPr/>
        </p:nvSpPr>
        <p:spPr>
          <a:xfrm>
            <a:off x="1209040" y="4856480"/>
            <a:ext cx="9733280" cy="90821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59201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89BFD-2B1E-CAB2-56CD-606242C1E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B77D7-A8A8-4423-CAE2-D27FD163B4FE}"/>
              </a:ext>
            </a:extLst>
          </p:cNvPr>
          <p:cNvSpPr>
            <a:spLocks noGrp="1"/>
          </p:cNvSpPr>
          <p:nvPr>
            <p:ph type="title"/>
          </p:nvPr>
        </p:nvSpPr>
        <p:spPr/>
        <p:txBody>
          <a:bodyPr/>
          <a:lstStyle/>
          <a:p>
            <a:r>
              <a:rPr lang="ja-JP" altLang="en-US" dirty="0"/>
              <a:t>フライトの座席クラスを決める</a:t>
            </a:r>
            <a:endParaRPr lang="en-US" dirty="0"/>
          </a:p>
        </p:txBody>
      </p:sp>
      <p:sp>
        <p:nvSpPr>
          <p:cNvPr id="4" name="Slide Number Placeholder 3">
            <a:extLst>
              <a:ext uri="{FF2B5EF4-FFF2-40B4-BE49-F238E27FC236}">
                <a16:creationId xmlns:a16="http://schemas.microsoft.com/office/drawing/2014/main" id="{ABAB9FC3-D423-7F81-CCFC-FEEB82DD5362}"/>
              </a:ext>
            </a:extLst>
          </p:cNvPr>
          <p:cNvSpPr>
            <a:spLocks noGrp="1"/>
          </p:cNvSpPr>
          <p:nvPr>
            <p:ph type="sldNum" sz="quarter" idx="4"/>
          </p:nvPr>
        </p:nvSpPr>
        <p:spPr/>
        <p:txBody>
          <a:bodyPr/>
          <a:lstStyle/>
          <a:p>
            <a:fld id="{B5CEABB6-07DC-46E8-9B57-56EC44A396E5}" type="slidenum">
              <a:rPr lang="en-US" smtClean="0"/>
              <a:pPr/>
              <a:t>27</a:t>
            </a:fld>
            <a:endParaRPr lang="en-US" dirty="0"/>
          </a:p>
        </p:txBody>
      </p:sp>
      <p:sp>
        <p:nvSpPr>
          <p:cNvPr id="5" name="Table Placeholder 4">
            <a:extLst>
              <a:ext uri="{FF2B5EF4-FFF2-40B4-BE49-F238E27FC236}">
                <a16:creationId xmlns:a16="http://schemas.microsoft.com/office/drawing/2014/main" id="{E98749D0-336D-6BC0-712C-70821136E9B2}"/>
              </a:ext>
            </a:extLst>
          </p:cNvPr>
          <p:cNvSpPr>
            <a:spLocks noGrp="1"/>
          </p:cNvSpPr>
          <p:nvPr>
            <p:ph type="tbl" sz="quarter" idx="11"/>
          </p:nvPr>
        </p:nvSpPr>
        <p:spPr/>
        <p:txBody>
          <a:bodyPr/>
          <a:lstStyle/>
          <a:p>
            <a:r>
              <a:rPr lang="ja-JP" altLang="en-US" dirty="0"/>
              <a:t>三種類の座席クラスからどれを選ぶか</a:t>
            </a:r>
            <a:endParaRPr lang="en-US" dirty="0"/>
          </a:p>
        </p:txBody>
      </p:sp>
      <p:grpSp>
        <p:nvGrpSpPr>
          <p:cNvPr id="6" name="Group 5">
            <a:extLst>
              <a:ext uri="{FF2B5EF4-FFF2-40B4-BE49-F238E27FC236}">
                <a16:creationId xmlns:a16="http://schemas.microsoft.com/office/drawing/2014/main" id="{E59DB5A0-0C0A-47AB-B524-0D9B43013B98}"/>
              </a:ext>
            </a:extLst>
          </p:cNvPr>
          <p:cNvGrpSpPr>
            <a:grpSpLocks noChangeAspect="1"/>
          </p:cNvGrpSpPr>
          <p:nvPr/>
        </p:nvGrpSpPr>
        <p:grpSpPr>
          <a:xfrm>
            <a:off x="815620" y="1937448"/>
            <a:ext cx="10560761" cy="4680000"/>
            <a:chOff x="550046" y="1438274"/>
            <a:chExt cx="11091908" cy="4915377"/>
          </a:xfrm>
        </p:grpSpPr>
        <p:pic>
          <p:nvPicPr>
            <p:cNvPr id="7" name="Picture 6">
              <a:extLst>
                <a:ext uri="{FF2B5EF4-FFF2-40B4-BE49-F238E27FC236}">
                  <a16:creationId xmlns:a16="http://schemas.microsoft.com/office/drawing/2014/main" id="{E310DAD2-D978-976A-7A27-B710D55C4741}"/>
                </a:ext>
              </a:extLst>
            </p:cNvPr>
            <p:cNvPicPr>
              <a:picLocks noChangeAspect="1"/>
            </p:cNvPicPr>
            <p:nvPr/>
          </p:nvPicPr>
          <p:blipFill>
            <a:blip r:embed="rId2"/>
            <a:srcRect t="20972" b="7354"/>
            <a:stretch/>
          </p:blipFill>
          <p:spPr>
            <a:xfrm>
              <a:off x="550046" y="1438274"/>
              <a:ext cx="11091908" cy="4915377"/>
            </a:xfrm>
            <a:prstGeom prst="rect">
              <a:avLst/>
            </a:prstGeom>
          </p:spPr>
        </p:pic>
        <p:pic>
          <p:nvPicPr>
            <p:cNvPr id="9" name="Picture 8">
              <a:extLst>
                <a:ext uri="{FF2B5EF4-FFF2-40B4-BE49-F238E27FC236}">
                  <a16:creationId xmlns:a16="http://schemas.microsoft.com/office/drawing/2014/main" id="{21FBE5A8-22AC-55EC-EDC1-DBDCDF516124}"/>
                </a:ext>
              </a:extLst>
            </p:cNvPr>
            <p:cNvPicPr>
              <a:picLocks noChangeAspect="1"/>
            </p:cNvPicPr>
            <p:nvPr/>
          </p:nvPicPr>
          <p:blipFill>
            <a:blip r:embed="rId3"/>
            <a:stretch>
              <a:fillRect/>
            </a:stretch>
          </p:blipFill>
          <p:spPr>
            <a:xfrm>
              <a:off x="1660756" y="2582601"/>
              <a:ext cx="3152353" cy="3611880"/>
            </a:xfrm>
            <a:prstGeom prst="rect">
              <a:avLst/>
            </a:prstGeom>
          </p:spPr>
        </p:pic>
      </p:grpSp>
      <p:grpSp>
        <p:nvGrpSpPr>
          <p:cNvPr id="8" name="Group 7">
            <a:extLst>
              <a:ext uri="{FF2B5EF4-FFF2-40B4-BE49-F238E27FC236}">
                <a16:creationId xmlns:a16="http://schemas.microsoft.com/office/drawing/2014/main" id="{4749DC2F-ACEA-05AA-309F-6F24428F7027}"/>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905039D7-FD26-3863-904E-AFF30B76D4B3}"/>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9D35086F-F51C-FD15-0B1F-DC72B171E9BE}"/>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2ABB30EA-8F2D-6BBD-56F0-7BF258D537AD}"/>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068428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917CE-0CF8-E6A1-8751-959F7014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90906-30B6-4D95-E27E-1284690A54CE}"/>
              </a:ext>
            </a:extLst>
          </p:cNvPr>
          <p:cNvSpPr>
            <a:spLocks noGrp="1"/>
          </p:cNvSpPr>
          <p:nvPr>
            <p:ph type="title"/>
          </p:nvPr>
        </p:nvSpPr>
        <p:spPr/>
        <p:txBody>
          <a:bodyPr/>
          <a:lstStyle/>
          <a:p>
            <a:r>
              <a:rPr lang="ja-JP" altLang="en-US" dirty="0"/>
              <a:t>フライトの座席クラスを決める</a:t>
            </a:r>
            <a:endParaRPr lang="en-US" dirty="0"/>
          </a:p>
        </p:txBody>
      </p:sp>
      <p:sp>
        <p:nvSpPr>
          <p:cNvPr id="4" name="Slide Number Placeholder 3">
            <a:extLst>
              <a:ext uri="{FF2B5EF4-FFF2-40B4-BE49-F238E27FC236}">
                <a16:creationId xmlns:a16="http://schemas.microsoft.com/office/drawing/2014/main" id="{DCFEA876-43A1-6FBE-ABC8-162B46948FD3}"/>
              </a:ext>
            </a:extLst>
          </p:cNvPr>
          <p:cNvSpPr>
            <a:spLocks noGrp="1"/>
          </p:cNvSpPr>
          <p:nvPr>
            <p:ph type="sldNum" sz="quarter" idx="4"/>
          </p:nvPr>
        </p:nvSpPr>
        <p:spPr/>
        <p:txBody>
          <a:bodyPr/>
          <a:lstStyle/>
          <a:p>
            <a:fld id="{B5CEABB6-07DC-46E8-9B57-56EC44A396E5}" type="slidenum">
              <a:rPr lang="en-US" smtClean="0"/>
              <a:pPr/>
              <a:t>28</a:t>
            </a:fld>
            <a:endParaRPr lang="en-US" dirty="0"/>
          </a:p>
        </p:txBody>
      </p:sp>
      <p:sp>
        <p:nvSpPr>
          <p:cNvPr id="5" name="Table Placeholder 4">
            <a:extLst>
              <a:ext uri="{FF2B5EF4-FFF2-40B4-BE49-F238E27FC236}">
                <a16:creationId xmlns:a16="http://schemas.microsoft.com/office/drawing/2014/main" id="{510BC121-A7AF-6FFA-FEFF-5FE827C9C8C4}"/>
              </a:ext>
            </a:extLst>
          </p:cNvPr>
          <p:cNvSpPr>
            <a:spLocks noGrp="1"/>
          </p:cNvSpPr>
          <p:nvPr>
            <p:ph type="tbl" sz="quarter" idx="11"/>
          </p:nvPr>
        </p:nvSpPr>
        <p:spPr/>
        <p:txBody>
          <a:bodyPr/>
          <a:lstStyle/>
          <a:p>
            <a:r>
              <a:rPr lang="ja-JP" altLang="en-US" dirty="0"/>
              <a:t>便宜上名前をつける</a:t>
            </a:r>
            <a:endParaRPr lang="en-US" dirty="0"/>
          </a:p>
        </p:txBody>
      </p:sp>
      <p:grpSp>
        <p:nvGrpSpPr>
          <p:cNvPr id="6" name="Group 5">
            <a:extLst>
              <a:ext uri="{FF2B5EF4-FFF2-40B4-BE49-F238E27FC236}">
                <a16:creationId xmlns:a16="http://schemas.microsoft.com/office/drawing/2014/main" id="{86DD6AF4-4F40-DCCE-AB1F-21C27369CAE7}"/>
              </a:ext>
            </a:extLst>
          </p:cNvPr>
          <p:cNvGrpSpPr>
            <a:grpSpLocks noChangeAspect="1"/>
          </p:cNvGrpSpPr>
          <p:nvPr/>
        </p:nvGrpSpPr>
        <p:grpSpPr>
          <a:xfrm>
            <a:off x="815620" y="1937448"/>
            <a:ext cx="10560761" cy="4680000"/>
            <a:chOff x="550046" y="1438274"/>
            <a:chExt cx="11091908" cy="4915377"/>
          </a:xfrm>
        </p:grpSpPr>
        <p:pic>
          <p:nvPicPr>
            <p:cNvPr id="7" name="Picture 6">
              <a:extLst>
                <a:ext uri="{FF2B5EF4-FFF2-40B4-BE49-F238E27FC236}">
                  <a16:creationId xmlns:a16="http://schemas.microsoft.com/office/drawing/2014/main" id="{09548CFA-8312-21E3-0EAC-056C8125A88B}"/>
                </a:ext>
              </a:extLst>
            </p:cNvPr>
            <p:cNvPicPr>
              <a:picLocks noChangeAspect="1"/>
            </p:cNvPicPr>
            <p:nvPr/>
          </p:nvPicPr>
          <p:blipFill>
            <a:blip r:embed="rId2"/>
            <a:srcRect t="20972" b="7354"/>
            <a:stretch/>
          </p:blipFill>
          <p:spPr>
            <a:xfrm>
              <a:off x="550046" y="1438274"/>
              <a:ext cx="11091908" cy="4915377"/>
            </a:xfrm>
            <a:prstGeom prst="rect">
              <a:avLst/>
            </a:prstGeom>
          </p:spPr>
        </p:pic>
        <p:pic>
          <p:nvPicPr>
            <p:cNvPr id="9" name="Picture 8">
              <a:extLst>
                <a:ext uri="{FF2B5EF4-FFF2-40B4-BE49-F238E27FC236}">
                  <a16:creationId xmlns:a16="http://schemas.microsoft.com/office/drawing/2014/main" id="{630A4F3C-BEE5-5FA2-6410-371242C8DF7A}"/>
                </a:ext>
              </a:extLst>
            </p:cNvPr>
            <p:cNvPicPr>
              <a:picLocks noChangeAspect="1"/>
            </p:cNvPicPr>
            <p:nvPr/>
          </p:nvPicPr>
          <p:blipFill>
            <a:blip r:embed="rId3"/>
            <a:stretch>
              <a:fillRect/>
            </a:stretch>
          </p:blipFill>
          <p:spPr>
            <a:xfrm>
              <a:off x="1660756" y="2582601"/>
              <a:ext cx="3152353" cy="3611880"/>
            </a:xfrm>
            <a:prstGeom prst="rect">
              <a:avLst/>
            </a:prstGeom>
          </p:spPr>
        </p:pic>
      </p:grpSp>
      <p:grpSp>
        <p:nvGrpSpPr>
          <p:cNvPr id="8" name="Group 7">
            <a:extLst>
              <a:ext uri="{FF2B5EF4-FFF2-40B4-BE49-F238E27FC236}">
                <a16:creationId xmlns:a16="http://schemas.microsoft.com/office/drawing/2014/main" id="{007EFA4F-2A79-5C79-F00B-3AD0CFD22776}"/>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45B04C3D-B0EF-20DE-C5F6-A22DD6E9835F}"/>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166291EB-DC4F-51A4-4DFB-C84F7D354799}"/>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191D6320-D5F9-740E-5DA0-5D4FAA48A7D6}"/>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3" name="Rectangle 2">
            <a:extLst>
              <a:ext uri="{FF2B5EF4-FFF2-40B4-BE49-F238E27FC236}">
                <a16:creationId xmlns:a16="http://schemas.microsoft.com/office/drawing/2014/main" id="{F7F868D2-BC5E-B39E-32E2-525E8767C7EC}"/>
              </a:ext>
            </a:extLst>
          </p:cNvPr>
          <p:cNvSpPr/>
          <p:nvPr/>
        </p:nvSpPr>
        <p:spPr>
          <a:xfrm>
            <a:off x="1945532" y="3026978"/>
            <a:ext cx="2850204" cy="48470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エコノミー　</a:t>
            </a:r>
            <a:r>
              <a:rPr lang="en-US" altLang="ja-JP" dirty="0">
                <a:solidFill>
                  <a:schemeClr val="tx1"/>
                </a:solidFill>
                <a:latin typeface="Meiryo UI" panose="020B0604030504040204" pitchFamily="50" charset="-128"/>
                <a:ea typeface="Meiryo UI" panose="020B0604030504040204" pitchFamily="50" charset="-128"/>
              </a:rPr>
              <a:t>$750</a:t>
            </a:r>
            <a:endParaRPr lang="en-US" dirty="0">
              <a:solidFill>
                <a:schemeClr val="tx1"/>
              </a:solidFill>
              <a:latin typeface="Meiryo UI" panose="020B0604030504040204" pitchFamily="50" charset="-128"/>
              <a:ea typeface="Meiryo UI" panose="020B0604030504040204" pitchFamily="50" charset="-128"/>
            </a:endParaRPr>
          </a:p>
        </p:txBody>
      </p:sp>
      <p:sp>
        <p:nvSpPr>
          <p:cNvPr id="13" name="Rectangle 12">
            <a:extLst>
              <a:ext uri="{FF2B5EF4-FFF2-40B4-BE49-F238E27FC236}">
                <a16:creationId xmlns:a16="http://schemas.microsoft.com/office/drawing/2014/main" id="{7E3ED788-48C8-D978-D9A8-8B5C1158EA17}"/>
              </a:ext>
            </a:extLst>
          </p:cNvPr>
          <p:cNvSpPr/>
          <p:nvPr/>
        </p:nvSpPr>
        <p:spPr>
          <a:xfrm>
            <a:off x="5058383" y="3026978"/>
            <a:ext cx="2850204" cy="48470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ビジネス　</a:t>
            </a:r>
            <a:r>
              <a:rPr lang="en-US" altLang="ja-JP" dirty="0">
                <a:solidFill>
                  <a:schemeClr val="tx1"/>
                </a:solidFill>
                <a:latin typeface="Meiryo UI" panose="020B0604030504040204" pitchFamily="50" charset="-128"/>
                <a:ea typeface="Meiryo UI" panose="020B0604030504040204" pitchFamily="50" charset="-128"/>
              </a:rPr>
              <a:t>$1200</a:t>
            </a:r>
            <a:endParaRPr lang="en-US"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6E655969-4CAD-DAD0-8070-A5F17B9284F1}"/>
              </a:ext>
            </a:extLst>
          </p:cNvPr>
          <p:cNvSpPr/>
          <p:nvPr/>
        </p:nvSpPr>
        <p:spPr>
          <a:xfrm>
            <a:off x="8092428" y="3026977"/>
            <a:ext cx="2850204" cy="48470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ファーストクラス　</a:t>
            </a:r>
            <a:r>
              <a:rPr lang="en-US" altLang="ja-JP" dirty="0">
                <a:solidFill>
                  <a:schemeClr val="tx1"/>
                </a:solidFill>
                <a:latin typeface="Meiryo UI" panose="020B0604030504040204" pitchFamily="50" charset="-128"/>
                <a:ea typeface="Meiryo UI" panose="020B0604030504040204" pitchFamily="50" charset="-128"/>
              </a:rPr>
              <a:t>$1500</a:t>
            </a:r>
            <a:endParaRPr lang="en-US"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50451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D4E7A-5873-6FDF-AAB7-DA9B44FC93AB}"/>
              </a:ext>
            </a:extLst>
          </p:cNvPr>
          <p:cNvSpPr>
            <a:spLocks noGrp="1"/>
          </p:cNvSpPr>
          <p:nvPr>
            <p:ph type="title"/>
          </p:nvPr>
        </p:nvSpPr>
        <p:spPr/>
        <p:txBody>
          <a:bodyPr/>
          <a:lstStyle/>
          <a:p>
            <a:r>
              <a:rPr lang="ja-JP" altLang="en-US" dirty="0"/>
              <a:t>フライトの座席クラスを決めるー目的とアウトカム</a:t>
            </a:r>
            <a:endParaRPr lang="en-US" dirty="0"/>
          </a:p>
        </p:txBody>
      </p:sp>
      <p:sp>
        <p:nvSpPr>
          <p:cNvPr id="3" name="Table Placeholder 2">
            <a:extLst>
              <a:ext uri="{FF2B5EF4-FFF2-40B4-BE49-F238E27FC236}">
                <a16:creationId xmlns:a16="http://schemas.microsoft.com/office/drawing/2014/main" id="{1627B3C1-02A3-1233-4718-ED739DC3DF49}"/>
              </a:ext>
            </a:extLst>
          </p:cNvPr>
          <p:cNvSpPr>
            <a:spLocks noGrp="1"/>
          </p:cNvSpPr>
          <p:nvPr>
            <p:ph type="tbl" sz="quarter" idx="10"/>
          </p:nvPr>
        </p:nvSpPr>
        <p:spPr/>
        <p:txBody>
          <a:bodyPr/>
          <a:lstStyle/>
          <a:p>
            <a:r>
              <a:rPr lang="ja-JP" altLang="en-US" dirty="0"/>
              <a:t>意思決定に係る問題と目的</a:t>
            </a:r>
            <a:endParaRPr lang="en-US" altLang="ja-JP" dirty="0"/>
          </a:p>
          <a:p>
            <a:pPr lvl="1"/>
            <a:r>
              <a:rPr lang="en-US" altLang="ja-JP" dirty="0"/>
              <a:t>18</a:t>
            </a:r>
            <a:r>
              <a:rPr lang="ja-JP" altLang="en-US" dirty="0"/>
              <a:t>時間のボストンー東京間のフライトで、かけた費用に対し最も快適に過ごせる座席クラスを「エコノミー」「ビジネス」「ファースト」から選びたい</a:t>
            </a:r>
            <a:endParaRPr lang="en-US" altLang="ja-JP" dirty="0"/>
          </a:p>
          <a:p>
            <a:pPr lvl="1"/>
            <a:r>
              <a:rPr lang="ja-JP" altLang="en-US" dirty="0"/>
              <a:t>普段なら「エコノミー」を選んでいるが、予算的にどのクラスでも払える</a:t>
            </a:r>
            <a:endParaRPr lang="en-US" altLang="ja-JP" dirty="0"/>
          </a:p>
          <a:p>
            <a:endParaRPr lang="en-US" altLang="ja-JP" dirty="0"/>
          </a:p>
          <a:p>
            <a:r>
              <a:rPr lang="ja-JP" altLang="en-US" dirty="0"/>
              <a:t>アウトカム</a:t>
            </a:r>
            <a:endParaRPr lang="en-US" altLang="ja-JP" dirty="0"/>
          </a:p>
          <a:p>
            <a:pPr lvl="1"/>
            <a:r>
              <a:rPr lang="ja-JP" altLang="en-US" dirty="0"/>
              <a:t>効果：快適度</a:t>
            </a:r>
            <a:r>
              <a:rPr lang="en-US" altLang="ja-JP" dirty="0"/>
              <a:t>×</a:t>
            </a:r>
            <a:r>
              <a:rPr lang="ja-JP" altLang="en-US" dirty="0"/>
              <a:t>時間＝</a:t>
            </a:r>
            <a:r>
              <a:rPr lang="en-US" altLang="ja-JP" dirty="0"/>
              <a:t>Quality Adjusted Hour: QAH</a:t>
            </a:r>
            <a:r>
              <a:rPr lang="ja-JP" altLang="en-US" dirty="0"/>
              <a:t>という指標を導入</a:t>
            </a:r>
            <a:endParaRPr lang="en-US" altLang="ja-JP" dirty="0"/>
          </a:p>
          <a:p>
            <a:pPr lvl="2"/>
            <a:r>
              <a:rPr lang="ja-JP" altLang="en-US" sz="2400" dirty="0"/>
              <a:t>快適度を定義</a:t>
            </a:r>
            <a:r>
              <a:rPr lang="en-US" altLang="ja-JP" sz="2400" dirty="0"/>
              <a:t>:</a:t>
            </a:r>
            <a:r>
              <a:rPr lang="ja-JP" altLang="en-US" sz="2400" dirty="0"/>
              <a:t>「０</a:t>
            </a:r>
            <a:r>
              <a:rPr lang="en-US" altLang="ja-JP" sz="2400" dirty="0"/>
              <a:t>=</a:t>
            </a:r>
            <a:r>
              <a:rPr lang="ja-JP" altLang="en-US" sz="2400" dirty="0"/>
              <a:t>空便キャンセル」～「１</a:t>
            </a:r>
            <a:r>
              <a:rPr lang="en-US" altLang="ja-JP" sz="2400" dirty="0"/>
              <a:t>=</a:t>
            </a:r>
            <a:r>
              <a:rPr lang="ja-JP" altLang="en-US" sz="2400" dirty="0"/>
              <a:t>超快適！極上の空の旅」</a:t>
            </a:r>
            <a:endParaRPr lang="en-US" altLang="ja-JP" dirty="0"/>
          </a:p>
          <a:p>
            <a:pPr lvl="1"/>
            <a:r>
              <a:rPr lang="ja-JP" altLang="en-US" dirty="0"/>
              <a:t>費用：フライト代</a:t>
            </a:r>
            <a:endParaRPr lang="en-US" altLang="ja-JP" dirty="0"/>
          </a:p>
          <a:p>
            <a:pPr lvl="1"/>
            <a:endParaRPr lang="en-US" altLang="ja-JP" dirty="0"/>
          </a:p>
          <a:p>
            <a:r>
              <a:rPr lang="en-US" altLang="ja-JP" dirty="0"/>
              <a:t>1QAH(=</a:t>
            </a:r>
            <a:r>
              <a:rPr lang="ja-JP" altLang="en-US" dirty="0"/>
              <a:t>「超快適！極上の空の旅」体験１時間</a:t>
            </a:r>
            <a:r>
              <a:rPr lang="en-US" altLang="ja-JP" dirty="0"/>
              <a:t>)</a:t>
            </a:r>
            <a:r>
              <a:rPr lang="ja-JP" altLang="en-US" dirty="0"/>
              <a:t>に対して</a:t>
            </a:r>
            <a:r>
              <a:rPr lang="en-US" altLang="ja-JP" dirty="0"/>
              <a:t>$120</a:t>
            </a:r>
            <a:r>
              <a:rPr lang="ja-JP" altLang="en-US" dirty="0"/>
              <a:t>まで払ってもいい</a:t>
            </a:r>
            <a:endParaRPr lang="en-US" altLang="ja-JP" dirty="0"/>
          </a:p>
          <a:p>
            <a:endParaRPr lang="en-US" altLang="ja-JP" dirty="0"/>
          </a:p>
          <a:p>
            <a:pPr lvl="1"/>
            <a:endParaRPr lang="en-US" dirty="0"/>
          </a:p>
        </p:txBody>
      </p:sp>
      <p:sp>
        <p:nvSpPr>
          <p:cNvPr id="4" name="Slide Number Placeholder 3">
            <a:extLst>
              <a:ext uri="{FF2B5EF4-FFF2-40B4-BE49-F238E27FC236}">
                <a16:creationId xmlns:a16="http://schemas.microsoft.com/office/drawing/2014/main" id="{8D4F13CC-5097-12FB-D13D-DCE39C1AE17F}"/>
              </a:ext>
            </a:extLst>
          </p:cNvPr>
          <p:cNvSpPr>
            <a:spLocks noGrp="1"/>
          </p:cNvSpPr>
          <p:nvPr>
            <p:ph type="sldNum" sz="quarter" idx="4"/>
          </p:nvPr>
        </p:nvSpPr>
        <p:spPr/>
        <p:txBody>
          <a:bodyPr/>
          <a:lstStyle/>
          <a:p>
            <a:fld id="{B5CEABB6-07DC-46E8-9B57-56EC44A396E5}" type="slidenum">
              <a:rPr lang="en-US" smtClean="0"/>
              <a:pPr/>
              <a:t>29</a:t>
            </a:fld>
            <a:endParaRPr lang="en-US" dirty="0"/>
          </a:p>
        </p:txBody>
      </p:sp>
      <p:sp>
        <p:nvSpPr>
          <p:cNvPr id="5" name="Table Placeholder 4">
            <a:extLst>
              <a:ext uri="{FF2B5EF4-FFF2-40B4-BE49-F238E27FC236}">
                <a16:creationId xmlns:a16="http://schemas.microsoft.com/office/drawing/2014/main" id="{B376DCEB-AAE5-3D48-E1B6-63B559FBE745}"/>
              </a:ext>
            </a:extLst>
          </p:cNvPr>
          <p:cNvSpPr>
            <a:spLocks noGrp="1"/>
          </p:cNvSpPr>
          <p:nvPr>
            <p:ph type="tbl" sz="quarter" idx="11"/>
          </p:nvPr>
        </p:nvSpPr>
        <p:spPr/>
        <p:txBody>
          <a:bodyPr/>
          <a:lstStyle/>
          <a:p>
            <a:endParaRPr lang="en-US"/>
          </a:p>
        </p:txBody>
      </p:sp>
      <p:grpSp>
        <p:nvGrpSpPr>
          <p:cNvPr id="6" name="Group 5">
            <a:extLst>
              <a:ext uri="{FF2B5EF4-FFF2-40B4-BE49-F238E27FC236}">
                <a16:creationId xmlns:a16="http://schemas.microsoft.com/office/drawing/2014/main" id="{A835B8FB-8EBF-5AA3-B777-CDA3ACB0A966}"/>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3CA4E63F-D28C-ED97-26DF-C1FE55943EC4}"/>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DC4BE72F-56E3-21E0-264B-B1B7B2F5F377}"/>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11F23DFD-E6B1-3E26-02EA-5A1BCD5A1526}"/>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923773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CD062-5D64-EFB3-27C8-1DD91305E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9CFBD-188C-3667-95B0-DB6055B04FB4}"/>
              </a:ext>
            </a:extLst>
          </p:cNvPr>
          <p:cNvSpPr>
            <a:spLocks noGrp="1"/>
          </p:cNvSpPr>
          <p:nvPr>
            <p:ph type="title"/>
          </p:nvPr>
        </p:nvSpPr>
        <p:spPr/>
        <p:txBody>
          <a:bodyPr/>
          <a:lstStyle/>
          <a:p>
            <a:r>
              <a:rPr lang="ja-JP" altLang="en-US" dirty="0"/>
              <a:t>フライトの座席クラスを決めるー問題の構造化</a:t>
            </a:r>
            <a:endParaRPr lang="en-US" dirty="0"/>
          </a:p>
        </p:txBody>
      </p:sp>
      <p:sp>
        <p:nvSpPr>
          <p:cNvPr id="4" name="Slide Number Placeholder 3">
            <a:extLst>
              <a:ext uri="{FF2B5EF4-FFF2-40B4-BE49-F238E27FC236}">
                <a16:creationId xmlns:a16="http://schemas.microsoft.com/office/drawing/2014/main" id="{9F76DDDE-FE3B-3E09-A514-D2B4ED59C9FB}"/>
              </a:ext>
            </a:extLst>
          </p:cNvPr>
          <p:cNvSpPr>
            <a:spLocks noGrp="1"/>
          </p:cNvSpPr>
          <p:nvPr>
            <p:ph type="sldNum" sz="quarter" idx="4"/>
          </p:nvPr>
        </p:nvSpPr>
        <p:spPr/>
        <p:txBody>
          <a:bodyPr/>
          <a:lstStyle/>
          <a:p>
            <a:fld id="{B5CEABB6-07DC-46E8-9B57-56EC44A396E5}" type="slidenum">
              <a:rPr lang="en-US" smtClean="0"/>
              <a:pPr/>
              <a:t>30</a:t>
            </a:fld>
            <a:endParaRPr lang="en-US" dirty="0"/>
          </a:p>
        </p:txBody>
      </p:sp>
      <p:sp>
        <p:nvSpPr>
          <p:cNvPr id="5" name="Table Placeholder 4">
            <a:extLst>
              <a:ext uri="{FF2B5EF4-FFF2-40B4-BE49-F238E27FC236}">
                <a16:creationId xmlns:a16="http://schemas.microsoft.com/office/drawing/2014/main" id="{280AA3B1-C793-1E15-2779-CD728EF8D2C8}"/>
              </a:ext>
            </a:extLst>
          </p:cNvPr>
          <p:cNvSpPr>
            <a:spLocks noGrp="1"/>
          </p:cNvSpPr>
          <p:nvPr>
            <p:ph type="tbl" sz="quarter" idx="11"/>
          </p:nvPr>
        </p:nvSpPr>
        <p:spPr/>
        <p:txBody>
          <a:bodyPr/>
          <a:lstStyle/>
          <a:p>
            <a:endParaRPr lang="en-US"/>
          </a:p>
        </p:txBody>
      </p:sp>
      <p:grpSp>
        <p:nvGrpSpPr>
          <p:cNvPr id="6" name="Group 5">
            <a:extLst>
              <a:ext uri="{FF2B5EF4-FFF2-40B4-BE49-F238E27FC236}">
                <a16:creationId xmlns:a16="http://schemas.microsoft.com/office/drawing/2014/main" id="{C3002DE2-3DAE-9F35-C718-6781680CF406}"/>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7482F9E7-96A6-F952-2120-18D3B155941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9D5A3897-EF73-6F0A-89D8-FE02CE4C357C}"/>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EBA57EE0-E447-EAFC-252E-BEAFA10EB950}"/>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12" name="Rectangle 11">
            <a:extLst>
              <a:ext uri="{FF2B5EF4-FFF2-40B4-BE49-F238E27FC236}">
                <a16:creationId xmlns:a16="http://schemas.microsoft.com/office/drawing/2014/main" id="{55712672-F396-C0DE-54C6-8275D222A7D4}"/>
              </a:ext>
            </a:extLst>
          </p:cNvPr>
          <p:cNvSpPr/>
          <p:nvPr/>
        </p:nvSpPr>
        <p:spPr>
          <a:xfrm>
            <a:off x="2725083" y="5660747"/>
            <a:ext cx="1557421"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エコノミー</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3" name="Rectangle 12">
            <a:extLst>
              <a:ext uri="{FF2B5EF4-FFF2-40B4-BE49-F238E27FC236}">
                <a16:creationId xmlns:a16="http://schemas.microsoft.com/office/drawing/2014/main" id="{0AC4F69F-805D-333E-1836-B5F32D3158DC}"/>
              </a:ext>
            </a:extLst>
          </p:cNvPr>
          <p:cNvSpPr/>
          <p:nvPr/>
        </p:nvSpPr>
        <p:spPr>
          <a:xfrm>
            <a:off x="2197575" y="4193324"/>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6" name="Oval 15">
            <a:extLst>
              <a:ext uri="{FF2B5EF4-FFF2-40B4-BE49-F238E27FC236}">
                <a16:creationId xmlns:a16="http://schemas.microsoft.com/office/drawing/2014/main" id="{C9292504-A0E8-8B24-1184-8F988DBF7BE0}"/>
              </a:ext>
            </a:extLst>
          </p:cNvPr>
          <p:cNvSpPr/>
          <p:nvPr/>
        </p:nvSpPr>
        <p:spPr>
          <a:xfrm>
            <a:off x="5132583" y="4179717"/>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7" name="Connector: Elbow 16">
            <a:extLst>
              <a:ext uri="{FF2B5EF4-FFF2-40B4-BE49-F238E27FC236}">
                <a16:creationId xmlns:a16="http://schemas.microsoft.com/office/drawing/2014/main" id="{A5305EE8-0B86-4AE2-F251-456A05C9F2B6}"/>
              </a:ext>
            </a:extLst>
          </p:cNvPr>
          <p:cNvCxnSpPr>
            <a:cxnSpLocks/>
            <a:stCxn id="13" idx="0"/>
            <a:endCxn id="21" idx="0"/>
          </p:cNvCxnSpPr>
          <p:nvPr/>
        </p:nvCxnSpPr>
        <p:spPr>
          <a:xfrm rot="5400000" flipH="1" flipV="1">
            <a:off x="4231640" y="826245"/>
            <a:ext cx="1454934" cy="5279224"/>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0CFBAAFC-383D-F265-F9F4-919B679B818A}"/>
              </a:ext>
            </a:extLst>
          </p:cNvPr>
          <p:cNvSpPr/>
          <p:nvPr/>
        </p:nvSpPr>
        <p:spPr>
          <a:xfrm rot="16200000">
            <a:off x="7598719"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595F958D-6012-ED8C-52E7-D7C38852A492}"/>
              </a:ext>
            </a:extLst>
          </p:cNvPr>
          <p:cNvCxnSpPr>
            <a:cxnSpLocks/>
            <a:stCxn id="13" idx="1"/>
          </p:cNvCxnSpPr>
          <p:nvPr/>
        </p:nvCxnSpPr>
        <p:spPr>
          <a:xfrm flipH="1">
            <a:off x="562170" y="4323681"/>
            <a:ext cx="16354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26310146-3B46-1819-FB29-D7CE0C340B62}"/>
              </a:ext>
            </a:extLst>
          </p:cNvPr>
          <p:cNvSpPr/>
          <p:nvPr/>
        </p:nvSpPr>
        <p:spPr>
          <a:xfrm>
            <a:off x="2968101" y="395183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ビジネス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6" name="Rectangle 35">
            <a:extLst>
              <a:ext uri="{FF2B5EF4-FFF2-40B4-BE49-F238E27FC236}">
                <a16:creationId xmlns:a16="http://schemas.microsoft.com/office/drawing/2014/main" id="{D3B1E942-827D-7D18-CB0C-50FACBA9386A}"/>
              </a:ext>
            </a:extLst>
          </p:cNvPr>
          <p:cNvSpPr/>
          <p:nvPr/>
        </p:nvSpPr>
        <p:spPr>
          <a:xfrm>
            <a:off x="2785808"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ファーストクラス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7" name="Rectangle 36">
            <a:extLst>
              <a:ext uri="{FF2B5EF4-FFF2-40B4-BE49-F238E27FC236}">
                <a16:creationId xmlns:a16="http://schemas.microsoft.com/office/drawing/2014/main" id="{EB5877D5-68A3-D5B7-5ECD-E143410E8D70}"/>
              </a:ext>
            </a:extLst>
          </p:cNvPr>
          <p:cNvSpPr/>
          <p:nvPr/>
        </p:nvSpPr>
        <p:spPr>
          <a:xfrm>
            <a:off x="516394" y="3893895"/>
            <a:ext cx="1635405" cy="364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座席を選ぶ</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37B50A78-9EE7-87BF-ECC0-D6F9C27DB73F}"/>
              </a:ext>
            </a:extLst>
          </p:cNvPr>
          <p:cNvSpPr/>
          <p:nvPr/>
        </p:nvSpPr>
        <p:spPr>
          <a:xfrm>
            <a:off x="9211465"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50" name="Rectangle 49">
            <a:extLst>
              <a:ext uri="{FF2B5EF4-FFF2-40B4-BE49-F238E27FC236}">
                <a16:creationId xmlns:a16="http://schemas.microsoft.com/office/drawing/2014/main" id="{C7F2B676-6E59-964B-0B64-E1799AEBA662}"/>
              </a:ext>
            </a:extLst>
          </p:cNvPr>
          <p:cNvSpPr/>
          <p:nvPr/>
        </p:nvSpPr>
        <p:spPr>
          <a:xfrm>
            <a:off x="7904372" y="2586843"/>
            <a:ext cx="1236777" cy="303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grpSp>
        <p:nvGrpSpPr>
          <p:cNvPr id="51" name="Group 50">
            <a:extLst>
              <a:ext uri="{FF2B5EF4-FFF2-40B4-BE49-F238E27FC236}">
                <a16:creationId xmlns:a16="http://schemas.microsoft.com/office/drawing/2014/main" id="{ECA736F8-72A4-A316-48E8-7D3659A90A41}"/>
              </a:ext>
            </a:extLst>
          </p:cNvPr>
          <p:cNvGrpSpPr/>
          <p:nvPr/>
        </p:nvGrpSpPr>
        <p:grpSpPr>
          <a:xfrm>
            <a:off x="639566" y="2110711"/>
            <a:ext cx="4493017" cy="308921"/>
            <a:chOff x="4911850" y="6335733"/>
            <a:chExt cx="4068115" cy="292745"/>
          </a:xfrm>
        </p:grpSpPr>
        <p:sp>
          <p:nvSpPr>
            <p:cNvPr id="52" name="Rectangle 51">
              <a:extLst>
                <a:ext uri="{FF2B5EF4-FFF2-40B4-BE49-F238E27FC236}">
                  <a16:creationId xmlns:a16="http://schemas.microsoft.com/office/drawing/2014/main" id="{375507E0-4209-CD99-1EC0-B10E9A80B944}"/>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3" name="Rectangle 52">
              <a:extLst>
                <a:ext uri="{FF2B5EF4-FFF2-40B4-BE49-F238E27FC236}">
                  <a16:creationId xmlns:a16="http://schemas.microsoft.com/office/drawing/2014/main" id="{929AF3AC-B103-979B-4739-8BA6CF0D6A6E}"/>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意思決定</a:t>
              </a:r>
              <a:endParaRPr lang="en-US" dirty="0">
                <a:solidFill>
                  <a:schemeClr val="tx1"/>
                </a:solidFill>
                <a:latin typeface="Meiryo UI" panose="020B0604030504040204" pitchFamily="50" charset="-128"/>
                <a:ea typeface="Meiryo UI" panose="020B0604030504040204" pitchFamily="50" charset="-128"/>
              </a:endParaRPr>
            </a:p>
          </p:txBody>
        </p:sp>
        <p:sp>
          <p:nvSpPr>
            <p:cNvPr id="54" name="Oval 53">
              <a:extLst>
                <a:ext uri="{FF2B5EF4-FFF2-40B4-BE49-F238E27FC236}">
                  <a16:creationId xmlns:a16="http://schemas.microsoft.com/office/drawing/2014/main" id="{B639097C-769A-CF96-67E1-19FB4041ED9D}"/>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5" name="Rectangle 54">
              <a:extLst>
                <a:ext uri="{FF2B5EF4-FFF2-40B4-BE49-F238E27FC236}">
                  <a16:creationId xmlns:a16="http://schemas.microsoft.com/office/drawing/2014/main" id="{47150126-04C0-2E34-197D-F6BB175DD07A}"/>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確率事象</a:t>
              </a:r>
              <a:endParaRPr lang="en-US" dirty="0">
                <a:solidFill>
                  <a:schemeClr val="tx1"/>
                </a:solidFill>
                <a:latin typeface="Meiryo UI" panose="020B0604030504040204" pitchFamily="50" charset="-128"/>
                <a:ea typeface="Meiryo UI" panose="020B0604030504040204" pitchFamily="50" charset="-128"/>
              </a:endParaRPr>
            </a:p>
          </p:txBody>
        </p:sp>
        <p:sp>
          <p:nvSpPr>
            <p:cNvPr id="56" name="Isosceles Triangle 55">
              <a:extLst>
                <a:ext uri="{FF2B5EF4-FFF2-40B4-BE49-F238E27FC236}">
                  <a16:creationId xmlns:a16="http://schemas.microsoft.com/office/drawing/2014/main" id="{811E226A-A1A8-6564-A3DA-7624E96236BD}"/>
                </a:ext>
              </a:extLst>
            </p:cNvPr>
            <p:cNvSpPr/>
            <p:nvPr/>
          </p:nvSpPr>
          <p:spPr>
            <a:xfrm rot="16200000">
              <a:off x="7607938"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7" name="Rectangle 56">
              <a:extLst>
                <a:ext uri="{FF2B5EF4-FFF2-40B4-BE49-F238E27FC236}">
                  <a16:creationId xmlns:a16="http://schemas.microsoft.com/office/drawing/2014/main" id="{B7C4DD5B-F49B-6339-9BD0-149C9B6B92D3}"/>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結果</a:t>
              </a: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70" name="Connector: Elbow 69">
            <a:extLst>
              <a:ext uri="{FF2B5EF4-FFF2-40B4-BE49-F238E27FC236}">
                <a16:creationId xmlns:a16="http://schemas.microsoft.com/office/drawing/2014/main" id="{CB9F0F95-6B82-9F65-F453-10EC8B5DB3BC}"/>
              </a:ext>
            </a:extLst>
          </p:cNvPr>
          <p:cNvCxnSpPr>
            <a:cxnSpLocks/>
            <a:stCxn id="16" idx="0"/>
            <a:endCxn id="71" idx="0"/>
          </p:cNvCxnSpPr>
          <p:nvPr/>
        </p:nvCxnSpPr>
        <p:spPr>
          <a:xfrm rot="5400000" flipH="1" flipV="1">
            <a:off x="6348708" y="2929706"/>
            <a:ext cx="171047" cy="232897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1" name="Isosceles Triangle 70">
            <a:extLst>
              <a:ext uri="{FF2B5EF4-FFF2-40B4-BE49-F238E27FC236}">
                <a16:creationId xmlns:a16="http://schemas.microsoft.com/office/drawing/2014/main" id="{2F585EC0-7CC1-C893-ECFD-66F5923FB3FE}"/>
              </a:ext>
            </a:extLst>
          </p:cNvPr>
          <p:cNvSpPr/>
          <p:nvPr/>
        </p:nvSpPr>
        <p:spPr>
          <a:xfrm rot="16200000">
            <a:off x="7598719" y="387151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72" name="Isosceles Triangle 71">
            <a:extLst>
              <a:ext uri="{FF2B5EF4-FFF2-40B4-BE49-F238E27FC236}">
                <a16:creationId xmlns:a16="http://schemas.microsoft.com/office/drawing/2014/main" id="{DC153C93-77B1-B0AC-8EE6-64181C067A86}"/>
              </a:ext>
            </a:extLst>
          </p:cNvPr>
          <p:cNvSpPr/>
          <p:nvPr/>
        </p:nvSpPr>
        <p:spPr>
          <a:xfrm rot="16200000">
            <a:off x="7598719" y="4498475"/>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73" name="Connector: Elbow 72">
            <a:extLst>
              <a:ext uri="{FF2B5EF4-FFF2-40B4-BE49-F238E27FC236}">
                <a16:creationId xmlns:a16="http://schemas.microsoft.com/office/drawing/2014/main" id="{4FB31D81-0F74-B332-5225-3D0D04CD0A6F}"/>
              </a:ext>
            </a:extLst>
          </p:cNvPr>
          <p:cNvCxnSpPr>
            <a:cxnSpLocks/>
            <a:stCxn id="16" idx="4"/>
            <a:endCxn id="72" idx="0"/>
          </p:cNvCxnSpPr>
          <p:nvPr/>
        </p:nvCxnSpPr>
        <p:spPr>
          <a:xfrm rot="16200000" flipH="1">
            <a:off x="6343432" y="3380348"/>
            <a:ext cx="181598" cy="232897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48DDE30A-1487-345B-20D4-089F5E3F4B95}"/>
              </a:ext>
            </a:extLst>
          </p:cNvPr>
          <p:cNvSpPr/>
          <p:nvPr/>
        </p:nvSpPr>
        <p:spPr>
          <a:xfrm>
            <a:off x="7902318" y="3871509"/>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77" name="Rectangle 76">
            <a:extLst>
              <a:ext uri="{FF2B5EF4-FFF2-40B4-BE49-F238E27FC236}">
                <a16:creationId xmlns:a16="http://schemas.microsoft.com/office/drawing/2014/main" id="{ABCE9406-458F-9A83-5C71-A6CB5D340319}"/>
              </a:ext>
            </a:extLst>
          </p:cNvPr>
          <p:cNvSpPr/>
          <p:nvPr/>
        </p:nvSpPr>
        <p:spPr>
          <a:xfrm>
            <a:off x="7902318" y="4498474"/>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cxnSp>
        <p:nvCxnSpPr>
          <p:cNvPr id="81" name="Straight Connector 80">
            <a:extLst>
              <a:ext uri="{FF2B5EF4-FFF2-40B4-BE49-F238E27FC236}">
                <a16:creationId xmlns:a16="http://schemas.microsoft.com/office/drawing/2014/main" id="{3C2908B4-E021-07BB-9248-FB15929569AF}"/>
              </a:ext>
            </a:extLst>
          </p:cNvPr>
          <p:cNvCxnSpPr>
            <a:cxnSpLocks/>
            <a:stCxn id="16" idx="2"/>
            <a:endCxn id="13" idx="3"/>
          </p:cNvCxnSpPr>
          <p:nvPr/>
        </p:nvCxnSpPr>
        <p:spPr>
          <a:xfrm flipH="1">
            <a:off x="2441415" y="4316877"/>
            <a:ext cx="2691168" cy="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5E51EF7B-AA42-5FFA-84DF-50B002B87F97}"/>
              </a:ext>
            </a:extLst>
          </p:cNvPr>
          <p:cNvSpPr/>
          <p:nvPr/>
        </p:nvSpPr>
        <p:spPr>
          <a:xfrm>
            <a:off x="10643140"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快適度</a:t>
            </a:r>
            <a:endParaRPr lang="en-US" dirty="0">
              <a:solidFill>
                <a:schemeClr val="tx1"/>
              </a:solidFill>
              <a:latin typeface="Meiryo UI" panose="020B0604030504040204" pitchFamily="50" charset="-128"/>
              <a:ea typeface="Meiryo UI" panose="020B0604030504040204" pitchFamily="50" charset="-128"/>
            </a:endParaRPr>
          </a:p>
        </p:txBody>
      </p:sp>
      <p:cxnSp>
        <p:nvCxnSpPr>
          <p:cNvPr id="92" name="Straight Connector 91">
            <a:extLst>
              <a:ext uri="{FF2B5EF4-FFF2-40B4-BE49-F238E27FC236}">
                <a16:creationId xmlns:a16="http://schemas.microsoft.com/office/drawing/2014/main" id="{F4291498-0FCB-C2D4-B160-8C5F306C9A60}"/>
              </a:ext>
            </a:extLst>
          </p:cNvPr>
          <p:cNvCxnSpPr>
            <a:cxnSpLocks/>
          </p:cNvCxnSpPr>
          <p:nvPr/>
        </p:nvCxnSpPr>
        <p:spPr>
          <a:xfrm>
            <a:off x="9135111"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3FE1C26-4B88-727F-AF45-588AC4EA13EB}"/>
              </a:ext>
            </a:extLst>
          </p:cNvPr>
          <p:cNvCxnSpPr>
            <a:cxnSpLocks/>
          </p:cNvCxnSpPr>
          <p:nvPr/>
        </p:nvCxnSpPr>
        <p:spPr>
          <a:xfrm>
            <a:off x="10474849"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8924EC1D-846B-17B9-346E-B8BF842963C8}"/>
              </a:ext>
            </a:extLst>
          </p:cNvPr>
          <p:cNvCxnSpPr>
            <a:cxnSpLocks/>
            <a:stCxn id="13" idx="2"/>
            <a:endCxn id="98" idx="2"/>
          </p:cNvCxnSpPr>
          <p:nvPr/>
        </p:nvCxnSpPr>
        <p:spPr>
          <a:xfrm rot="16200000" flipH="1">
            <a:off x="2960102" y="3813430"/>
            <a:ext cx="1531875" cy="281308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343580BE-D850-F1BF-3B16-B3D0E98685FD}"/>
              </a:ext>
            </a:extLst>
          </p:cNvPr>
          <p:cNvSpPr/>
          <p:nvPr/>
        </p:nvSpPr>
        <p:spPr>
          <a:xfrm>
            <a:off x="5132584" y="584875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99" name="Connector: Elbow 98">
            <a:extLst>
              <a:ext uri="{FF2B5EF4-FFF2-40B4-BE49-F238E27FC236}">
                <a16:creationId xmlns:a16="http://schemas.microsoft.com/office/drawing/2014/main" id="{C81454D4-E3C9-3B68-D9C3-1DE52ED9BFFF}"/>
              </a:ext>
            </a:extLst>
          </p:cNvPr>
          <p:cNvCxnSpPr>
            <a:cxnSpLocks/>
            <a:stCxn id="98" idx="0"/>
            <a:endCxn id="100" idx="0"/>
          </p:cNvCxnSpPr>
          <p:nvPr/>
        </p:nvCxnSpPr>
        <p:spPr>
          <a:xfrm rot="5400000" flipH="1" flipV="1">
            <a:off x="6347190" y="4597225"/>
            <a:ext cx="174082" cy="232897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5029512B-EF23-28E8-AE65-BAF75FDE2675}"/>
              </a:ext>
            </a:extLst>
          </p:cNvPr>
          <p:cNvSpPr/>
          <p:nvPr/>
        </p:nvSpPr>
        <p:spPr>
          <a:xfrm rot="16200000">
            <a:off x="7598719" y="553751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01" name="Isosceles Triangle 100">
            <a:extLst>
              <a:ext uri="{FF2B5EF4-FFF2-40B4-BE49-F238E27FC236}">
                <a16:creationId xmlns:a16="http://schemas.microsoft.com/office/drawing/2014/main" id="{ADD67FBD-4366-B00E-4D48-8C4263D8197C}"/>
              </a:ext>
            </a:extLst>
          </p:cNvPr>
          <p:cNvSpPr/>
          <p:nvPr/>
        </p:nvSpPr>
        <p:spPr>
          <a:xfrm rot="16200000">
            <a:off x="7598719" y="616447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2" name="Connector: Elbow 101">
            <a:extLst>
              <a:ext uri="{FF2B5EF4-FFF2-40B4-BE49-F238E27FC236}">
                <a16:creationId xmlns:a16="http://schemas.microsoft.com/office/drawing/2014/main" id="{0821164E-EA8F-243C-725E-A775FBC7C692}"/>
              </a:ext>
            </a:extLst>
          </p:cNvPr>
          <p:cNvCxnSpPr>
            <a:cxnSpLocks/>
            <a:stCxn id="98" idx="4"/>
            <a:endCxn id="101" idx="0"/>
          </p:cNvCxnSpPr>
          <p:nvPr/>
        </p:nvCxnSpPr>
        <p:spPr>
          <a:xfrm rot="16200000" flipH="1">
            <a:off x="6344950" y="5047866"/>
            <a:ext cx="178563" cy="232897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1EB47551-02BE-E6A2-E98B-D1B82385C44E}"/>
              </a:ext>
            </a:extLst>
          </p:cNvPr>
          <p:cNvSpPr/>
          <p:nvPr/>
        </p:nvSpPr>
        <p:spPr>
          <a:xfrm>
            <a:off x="7902318" y="616447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残念な席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5" name="Rectangle 104">
            <a:extLst>
              <a:ext uri="{FF2B5EF4-FFF2-40B4-BE49-F238E27FC236}">
                <a16:creationId xmlns:a16="http://schemas.microsoft.com/office/drawing/2014/main" id="{74F8D1C3-63AD-550E-A917-111023A9A11E}"/>
              </a:ext>
            </a:extLst>
          </p:cNvPr>
          <p:cNvSpPr/>
          <p:nvPr/>
        </p:nvSpPr>
        <p:spPr>
          <a:xfrm>
            <a:off x="7902318" y="553751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7" name="Rectangle 106">
            <a:extLst>
              <a:ext uri="{FF2B5EF4-FFF2-40B4-BE49-F238E27FC236}">
                <a16:creationId xmlns:a16="http://schemas.microsoft.com/office/drawing/2014/main" id="{4D880654-5F1B-8561-629B-663DED91C3A6}"/>
              </a:ext>
            </a:extLst>
          </p:cNvPr>
          <p:cNvSpPr/>
          <p:nvPr/>
        </p:nvSpPr>
        <p:spPr>
          <a:xfrm>
            <a:off x="9158492" y="258702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1500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8" name="Rectangle 107">
            <a:extLst>
              <a:ext uri="{FF2B5EF4-FFF2-40B4-BE49-F238E27FC236}">
                <a16:creationId xmlns:a16="http://schemas.microsoft.com/office/drawing/2014/main" id="{F04E6979-B22B-805C-610D-E85284E3617E}"/>
              </a:ext>
            </a:extLst>
          </p:cNvPr>
          <p:cNvSpPr/>
          <p:nvPr/>
        </p:nvSpPr>
        <p:spPr>
          <a:xfrm>
            <a:off x="10604386"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9" name="Rectangle 108">
            <a:extLst>
              <a:ext uri="{FF2B5EF4-FFF2-40B4-BE49-F238E27FC236}">
                <a16:creationId xmlns:a16="http://schemas.microsoft.com/office/drawing/2014/main" id="{E57F932F-88B5-B999-F3F0-FBF45F044252}"/>
              </a:ext>
            </a:extLst>
          </p:cNvPr>
          <p:cNvSpPr/>
          <p:nvPr/>
        </p:nvSpPr>
        <p:spPr>
          <a:xfrm>
            <a:off x="9158492" y="385947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0" name="Rectangle 109">
            <a:extLst>
              <a:ext uri="{FF2B5EF4-FFF2-40B4-BE49-F238E27FC236}">
                <a16:creationId xmlns:a16="http://schemas.microsoft.com/office/drawing/2014/main" id="{D05659CA-5A0C-F2FD-6046-5DB1E94BC291}"/>
              </a:ext>
            </a:extLst>
          </p:cNvPr>
          <p:cNvSpPr/>
          <p:nvPr/>
        </p:nvSpPr>
        <p:spPr>
          <a:xfrm>
            <a:off x="10604386" y="385947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1" name="Rectangle 110">
            <a:extLst>
              <a:ext uri="{FF2B5EF4-FFF2-40B4-BE49-F238E27FC236}">
                <a16:creationId xmlns:a16="http://schemas.microsoft.com/office/drawing/2014/main" id="{E8D52F4E-EFBD-D63A-152E-8B90E62B8EF0}"/>
              </a:ext>
            </a:extLst>
          </p:cNvPr>
          <p:cNvSpPr/>
          <p:nvPr/>
        </p:nvSpPr>
        <p:spPr>
          <a:xfrm>
            <a:off x="9158492" y="4498474"/>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2" name="Rectangle 111">
            <a:extLst>
              <a:ext uri="{FF2B5EF4-FFF2-40B4-BE49-F238E27FC236}">
                <a16:creationId xmlns:a16="http://schemas.microsoft.com/office/drawing/2014/main" id="{107292DD-1D7E-0016-479D-7E90E3456272}"/>
              </a:ext>
            </a:extLst>
          </p:cNvPr>
          <p:cNvSpPr/>
          <p:nvPr/>
        </p:nvSpPr>
        <p:spPr>
          <a:xfrm>
            <a:off x="10604386" y="44984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3" name="Rectangle 112">
            <a:extLst>
              <a:ext uri="{FF2B5EF4-FFF2-40B4-BE49-F238E27FC236}">
                <a16:creationId xmlns:a16="http://schemas.microsoft.com/office/drawing/2014/main" id="{8EF52265-03E0-EA19-FD8F-F930FB74F0C7}"/>
              </a:ext>
            </a:extLst>
          </p:cNvPr>
          <p:cNvSpPr/>
          <p:nvPr/>
        </p:nvSpPr>
        <p:spPr>
          <a:xfrm>
            <a:off x="9303402"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4" name="Rectangle 113">
            <a:extLst>
              <a:ext uri="{FF2B5EF4-FFF2-40B4-BE49-F238E27FC236}">
                <a16:creationId xmlns:a16="http://schemas.microsoft.com/office/drawing/2014/main" id="{E9A100A0-6003-A405-D4E4-7474FB9457C0}"/>
              </a:ext>
            </a:extLst>
          </p:cNvPr>
          <p:cNvSpPr/>
          <p:nvPr/>
        </p:nvSpPr>
        <p:spPr>
          <a:xfrm>
            <a:off x="10604386"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5" name="Rectangle 114">
            <a:extLst>
              <a:ext uri="{FF2B5EF4-FFF2-40B4-BE49-F238E27FC236}">
                <a16:creationId xmlns:a16="http://schemas.microsoft.com/office/drawing/2014/main" id="{967B6074-2AC3-7EC9-558F-5709344D0175}"/>
              </a:ext>
            </a:extLst>
          </p:cNvPr>
          <p:cNvSpPr/>
          <p:nvPr/>
        </p:nvSpPr>
        <p:spPr>
          <a:xfrm>
            <a:off x="9303402"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6" name="Rectangle 115">
            <a:extLst>
              <a:ext uri="{FF2B5EF4-FFF2-40B4-BE49-F238E27FC236}">
                <a16:creationId xmlns:a16="http://schemas.microsoft.com/office/drawing/2014/main" id="{5BC5BD25-24E1-BAA4-8E72-5A09520CF4B7}"/>
              </a:ext>
            </a:extLst>
          </p:cNvPr>
          <p:cNvSpPr/>
          <p:nvPr/>
        </p:nvSpPr>
        <p:spPr>
          <a:xfrm>
            <a:off x="10604386"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3699513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356D2-7583-7A88-2684-C4F23E301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39145-2E70-CBE5-D30B-D45A60E1E33C}"/>
              </a:ext>
            </a:extLst>
          </p:cNvPr>
          <p:cNvSpPr>
            <a:spLocks noGrp="1"/>
          </p:cNvSpPr>
          <p:nvPr>
            <p:ph type="title"/>
          </p:nvPr>
        </p:nvSpPr>
        <p:spPr/>
        <p:txBody>
          <a:bodyPr/>
          <a:lstStyle/>
          <a:p>
            <a:r>
              <a:rPr lang="ja-JP" altLang="en-US" dirty="0"/>
              <a:t>フライトの座席クラスを決めるー効用を測る</a:t>
            </a:r>
            <a:endParaRPr lang="en-US" dirty="0"/>
          </a:p>
        </p:txBody>
      </p:sp>
      <p:sp>
        <p:nvSpPr>
          <p:cNvPr id="3" name="Table Placeholder 2">
            <a:extLst>
              <a:ext uri="{FF2B5EF4-FFF2-40B4-BE49-F238E27FC236}">
                <a16:creationId xmlns:a16="http://schemas.microsoft.com/office/drawing/2014/main" id="{172C2FFA-14E9-949A-3ED8-49853ABAAC12}"/>
              </a:ext>
            </a:extLst>
          </p:cNvPr>
          <p:cNvSpPr>
            <a:spLocks noGrp="1"/>
          </p:cNvSpPr>
          <p:nvPr>
            <p:ph type="tbl" sz="quarter" idx="10"/>
          </p:nvPr>
        </p:nvSpPr>
        <p:spPr/>
        <p:txBody>
          <a:bodyPr/>
          <a:lstStyle/>
          <a:p>
            <a:r>
              <a:rPr lang="ja-JP" altLang="en-US" dirty="0"/>
              <a:t>飛行機に乗るとごくたまに遭遇する「残念な席」</a:t>
            </a:r>
            <a:endParaRPr lang="en-US" altLang="ja-JP" dirty="0"/>
          </a:p>
          <a:p>
            <a:pPr lvl="1"/>
            <a:r>
              <a:rPr lang="ja-JP" altLang="en-US" dirty="0"/>
              <a:t>シートモニターが壊れている</a:t>
            </a:r>
            <a:r>
              <a:rPr lang="en-US" altLang="ja-JP" dirty="0"/>
              <a:t>(</a:t>
            </a:r>
            <a:r>
              <a:rPr lang="ja-JP" altLang="en-US" dirty="0"/>
              <a:t>実は解決策はある</a:t>
            </a:r>
            <a:r>
              <a:rPr lang="en-US" altLang="ja-JP" dirty="0"/>
              <a:t>)</a:t>
            </a:r>
          </a:p>
          <a:p>
            <a:pPr lvl="1"/>
            <a:r>
              <a:rPr lang="ja-JP" altLang="en-US" dirty="0"/>
              <a:t>リクライニング倒せない</a:t>
            </a:r>
          </a:p>
          <a:p>
            <a:pPr lvl="1"/>
            <a:r>
              <a:rPr lang="ja-JP" altLang="en-US" dirty="0"/>
              <a:t>充電できない</a:t>
            </a:r>
            <a:r>
              <a:rPr lang="en-US" altLang="ja-JP" dirty="0"/>
              <a:t>			</a:t>
            </a:r>
            <a:r>
              <a:rPr lang="ja-JP" altLang="en-US" dirty="0"/>
              <a:t>など</a:t>
            </a:r>
            <a:br>
              <a:rPr lang="en-US" altLang="ja-JP" dirty="0"/>
            </a:br>
            <a:endParaRPr lang="en-US" altLang="ja-JP" dirty="0"/>
          </a:p>
          <a:p>
            <a:r>
              <a:rPr lang="ja-JP" altLang="en-US" dirty="0"/>
              <a:t>この「残念な席」の快適度によって意思決定は左右される</a:t>
            </a:r>
            <a:r>
              <a:rPr lang="en-US" altLang="ja-JP" dirty="0"/>
              <a:t>…</a:t>
            </a:r>
            <a:r>
              <a:rPr lang="ja-JP" altLang="en-US" dirty="0"/>
              <a:t>はず</a:t>
            </a:r>
            <a:endParaRPr lang="en-US" altLang="ja-JP" dirty="0"/>
          </a:p>
          <a:p>
            <a:r>
              <a:rPr lang="ja-JP" altLang="en-US" dirty="0"/>
              <a:t>「残念な席」の快適度を測る実験をしよう</a:t>
            </a:r>
            <a:endParaRPr lang="en-US" altLang="ja-JP" dirty="0"/>
          </a:p>
        </p:txBody>
      </p:sp>
      <p:sp>
        <p:nvSpPr>
          <p:cNvPr id="4" name="Slide Number Placeholder 3">
            <a:extLst>
              <a:ext uri="{FF2B5EF4-FFF2-40B4-BE49-F238E27FC236}">
                <a16:creationId xmlns:a16="http://schemas.microsoft.com/office/drawing/2014/main" id="{19C2351C-7A74-C8F4-3906-F4A4CED584E4}"/>
              </a:ext>
            </a:extLst>
          </p:cNvPr>
          <p:cNvSpPr>
            <a:spLocks noGrp="1"/>
          </p:cNvSpPr>
          <p:nvPr>
            <p:ph type="sldNum" sz="quarter" idx="4"/>
          </p:nvPr>
        </p:nvSpPr>
        <p:spPr/>
        <p:txBody>
          <a:bodyPr/>
          <a:lstStyle/>
          <a:p>
            <a:fld id="{B5CEABB6-07DC-46E8-9B57-56EC44A396E5}" type="slidenum">
              <a:rPr lang="en-US" smtClean="0"/>
              <a:pPr/>
              <a:t>31</a:t>
            </a:fld>
            <a:endParaRPr lang="en-US" dirty="0"/>
          </a:p>
        </p:txBody>
      </p:sp>
      <p:sp>
        <p:nvSpPr>
          <p:cNvPr id="5" name="Table Placeholder 4">
            <a:extLst>
              <a:ext uri="{FF2B5EF4-FFF2-40B4-BE49-F238E27FC236}">
                <a16:creationId xmlns:a16="http://schemas.microsoft.com/office/drawing/2014/main" id="{78B72F8E-FF0A-C8B8-F9DA-E4645443154D}"/>
              </a:ext>
            </a:extLst>
          </p:cNvPr>
          <p:cNvSpPr>
            <a:spLocks noGrp="1"/>
          </p:cNvSpPr>
          <p:nvPr>
            <p:ph type="tbl" sz="quarter" idx="11"/>
          </p:nvPr>
        </p:nvSpPr>
        <p:spPr/>
        <p:txBody>
          <a:bodyPr/>
          <a:lstStyle/>
          <a:p>
            <a:endParaRPr lang="en-US"/>
          </a:p>
        </p:txBody>
      </p:sp>
      <p:grpSp>
        <p:nvGrpSpPr>
          <p:cNvPr id="6" name="Group 5">
            <a:extLst>
              <a:ext uri="{FF2B5EF4-FFF2-40B4-BE49-F238E27FC236}">
                <a16:creationId xmlns:a16="http://schemas.microsoft.com/office/drawing/2014/main" id="{44A45E77-3598-816B-74FE-7B5AF8AA56DE}"/>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BB48ABCC-9D95-16C5-3F79-527E700E5C77}"/>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D523F455-2113-5697-8532-311BDB23A850}"/>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A2370BF1-8D4C-8657-2AED-99A1B50B3C98}"/>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1645742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2997-005B-DEC9-CACC-1E4198A1EEB4}"/>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FE44122A-CFB4-FF5D-E0C2-4756743879E5}"/>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B778A512-5D61-66B6-D25E-DBFB32F25150}"/>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4C8E5BE7-896C-1D59-7B52-F8AF07D88C32}"/>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771F8BF3-5211-FFA0-37BC-F389923F1A85}"/>
              </a:ext>
            </a:extLst>
          </p:cNvPr>
          <p:cNvSpPr>
            <a:spLocks noGrp="1"/>
          </p:cNvSpPr>
          <p:nvPr>
            <p:ph type="sldNum" sz="quarter" idx="4"/>
          </p:nvPr>
        </p:nvSpPr>
        <p:spPr/>
        <p:txBody>
          <a:bodyPr/>
          <a:lstStyle/>
          <a:p>
            <a:fld id="{B5CEABB6-07DC-46E8-9B57-56EC44A396E5}" type="slidenum">
              <a:rPr lang="en-US" smtClean="0"/>
              <a:pPr/>
              <a:t>32</a:t>
            </a:fld>
            <a:endParaRPr lang="en-US" dirty="0"/>
          </a:p>
        </p:txBody>
      </p:sp>
      <p:sp>
        <p:nvSpPr>
          <p:cNvPr id="5" name="Table Placeholder 4">
            <a:extLst>
              <a:ext uri="{FF2B5EF4-FFF2-40B4-BE49-F238E27FC236}">
                <a16:creationId xmlns:a16="http://schemas.microsoft.com/office/drawing/2014/main" id="{9F0AF799-0D83-BA85-837E-A52FCE7E7E49}"/>
              </a:ext>
            </a:extLst>
          </p:cNvPr>
          <p:cNvSpPr>
            <a:spLocks noGrp="1"/>
          </p:cNvSpPr>
          <p:nvPr>
            <p:ph type="tbl" sz="quarter" idx="11"/>
          </p:nvPr>
        </p:nvSpPr>
        <p:spPr/>
        <p:txBody>
          <a:bodyPr/>
          <a:lstStyle/>
          <a:p>
            <a:r>
              <a:rPr lang="ja-JP" altLang="en-US" dirty="0"/>
              <a:t>「ある確率</a:t>
            </a:r>
            <a:r>
              <a:rPr lang="en-US" altLang="ja-JP" dirty="0"/>
              <a:t>P</a:t>
            </a:r>
            <a:r>
              <a:rPr lang="ja-JP" altLang="en-US" dirty="0"/>
              <a:t>でファーストクラスに乗れる・飛行機に乗れない」抽選を選ぶことが可能とする。</a:t>
            </a:r>
            <a:r>
              <a:rPr lang="en-US" altLang="ja-JP" dirty="0"/>
              <a:t>P</a:t>
            </a:r>
            <a:r>
              <a:rPr lang="ja-JP" altLang="en-US" dirty="0"/>
              <a:t>を少しずつ変えるので「どちらでもよい」と思ったときに挙手</a:t>
            </a:r>
            <a:endParaRPr lang="en-US" dirty="0"/>
          </a:p>
        </p:txBody>
      </p:sp>
      <p:grpSp>
        <p:nvGrpSpPr>
          <p:cNvPr id="8" name="Group 7">
            <a:extLst>
              <a:ext uri="{FF2B5EF4-FFF2-40B4-BE49-F238E27FC236}">
                <a16:creationId xmlns:a16="http://schemas.microsoft.com/office/drawing/2014/main" id="{CF5D988A-0CEC-6DE1-BD8F-730E8887645B}"/>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C4EDF52F-8FAA-20BD-8915-9E84CF48039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E5FC79DD-0F53-A314-8555-4A3AC52071CD}"/>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08198C79-1EC8-43EC-44D6-677EE6E1863E}"/>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D88CDE30-600A-245A-A54B-7757BFEA84F8}"/>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A04AF801-800D-FB7D-0636-EC8BC81B07F3}"/>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7" name="Picture 16" descr="A black background with a black square&#10;&#10;AI-generated content may be incorrect.">
            <a:extLst>
              <a:ext uri="{FF2B5EF4-FFF2-40B4-BE49-F238E27FC236}">
                <a16:creationId xmlns:a16="http://schemas.microsoft.com/office/drawing/2014/main" id="{09F134DD-434B-8D77-2580-93BA1909CAEA}"/>
              </a:ext>
            </a:extLst>
          </p:cNvPr>
          <p:cNvPicPr>
            <a:picLocks noChangeAspect="1"/>
          </p:cNvPicPr>
          <p:nvPr/>
        </p:nvPicPr>
        <p:blipFill>
          <a:blip r:embed="rId5"/>
          <a:stretch>
            <a:fillRect/>
          </a:stretch>
        </p:blipFill>
        <p:spPr>
          <a:xfrm>
            <a:off x="13229367" y="4202707"/>
            <a:ext cx="1432748" cy="1432748"/>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B52E75B7-214C-6FDC-5CF2-C98713BD20E0}"/>
              </a:ext>
            </a:extLst>
          </p:cNvPr>
          <p:cNvPicPr>
            <a:picLocks noChangeAspect="1"/>
          </p:cNvPicPr>
          <p:nvPr/>
        </p:nvPicPr>
        <p:blipFill>
          <a:blip r:embed="rId6"/>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78CD914D-21F5-A75A-CA60-EF425A280AB4}"/>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A099DC4E-B42D-22DA-4FB5-7D795FA92ACE}"/>
                </a:ext>
              </a:extLst>
            </p:cNvPr>
            <p:cNvPicPr>
              <a:picLocks noChangeAspect="1"/>
            </p:cNvPicPr>
            <p:nvPr/>
          </p:nvPicPr>
          <p:blipFill>
            <a:blip r:embed="rId7"/>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E1A3087C-9B5D-F30F-D8DA-FCF0DDFCFA81}"/>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pic>
        <p:nvPicPr>
          <p:cNvPr id="25" name="Picture 24" descr="A black background with a black square&#10;&#10;AI-generated content may be incorrect.">
            <a:extLst>
              <a:ext uri="{FF2B5EF4-FFF2-40B4-BE49-F238E27FC236}">
                <a16:creationId xmlns:a16="http://schemas.microsoft.com/office/drawing/2014/main" id="{92C74FBD-7301-BFE0-EB43-9641A577100D}"/>
              </a:ext>
            </a:extLst>
          </p:cNvPr>
          <p:cNvPicPr>
            <a:picLocks noChangeAspect="1"/>
          </p:cNvPicPr>
          <p:nvPr/>
        </p:nvPicPr>
        <p:blipFill>
          <a:blip r:embed="rId8"/>
          <a:stretch>
            <a:fillRect/>
          </a:stretch>
        </p:blipFill>
        <p:spPr>
          <a:xfrm>
            <a:off x="12712235" y="2103400"/>
            <a:ext cx="1880480" cy="1880480"/>
          </a:xfrm>
          <a:prstGeom prst="rect">
            <a:avLst/>
          </a:prstGeom>
        </p:spPr>
      </p:pic>
      <p:grpSp>
        <p:nvGrpSpPr>
          <p:cNvPr id="30" name="Group 29">
            <a:extLst>
              <a:ext uri="{FF2B5EF4-FFF2-40B4-BE49-F238E27FC236}">
                <a16:creationId xmlns:a16="http://schemas.microsoft.com/office/drawing/2014/main" id="{2DBD009A-9F85-4D67-1E8E-6D42ECC87C62}"/>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5F1DF595-42EE-A12D-AFDD-3073D655467F}"/>
                </a:ext>
              </a:extLst>
            </p:cNvPr>
            <p:cNvPicPr>
              <a:picLocks noChangeAspect="1"/>
            </p:cNvPicPr>
            <p:nvPr/>
          </p:nvPicPr>
          <p:blipFill>
            <a:blip r:embed="rId9"/>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58E8C666-0648-CF41-CDFC-DA7E29FA0DDC}"/>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B55F039A-2F14-0C45-87C4-7E09880D4F45}"/>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4407C5F9-0B92-C17F-D8B0-F58518BBC869}"/>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5C20FD4-8A45-113C-ED7B-3EDA94DD0345}"/>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FF2AECDD-408A-97A0-8964-53E9CD9834D7}"/>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E1575EFB-84C7-29B1-6565-7867F6809AC2}"/>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9AF854D5-878B-6747-7924-F8FEC6DE24C7}"/>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1BB3A832-0AFE-E1A0-58C4-D60C07DF6B3F}"/>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792B4AA7-5B6F-2C88-B8DC-C209194A4E60}"/>
              </a:ext>
            </a:extLst>
          </p:cNvPr>
          <p:cNvSpPr txBox="1"/>
          <p:nvPr/>
        </p:nvSpPr>
        <p:spPr>
          <a:xfrm>
            <a:off x="9608079" y="4853154"/>
            <a:ext cx="2103120"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P</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165FB9AE-0ECE-CB22-229B-18CE000B149F}"/>
              </a:ext>
            </a:extLst>
          </p:cNvPr>
          <p:cNvSpPr txBox="1"/>
          <p:nvPr/>
        </p:nvSpPr>
        <p:spPr>
          <a:xfrm>
            <a:off x="7233785" y="4853154"/>
            <a:ext cx="1721445"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100-P</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48224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23987-CCE0-5B70-5939-3C4B913F674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1C291821-7BDE-FACF-4B41-0865ACACC90C}"/>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BC0EAD72-2157-82EC-6F24-065C316DCBA8}"/>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6050644C-2271-5159-E40D-3BA7454C555B}"/>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45DB967C-0E3E-9B52-D0E6-EC2090C30B3E}"/>
              </a:ext>
            </a:extLst>
          </p:cNvPr>
          <p:cNvSpPr>
            <a:spLocks noGrp="1"/>
          </p:cNvSpPr>
          <p:nvPr>
            <p:ph type="sldNum" sz="quarter" idx="4"/>
          </p:nvPr>
        </p:nvSpPr>
        <p:spPr/>
        <p:txBody>
          <a:bodyPr/>
          <a:lstStyle/>
          <a:p>
            <a:fld id="{B5CEABB6-07DC-46E8-9B57-56EC44A396E5}" type="slidenum">
              <a:rPr lang="en-US" smtClean="0"/>
              <a:pPr/>
              <a:t>33</a:t>
            </a:fld>
            <a:endParaRPr lang="en-US" dirty="0"/>
          </a:p>
        </p:txBody>
      </p:sp>
      <p:sp>
        <p:nvSpPr>
          <p:cNvPr id="5" name="Table Placeholder 4">
            <a:extLst>
              <a:ext uri="{FF2B5EF4-FFF2-40B4-BE49-F238E27FC236}">
                <a16:creationId xmlns:a16="http://schemas.microsoft.com/office/drawing/2014/main" id="{E5EDC97B-5DC7-0095-81A9-B9CFC34E4385}"/>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9A52FFF0-961B-C696-42FA-24A69FAE87DF}"/>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E97AB70C-ADC8-981B-03C3-AA217A01C28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9816EE21-B959-2C7E-0C63-37C8E38CC0D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BCAB8B59-2755-5B75-0FE6-7322CA9075E2}"/>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09EEC423-AFB4-EEE4-A14E-240A14229A6B}"/>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0171A847-AA65-54A5-1499-E13DA07E0D1A}"/>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C0B2AE97-92F0-31C2-54C3-C680DD434065}"/>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22705139-0727-CD12-4D5F-8F45B3F3AC80}"/>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74E73C07-07FB-677E-8309-0C9B4036F2ED}"/>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44B4A25D-E822-3F4B-9911-3130DFFD265B}"/>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AEA23C90-BE1A-C192-E077-410800632604}"/>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A5748859-3663-D33A-8B82-769F25E19F66}"/>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F79D0C7E-29D8-914B-4D1B-F21D8A6FEED7}"/>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5E5925E-46C6-6EA4-ABED-D6D476FAA019}"/>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5EF36B41-C064-EC22-479F-00D8D64A791F}"/>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CBAE8B6D-F65A-D558-9657-D8E507192D67}"/>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227DCD9F-14F3-8FE7-E300-4162AA3644B9}"/>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70AA9120-8595-AB6A-667D-4C4473733E5D}"/>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C4F9FD90-CBFB-85DD-8C5C-51F011948CA0}"/>
              </a:ext>
            </a:extLst>
          </p:cNvPr>
          <p:cNvSpPr txBox="1"/>
          <p:nvPr/>
        </p:nvSpPr>
        <p:spPr>
          <a:xfrm>
            <a:off x="1029828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100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EAECE324-2CCC-3847-D34B-7E566F0E1A7E}"/>
              </a:ext>
            </a:extLst>
          </p:cNvPr>
          <p:cNvSpPr txBox="1"/>
          <p:nvPr/>
        </p:nvSpPr>
        <p:spPr>
          <a:xfrm>
            <a:off x="8095372" y="4853154"/>
            <a:ext cx="85985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0C917FA8-094A-21E4-A8B1-B3E46B484A8B}"/>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E9EF773E-061F-20E9-59C8-92B2EE23EA12}"/>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2890316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EC069-EDDE-33E9-869E-1E1AE1D8CA4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9580138-8ABC-F795-5F4B-6B1E1795FF47}"/>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5D45AC40-796F-381B-C167-B0E9E24F6DFC}"/>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F5AA2019-93E4-CF50-B685-B33565C14F16}"/>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63EDEB56-24C0-7C55-D18F-C7F7B4843E37}"/>
              </a:ext>
            </a:extLst>
          </p:cNvPr>
          <p:cNvSpPr>
            <a:spLocks noGrp="1"/>
          </p:cNvSpPr>
          <p:nvPr>
            <p:ph type="sldNum" sz="quarter" idx="4"/>
          </p:nvPr>
        </p:nvSpPr>
        <p:spPr/>
        <p:txBody>
          <a:bodyPr/>
          <a:lstStyle/>
          <a:p>
            <a:fld id="{B5CEABB6-07DC-46E8-9B57-56EC44A396E5}" type="slidenum">
              <a:rPr lang="en-US" smtClean="0"/>
              <a:pPr/>
              <a:t>34</a:t>
            </a:fld>
            <a:endParaRPr lang="en-US" dirty="0"/>
          </a:p>
        </p:txBody>
      </p:sp>
      <p:sp>
        <p:nvSpPr>
          <p:cNvPr id="5" name="Table Placeholder 4">
            <a:extLst>
              <a:ext uri="{FF2B5EF4-FFF2-40B4-BE49-F238E27FC236}">
                <a16:creationId xmlns:a16="http://schemas.microsoft.com/office/drawing/2014/main" id="{B01143EE-8125-00E7-2773-86CA7976E59B}"/>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33A5B110-5E9C-CB5B-F469-71E9A5C9E888}"/>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D3E75E6A-93A3-4A6C-14E7-8D3EA97A9B36}"/>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4841B6E5-D540-43F8-079E-F650E756F355}"/>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7578FF3E-5960-D27A-56F8-E759872FD3AD}"/>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C6A6EE50-85F8-28E1-AA1A-54D6AF82D48F}"/>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353C2D2C-C044-77E9-24E5-94986226BB24}"/>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1F427752-11D2-F01F-19F3-863633ACD959}"/>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6FC7EAD4-7A90-31E5-E7AD-2196E02C7888}"/>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9C2F52B2-3567-909C-D9A3-B6C1756A4DFA}"/>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CCF6EB08-0049-4C38-8D1D-E53F6CC8E4BF}"/>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A24C6871-966A-6F01-A892-A5DBCA9D01A7}"/>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CB0D1E44-A3A7-F550-D571-E5B96BED4D52}"/>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51DB673C-7B8C-5891-8DBF-3E8319827054}"/>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6AEC3BC-E380-27B0-918B-9DDC0D62ECB0}"/>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5E4E134F-62C6-09D3-98F4-6771F3775B4D}"/>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4D7CB764-98A4-89E2-96F3-13B63E759C91}"/>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E7A1CF0F-E564-402D-6113-82C09BF0BA2D}"/>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A5EB3B9E-A036-3D45-A1ED-9E7008148812}"/>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CCA1A3D5-1F9E-C3EE-4134-3149DFA1449B}"/>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90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B5895FD4-E2DF-5CCE-8681-140BECA833B4}"/>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10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978F1D58-1252-90F8-A296-CBCE530BF258}"/>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D0F2F166-28B4-1DC8-3FA4-8EB306A6F385}"/>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3573273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34D51-EEB7-0C21-1634-22C9C4D35B00}"/>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12F60D09-2F22-09F4-0C3E-8E71504B56E7}"/>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06F17C21-90F2-3067-ABF6-D152B994BD07}"/>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52173D67-337F-4FE2-AAA1-BF83A13983D9}"/>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7D9B9DAE-6C49-C5B6-74D6-A2C5A9C6FBB3}"/>
              </a:ext>
            </a:extLst>
          </p:cNvPr>
          <p:cNvSpPr>
            <a:spLocks noGrp="1"/>
          </p:cNvSpPr>
          <p:nvPr>
            <p:ph type="sldNum" sz="quarter" idx="4"/>
          </p:nvPr>
        </p:nvSpPr>
        <p:spPr/>
        <p:txBody>
          <a:bodyPr/>
          <a:lstStyle/>
          <a:p>
            <a:fld id="{B5CEABB6-07DC-46E8-9B57-56EC44A396E5}" type="slidenum">
              <a:rPr lang="en-US" smtClean="0"/>
              <a:pPr/>
              <a:t>35</a:t>
            </a:fld>
            <a:endParaRPr lang="en-US" dirty="0"/>
          </a:p>
        </p:txBody>
      </p:sp>
      <p:sp>
        <p:nvSpPr>
          <p:cNvPr id="5" name="Table Placeholder 4">
            <a:extLst>
              <a:ext uri="{FF2B5EF4-FFF2-40B4-BE49-F238E27FC236}">
                <a16:creationId xmlns:a16="http://schemas.microsoft.com/office/drawing/2014/main" id="{5156EA65-D640-4492-F474-A54FE7B7FA0B}"/>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C53E1D54-9A06-A6D0-A160-C7EF2AB64E37}"/>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3FACD2DA-4B4C-F7C3-8E7C-84B84DA783A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44BC29CD-3FFA-522C-AFAB-C0754685239B}"/>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062D24F6-9F47-8A2B-62E6-72B4BBA3DC09}"/>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6E8386D5-79D3-40C7-C53E-4F8494362945}"/>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643EE27A-2A29-5DE3-2032-A3CAB254EB1C}"/>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99984D4E-278E-6F7C-F1DF-6F07230C8583}"/>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A186EA27-D5EE-9FD9-F0B9-1D30B29DEBD7}"/>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375D6991-EF5C-35DB-8197-1F6E7AD78C1A}"/>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38177999-1AFB-D20B-3C79-1E27B8BCA95A}"/>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77A6938-D18B-736E-7238-B0AD7BC4E82E}"/>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6CB197D8-6F87-C662-0C66-9CE40B31DAD4}"/>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6F2146BC-32D4-241A-53DA-E660CCA73622}"/>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9CE7CCD-4A57-D002-E27F-A039C47DA718}"/>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207776D7-BC4B-2BD5-A057-E8EB829647AD}"/>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2900A6C5-A128-6C0A-FE39-7C01CD7D4D8D}"/>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2F2E6785-C379-492A-B84A-4A39AF20C0AF}"/>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72EB0844-71EB-4CAE-5418-A42A78CDC25A}"/>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C412F892-D630-5E56-A2F7-D216F7AC938D}"/>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80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1750DAE9-BE9C-5DA2-7FC0-894848B43766}"/>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20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3BAF100C-7B9A-AD39-6DBE-94EFE36FABF1}"/>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4F654594-5407-5764-92BD-E8EFE0D75F50}"/>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13995409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C3034-5414-B21D-FE34-8D31E896C991}"/>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D7E36A9-FFA5-763A-7982-86916544AB4B}"/>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A05AB0F6-8E22-33BB-1C80-AB5AE578C475}"/>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29ABFC6A-771C-3E3D-1139-850E1BBC49E9}"/>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0472EE14-B9C9-FE7D-C61C-3B1D72A16C83}"/>
              </a:ext>
            </a:extLst>
          </p:cNvPr>
          <p:cNvSpPr>
            <a:spLocks noGrp="1"/>
          </p:cNvSpPr>
          <p:nvPr>
            <p:ph type="sldNum" sz="quarter" idx="4"/>
          </p:nvPr>
        </p:nvSpPr>
        <p:spPr/>
        <p:txBody>
          <a:bodyPr/>
          <a:lstStyle/>
          <a:p>
            <a:fld id="{B5CEABB6-07DC-46E8-9B57-56EC44A396E5}" type="slidenum">
              <a:rPr lang="en-US" smtClean="0"/>
              <a:pPr/>
              <a:t>36</a:t>
            </a:fld>
            <a:endParaRPr lang="en-US" dirty="0"/>
          </a:p>
        </p:txBody>
      </p:sp>
      <p:sp>
        <p:nvSpPr>
          <p:cNvPr id="5" name="Table Placeholder 4">
            <a:extLst>
              <a:ext uri="{FF2B5EF4-FFF2-40B4-BE49-F238E27FC236}">
                <a16:creationId xmlns:a16="http://schemas.microsoft.com/office/drawing/2014/main" id="{538003A4-9DE2-2D66-FD2E-D05B60753896}"/>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75FD9A61-AE2C-A4B7-F5D7-5CEDEF404C50}"/>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3B058843-4D45-319E-F07B-629D8CAEDD8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C1030377-BAD4-E8DF-DF49-BB31999D1492}"/>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29BEF3CF-B788-6DEE-2AC5-906C664900A9}"/>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85914F8F-0AB9-14BA-3818-A628382A222A}"/>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168BCFBD-98FE-C574-6EE4-7D9064F631F8}"/>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25FC4BAB-CB11-A14E-27F4-67CDCB647B2D}"/>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51261315-4F3A-01DF-AAA6-6EB98368D047}"/>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DDCAD5EA-55A1-E6CB-1651-19ECE6188887}"/>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8E2784D2-61D3-351E-7120-3764780102E0}"/>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0EA11433-8C18-E0CF-5AE6-403EB9DA94F5}"/>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47A1DF9B-6E35-57D7-79B1-58BBF042A372}"/>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B5A4E0E1-7281-D31F-202A-250F110159B6}"/>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7C12C8D-AF86-3946-1B04-45AB98D005A2}"/>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BF383E3F-5023-BD2E-EF09-40697B0FC46F}"/>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D304CAC5-6CB4-E5F9-1E6B-76DAC9123870}"/>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8C72A9CB-778D-B568-2B67-96B5DFE8D8E4}"/>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E3B2508D-9442-DFB5-13BB-BE74933BEE97}"/>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97462A6D-E3DC-8D75-4046-AA2983EA69C5}"/>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70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D16C6498-D5DC-01F8-7DB6-124B354FDBD7}"/>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30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58403242-8D43-E49B-A136-531300B79F25}"/>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EF4EB00F-C562-D602-4649-417B09A65942}"/>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411059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6741-FB69-4838-66FC-D4140ADC290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82E03F44-4C7D-01B5-FEBD-B15381E61104}"/>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CBF9C32F-31C5-32B8-90D8-BF1DECDC0DDB}"/>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D82E1FAF-BE29-10DF-9D27-EE3035FFB726}"/>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1C07C072-ECCB-8CEB-D580-853356C08D78}"/>
              </a:ext>
            </a:extLst>
          </p:cNvPr>
          <p:cNvSpPr>
            <a:spLocks noGrp="1"/>
          </p:cNvSpPr>
          <p:nvPr>
            <p:ph type="sldNum" sz="quarter" idx="4"/>
          </p:nvPr>
        </p:nvSpPr>
        <p:spPr/>
        <p:txBody>
          <a:bodyPr/>
          <a:lstStyle/>
          <a:p>
            <a:fld id="{B5CEABB6-07DC-46E8-9B57-56EC44A396E5}" type="slidenum">
              <a:rPr lang="en-US" smtClean="0"/>
              <a:pPr/>
              <a:t>37</a:t>
            </a:fld>
            <a:endParaRPr lang="en-US" dirty="0"/>
          </a:p>
        </p:txBody>
      </p:sp>
      <p:sp>
        <p:nvSpPr>
          <p:cNvPr id="5" name="Table Placeholder 4">
            <a:extLst>
              <a:ext uri="{FF2B5EF4-FFF2-40B4-BE49-F238E27FC236}">
                <a16:creationId xmlns:a16="http://schemas.microsoft.com/office/drawing/2014/main" id="{EE5B783E-8DAD-B785-1A34-F94035D0296C}"/>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E5CCC553-9264-7A6F-281C-A8F9974E373C}"/>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AD6D9059-3341-2002-7637-B19626B68C3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DDD410C6-9A10-B60C-69AF-8B5E334A11FC}"/>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CFABBE8C-3050-2B4D-4B4B-FF242D51332E}"/>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C9A45E09-F3FA-F303-E096-732F10B47805}"/>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54163A15-F85D-BAD0-DA37-3451E3BBB6C3}"/>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3CDF320B-ABCA-5B86-9DF1-804FD2D93524}"/>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D7BC229D-F908-2F1E-5F24-169D22EF5262}"/>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4613CE38-13FE-037D-9C81-8CBB42F062F3}"/>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5CEAD898-9025-1F25-1E83-E60DFD059968}"/>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CB047842-4BC0-5257-BA44-431D26532665}"/>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DFC9C7A2-BF42-6188-8EE1-AC7320574E9C}"/>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F12E0D54-73BD-FC18-9D46-4963E3A0C481}"/>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F012CEA-B413-F8B0-BB0F-AF3EC8A3926B}"/>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1DDF9E04-465F-E436-F07E-92F57C6B30E3}"/>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71AEA9ED-9DE8-B013-83F8-6927092B75D5}"/>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5D024765-4F8C-E9D5-3086-1304413AC90E}"/>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C3CB1866-8B8C-9069-15BD-A4DE4761D3ED}"/>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26CA0120-0DA5-7D75-E526-BF7CCCCEE659}"/>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60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06209CEF-63DE-97FB-1751-84E5AE3B01A1}"/>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40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C70598F4-3BF8-BEB3-9EBF-4690411A1FE9}"/>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4E5A3987-27BF-2077-9856-375C798F8237}"/>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3853467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5EEB6-4161-8689-4C3D-F74FC2FD049A}"/>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B11E0F8D-B64D-F543-2E9D-B70E8709A98B}"/>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90003ECC-2977-B5C4-2DF3-2E421F900984}"/>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851FDB0A-AB10-C02F-8AEA-1E94D0159011}"/>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05EA898E-44AF-B82B-7F46-0A9A43D01758}"/>
              </a:ext>
            </a:extLst>
          </p:cNvPr>
          <p:cNvSpPr>
            <a:spLocks noGrp="1"/>
          </p:cNvSpPr>
          <p:nvPr>
            <p:ph type="sldNum" sz="quarter" idx="4"/>
          </p:nvPr>
        </p:nvSpPr>
        <p:spPr/>
        <p:txBody>
          <a:bodyPr/>
          <a:lstStyle/>
          <a:p>
            <a:fld id="{B5CEABB6-07DC-46E8-9B57-56EC44A396E5}" type="slidenum">
              <a:rPr lang="en-US" smtClean="0"/>
              <a:pPr/>
              <a:t>38</a:t>
            </a:fld>
            <a:endParaRPr lang="en-US" dirty="0"/>
          </a:p>
        </p:txBody>
      </p:sp>
      <p:sp>
        <p:nvSpPr>
          <p:cNvPr id="5" name="Table Placeholder 4">
            <a:extLst>
              <a:ext uri="{FF2B5EF4-FFF2-40B4-BE49-F238E27FC236}">
                <a16:creationId xmlns:a16="http://schemas.microsoft.com/office/drawing/2014/main" id="{1F3E0F53-AE6F-ACB9-5A4A-63B6EEBE7FC8}"/>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FD134379-265B-60C6-418B-E305057E934B}"/>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348C8BDE-C4D3-4353-3B5C-58E529B363B6}"/>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4AC1F13F-3AC8-45F0-5B50-5A87682CF9CD}"/>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06DC70C4-8A0C-11C3-A89D-4A862AE85338}"/>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8D8F4D8D-5ECB-61CE-B696-0F10A6F67E01}"/>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2EED2647-05E0-FE20-4F54-48343B1F71BA}"/>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EF48B0D3-9D25-B938-4C24-184E5FF524FE}"/>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E03A0E76-7D57-4AD5-938F-31A335476D04}"/>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66494F13-1C76-2312-2D81-0FE403F0257B}"/>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437ECC52-F7D7-6B7F-7F00-4FDA6D9FD39A}"/>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F57E410D-1389-15C0-98E6-AE29595B0DF4}"/>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0B80E7F9-9F32-8B78-8C43-1C869930C94E}"/>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BF90A34F-8538-CA69-DEF1-3DBE17373B0F}"/>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B7197F9-E0A9-2576-AAAC-0F85CF862505}"/>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8D65D4CC-B2E2-B9F9-1729-CF52654A0777}"/>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46C42735-DFFF-E2C5-80E0-0C3483D4C61B}"/>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F3958FD4-F947-9C59-0EF1-7D63C59D5C8E}"/>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97D28FD5-0D3D-1F77-E47D-43F75EA4545C}"/>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8CF7567B-E345-17BA-901B-7A9BD23E9B03}"/>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50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D2B84021-0C6F-C89A-5191-40EAC6C03E6E}"/>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50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4940A24B-3EC0-0A15-4C47-A1693FB7CCE6}"/>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718C6396-D313-7886-3898-1EBD3CA2EF98}"/>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38561692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787B-85AC-DAAD-4FC9-16E77246BF2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29B1BCB3-18A4-F461-7A0E-E874966E3320}"/>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B4199D9F-EB76-AB3F-3F38-4D912498EEC7}"/>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6B88DFBC-9561-62C7-8423-898684021429}"/>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24C36DE5-A622-0C04-107C-A47279CC66AF}"/>
              </a:ext>
            </a:extLst>
          </p:cNvPr>
          <p:cNvSpPr>
            <a:spLocks noGrp="1"/>
          </p:cNvSpPr>
          <p:nvPr>
            <p:ph type="sldNum" sz="quarter" idx="4"/>
          </p:nvPr>
        </p:nvSpPr>
        <p:spPr/>
        <p:txBody>
          <a:bodyPr/>
          <a:lstStyle/>
          <a:p>
            <a:fld id="{B5CEABB6-07DC-46E8-9B57-56EC44A396E5}" type="slidenum">
              <a:rPr lang="en-US" smtClean="0"/>
              <a:pPr/>
              <a:t>39</a:t>
            </a:fld>
            <a:endParaRPr lang="en-US" dirty="0"/>
          </a:p>
        </p:txBody>
      </p:sp>
      <p:sp>
        <p:nvSpPr>
          <p:cNvPr id="5" name="Table Placeholder 4">
            <a:extLst>
              <a:ext uri="{FF2B5EF4-FFF2-40B4-BE49-F238E27FC236}">
                <a16:creationId xmlns:a16="http://schemas.microsoft.com/office/drawing/2014/main" id="{D4F28D85-DB92-B765-B263-BC7CCBB98FEE}"/>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0ED6013D-4536-D54D-CD57-E27AC13F39B1}"/>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E3EFAEF5-BB77-1D59-FFDF-2A9A1CE2D859}"/>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B2A789CA-83C5-297E-AE1E-7852A91AA4C5}"/>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7B5A7EC4-F278-5592-B427-59225EF3B76F}"/>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06CA9D70-3E8B-52A0-B3C3-A4495AA30B7A}"/>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A54DDF21-124E-C80E-BB75-02979B7A03DE}"/>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ED11170D-5FA9-4F41-B8A2-E6C92A98338E}"/>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F67797F6-1047-9178-D746-2B33A1E3F796}"/>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85856CBD-7C3A-5993-F4C7-4CFBF87BBB7E}"/>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46061D31-68F4-5283-C097-BEDDC25EA415}"/>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94004198-52E8-38D4-8C8E-FE7074489728}"/>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A922ED65-521B-EA26-2D91-123F534B527C}"/>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B0D59BA9-95E5-1061-2BC4-D06B9A3EDE43}"/>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1716343-4211-AA47-17F0-F360B098B282}"/>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82E59BD7-0E2F-AD51-9A7E-D7ED001B31D9}"/>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AC4B5B14-BBAD-341A-1ED7-DEC87D1415A6}"/>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0C5F2066-2B69-6006-9A14-CEF5C0571568}"/>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4A244A33-B261-4CF8-5243-992E1EC01653}"/>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2F6CED6C-7AD6-C00E-5D95-6112B49486A2}"/>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40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B65ADD2A-1706-BC3A-A439-032B733864E4}"/>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60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300B44F3-C2C5-320D-0608-E5E8DEE45F0B}"/>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493183BB-DA3C-97AE-7FC0-C43824432BF2}"/>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83956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B2A4-5527-96D9-6E35-4396E993A164}"/>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A856B05-914A-1126-A310-6A8EA9AD7097}"/>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6B3FB67C-7A4F-C99F-0FA5-590703F7042D}"/>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B1CAA679-1B1D-3A83-4C76-CB3968CA40C1}"/>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DB8D722D-90E3-7C38-E34C-9816376C986C}"/>
              </a:ext>
            </a:extLst>
          </p:cNvPr>
          <p:cNvSpPr>
            <a:spLocks noGrp="1"/>
          </p:cNvSpPr>
          <p:nvPr>
            <p:ph type="sldNum" sz="quarter" idx="4"/>
          </p:nvPr>
        </p:nvSpPr>
        <p:spPr/>
        <p:txBody>
          <a:bodyPr/>
          <a:lstStyle/>
          <a:p>
            <a:fld id="{B5CEABB6-07DC-46E8-9B57-56EC44A396E5}" type="slidenum">
              <a:rPr lang="en-US" smtClean="0"/>
              <a:pPr/>
              <a:t>40</a:t>
            </a:fld>
            <a:endParaRPr lang="en-US" dirty="0"/>
          </a:p>
        </p:txBody>
      </p:sp>
      <p:sp>
        <p:nvSpPr>
          <p:cNvPr id="5" name="Table Placeholder 4">
            <a:extLst>
              <a:ext uri="{FF2B5EF4-FFF2-40B4-BE49-F238E27FC236}">
                <a16:creationId xmlns:a16="http://schemas.microsoft.com/office/drawing/2014/main" id="{DAACEBEE-D400-5C3E-9A6B-C8182C836E86}"/>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5166F943-022E-E65A-5986-CDFC1A0A9438}"/>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ADF08E51-EB87-4F4D-2247-53A4294B906C}"/>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27F8793B-65AC-B244-F5C3-52EDDBB4E7B4}"/>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E6426F98-47BB-0D2C-39BF-5A1F37FA244D}"/>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E7075205-ED7D-3BB3-B01B-734D825490F1}"/>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C281032E-D622-3820-07FD-BE00CD236DA9}"/>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09AEEFF6-F616-DA6A-F734-DAFF2CA2511C}"/>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EB8961CF-6134-44E9-3BB0-239F0A620101}"/>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39135B02-83D5-24AF-6BFB-6FF79335B684}"/>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44D7FFCF-70EE-AA26-FE0B-8F992BAB08F7}"/>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9B061BA-E03D-2B3D-ED8F-AA92C02D7A12}"/>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88C51820-DECC-0479-2A4F-0E8A2EB60144}"/>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9C8BA0D6-7EC8-EAA5-9865-343FAD0F926A}"/>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FB2AF6A-15E4-F8FB-1427-1CA97FCC5216}"/>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5EEA69F0-1E40-B5EE-8A46-598950DC7AB8}"/>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8EC35596-23CB-F869-4B2C-A1E3F7264185}"/>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F01D2BEB-48F3-924F-FC25-E7F7900C2E36}"/>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D716554A-6A38-0919-E6DD-91C5F0C294D2}"/>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A081E8E7-69AF-2D85-B4C6-DA9978F17051}"/>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30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54529566-8403-1845-A87E-FE728A912FAE}"/>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70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B5CD2F82-9AB9-56F4-BC87-3D23D7AED8EB}"/>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FE889115-4CC4-1A3A-50BE-E81640E2652A}"/>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3660961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633F-ADA3-9B10-E9A5-FFC8E7C26B64}"/>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A236562C-DA09-A208-3DBB-EEEA2B0300DA}"/>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506900A7-00B9-524C-D37A-ABDC881A7D33}"/>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BCC72675-01D9-5652-473D-A5B095366A1A}"/>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A1423842-8299-47A2-8D99-E855F105FEC3}"/>
              </a:ext>
            </a:extLst>
          </p:cNvPr>
          <p:cNvSpPr>
            <a:spLocks noGrp="1"/>
          </p:cNvSpPr>
          <p:nvPr>
            <p:ph type="sldNum" sz="quarter" idx="4"/>
          </p:nvPr>
        </p:nvSpPr>
        <p:spPr/>
        <p:txBody>
          <a:bodyPr/>
          <a:lstStyle/>
          <a:p>
            <a:fld id="{B5CEABB6-07DC-46E8-9B57-56EC44A396E5}" type="slidenum">
              <a:rPr lang="en-US" smtClean="0"/>
              <a:pPr/>
              <a:t>41</a:t>
            </a:fld>
            <a:endParaRPr lang="en-US" dirty="0"/>
          </a:p>
        </p:txBody>
      </p:sp>
      <p:sp>
        <p:nvSpPr>
          <p:cNvPr id="5" name="Table Placeholder 4">
            <a:extLst>
              <a:ext uri="{FF2B5EF4-FFF2-40B4-BE49-F238E27FC236}">
                <a16:creationId xmlns:a16="http://schemas.microsoft.com/office/drawing/2014/main" id="{AA3B5700-0B31-A5B0-7DE7-5000651D4171}"/>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995C1F05-05F2-0B0C-7687-94BBFDE83D14}"/>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2C5E730E-FFC1-BC57-3C89-2BCD1D8746FA}"/>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A1224D32-744A-378C-0D7E-647F38CB77AE}"/>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C89F42AE-2221-71D1-35F6-17E2B06A0D7D}"/>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44BA8F7A-A4C9-BA4C-24D4-0953C93A5A16}"/>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A6C92CDF-D855-8F40-278A-8AB96F566848}"/>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04EED22A-5C4D-F6AE-A96E-084B5C842975}"/>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90ED57A7-704F-24CE-F532-F3BFE0480EC4}"/>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F23C52A2-B821-0384-4858-46A5303AE06D}"/>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7841305F-B282-C02C-9ED0-C124B9D9F4F8}"/>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386A3313-FCD6-30FE-8411-0CABC15AB331}"/>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6C472877-17F6-09FB-705C-AEE30982EE77}"/>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04B39CF7-E802-D371-88B2-667D75AE14D3}"/>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52D6181-15A3-1FC4-EE49-AC8079838A93}"/>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8517AF3E-3108-7A40-DE5F-19867E7C1D4C}"/>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F417EB8E-9D02-393C-6493-CDB5B65082C7}"/>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585C138C-DCDF-48F2-1887-6A75733AD77C}"/>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09F7697E-9AD3-66D7-5FFA-308F356E4BA7}"/>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3416978F-6197-6C1B-EB23-8B42B64EF120}"/>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20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A3E08076-4EEA-CEC6-4F9B-1E61F0A6A431}"/>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80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A629908A-921E-50D2-98ED-475DAD4E2AEB}"/>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4EB64FDB-965C-1A16-630A-6BC8A4B21E99}"/>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1806567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9D84-7F36-BFBA-353C-85403C36E39C}"/>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22B64E9C-47F8-3736-4D14-3F3AF24F5DEE}"/>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D5831314-14D5-7205-4E71-4ACA7A8DB8EB}"/>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4832DB8E-478F-87FC-8794-294609DD8EA8}"/>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9698BE14-7716-4446-8876-DC0E1B90634E}"/>
              </a:ext>
            </a:extLst>
          </p:cNvPr>
          <p:cNvSpPr>
            <a:spLocks noGrp="1"/>
          </p:cNvSpPr>
          <p:nvPr>
            <p:ph type="sldNum" sz="quarter" idx="4"/>
          </p:nvPr>
        </p:nvSpPr>
        <p:spPr/>
        <p:txBody>
          <a:bodyPr/>
          <a:lstStyle/>
          <a:p>
            <a:fld id="{B5CEABB6-07DC-46E8-9B57-56EC44A396E5}" type="slidenum">
              <a:rPr lang="en-US" smtClean="0"/>
              <a:pPr/>
              <a:t>42</a:t>
            </a:fld>
            <a:endParaRPr lang="en-US" dirty="0"/>
          </a:p>
        </p:txBody>
      </p:sp>
      <p:sp>
        <p:nvSpPr>
          <p:cNvPr id="5" name="Table Placeholder 4">
            <a:extLst>
              <a:ext uri="{FF2B5EF4-FFF2-40B4-BE49-F238E27FC236}">
                <a16:creationId xmlns:a16="http://schemas.microsoft.com/office/drawing/2014/main" id="{1CC97A66-B714-D272-F7DB-3C8A5D1192C2}"/>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B0A6BA64-5B1E-5C20-FCD0-9AB4E99B66D8}"/>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583EB66E-F67A-8B52-9AA7-90A3BBA27395}"/>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61739566-685E-3E8D-83CC-EE2607BF1DD1}"/>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03BA5F6D-4927-15C2-E7E6-5AD7338AC7F2}"/>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53136569-F561-2EBF-B49B-4706E186B0D7}"/>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B7B250D9-22F4-8B48-2430-AD30DF56F4BE}"/>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2F115B0A-AE0F-4B6C-C644-1C49CBC78958}"/>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0EEC8A47-B6CC-FB96-58D0-D74EAB8F0EBF}"/>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0F82633A-C053-0BDA-A49C-98B451E90F58}"/>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7CF0DE9C-A6D8-CB34-D2D1-EE86E7905741}"/>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016618B7-4A55-C7D6-138A-8FEE0A3AE618}"/>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8392797B-A75F-4F7D-8C9E-3C0F13F4FEE6}"/>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D6423B8F-CC2E-6E89-E636-90708656A1CB}"/>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7BC006F-E5C8-E624-D31B-07E03A4FE529}"/>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48399A3B-FC74-83F8-F6A3-40CCDAEE0D9A}"/>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82310496-1981-1422-8202-C28E6D02D949}"/>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8F29A0D4-12A9-8AE6-107F-3EEC0FF10F1B}"/>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D319D3F6-24D0-9D9F-131A-2CBCC6618E1C}"/>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0B04A3BA-AA98-2130-5126-605242C96028}"/>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10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E817421F-CAF2-48E1-EBCA-6E9C763AE92C}"/>
              </a:ext>
            </a:extLst>
          </p:cNvPr>
          <p:cNvSpPr txBox="1"/>
          <p:nvPr/>
        </p:nvSpPr>
        <p:spPr>
          <a:xfrm>
            <a:off x="7843272" y="4853154"/>
            <a:ext cx="1101798"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90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62CB9662-4A2D-6E74-38CB-53CB9EE8A0AF}"/>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31D5B02A-131D-7562-021E-6C314FA1825F}"/>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8250034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10B4-2F91-01F3-9DA0-D802F7B2817E}"/>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FA80FD70-5539-33EA-C340-6F2EE969AD09}"/>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8D3AE6E3-F558-6123-1397-489D9D150E1E}"/>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5F959C56-E489-6520-ED26-B6FB6F303E41}"/>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9F20D02A-1A00-DCD7-946D-0168BA3643E1}"/>
              </a:ext>
            </a:extLst>
          </p:cNvPr>
          <p:cNvSpPr>
            <a:spLocks noGrp="1"/>
          </p:cNvSpPr>
          <p:nvPr>
            <p:ph type="sldNum" sz="quarter" idx="4"/>
          </p:nvPr>
        </p:nvSpPr>
        <p:spPr/>
        <p:txBody>
          <a:bodyPr/>
          <a:lstStyle/>
          <a:p>
            <a:fld id="{B5CEABB6-07DC-46E8-9B57-56EC44A396E5}" type="slidenum">
              <a:rPr lang="en-US" smtClean="0"/>
              <a:pPr/>
              <a:t>43</a:t>
            </a:fld>
            <a:endParaRPr lang="en-US" dirty="0"/>
          </a:p>
        </p:txBody>
      </p:sp>
      <p:sp>
        <p:nvSpPr>
          <p:cNvPr id="5" name="Table Placeholder 4">
            <a:extLst>
              <a:ext uri="{FF2B5EF4-FFF2-40B4-BE49-F238E27FC236}">
                <a16:creationId xmlns:a16="http://schemas.microsoft.com/office/drawing/2014/main" id="{992333F0-7224-09B9-4133-23A98EF34339}"/>
              </a:ext>
            </a:extLst>
          </p:cNvPr>
          <p:cNvSpPr>
            <a:spLocks noGrp="1"/>
          </p:cNvSpPr>
          <p:nvPr>
            <p:ph type="tbl" sz="quarter" idx="11"/>
          </p:nvPr>
        </p:nvSpPr>
        <p:spPr/>
        <p:txBody>
          <a:bodyPr/>
          <a:lstStyle/>
          <a:p>
            <a:r>
              <a:rPr lang="ja-JP" altLang="en-US" dirty="0"/>
              <a:t>「どちらでもよい」と思ったときに挙手</a:t>
            </a:r>
            <a:endParaRPr lang="en-US" dirty="0"/>
          </a:p>
        </p:txBody>
      </p:sp>
      <p:grpSp>
        <p:nvGrpSpPr>
          <p:cNvPr id="8" name="Group 7">
            <a:extLst>
              <a:ext uri="{FF2B5EF4-FFF2-40B4-BE49-F238E27FC236}">
                <a16:creationId xmlns:a16="http://schemas.microsoft.com/office/drawing/2014/main" id="{186B43EC-41FE-D4D8-571A-3A50EA1CAB40}"/>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A05FE188-9A60-E25F-831C-64453DB83CDA}"/>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49E27E06-141F-2635-4C3A-557AE8C4615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F37BEC1B-719E-F3FF-392B-DACE962CB985}"/>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F15A21F0-032A-1BF9-7FA9-6F7D423FE99A}"/>
              </a:ext>
            </a:extLst>
          </p:cNvPr>
          <p:cNvPicPr>
            <a:picLocks noChangeAspect="1"/>
          </p:cNvPicPr>
          <p:nvPr/>
        </p:nvPicPr>
        <p:blipFill>
          <a:blip r:embed="rId2"/>
          <a:stretch>
            <a:fillRect/>
          </a:stretch>
        </p:blipFill>
        <p:spPr>
          <a:xfrm>
            <a:off x="9655395" y="2727826"/>
            <a:ext cx="1709076" cy="1709076"/>
          </a:xfrm>
          <a:prstGeom prst="rect">
            <a:avLst/>
          </a:prstGeom>
        </p:spPr>
      </p:pic>
      <p:grpSp>
        <p:nvGrpSpPr>
          <p:cNvPr id="23" name="Group 22">
            <a:extLst>
              <a:ext uri="{FF2B5EF4-FFF2-40B4-BE49-F238E27FC236}">
                <a16:creationId xmlns:a16="http://schemas.microsoft.com/office/drawing/2014/main" id="{89C965BE-0B79-7BBA-C0BA-D946D598ECAA}"/>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9B278ACB-1B7C-D722-D0FE-F8C40415FE63}"/>
                </a:ext>
              </a:extLst>
            </p:cNvPr>
            <p:cNvPicPr>
              <a:picLocks noChangeAspect="1"/>
            </p:cNvPicPr>
            <p:nvPr/>
          </p:nvPicPr>
          <p:blipFill>
            <a:blip r:embed="rId3"/>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48075CDE-54C5-A6A5-1AD0-8F70AC37525C}"/>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A0C77B73-879D-627A-C79C-A1DE18E825FB}"/>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A0873076-9F92-C544-60AE-6B5985D1788C}"/>
                </a:ext>
              </a:extLst>
            </p:cNvPr>
            <p:cNvPicPr>
              <a:picLocks noChangeAspect="1"/>
            </p:cNvPicPr>
            <p:nvPr/>
          </p:nvPicPr>
          <p:blipFill>
            <a:blip r:embed="rId4"/>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853E89B6-6F59-9112-BA06-405E289DA388}"/>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ADC7FE89-AC9A-C248-356C-55C12122DF85}"/>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43144177-B7AE-7164-9C53-4D4F6DCB5558}"/>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36D3EBC0-48CB-C658-1DCA-E1EF2DEE4DFA}"/>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63DCA631-A589-8912-BEA9-3E104F4F7083}"/>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F31A5382-FD1F-C575-C93E-BD1253A47745}"/>
              </a:ext>
            </a:extLst>
          </p:cNvPr>
          <p:cNvSpPr/>
          <p:nvPr/>
        </p:nvSpPr>
        <p:spPr>
          <a:xfrm>
            <a:off x="466220" y="5516804"/>
            <a:ext cx="11221278" cy="10439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残念な席でも抽選でもどちらでもよい</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8" name="Thought Bubble: Cloud 37">
            <a:extLst>
              <a:ext uri="{FF2B5EF4-FFF2-40B4-BE49-F238E27FC236}">
                <a16:creationId xmlns:a16="http://schemas.microsoft.com/office/drawing/2014/main" id="{3229B61F-9A2E-3A1C-FB6A-24EC24663919}"/>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9C84DAF1-5303-6473-B8B1-447E310DA9E9}"/>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BE01D8EA-DEF5-43FF-84D1-9364116D15C6}"/>
              </a:ext>
            </a:extLst>
          </p:cNvPr>
          <p:cNvSpPr txBox="1"/>
          <p:nvPr/>
        </p:nvSpPr>
        <p:spPr>
          <a:xfrm>
            <a:off x="10277967" y="4853154"/>
            <a:ext cx="1412912"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10AD71DA-21E0-69D2-9FA2-A0E4D083964E}"/>
              </a:ext>
            </a:extLst>
          </p:cNvPr>
          <p:cNvSpPr txBox="1"/>
          <p:nvPr/>
        </p:nvSpPr>
        <p:spPr>
          <a:xfrm>
            <a:off x="7714145" y="4853154"/>
            <a:ext cx="1230925"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100</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pic>
        <p:nvPicPr>
          <p:cNvPr id="7" name="Picture 6" descr="A black background with a black square&#10;&#10;AI-generated content may be incorrect.">
            <a:extLst>
              <a:ext uri="{FF2B5EF4-FFF2-40B4-BE49-F238E27FC236}">
                <a16:creationId xmlns:a16="http://schemas.microsoft.com/office/drawing/2014/main" id="{E877056F-AF1B-563F-5E81-27B4BCC673E7}"/>
              </a:ext>
            </a:extLst>
          </p:cNvPr>
          <p:cNvPicPr>
            <a:picLocks noChangeAspect="1"/>
          </p:cNvPicPr>
          <p:nvPr/>
        </p:nvPicPr>
        <p:blipFill>
          <a:blip r:embed="rId5"/>
          <a:stretch>
            <a:fillRect/>
          </a:stretch>
        </p:blipFill>
        <p:spPr>
          <a:xfrm>
            <a:off x="7419849" y="2893307"/>
            <a:ext cx="1412459" cy="1412459"/>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C2F72EDC-411A-A0F4-4BA3-61120B665501}"/>
              </a:ext>
            </a:extLst>
          </p:cNvPr>
          <p:cNvPicPr>
            <a:picLocks noChangeAspect="1"/>
          </p:cNvPicPr>
          <p:nvPr/>
        </p:nvPicPr>
        <p:blipFill>
          <a:blip r:embed="rId6"/>
          <a:stretch>
            <a:fillRect/>
          </a:stretch>
        </p:blipFill>
        <p:spPr>
          <a:xfrm>
            <a:off x="6414168" y="4047559"/>
            <a:ext cx="1061482" cy="1061482"/>
          </a:xfrm>
          <a:prstGeom prst="rect">
            <a:avLst/>
          </a:prstGeom>
        </p:spPr>
      </p:pic>
    </p:spTree>
    <p:extLst>
      <p:ext uri="{BB962C8B-B14F-4D97-AF65-F5344CB8AC3E}">
        <p14:creationId xmlns:p14="http://schemas.microsoft.com/office/powerpoint/2010/main" val="99360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8176B-EE9C-93F9-262D-95501EBBD0A7}"/>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2D87D693-36CE-1678-E1D1-DEE86C878724}"/>
              </a:ext>
            </a:extLst>
          </p:cNvPr>
          <p:cNvSpPr/>
          <p:nvPr/>
        </p:nvSpPr>
        <p:spPr>
          <a:xfrm>
            <a:off x="6218963" y="1828800"/>
            <a:ext cx="5506820" cy="3507128"/>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抽選</a:t>
            </a:r>
            <a:endParaRPr lang="en-US" altLang="ja-JP" sz="2400" b="1" dirty="0">
              <a:solidFill>
                <a:schemeClr val="tx1"/>
              </a:solidFill>
              <a:latin typeface="Meiryo UI" panose="020B0604030504040204" pitchFamily="50" charset="-128"/>
              <a:ea typeface="Meiryo UI" panose="020B0604030504040204" pitchFamily="50" charset="-128"/>
            </a:endParaRPr>
          </a:p>
        </p:txBody>
      </p:sp>
      <p:sp>
        <p:nvSpPr>
          <p:cNvPr id="31" name="Rectangle 30">
            <a:extLst>
              <a:ext uri="{FF2B5EF4-FFF2-40B4-BE49-F238E27FC236}">
                <a16:creationId xmlns:a16="http://schemas.microsoft.com/office/drawing/2014/main" id="{F2F10914-34F7-D66B-71B3-85012246F8DD}"/>
              </a:ext>
            </a:extLst>
          </p:cNvPr>
          <p:cNvSpPr/>
          <p:nvPr/>
        </p:nvSpPr>
        <p:spPr>
          <a:xfrm>
            <a:off x="466220" y="1828800"/>
            <a:ext cx="5503422" cy="3507127"/>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a:t>
            </a:r>
            <a:endParaRPr lang="en-US" altLang="ja-JP" sz="2400" b="1" dirty="0">
              <a:solidFill>
                <a:schemeClr val="tx1"/>
              </a:solidFill>
              <a:latin typeface="Meiryo UI" panose="020B0604030504040204" pitchFamily="50" charset="-128"/>
              <a:ea typeface="Meiryo UI" panose="020B0604030504040204" pitchFamily="50" charset="-128"/>
            </a:endParaRPr>
          </a:p>
          <a:p>
            <a:pPr algn="ct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モニターが壊れている、リクライニング倒せない、</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充電できない</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B2153245-AE01-B378-7367-B397950E035D}"/>
              </a:ext>
            </a:extLst>
          </p:cNvPr>
          <p:cNvSpPr>
            <a:spLocks noGrp="1"/>
          </p:cNvSpPr>
          <p:nvPr>
            <p:ph type="title"/>
          </p:nvPr>
        </p:nvSpPr>
        <p:spPr/>
        <p:txBody>
          <a:bodyPr/>
          <a:lstStyle/>
          <a:p>
            <a:r>
              <a:rPr lang="ja-JP" altLang="en-US" dirty="0"/>
              <a:t>残念な席の快適度を測る</a:t>
            </a:r>
            <a:endParaRPr lang="en-US" dirty="0"/>
          </a:p>
        </p:txBody>
      </p:sp>
      <p:sp>
        <p:nvSpPr>
          <p:cNvPr id="4" name="Slide Number Placeholder 3">
            <a:extLst>
              <a:ext uri="{FF2B5EF4-FFF2-40B4-BE49-F238E27FC236}">
                <a16:creationId xmlns:a16="http://schemas.microsoft.com/office/drawing/2014/main" id="{9A2831A3-D488-3177-7848-E286EAB136A2}"/>
              </a:ext>
            </a:extLst>
          </p:cNvPr>
          <p:cNvSpPr>
            <a:spLocks noGrp="1"/>
          </p:cNvSpPr>
          <p:nvPr>
            <p:ph type="sldNum" sz="quarter" idx="4"/>
          </p:nvPr>
        </p:nvSpPr>
        <p:spPr/>
        <p:txBody>
          <a:bodyPr/>
          <a:lstStyle/>
          <a:p>
            <a:fld id="{B5CEABB6-07DC-46E8-9B57-56EC44A396E5}" type="slidenum">
              <a:rPr lang="en-US" smtClean="0"/>
              <a:pPr/>
              <a:t>44</a:t>
            </a:fld>
            <a:endParaRPr lang="en-US" dirty="0"/>
          </a:p>
        </p:txBody>
      </p:sp>
      <p:sp>
        <p:nvSpPr>
          <p:cNvPr id="5" name="Table Placeholder 4">
            <a:extLst>
              <a:ext uri="{FF2B5EF4-FFF2-40B4-BE49-F238E27FC236}">
                <a16:creationId xmlns:a16="http://schemas.microsoft.com/office/drawing/2014/main" id="{F7585261-90D5-30E1-3891-ADD4970ABB6F}"/>
              </a:ext>
            </a:extLst>
          </p:cNvPr>
          <p:cNvSpPr>
            <a:spLocks noGrp="1"/>
          </p:cNvSpPr>
          <p:nvPr>
            <p:ph type="tbl" sz="quarter" idx="11"/>
          </p:nvPr>
        </p:nvSpPr>
        <p:spPr/>
        <p:txBody>
          <a:bodyPr/>
          <a:lstStyle/>
          <a:p>
            <a:r>
              <a:rPr lang="ja-JP" altLang="en-US" dirty="0"/>
              <a:t>「どちらでもよい」を選んだ時、残念な席の効用と抽選の期待値効用が一致する。　</a:t>
            </a:r>
            <a:r>
              <a:rPr lang="en-US" altLang="ja-JP" dirty="0"/>
              <a:t>Standard Gamble Method</a:t>
            </a:r>
            <a:r>
              <a:rPr lang="ja-JP" altLang="en-US" dirty="0"/>
              <a:t>という</a:t>
            </a:r>
            <a:endParaRPr lang="en-US" altLang="ja-JP" dirty="0"/>
          </a:p>
        </p:txBody>
      </p:sp>
      <p:grpSp>
        <p:nvGrpSpPr>
          <p:cNvPr id="8" name="Group 7">
            <a:extLst>
              <a:ext uri="{FF2B5EF4-FFF2-40B4-BE49-F238E27FC236}">
                <a16:creationId xmlns:a16="http://schemas.microsoft.com/office/drawing/2014/main" id="{E129BE93-E191-E6EF-0800-1AA1B7887A33}"/>
              </a:ext>
            </a:extLst>
          </p:cNvPr>
          <p:cNvGrpSpPr/>
          <p:nvPr/>
        </p:nvGrpSpPr>
        <p:grpSpPr>
          <a:xfrm>
            <a:off x="467139" y="108959"/>
            <a:ext cx="4197304" cy="307297"/>
            <a:chOff x="562270" y="127168"/>
            <a:chExt cx="4197304" cy="307297"/>
          </a:xfrm>
        </p:grpSpPr>
        <p:sp>
          <p:nvSpPr>
            <p:cNvPr id="10" name="Arrow: Pentagon 9">
              <a:extLst>
                <a:ext uri="{FF2B5EF4-FFF2-40B4-BE49-F238E27FC236}">
                  <a16:creationId xmlns:a16="http://schemas.microsoft.com/office/drawing/2014/main" id="{2DCC43BD-5469-203B-DB59-90CB7FC8753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11" name="Arrow: Pentagon 10">
              <a:extLst>
                <a:ext uri="{FF2B5EF4-FFF2-40B4-BE49-F238E27FC236}">
                  <a16:creationId xmlns:a16="http://schemas.microsoft.com/office/drawing/2014/main" id="{E3E6BA07-714F-7E36-8510-445890B33BD7}"/>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12" name="Arrow: Pentagon 11">
              <a:extLst>
                <a:ext uri="{FF2B5EF4-FFF2-40B4-BE49-F238E27FC236}">
                  <a16:creationId xmlns:a16="http://schemas.microsoft.com/office/drawing/2014/main" id="{A427BF9F-39E0-6632-448F-69B484C02D15}"/>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3" name="Picture 12" descr="A black background with a black square&#10;&#10;AI-generated content may be incorrect.">
            <a:extLst>
              <a:ext uri="{FF2B5EF4-FFF2-40B4-BE49-F238E27FC236}">
                <a16:creationId xmlns:a16="http://schemas.microsoft.com/office/drawing/2014/main" id="{8B444DB9-8F69-F102-BE5F-0374984994AA}"/>
              </a:ext>
            </a:extLst>
          </p:cNvPr>
          <p:cNvPicPr>
            <a:picLocks noChangeAspect="1"/>
          </p:cNvPicPr>
          <p:nvPr/>
        </p:nvPicPr>
        <p:blipFill>
          <a:blip r:embed="rId3"/>
          <a:stretch>
            <a:fillRect/>
          </a:stretch>
        </p:blipFill>
        <p:spPr>
          <a:xfrm>
            <a:off x="9655395" y="2727826"/>
            <a:ext cx="1709076" cy="1709076"/>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033EE481-9B77-9207-A415-F5C7F46DEC10}"/>
              </a:ext>
            </a:extLst>
          </p:cNvPr>
          <p:cNvPicPr>
            <a:picLocks noChangeAspect="1"/>
          </p:cNvPicPr>
          <p:nvPr/>
        </p:nvPicPr>
        <p:blipFill>
          <a:blip r:embed="rId4"/>
          <a:stretch>
            <a:fillRect/>
          </a:stretch>
        </p:blipFill>
        <p:spPr>
          <a:xfrm>
            <a:off x="6414168" y="4047559"/>
            <a:ext cx="1061482" cy="1061482"/>
          </a:xfrm>
          <a:prstGeom prst="rect">
            <a:avLst/>
          </a:prstGeom>
        </p:spPr>
      </p:pic>
      <p:pic>
        <p:nvPicPr>
          <p:cNvPr id="19" name="Picture 18" descr="A black background with a black square&#10;&#10;AI-generated content may be incorrect.">
            <a:extLst>
              <a:ext uri="{FF2B5EF4-FFF2-40B4-BE49-F238E27FC236}">
                <a16:creationId xmlns:a16="http://schemas.microsoft.com/office/drawing/2014/main" id="{9C1B2EB6-64D1-991A-2113-23AAF7BF2FB0}"/>
              </a:ext>
            </a:extLst>
          </p:cNvPr>
          <p:cNvPicPr>
            <a:picLocks noChangeAspect="1"/>
          </p:cNvPicPr>
          <p:nvPr/>
        </p:nvPicPr>
        <p:blipFill>
          <a:blip r:embed="rId5"/>
          <a:stretch>
            <a:fillRect/>
          </a:stretch>
        </p:blipFill>
        <p:spPr>
          <a:xfrm>
            <a:off x="7419849" y="2893307"/>
            <a:ext cx="1412459" cy="1412459"/>
          </a:xfrm>
          <a:prstGeom prst="rect">
            <a:avLst/>
          </a:prstGeom>
        </p:spPr>
      </p:pic>
      <p:grpSp>
        <p:nvGrpSpPr>
          <p:cNvPr id="23" name="Group 22">
            <a:extLst>
              <a:ext uri="{FF2B5EF4-FFF2-40B4-BE49-F238E27FC236}">
                <a16:creationId xmlns:a16="http://schemas.microsoft.com/office/drawing/2014/main" id="{28166BC1-8684-24E3-40F4-E818389F8F03}"/>
              </a:ext>
            </a:extLst>
          </p:cNvPr>
          <p:cNvGrpSpPr/>
          <p:nvPr/>
        </p:nvGrpSpPr>
        <p:grpSpPr>
          <a:xfrm>
            <a:off x="858465" y="3477941"/>
            <a:ext cx="1657636" cy="1657636"/>
            <a:chOff x="1546294" y="2665495"/>
            <a:chExt cx="1657636" cy="1657636"/>
          </a:xfrm>
        </p:grpSpPr>
        <p:pic>
          <p:nvPicPr>
            <p:cNvPr id="21" name="Picture 20" descr="A black background with a black square&#10;&#10;AI-generated content may be incorrect.">
              <a:extLst>
                <a:ext uri="{FF2B5EF4-FFF2-40B4-BE49-F238E27FC236}">
                  <a16:creationId xmlns:a16="http://schemas.microsoft.com/office/drawing/2014/main" id="{540C7A90-D3DD-A090-D67B-55DCBA73C762}"/>
                </a:ext>
              </a:extLst>
            </p:cNvPr>
            <p:cNvPicPr>
              <a:picLocks noChangeAspect="1"/>
            </p:cNvPicPr>
            <p:nvPr/>
          </p:nvPicPr>
          <p:blipFill>
            <a:blip r:embed="rId6"/>
            <a:stretch>
              <a:fillRect/>
            </a:stretch>
          </p:blipFill>
          <p:spPr>
            <a:xfrm>
              <a:off x="1546294" y="2665495"/>
              <a:ext cx="1657636" cy="1657636"/>
            </a:xfrm>
            <a:prstGeom prst="rect">
              <a:avLst/>
            </a:prstGeom>
          </p:spPr>
        </p:pic>
        <p:sp>
          <p:nvSpPr>
            <p:cNvPr id="22" name="Rectangle: Rounded Corners 21">
              <a:extLst>
                <a:ext uri="{FF2B5EF4-FFF2-40B4-BE49-F238E27FC236}">
                  <a16:creationId xmlns:a16="http://schemas.microsoft.com/office/drawing/2014/main" id="{2C014849-E724-1E56-092F-94A9D78EFCA5}"/>
                </a:ext>
              </a:extLst>
            </p:cNvPr>
            <p:cNvSpPr/>
            <p:nvPr/>
          </p:nvSpPr>
          <p:spPr>
            <a:xfrm>
              <a:off x="1844040" y="3280402"/>
              <a:ext cx="1061720" cy="687078"/>
            </a:xfrm>
            <a:prstGeom prst="roundRect">
              <a:avLst>
                <a:gd name="adj" fmla="val 6316"/>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30" name="Group 29">
            <a:extLst>
              <a:ext uri="{FF2B5EF4-FFF2-40B4-BE49-F238E27FC236}">
                <a16:creationId xmlns:a16="http://schemas.microsoft.com/office/drawing/2014/main" id="{64D963DD-CDD3-1760-70B1-E14394FEB9D3}"/>
              </a:ext>
            </a:extLst>
          </p:cNvPr>
          <p:cNvGrpSpPr/>
          <p:nvPr/>
        </p:nvGrpSpPr>
        <p:grpSpPr>
          <a:xfrm>
            <a:off x="3390096" y="3255199"/>
            <a:ext cx="2103120" cy="2103120"/>
            <a:chOff x="2289307" y="1894224"/>
            <a:chExt cx="4877481" cy="4877481"/>
          </a:xfrm>
        </p:grpSpPr>
        <p:pic>
          <p:nvPicPr>
            <p:cNvPr id="27" name="Picture 26" descr="A black background with a black square&#10;&#10;AI-generated content may be incorrect.">
              <a:extLst>
                <a:ext uri="{FF2B5EF4-FFF2-40B4-BE49-F238E27FC236}">
                  <a16:creationId xmlns:a16="http://schemas.microsoft.com/office/drawing/2014/main" id="{C0184CB1-E638-3D95-A231-31DD0BFA4DC7}"/>
                </a:ext>
              </a:extLst>
            </p:cNvPr>
            <p:cNvPicPr>
              <a:picLocks noChangeAspect="1"/>
            </p:cNvPicPr>
            <p:nvPr/>
          </p:nvPicPr>
          <p:blipFill>
            <a:blip r:embed="rId7"/>
            <a:stretch>
              <a:fillRect/>
            </a:stretch>
          </p:blipFill>
          <p:spPr>
            <a:xfrm>
              <a:off x="2289307" y="1894224"/>
              <a:ext cx="4877481" cy="4877481"/>
            </a:xfrm>
            <a:prstGeom prst="rect">
              <a:avLst/>
            </a:prstGeom>
          </p:spPr>
        </p:pic>
        <p:sp>
          <p:nvSpPr>
            <p:cNvPr id="28" name="Rectangle 27">
              <a:extLst>
                <a:ext uri="{FF2B5EF4-FFF2-40B4-BE49-F238E27FC236}">
                  <a16:creationId xmlns:a16="http://schemas.microsoft.com/office/drawing/2014/main" id="{D0DECF0D-1036-16DA-CE66-19C148425FF5}"/>
                </a:ext>
              </a:extLst>
            </p:cNvPr>
            <p:cNvSpPr/>
            <p:nvPr/>
          </p:nvSpPr>
          <p:spPr>
            <a:xfrm rot="2235642">
              <a:off x="4049963"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9" name="Rectangle 28">
              <a:extLst>
                <a:ext uri="{FF2B5EF4-FFF2-40B4-BE49-F238E27FC236}">
                  <a16:creationId xmlns:a16="http://schemas.microsoft.com/office/drawing/2014/main" id="{24979523-D599-575E-83FC-A01CD99B014E}"/>
                </a:ext>
              </a:extLst>
            </p:cNvPr>
            <p:cNvSpPr/>
            <p:nvPr/>
          </p:nvSpPr>
          <p:spPr>
            <a:xfrm rot="2235642">
              <a:off x="6554410" y="2995020"/>
              <a:ext cx="203482" cy="75881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34" name="Straight Connector 33">
            <a:extLst>
              <a:ext uri="{FF2B5EF4-FFF2-40B4-BE49-F238E27FC236}">
                <a16:creationId xmlns:a16="http://schemas.microsoft.com/office/drawing/2014/main" id="{0475CDF9-7C84-3213-57B3-95410D7B53CC}"/>
              </a:ext>
            </a:extLst>
          </p:cNvPr>
          <p:cNvCxnSpPr>
            <a:cxnSpLocks/>
          </p:cNvCxnSpPr>
          <p:nvPr/>
        </p:nvCxnSpPr>
        <p:spPr>
          <a:xfrm>
            <a:off x="8972372" y="2482744"/>
            <a:ext cx="2" cy="276596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7B0442C-443F-9D92-C40C-AD6C1AB5CCAD}"/>
              </a:ext>
            </a:extLst>
          </p:cNvPr>
          <p:cNvSpPr txBox="1"/>
          <p:nvPr/>
        </p:nvSpPr>
        <p:spPr>
          <a:xfrm>
            <a:off x="6218963"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飛行機に乗れない</a:t>
            </a:r>
            <a:endParaRPr lang="en-US"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99093E1B-5AD5-90B1-741A-603FDD5D2912}"/>
              </a:ext>
            </a:extLst>
          </p:cNvPr>
          <p:cNvSpPr txBox="1"/>
          <p:nvPr/>
        </p:nvSpPr>
        <p:spPr>
          <a:xfrm>
            <a:off x="9041765" y="2298078"/>
            <a:ext cx="2684015" cy="369332"/>
          </a:xfrm>
          <a:prstGeom prst="rect">
            <a:avLst/>
          </a:prstGeom>
          <a:noFill/>
        </p:spPr>
        <p:txBody>
          <a:bodyPr wrap="square">
            <a:spAutoFit/>
          </a:bodyPr>
          <a:lstStyle/>
          <a:p>
            <a:pPr algn="ctr"/>
            <a:r>
              <a:rPr lang="ja-JP" altLang="en-US" dirty="0">
                <a:latin typeface="Meiryo" panose="020B0604030504040204" pitchFamily="34" charset="-128"/>
                <a:ea typeface="Meiryo" panose="020B0604030504040204" pitchFamily="34" charset="-128"/>
              </a:rPr>
              <a:t>ファーストクラス</a:t>
            </a:r>
            <a:endParaRPr lang="en-US" dirty="0">
              <a:latin typeface="Meiryo" panose="020B0604030504040204" pitchFamily="34" charset="-128"/>
              <a:ea typeface="Meiryo" panose="020B0604030504040204" pitchFamily="34" charset="-128"/>
            </a:endParaRPr>
          </a:p>
        </p:txBody>
      </p:sp>
      <p:sp>
        <p:nvSpPr>
          <p:cNvPr id="37" name="Rectangle 36">
            <a:extLst>
              <a:ext uri="{FF2B5EF4-FFF2-40B4-BE49-F238E27FC236}">
                <a16:creationId xmlns:a16="http://schemas.microsoft.com/office/drawing/2014/main" id="{23CA13AF-FB22-7695-F64F-21DD5EF0549C}"/>
              </a:ext>
            </a:extLst>
          </p:cNvPr>
          <p:cNvSpPr/>
          <p:nvPr/>
        </p:nvSpPr>
        <p:spPr>
          <a:xfrm>
            <a:off x="466220" y="5516804"/>
            <a:ext cx="5503422" cy="104399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tx1"/>
                </a:solidFill>
                <a:latin typeface="Meiryo UI" panose="020B0604030504040204" pitchFamily="50" charset="-128"/>
                <a:ea typeface="Meiryo UI" panose="020B0604030504040204" pitchFamily="50" charset="-128"/>
              </a:rPr>
              <a:t>残念な席の快適度 </a:t>
            </a:r>
            <a:r>
              <a:rPr lang="en-US" altLang="ja-JP" sz="2400" b="1" dirty="0">
                <a:solidFill>
                  <a:schemeClr val="tx1"/>
                </a:solidFill>
                <a:latin typeface="Meiryo UI" panose="020B0604030504040204" pitchFamily="50" charset="-128"/>
                <a:ea typeface="Meiryo UI" panose="020B0604030504040204" pitchFamily="50" charset="-128"/>
              </a:rPr>
              <a:t>× 100%</a:t>
            </a:r>
          </a:p>
        </p:txBody>
      </p:sp>
      <p:sp>
        <p:nvSpPr>
          <p:cNvPr id="38" name="Thought Bubble: Cloud 37">
            <a:extLst>
              <a:ext uri="{FF2B5EF4-FFF2-40B4-BE49-F238E27FC236}">
                <a16:creationId xmlns:a16="http://schemas.microsoft.com/office/drawing/2014/main" id="{5ED509A3-02F2-A705-143A-DF8850F337B4}"/>
              </a:ext>
            </a:extLst>
          </p:cNvPr>
          <p:cNvSpPr/>
          <p:nvPr/>
        </p:nvSpPr>
        <p:spPr>
          <a:xfrm>
            <a:off x="2493315" y="3066524"/>
            <a:ext cx="983848" cy="606316"/>
          </a:xfrm>
          <a:prstGeom prst="cloudCallout">
            <a:avLst>
              <a:gd name="adj1" fmla="val -32598"/>
              <a:gd name="adj2" fmla="val 6250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40" name="Thought Bubble: Cloud 39">
            <a:extLst>
              <a:ext uri="{FF2B5EF4-FFF2-40B4-BE49-F238E27FC236}">
                <a16:creationId xmlns:a16="http://schemas.microsoft.com/office/drawing/2014/main" id="{BB39AD80-9DAA-05B4-F923-94C91DBBB040}"/>
              </a:ext>
            </a:extLst>
          </p:cNvPr>
          <p:cNvSpPr/>
          <p:nvPr/>
        </p:nvSpPr>
        <p:spPr>
          <a:xfrm>
            <a:off x="2495131" y="3066524"/>
            <a:ext cx="983848" cy="606316"/>
          </a:xfrm>
          <a:prstGeom prst="cloudCallout">
            <a:avLst>
              <a:gd name="adj1" fmla="val 65049"/>
              <a:gd name="adj2" fmla="val 51047"/>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a:t>
            </a:r>
          </a:p>
        </p:txBody>
      </p:sp>
      <p:sp>
        <p:nvSpPr>
          <p:cNvPr id="3" name="TextBox 2">
            <a:extLst>
              <a:ext uri="{FF2B5EF4-FFF2-40B4-BE49-F238E27FC236}">
                <a16:creationId xmlns:a16="http://schemas.microsoft.com/office/drawing/2014/main" id="{9213C33B-A84F-FB04-BAA0-4DDBDF1299C2}"/>
              </a:ext>
            </a:extLst>
          </p:cNvPr>
          <p:cNvSpPr txBox="1"/>
          <p:nvPr/>
        </p:nvSpPr>
        <p:spPr>
          <a:xfrm>
            <a:off x="9608079" y="4853154"/>
            <a:ext cx="2103120"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P</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DD2D5626-4ED0-BFC0-2DB1-90DA4AEB1520}"/>
              </a:ext>
            </a:extLst>
          </p:cNvPr>
          <p:cNvSpPr txBox="1"/>
          <p:nvPr/>
        </p:nvSpPr>
        <p:spPr>
          <a:xfrm>
            <a:off x="7233785" y="4853154"/>
            <a:ext cx="1721445" cy="492443"/>
          </a:xfrm>
          <a:prstGeom prst="rect">
            <a:avLst/>
          </a:prstGeom>
          <a:noFill/>
        </p:spPr>
        <p:txBody>
          <a:bodyPr wrap="square" lIns="0" tIns="0" rIns="0" bIns="0">
            <a:spAutoFit/>
          </a:bodyPr>
          <a:lstStyle/>
          <a:p>
            <a:pPr algn="r"/>
            <a:r>
              <a:rPr lang="en-US" altLang="ja-JP" sz="3200" b="1" dirty="0">
                <a:latin typeface="Meiryo" panose="020B0604030504040204" pitchFamily="34" charset="-128"/>
                <a:ea typeface="Meiryo" panose="020B0604030504040204" pitchFamily="34" charset="-128"/>
              </a:rPr>
              <a:t>100-P</a:t>
            </a:r>
            <a:r>
              <a:rPr lang="ja-JP" altLang="en-US" sz="3200" b="1" dirty="0">
                <a:latin typeface="Meiryo" panose="020B0604030504040204" pitchFamily="34" charset="-128"/>
                <a:ea typeface="Meiryo" panose="020B0604030504040204" pitchFamily="34" charset="-128"/>
              </a:rPr>
              <a:t>％</a:t>
            </a:r>
            <a:endParaRPr lang="en-US" sz="3200" b="1" dirty="0">
              <a:latin typeface="Meiryo" panose="020B0604030504040204" pitchFamily="34" charset="-128"/>
              <a:ea typeface="Meiryo" panose="020B0604030504040204" pitchFamily="34" charset="-128"/>
            </a:endParaRPr>
          </a:p>
        </p:txBody>
      </p:sp>
      <p:sp>
        <p:nvSpPr>
          <p:cNvPr id="7" name="Rectangle 6">
            <a:extLst>
              <a:ext uri="{FF2B5EF4-FFF2-40B4-BE49-F238E27FC236}">
                <a16:creationId xmlns:a16="http://schemas.microsoft.com/office/drawing/2014/main" id="{AF2B3474-1B29-85C5-D923-C96B2479ADCD}"/>
              </a:ext>
            </a:extLst>
          </p:cNvPr>
          <p:cNvSpPr/>
          <p:nvPr/>
        </p:nvSpPr>
        <p:spPr>
          <a:xfrm>
            <a:off x="6342434" y="5516804"/>
            <a:ext cx="2489874" cy="104399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Meiryo UI" panose="020B0604030504040204" pitchFamily="50" charset="-128"/>
                <a:ea typeface="Meiryo UI" panose="020B0604030504040204" pitchFamily="50" charset="-128"/>
              </a:rPr>
              <a:t>0 × (100-P%)</a:t>
            </a:r>
          </a:p>
        </p:txBody>
      </p:sp>
      <p:sp>
        <p:nvSpPr>
          <p:cNvPr id="9" name="Rectangle 8">
            <a:extLst>
              <a:ext uri="{FF2B5EF4-FFF2-40B4-BE49-F238E27FC236}">
                <a16:creationId xmlns:a16="http://schemas.microsoft.com/office/drawing/2014/main" id="{24FFAA6C-50AA-1D4F-A461-0CE97144BDC6}"/>
              </a:ext>
            </a:extLst>
          </p:cNvPr>
          <p:cNvSpPr/>
          <p:nvPr/>
        </p:nvSpPr>
        <p:spPr>
          <a:xfrm>
            <a:off x="9114816" y="5516804"/>
            <a:ext cx="2489875" cy="1043999"/>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Meiryo UI" panose="020B0604030504040204" pitchFamily="50" charset="-128"/>
                <a:ea typeface="Meiryo UI" panose="020B0604030504040204" pitchFamily="50" charset="-128"/>
              </a:rPr>
              <a:t>1 × P%</a:t>
            </a:r>
          </a:p>
        </p:txBody>
      </p:sp>
      <p:sp>
        <p:nvSpPr>
          <p:cNvPr id="14" name="Oval 13">
            <a:extLst>
              <a:ext uri="{FF2B5EF4-FFF2-40B4-BE49-F238E27FC236}">
                <a16:creationId xmlns:a16="http://schemas.microsoft.com/office/drawing/2014/main" id="{23CE6A5A-1BD4-1EB7-D5FE-0101CD1CA3C8}"/>
              </a:ext>
            </a:extLst>
          </p:cNvPr>
          <p:cNvSpPr/>
          <p:nvPr/>
        </p:nvSpPr>
        <p:spPr>
          <a:xfrm>
            <a:off x="5917959" y="5810203"/>
            <a:ext cx="457200" cy="457200"/>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Meiryo UI" panose="020B0604030504040204" pitchFamily="50" charset="-128"/>
                <a:ea typeface="Meiryo UI" panose="020B0604030504040204" pitchFamily="50" charset="-128"/>
              </a:rPr>
              <a:t>=</a:t>
            </a:r>
          </a:p>
        </p:txBody>
      </p:sp>
      <p:sp>
        <p:nvSpPr>
          <p:cNvPr id="16" name="Oval 15">
            <a:extLst>
              <a:ext uri="{FF2B5EF4-FFF2-40B4-BE49-F238E27FC236}">
                <a16:creationId xmlns:a16="http://schemas.microsoft.com/office/drawing/2014/main" id="{9558617C-E364-08E0-D601-F1BF706C3864}"/>
              </a:ext>
            </a:extLst>
          </p:cNvPr>
          <p:cNvSpPr/>
          <p:nvPr/>
        </p:nvSpPr>
        <p:spPr>
          <a:xfrm>
            <a:off x="8757610" y="5810203"/>
            <a:ext cx="457200" cy="457200"/>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600" b="1" dirty="0">
                <a:solidFill>
                  <a:schemeClr val="tx1"/>
                </a:solidFill>
                <a:latin typeface="Meiryo UI" panose="020B0604030504040204" pitchFamily="50" charset="-128"/>
                <a:ea typeface="Meiryo UI" panose="020B0604030504040204" pitchFamily="50" charset="-128"/>
              </a:rPr>
              <a:t>＋</a:t>
            </a:r>
            <a:endParaRPr lang="en-US" sz="360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99029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A94BC-BFA1-0848-63F9-62174BCE9F3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D9D1CF3-6162-7FC6-5978-C5BED71D83FD}"/>
              </a:ext>
            </a:extLst>
          </p:cNvPr>
          <p:cNvSpPr/>
          <p:nvPr/>
        </p:nvSpPr>
        <p:spPr>
          <a:xfrm>
            <a:off x="5349825" y="5971600"/>
            <a:ext cx="241745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30%</a:t>
            </a:r>
          </a:p>
        </p:txBody>
      </p:sp>
      <p:sp>
        <p:nvSpPr>
          <p:cNvPr id="11" name="Rectangle 10">
            <a:extLst>
              <a:ext uri="{FF2B5EF4-FFF2-40B4-BE49-F238E27FC236}">
                <a16:creationId xmlns:a16="http://schemas.microsoft.com/office/drawing/2014/main" id="{FB5E5439-6410-17BB-A499-59A91D78EAD9}"/>
              </a:ext>
            </a:extLst>
          </p:cNvPr>
          <p:cNvSpPr/>
          <p:nvPr/>
        </p:nvSpPr>
        <p:spPr>
          <a:xfrm>
            <a:off x="5349825" y="5338818"/>
            <a:ext cx="241745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70%</a:t>
            </a:r>
          </a:p>
        </p:txBody>
      </p:sp>
      <p:sp>
        <p:nvSpPr>
          <p:cNvPr id="3" name="Rectangle 2">
            <a:extLst>
              <a:ext uri="{FF2B5EF4-FFF2-40B4-BE49-F238E27FC236}">
                <a16:creationId xmlns:a16="http://schemas.microsoft.com/office/drawing/2014/main" id="{1D331EDE-9052-F9B3-78F7-5D1AC65FE73E}"/>
              </a:ext>
            </a:extLst>
          </p:cNvPr>
          <p:cNvSpPr/>
          <p:nvPr/>
        </p:nvSpPr>
        <p:spPr>
          <a:xfrm>
            <a:off x="5349825" y="3686482"/>
            <a:ext cx="241745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80%</a:t>
            </a:r>
          </a:p>
        </p:txBody>
      </p:sp>
      <p:sp>
        <p:nvSpPr>
          <p:cNvPr id="2" name="Title 1">
            <a:extLst>
              <a:ext uri="{FF2B5EF4-FFF2-40B4-BE49-F238E27FC236}">
                <a16:creationId xmlns:a16="http://schemas.microsoft.com/office/drawing/2014/main" id="{5EC818CB-E715-3AA0-A9A8-26A3D9DE5010}"/>
              </a:ext>
            </a:extLst>
          </p:cNvPr>
          <p:cNvSpPr>
            <a:spLocks noGrp="1"/>
          </p:cNvSpPr>
          <p:nvPr>
            <p:ph type="title"/>
          </p:nvPr>
        </p:nvSpPr>
        <p:spPr/>
        <p:txBody>
          <a:bodyPr/>
          <a:lstStyle/>
          <a:p>
            <a:r>
              <a:rPr lang="ja-JP" altLang="en-US" dirty="0"/>
              <a:t>フライトの座席クラスを決めるーインプットをあてはめる</a:t>
            </a:r>
            <a:endParaRPr lang="en-US" dirty="0"/>
          </a:p>
        </p:txBody>
      </p:sp>
      <p:sp>
        <p:nvSpPr>
          <p:cNvPr id="4" name="Slide Number Placeholder 3">
            <a:extLst>
              <a:ext uri="{FF2B5EF4-FFF2-40B4-BE49-F238E27FC236}">
                <a16:creationId xmlns:a16="http://schemas.microsoft.com/office/drawing/2014/main" id="{BCD758A5-CC6E-3ED5-27F8-51F07CC6E593}"/>
              </a:ext>
            </a:extLst>
          </p:cNvPr>
          <p:cNvSpPr>
            <a:spLocks noGrp="1"/>
          </p:cNvSpPr>
          <p:nvPr>
            <p:ph type="sldNum" sz="quarter" idx="4"/>
          </p:nvPr>
        </p:nvSpPr>
        <p:spPr/>
        <p:txBody>
          <a:bodyPr/>
          <a:lstStyle/>
          <a:p>
            <a:fld id="{B5CEABB6-07DC-46E8-9B57-56EC44A396E5}" type="slidenum">
              <a:rPr lang="en-US" smtClean="0"/>
              <a:pPr/>
              <a:t>45</a:t>
            </a:fld>
            <a:endParaRPr lang="en-US" dirty="0"/>
          </a:p>
        </p:txBody>
      </p:sp>
      <p:sp>
        <p:nvSpPr>
          <p:cNvPr id="5" name="Table Placeholder 4">
            <a:extLst>
              <a:ext uri="{FF2B5EF4-FFF2-40B4-BE49-F238E27FC236}">
                <a16:creationId xmlns:a16="http://schemas.microsoft.com/office/drawing/2014/main" id="{60F9813E-F480-1E18-D661-CCD6ECB94B35}"/>
              </a:ext>
            </a:extLst>
          </p:cNvPr>
          <p:cNvSpPr>
            <a:spLocks noGrp="1"/>
          </p:cNvSpPr>
          <p:nvPr>
            <p:ph type="tbl" sz="quarter" idx="11"/>
          </p:nvPr>
        </p:nvSpPr>
        <p:spPr/>
        <p:txBody>
          <a:bodyPr/>
          <a:lstStyle/>
          <a:p>
            <a:r>
              <a:rPr lang="ja-JP" altLang="en-US" dirty="0"/>
              <a:t>これらの数値が得られたと仮定</a:t>
            </a:r>
            <a:endParaRPr lang="en-US" dirty="0"/>
          </a:p>
        </p:txBody>
      </p:sp>
      <p:grpSp>
        <p:nvGrpSpPr>
          <p:cNvPr id="6" name="Group 5">
            <a:extLst>
              <a:ext uri="{FF2B5EF4-FFF2-40B4-BE49-F238E27FC236}">
                <a16:creationId xmlns:a16="http://schemas.microsoft.com/office/drawing/2014/main" id="{24D9E14B-5411-CF79-27FF-473ED8005E5D}"/>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645B3213-9728-F615-9C6F-879CF40DA75B}"/>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C909241C-411B-9452-D6B6-1743E020FE43}"/>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010CD356-5C7C-0730-4952-533A9F6EB7D1}"/>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12" name="Rectangle 11">
            <a:extLst>
              <a:ext uri="{FF2B5EF4-FFF2-40B4-BE49-F238E27FC236}">
                <a16:creationId xmlns:a16="http://schemas.microsoft.com/office/drawing/2014/main" id="{F9DD2654-D6DC-5532-97DA-C5B848D932C8}"/>
              </a:ext>
            </a:extLst>
          </p:cNvPr>
          <p:cNvSpPr/>
          <p:nvPr/>
        </p:nvSpPr>
        <p:spPr>
          <a:xfrm>
            <a:off x="2725083" y="5660747"/>
            <a:ext cx="1557421"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エコノミー</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3" name="Rectangle 12">
            <a:extLst>
              <a:ext uri="{FF2B5EF4-FFF2-40B4-BE49-F238E27FC236}">
                <a16:creationId xmlns:a16="http://schemas.microsoft.com/office/drawing/2014/main" id="{1EF587F0-F102-D0EF-1798-1584472851A1}"/>
              </a:ext>
            </a:extLst>
          </p:cNvPr>
          <p:cNvSpPr/>
          <p:nvPr/>
        </p:nvSpPr>
        <p:spPr>
          <a:xfrm>
            <a:off x="2197575" y="4193324"/>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6" name="Oval 15">
            <a:extLst>
              <a:ext uri="{FF2B5EF4-FFF2-40B4-BE49-F238E27FC236}">
                <a16:creationId xmlns:a16="http://schemas.microsoft.com/office/drawing/2014/main" id="{B6073CE2-37A8-CE93-D0E5-F06D15788F67}"/>
              </a:ext>
            </a:extLst>
          </p:cNvPr>
          <p:cNvSpPr/>
          <p:nvPr/>
        </p:nvSpPr>
        <p:spPr>
          <a:xfrm>
            <a:off x="5132583" y="4179717"/>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7" name="Connector: Elbow 16">
            <a:extLst>
              <a:ext uri="{FF2B5EF4-FFF2-40B4-BE49-F238E27FC236}">
                <a16:creationId xmlns:a16="http://schemas.microsoft.com/office/drawing/2014/main" id="{DCD5FEE5-78C7-2565-04C5-C440A5F9BF75}"/>
              </a:ext>
            </a:extLst>
          </p:cNvPr>
          <p:cNvCxnSpPr>
            <a:cxnSpLocks/>
            <a:stCxn id="13" idx="0"/>
            <a:endCxn id="21" idx="0"/>
          </p:cNvCxnSpPr>
          <p:nvPr/>
        </p:nvCxnSpPr>
        <p:spPr>
          <a:xfrm rot="5400000" flipH="1" flipV="1">
            <a:off x="4231640" y="826245"/>
            <a:ext cx="1454934" cy="5279224"/>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FD3A74AB-CC53-82CA-99E4-FF418EAABB10}"/>
              </a:ext>
            </a:extLst>
          </p:cNvPr>
          <p:cNvSpPr/>
          <p:nvPr/>
        </p:nvSpPr>
        <p:spPr>
          <a:xfrm rot="16200000">
            <a:off x="7598719"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B1F7F202-FC08-8154-0175-117743F3A82E}"/>
              </a:ext>
            </a:extLst>
          </p:cNvPr>
          <p:cNvCxnSpPr>
            <a:cxnSpLocks/>
            <a:stCxn id="13" idx="1"/>
          </p:cNvCxnSpPr>
          <p:nvPr/>
        </p:nvCxnSpPr>
        <p:spPr>
          <a:xfrm flipH="1">
            <a:off x="562170" y="4323681"/>
            <a:ext cx="16354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981691A-367F-E21B-A050-680C108C971C}"/>
              </a:ext>
            </a:extLst>
          </p:cNvPr>
          <p:cNvSpPr/>
          <p:nvPr/>
        </p:nvSpPr>
        <p:spPr>
          <a:xfrm>
            <a:off x="2968101" y="395183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ビジネス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6" name="Rectangle 35">
            <a:extLst>
              <a:ext uri="{FF2B5EF4-FFF2-40B4-BE49-F238E27FC236}">
                <a16:creationId xmlns:a16="http://schemas.microsoft.com/office/drawing/2014/main" id="{CD69064B-DB6E-6AD3-2C5C-82EA7258773A}"/>
              </a:ext>
            </a:extLst>
          </p:cNvPr>
          <p:cNvSpPr/>
          <p:nvPr/>
        </p:nvSpPr>
        <p:spPr>
          <a:xfrm>
            <a:off x="2785808"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ファーストクラス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7" name="Rectangle 36">
            <a:extLst>
              <a:ext uri="{FF2B5EF4-FFF2-40B4-BE49-F238E27FC236}">
                <a16:creationId xmlns:a16="http://schemas.microsoft.com/office/drawing/2014/main" id="{C9E3F5CB-545F-AFE2-7C1F-582B13ED33DA}"/>
              </a:ext>
            </a:extLst>
          </p:cNvPr>
          <p:cNvSpPr/>
          <p:nvPr/>
        </p:nvSpPr>
        <p:spPr>
          <a:xfrm>
            <a:off x="516394" y="3893895"/>
            <a:ext cx="1635405" cy="364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座席を選ぶ</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BAE888A5-4D3F-6214-1C9D-45D29DEADFE0}"/>
              </a:ext>
            </a:extLst>
          </p:cNvPr>
          <p:cNvSpPr/>
          <p:nvPr/>
        </p:nvSpPr>
        <p:spPr>
          <a:xfrm>
            <a:off x="9211465"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50" name="Rectangle 49">
            <a:extLst>
              <a:ext uri="{FF2B5EF4-FFF2-40B4-BE49-F238E27FC236}">
                <a16:creationId xmlns:a16="http://schemas.microsoft.com/office/drawing/2014/main" id="{5E064933-176F-87E4-D967-9C40FE719471}"/>
              </a:ext>
            </a:extLst>
          </p:cNvPr>
          <p:cNvSpPr/>
          <p:nvPr/>
        </p:nvSpPr>
        <p:spPr>
          <a:xfrm>
            <a:off x="7904372" y="2586843"/>
            <a:ext cx="1236777" cy="303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grpSp>
        <p:nvGrpSpPr>
          <p:cNvPr id="51" name="Group 50">
            <a:extLst>
              <a:ext uri="{FF2B5EF4-FFF2-40B4-BE49-F238E27FC236}">
                <a16:creationId xmlns:a16="http://schemas.microsoft.com/office/drawing/2014/main" id="{23070672-1BE4-6647-5567-3A531D0FEB7E}"/>
              </a:ext>
            </a:extLst>
          </p:cNvPr>
          <p:cNvGrpSpPr/>
          <p:nvPr/>
        </p:nvGrpSpPr>
        <p:grpSpPr>
          <a:xfrm>
            <a:off x="639566" y="2110711"/>
            <a:ext cx="4493017" cy="308921"/>
            <a:chOff x="4911850" y="6335733"/>
            <a:chExt cx="4068115" cy="292745"/>
          </a:xfrm>
        </p:grpSpPr>
        <p:sp>
          <p:nvSpPr>
            <p:cNvPr id="52" name="Rectangle 51">
              <a:extLst>
                <a:ext uri="{FF2B5EF4-FFF2-40B4-BE49-F238E27FC236}">
                  <a16:creationId xmlns:a16="http://schemas.microsoft.com/office/drawing/2014/main" id="{25D4FAC3-762D-0424-29E0-FD6418458E32}"/>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3" name="Rectangle 52">
              <a:extLst>
                <a:ext uri="{FF2B5EF4-FFF2-40B4-BE49-F238E27FC236}">
                  <a16:creationId xmlns:a16="http://schemas.microsoft.com/office/drawing/2014/main" id="{81AB091B-A88D-C62B-05E7-D4C47FC2290F}"/>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意思決定</a:t>
              </a:r>
              <a:endParaRPr lang="en-US" dirty="0">
                <a:solidFill>
                  <a:schemeClr val="tx1"/>
                </a:solidFill>
                <a:latin typeface="Meiryo UI" panose="020B0604030504040204" pitchFamily="50" charset="-128"/>
                <a:ea typeface="Meiryo UI" panose="020B0604030504040204" pitchFamily="50" charset="-128"/>
              </a:endParaRPr>
            </a:p>
          </p:txBody>
        </p:sp>
        <p:sp>
          <p:nvSpPr>
            <p:cNvPr id="54" name="Oval 53">
              <a:extLst>
                <a:ext uri="{FF2B5EF4-FFF2-40B4-BE49-F238E27FC236}">
                  <a16:creationId xmlns:a16="http://schemas.microsoft.com/office/drawing/2014/main" id="{80D64B61-8EC5-886C-3F0A-D9023AFCA215}"/>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5" name="Rectangle 54">
              <a:extLst>
                <a:ext uri="{FF2B5EF4-FFF2-40B4-BE49-F238E27FC236}">
                  <a16:creationId xmlns:a16="http://schemas.microsoft.com/office/drawing/2014/main" id="{E3D0D986-66FF-4712-BDC5-0B4CCB8752C0}"/>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確率事象</a:t>
              </a:r>
              <a:endParaRPr lang="en-US" dirty="0">
                <a:solidFill>
                  <a:schemeClr val="tx1"/>
                </a:solidFill>
                <a:latin typeface="Meiryo UI" panose="020B0604030504040204" pitchFamily="50" charset="-128"/>
                <a:ea typeface="Meiryo UI" panose="020B0604030504040204" pitchFamily="50" charset="-128"/>
              </a:endParaRPr>
            </a:p>
          </p:txBody>
        </p:sp>
        <p:sp>
          <p:nvSpPr>
            <p:cNvPr id="56" name="Isosceles Triangle 55">
              <a:extLst>
                <a:ext uri="{FF2B5EF4-FFF2-40B4-BE49-F238E27FC236}">
                  <a16:creationId xmlns:a16="http://schemas.microsoft.com/office/drawing/2014/main" id="{06E0355B-0747-050A-D0EB-BD41A132F77D}"/>
                </a:ext>
              </a:extLst>
            </p:cNvPr>
            <p:cNvSpPr/>
            <p:nvPr/>
          </p:nvSpPr>
          <p:spPr>
            <a:xfrm rot="16200000">
              <a:off x="7607938"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7" name="Rectangle 56">
              <a:extLst>
                <a:ext uri="{FF2B5EF4-FFF2-40B4-BE49-F238E27FC236}">
                  <a16:creationId xmlns:a16="http://schemas.microsoft.com/office/drawing/2014/main" id="{F7AEB603-3618-8760-34F5-3B1F996483EC}"/>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結果</a:t>
              </a: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70" name="Connector: Elbow 69">
            <a:extLst>
              <a:ext uri="{FF2B5EF4-FFF2-40B4-BE49-F238E27FC236}">
                <a16:creationId xmlns:a16="http://schemas.microsoft.com/office/drawing/2014/main" id="{6074B8E1-BA44-B52B-BFC6-C0A564D1A9C9}"/>
              </a:ext>
            </a:extLst>
          </p:cNvPr>
          <p:cNvCxnSpPr>
            <a:cxnSpLocks/>
            <a:stCxn id="16" idx="0"/>
            <a:endCxn id="71" idx="0"/>
          </p:cNvCxnSpPr>
          <p:nvPr/>
        </p:nvCxnSpPr>
        <p:spPr>
          <a:xfrm rot="5400000" flipH="1" flipV="1">
            <a:off x="6348708" y="2929706"/>
            <a:ext cx="171047" cy="232897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1" name="Isosceles Triangle 70">
            <a:extLst>
              <a:ext uri="{FF2B5EF4-FFF2-40B4-BE49-F238E27FC236}">
                <a16:creationId xmlns:a16="http://schemas.microsoft.com/office/drawing/2014/main" id="{61ED38A3-A23E-165A-9608-4534DB293F8B}"/>
              </a:ext>
            </a:extLst>
          </p:cNvPr>
          <p:cNvSpPr/>
          <p:nvPr/>
        </p:nvSpPr>
        <p:spPr>
          <a:xfrm rot="16200000">
            <a:off x="7598719" y="387151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72" name="Isosceles Triangle 71">
            <a:extLst>
              <a:ext uri="{FF2B5EF4-FFF2-40B4-BE49-F238E27FC236}">
                <a16:creationId xmlns:a16="http://schemas.microsoft.com/office/drawing/2014/main" id="{DDA457EB-6385-9028-5DF5-6E7935A7E6F2}"/>
              </a:ext>
            </a:extLst>
          </p:cNvPr>
          <p:cNvSpPr/>
          <p:nvPr/>
        </p:nvSpPr>
        <p:spPr>
          <a:xfrm rot="16200000">
            <a:off x="7598719" y="4498475"/>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73" name="Connector: Elbow 72">
            <a:extLst>
              <a:ext uri="{FF2B5EF4-FFF2-40B4-BE49-F238E27FC236}">
                <a16:creationId xmlns:a16="http://schemas.microsoft.com/office/drawing/2014/main" id="{A64EF33E-5BDB-5F0D-FCB1-D17095705475}"/>
              </a:ext>
            </a:extLst>
          </p:cNvPr>
          <p:cNvCxnSpPr>
            <a:cxnSpLocks/>
            <a:stCxn id="16" idx="4"/>
            <a:endCxn id="72" idx="0"/>
          </p:cNvCxnSpPr>
          <p:nvPr/>
        </p:nvCxnSpPr>
        <p:spPr>
          <a:xfrm rot="16200000" flipH="1">
            <a:off x="6343432" y="3380348"/>
            <a:ext cx="181598" cy="232897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181630DD-1F83-398A-C27A-3B0885F4577E}"/>
              </a:ext>
            </a:extLst>
          </p:cNvPr>
          <p:cNvSpPr/>
          <p:nvPr/>
        </p:nvSpPr>
        <p:spPr>
          <a:xfrm>
            <a:off x="7902318" y="3871509"/>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77" name="Rectangle 76">
            <a:extLst>
              <a:ext uri="{FF2B5EF4-FFF2-40B4-BE49-F238E27FC236}">
                <a16:creationId xmlns:a16="http://schemas.microsoft.com/office/drawing/2014/main" id="{ED2AD70E-B80F-0580-D502-2737E8A24773}"/>
              </a:ext>
            </a:extLst>
          </p:cNvPr>
          <p:cNvSpPr/>
          <p:nvPr/>
        </p:nvSpPr>
        <p:spPr>
          <a:xfrm>
            <a:off x="7902318" y="4498474"/>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cxnSp>
        <p:nvCxnSpPr>
          <p:cNvPr id="81" name="Straight Connector 80">
            <a:extLst>
              <a:ext uri="{FF2B5EF4-FFF2-40B4-BE49-F238E27FC236}">
                <a16:creationId xmlns:a16="http://schemas.microsoft.com/office/drawing/2014/main" id="{03332223-C791-111D-1156-DB186CA10EAC}"/>
              </a:ext>
            </a:extLst>
          </p:cNvPr>
          <p:cNvCxnSpPr>
            <a:cxnSpLocks/>
            <a:stCxn id="16" idx="2"/>
            <a:endCxn id="13" idx="3"/>
          </p:cNvCxnSpPr>
          <p:nvPr/>
        </p:nvCxnSpPr>
        <p:spPr>
          <a:xfrm flipH="1">
            <a:off x="2441415" y="4316877"/>
            <a:ext cx="2691168" cy="68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FA5BE19D-1211-82BC-BD55-ABA4545828F4}"/>
              </a:ext>
            </a:extLst>
          </p:cNvPr>
          <p:cNvSpPr/>
          <p:nvPr/>
        </p:nvSpPr>
        <p:spPr>
          <a:xfrm>
            <a:off x="10643140"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快適度</a:t>
            </a:r>
            <a:endParaRPr lang="en-US" dirty="0">
              <a:solidFill>
                <a:schemeClr val="tx1"/>
              </a:solidFill>
              <a:latin typeface="Meiryo UI" panose="020B0604030504040204" pitchFamily="50" charset="-128"/>
              <a:ea typeface="Meiryo UI" panose="020B0604030504040204" pitchFamily="50" charset="-128"/>
            </a:endParaRPr>
          </a:p>
        </p:txBody>
      </p:sp>
      <p:cxnSp>
        <p:nvCxnSpPr>
          <p:cNvPr id="92" name="Straight Connector 91">
            <a:extLst>
              <a:ext uri="{FF2B5EF4-FFF2-40B4-BE49-F238E27FC236}">
                <a16:creationId xmlns:a16="http://schemas.microsoft.com/office/drawing/2014/main" id="{17782564-1D3C-78B6-C3C5-2E160E720288}"/>
              </a:ext>
            </a:extLst>
          </p:cNvPr>
          <p:cNvCxnSpPr>
            <a:cxnSpLocks/>
          </p:cNvCxnSpPr>
          <p:nvPr/>
        </p:nvCxnSpPr>
        <p:spPr>
          <a:xfrm>
            <a:off x="9135111"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193AAC2-3D03-C23A-EE22-1524B077F464}"/>
              </a:ext>
            </a:extLst>
          </p:cNvPr>
          <p:cNvCxnSpPr>
            <a:cxnSpLocks/>
          </p:cNvCxnSpPr>
          <p:nvPr/>
        </p:nvCxnSpPr>
        <p:spPr>
          <a:xfrm>
            <a:off x="10474849"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535CDFFF-6BEA-E3BA-DB34-7825FB5533F8}"/>
              </a:ext>
            </a:extLst>
          </p:cNvPr>
          <p:cNvCxnSpPr>
            <a:cxnSpLocks/>
            <a:stCxn id="13" idx="2"/>
            <a:endCxn id="98" idx="2"/>
          </p:cNvCxnSpPr>
          <p:nvPr/>
        </p:nvCxnSpPr>
        <p:spPr>
          <a:xfrm rot="16200000" flipH="1">
            <a:off x="2960102" y="3813430"/>
            <a:ext cx="1531875" cy="2813089"/>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735F27BA-2CE3-8955-8FA0-8AC4F69CD877}"/>
              </a:ext>
            </a:extLst>
          </p:cNvPr>
          <p:cNvSpPr/>
          <p:nvPr/>
        </p:nvSpPr>
        <p:spPr>
          <a:xfrm>
            <a:off x="5132584" y="584875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99" name="Connector: Elbow 98">
            <a:extLst>
              <a:ext uri="{FF2B5EF4-FFF2-40B4-BE49-F238E27FC236}">
                <a16:creationId xmlns:a16="http://schemas.microsoft.com/office/drawing/2014/main" id="{33434B10-F2BC-AA15-E19F-8CFE6AB7C1B1}"/>
              </a:ext>
            </a:extLst>
          </p:cNvPr>
          <p:cNvCxnSpPr>
            <a:cxnSpLocks/>
            <a:stCxn id="98" idx="0"/>
            <a:endCxn id="100" idx="0"/>
          </p:cNvCxnSpPr>
          <p:nvPr/>
        </p:nvCxnSpPr>
        <p:spPr>
          <a:xfrm rot="5400000" flipH="1" flipV="1">
            <a:off x="6347190" y="4597225"/>
            <a:ext cx="174082" cy="232897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9510F1BB-2C12-E3A4-E185-73A016C4A0F0}"/>
              </a:ext>
            </a:extLst>
          </p:cNvPr>
          <p:cNvSpPr/>
          <p:nvPr/>
        </p:nvSpPr>
        <p:spPr>
          <a:xfrm rot="16200000">
            <a:off x="7598719" y="553751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01" name="Isosceles Triangle 100">
            <a:extLst>
              <a:ext uri="{FF2B5EF4-FFF2-40B4-BE49-F238E27FC236}">
                <a16:creationId xmlns:a16="http://schemas.microsoft.com/office/drawing/2014/main" id="{8EB6BA3E-EF0A-3AD8-2D85-7162EF1D197E}"/>
              </a:ext>
            </a:extLst>
          </p:cNvPr>
          <p:cNvSpPr/>
          <p:nvPr/>
        </p:nvSpPr>
        <p:spPr>
          <a:xfrm rot="16200000">
            <a:off x="7598719" y="616447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2" name="Connector: Elbow 101">
            <a:extLst>
              <a:ext uri="{FF2B5EF4-FFF2-40B4-BE49-F238E27FC236}">
                <a16:creationId xmlns:a16="http://schemas.microsoft.com/office/drawing/2014/main" id="{0ABF34B6-4BC9-8190-5B5A-40BD980B3419}"/>
              </a:ext>
            </a:extLst>
          </p:cNvPr>
          <p:cNvCxnSpPr>
            <a:cxnSpLocks/>
            <a:stCxn id="98" idx="4"/>
            <a:endCxn id="101" idx="0"/>
          </p:cNvCxnSpPr>
          <p:nvPr/>
        </p:nvCxnSpPr>
        <p:spPr>
          <a:xfrm rot="16200000" flipH="1">
            <a:off x="6344950" y="5047866"/>
            <a:ext cx="178563" cy="2328975"/>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D8EC78E1-8F31-4741-15AD-301A871BFF83}"/>
              </a:ext>
            </a:extLst>
          </p:cNvPr>
          <p:cNvSpPr/>
          <p:nvPr/>
        </p:nvSpPr>
        <p:spPr>
          <a:xfrm>
            <a:off x="7902318" y="616447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残念な席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5" name="Rectangle 104">
            <a:extLst>
              <a:ext uri="{FF2B5EF4-FFF2-40B4-BE49-F238E27FC236}">
                <a16:creationId xmlns:a16="http://schemas.microsoft.com/office/drawing/2014/main" id="{3329A6AF-DF75-3A50-E6DE-6A97EF59E012}"/>
              </a:ext>
            </a:extLst>
          </p:cNvPr>
          <p:cNvSpPr/>
          <p:nvPr/>
        </p:nvSpPr>
        <p:spPr>
          <a:xfrm>
            <a:off x="7902318" y="553751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7" name="Rectangle 106">
            <a:extLst>
              <a:ext uri="{FF2B5EF4-FFF2-40B4-BE49-F238E27FC236}">
                <a16:creationId xmlns:a16="http://schemas.microsoft.com/office/drawing/2014/main" id="{BE3C84B7-2272-FFD6-15BB-E69C01C7CACE}"/>
              </a:ext>
            </a:extLst>
          </p:cNvPr>
          <p:cNvSpPr/>
          <p:nvPr/>
        </p:nvSpPr>
        <p:spPr>
          <a:xfrm>
            <a:off x="9158492" y="258702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1500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8" name="Rectangle 107">
            <a:extLst>
              <a:ext uri="{FF2B5EF4-FFF2-40B4-BE49-F238E27FC236}">
                <a16:creationId xmlns:a16="http://schemas.microsoft.com/office/drawing/2014/main" id="{0C75E522-6605-A736-EB84-F38136C20E99}"/>
              </a:ext>
            </a:extLst>
          </p:cNvPr>
          <p:cNvSpPr/>
          <p:nvPr/>
        </p:nvSpPr>
        <p:spPr>
          <a:xfrm>
            <a:off x="10604386"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9" name="Rectangle 108">
            <a:extLst>
              <a:ext uri="{FF2B5EF4-FFF2-40B4-BE49-F238E27FC236}">
                <a16:creationId xmlns:a16="http://schemas.microsoft.com/office/drawing/2014/main" id="{16CC0B83-B725-63EA-01AE-5497892056CB}"/>
              </a:ext>
            </a:extLst>
          </p:cNvPr>
          <p:cNvSpPr/>
          <p:nvPr/>
        </p:nvSpPr>
        <p:spPr>
          <a:xfrm>
            <a:off x="9158492" y="3859478"/>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0" name="Rectangle 109">
            <a:extLst>
              <a:ext uri="{FF2B5EF4-FFF2-40B4-BE49-F238E27FC236}">
                <a16:creationId xmlns:a16="http://schemas.microsoft.com/office/drawing/2014/main" id="{F5CB894E-A5A4-663F-F737-7AEC75357B7C}"/>
              </a:ext>
            </a:extLst>
          </p:cNvPr>
          <p:cNvSpPr/>
          <p:nvPr/>
        </p:nvSpPr>
        <p:spPr>
          <a:xfrm>
            <a:off x="10604386" y="385947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1" name="Rectangle 110">
            <a:extLst>
              <a:ext uri="{FF2B5EF4-FFF2-40B4-BE49-F238E27FC236}">
                <a16:creationId xmlns:a16="http://schemas.microsoft.com/office/drawing/2014/main" id="{7190C60C-458E-9B5D-19C9-F44AB862C93B}"/>
              </a:ext>
            </a:extLst>
          </p:cNvPr>
          <p:cNvSpPr/>
          <p:nvPr/>
        </p:nvSpPr>
        <p:spPr>
          <a:xfrm>
            <a:off x="9158492" y="4498474"/>
            <a:ext cx="116540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2" name="Rectangle 111">
            <a:extLst>
              <a:ext uri="{FF2B5EF4-FFF2-40B4-BE49-F238E27FC236}">
                <a16:creationId xmlns:a16="http://schemas.microsoft.com/office/drawing/2014/main" id="{0323776D-1DE9-2D41-104A-8240525AA359}"/>
              </a:ext>
            </a:extLst>
          </p:cNvPr>
          <p:cNvSpPr/>
          <p:nvPr/>
        </p:nvSpPr>
        <p:spPr>
          <a:xfrm>
            <a:off x="10604386" y="44984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3" name="Rectangle 112">
            <a:extLst>
              <a:ext uri="{FF2B5EF4-FFF2-40B4-BE49-F238E27FC236}">
                <a16:creationId xmlns:a16="http://schemas.microsoft.com/office/drawing/2014/main" id="{E77A5736-C5A2-5E65-F952-320145637F19}"/>
              </a:ext>
            </a:extLst>
          </p:cNvPr>
          <p:cNvSpPr/>
          <p:nvPr/>
        </p:nvSpPr>
        <p:spPr>
          <a:xfrm>
            <a:off x="9303402"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4" name="Rectangle 113">
            <a:extLst>
              <a:ext uri="{FF2B5EF4-FFF2-40B4-BE49-F238E27FC236}">
                <a16:creationId xmlns:a16="http://schemas.microsoft.com/office/drawing/2014/main" id="{7E946DDE-342C-94F2-6C19-68D8DE839D67}"/>
              </a:ext>
            </a:extLst>
          </p:cNvPr>
          <p:cNvSpPr/>
          <p:nvPr/>
        </p:nvSpPr>
        <p:spPr>
          <a:xfrm>
            <a:off x="10604386" y="553751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5" name="Rectangle 114">
            <a:extLst>
              <a:ext uri="{FF2B5EF4-FFF2-40B4-BE49-F238E27FC236}">
                <a16:creationId xmlns:a16="http://schemas.microsoft.com/office/drawing/2014/main" id="{ABF6126F-71AB-73E2-5C9F-1CDAFCA1EC73}"/>
              </a:ext>
            </a:extLst>
          </p:cNvPr>
          <p:cNvSpPr/>
          <p:nvPr/>
        </p:nvSpPr>
        <p:spPr>
          <a:xfrm>
            <a:off x="9303402"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6" name="Rectangle 115">
            <a:extLst>
              <a:ext uri="{FF2B5EF4-FFF2-40B4-BE49-F238E27FC236}">
                <a16:creationId xmlns:a16="http://schemas.microsoft.com/office/drawing/2014/main" id="{90C44B06-58F1-62AF-E110-1595C93C4322}"/>
              </a:ext>
            </a:extLst>
          </p:cNvPr>
          <p:cNvSpPr/>
          <p:nvPr/>
        </p:nvSpPr>
        <p:spPr>
          <a:xfrm>
            <a:off x="10604386" y="616889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Meiryo UI" panose="020B0604030504040204" pitchFamily="50" charset="-128"/>
                <a:ea typeface="Meiryo UI" panose="020B0604030504040204" pitchFamily="50" charset="-128"/>
              </a:rPr>
              <a:t>0.5</a:t>
            </a:r>
          </a:p>
        </p:txBody>
      </p:sp>
      <p:sp>
        <p:nvSpPr>
          <p:cNvPr id="10" name="Rectangle 9">
            <a:extLst>
              <a:ext uri="{FF2B5EF4-FFF2-40B4-BE49-F238E27FC236}">
                <a16:creationId xmlns:a16="http://schemas.microsoft.com/office/drawing/2014/main" id="{D9382F00-4939-7302-3C2E-F7A74737BFD8}"/>
              </a:ext>
            </a:extLst>
          </p:cNvPr>
          <p:cNvSpPr/>
          <p:nvPr/>
        </p:nvSpPr>
        <p:spPr>
          <a:xfrm>
            <a:off x="5559604" y="4320186"/>
            <a:ext cx="1997896"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20%</a:t>
            </a:r>
          </a:p>
        </p:txBody>
      </p:sp>
    </p:spTree>
    <p:extLst>
      <p:ext uri="{BB962C8B-B14F-4D97-AF65-F5344CB8AC3E}">
        <p14:creationId xmlns:p14="http://schemas.microsoft.com/office/powerpoint/2010/main" val="1071192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0178-C277-3728-ED20-081284C5188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8381CA5-8D20-2ED9-CE8E-E8693E9178A1}"/>
              </a:ext>
            </a:extLst>
          </p:cNvPr>
          <p:cNvSpPr/>
          <p:nvPr/>
        </p:nvSpPr>
        <p:spPr>
          <a:xfrm>
            <a:off x="4417734" y="5643610"/>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30%</a:t>
            </a:r>
          </a:p>
        </p:txBody>
      </p:sp>
      <p:sp>
        <p:nvSpPr>
          <p:cNvPr id="11" name="Rectangle 10">
            <a:extLst>
              <a:ext uri="{FF2B5EF4-FFF2-40B4-BE49-F238E27FC236}">
                <a16:creationId xmlns:a16="http://schemas.microsoft.com/office/drawing/2014/main" id="{BD75D797-1AA4-51A3-9498-355CB03E186E}"/>
              </a:ext>
            </a:extLst>
          </p:cNvPr>
          <p:cNvSpPr/>
          <p:nvPr/>
        </p:nvSpPr>
        <p:spPr>
          <a:xfrm>
            <a:off x="4417734" y="501082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70%</a:t>
            </a:r>
          </a:p>
        </p:txBody>
      </p:sp>
      <p:sp>
        <p:nvSpPr>
          <p:cNvPr id="3" name="Rectangle 2">
            <a:extLst>
              <a:ext uri="{FF2B5EF4-FFF2-40B4-BE49-F238E27FC236}">
                <a16:creationId xmlns:a16="http://schemas.microsoft.com/office/drawing/2014/main" id="{BD43090B-FDE6-5C4C-779B-42960F1F2F72}"/>
              </a:ext>
            </a:extLst>
          </p:cNvPr>
          <p:cNvSpPr/>
          <p:nvPr/>
        </p:nvSpPr>
        <p:spPr>
          <a:xfrm>
            <a:off x="4417734" y="337836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80%</a:t>
            </a:r>
          </a:p>
        </p:txBody>
      </p:sp>
      <p:sp>
        <p:nvSpPr>
          <p:cNvPr id="2" name="Title 1">
            <a:extLst>
              <a:ext uri="{FF2B5EF4-FFF2-40B4-BE49-F238E27FC236}">
                <a16:creationId xmlns:a16="http://schemas.microsoft.com/office/drawing/2014/main" id="{D9770C7F-36C5-10A2-B9FF-8BA0CAFF1F0E}"/>
              </a:ext>
            </a:extLst>
          </p:cNvPr>
          <p:cNvSpPr>
            <a:spLocks noGrp="1"/>
          </p:cNvSpPr>
          <p:nvPr>
            <p:ph type="title"/>
          </p:nvPr>
        </p:nvSpPr>
        <p:spPr/>
        <p:txBody>
          <a:bodyPr/>
          <a:lstStyle/>
          <a:p>
            <a:r>
              <a:rPr lang="ja-JP" altLang="en-US" dirty="0"/>
              <a:t>フライトの座席クラスを決めるーシミュレーション実施</a:t>
            </a:r>
            <a:endParaRPr lang="en-US" dirty="0"/>
          </a:p>
        </p:txBody>
      </p:sp>
      <p:sp>
        <p:nvSpPr>
          <p:cNvPr id="4" name="Slide Number Placeholder 3">
            <a:extLst>
              <a:ext uri="{FF2B5EF4-FFF2-40B4-BE49-F238E27FC236}">
                <a16:creationId xmlns:a16="http://schemas.microsoft.com/office/drawing/2014/main" id="{6AF20B9D-A0B3-5418-124A-2EFF758B7BD7}"/>
              </a:ext>
            </a:extLst>
          </p:cNvPr>
          <p:cNvSpPr>
            <a:spLocks noGrp="1"/>
          </p:cNvSpPr>
          <p:nvPr>
            <p:ph type="sldNum" sz="quarter" idx="4"/>
          </p:nvPr>
        </p:nvSpPr>
        <p:spPr/>
        <p:txBody>
          <a:bodyPr/>
          <a:lstStyle/>
          <a:p>
            <a:fld id="{B5CEABB6-07DC-46E8-9B57-56EC44A396E5}" type="slidenum">
              <a:rPr lang="en-US" smtClean="0"/>
              <a:pPr/>
              <a:t>46</a:t>
            </a:fld>
            <a:endParaRPr lang="en-US" dirty="0"/>
          </a:p>
        </p:txBody>
      </p:sp>
      <p:sp>
        <p:nvSpPr>
          <p:cNvPr id="5" name="Table Placeholder 4">
            <a:extLst>
              <a:ext uri="{FF2B5EF4-FFF2-40B4-BE49-F238E27FC236}">
                <a16:creationId xmlns:a16="http://schemas.microsoft.com/office/drawing/2014/main" id="{5E632D0E-0506-1A80-FA67-04E46D74D496}"/>
              </a:ext>
            </a:extLst>
          </p:cNvPr>
          <p:cNvSpPr>
            <a:spLocks noGrp="1"/>
          </p:cNvSpPr>
          <p:nvPr>
            <p:ph type="tbl" sz="quarter" idx="11"/>
          </p:nvPr>
        </p:nvSpPr>
        <p:spPr/>
        <p:txBody>
          <a:bodyPr/>
          <a:lstStyle/>
          <a:p>
            <a:r>
              <a:rPr lang="ja-JP" altLang="en-US" dirty="0"/>
              <a:t>費用と快適度の期待値を求める</a:t>
            </a:r>
            <a:endParaRPr lang="en-US" dirty="0"/>
          </a:p>
        </p:txBody>
      </p:sp>
      <p:grpSp>
        <p:nvGrpSpPr>
          <p:cNvPr id="6" name="Group 5">
            <a:extLst>
              <a:ext uri="{FF2B5EF4-FFF2-40B4-BE49-F238E27FC236}">
                <a16:creationId xmlns:a16="http://schemas.microsoft.com/office/drawing/2014/main" id="{A05322E7-FFC0-EAA2-0599-55368282B20F}"/>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853F4D93-25BD-10A1-47DF-F853DE0154F1}"/>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243CDF8E-D814-6EA8-7180-F8704C3BBE1D}"/>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5A5ADD87-910F-30EC-9016-94EB95CFC7CE}"/>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12" name="Rectangle 11">
            <a:extLst>
              <a:ext uri="{FF2B5EF4-FFF2-40B4-BE49-F238E27FC236}">
                <a16:creationId xmlns:a16="http://schemas.microsoft.com/office/drawing/2014/main" id="{0AA4F145-263C-DADD-BACE-7F2442F694AD}"/>
              </a:ext>
            </a:extLst>
          </p:cNvPr>
          <p:cNvSpPr/>
          <p:nvPr/>
        </p:nvSpPr>
        <p:spPr>
          <a:xfrm>
            <a:off x="2725083" y="5332757"/>
            <a:ext cx="1557421"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エコノミー</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3" name="Rectangle 12">
            <a:extLst>
              <a:ext uri="{FF2B5EF4-FFF2-40B4-BE49-F238E27FC236}">
                <a16:creationId xmlns:a16="http://schemas.microsoft.com/office/drawing/2014/main" id="{BCC654EA-C9A9-E3F5-7C46-6B9AC372C6A7}"/>
              </a:ext>
            </a:extLst>
          </p:cNvPr>
          <p:cNvSpPr/>
          <p:nvPr/>
        </p:nvSpPr>
        <p:spPr>
          <a:xfrm>
            <a:off x="2197575" y="3871603"/>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6" name="Oval 15">
            <a:extLst>
              <a:ext uri="{FF2B5EF4-FFF2-40B4-BE49-F238E27FC236}">
                <a16:creationId xmlns:a16="http://schemas.microsoft.com/office/drawing/2014/main" id="{31453B86-63E5-47DB-9D84-FDB296635E78}"/>
              </a:ext>
            </a:extLst>
          </p:cNvPr>
          <p:cNvSpPr/>
          <p:nvPr/>
        </p:nvSpPr>
        <p:spPr>
          <a:xfrm>
            <a:off x="4062540" y="387160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7" name="Connector: Elbow 16">
            <a:extLst>
              <a:ext uri="{FF2B5EF4-FFF2-40B4-BE49-F238E27FC236}">
                <a16:creationId xmlns:a16="http://schemas.microsoft.com/office/drawing/2014/main" id="{5A61EA8B-FC36-F19A-3F18-E8D3963B3F48}"/>
              </a:ext>
            </a:extLst>
          </p:cNvPr>
          <p:cNvCxnSpPr>
            <a:cxnSpLocks/>
            <a:stCxn id="13" idx="0"/>
            <a:endCxn id="21" idx="0"/>
          </p:cNvCxnSpPr>
          <p:nvPr/>
        </p:nvCxnSpPr>
        <p:spPr>
          <a:xfrm rot="5400000" flipH="1" flipV="1">
            <a:off x="3340647" y="1717239"/>
            <a:ext cx="1133213" cy="317551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6DAE9691-8D21-357E-26EA-C7BC7A8CD593}"/>
              </a:ext>
            </a:extLst>
          </p:cNvPr>
          <p:cNvSpPr/>
          <p:nvPr/>
        </p:nvSpPr>
        <p:spPr>
          <a:xfrm rot="16200000">
            <a:off x="5495011"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EBF59AD3-2104-3494-B245-727B993D5E22}"/>
              </a:ext>
            </a:extLst>
          </p:cNvPr>
          <p:cNvCxnSpPr>
            <a:cxnSpLocks/>
            <a:stCxn id="13" idx="1"/>
          </p:cNvCxnSpPr>
          <p:nvPr/>
        </p:nvCxnSpPr>
        <p:spPr>
          <a:xfrm flipH="1">
            <a:off x="516394" y="4001960"/>
            <a:ext cx="16811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C9136BD9-C6BE-BCD9-A37E-DFB95A677949}"/>
              </a:ext>
            </a:extLst>
          </p:cNvPr>
          <p:cNvSpPr/>
          <p:nvPr/>
        </p:nvSpPr>
        <p:spPr>
          <a:xfrm>
            <a:off x="2968101" y="3643724"/>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ビジネス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6" name="Rectangle 35">
            <a:extLst>
              <a:ext uri="{FF2B5EF4-FFF2-40B4-BE49-F238E27FC236}">
                <a16:creationId xmlns:a16="http://schemas.microsoft.com/office/drawing/2014/main" id="{3FCE1029-6A4D-6A2D-4350-959C5EA76F77}"/>
              </a:ext>
            </a:extLst>
          </p:cNvPr>
          <p:cNvSpPr/>
          <p:nvPr/>
        </p:nvSpPr>
        <p:spPr>
          <a:xfrm>
            <a:off x="2785808"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ファーストクラス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7" name="Rectangle 36">
            <a:extLst>
              <a:ext uri="{FF2B5EF4-FFF2-40B4-BE49-F238E27FC236}">
                <a16:creationId xmlns:a16="http://schemas.microsoft.com/office/drawing/2014/main" id="{A140142B-2964-6417-A2C1-7CA46AC0F7A0}"/>
              </a:ext>
            </a:extLst>
          </p:cNvPr>
          <p:cNvSpPr/>
          <p:nvPr/>
        </p:nvSpPr>
        <p:spPr>
          <a:xfrm>
            <a:off x="516394" y="3575845"/>
            <a:ext cx="1635405" cy="364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座席を選ぶ</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9C0DF16A-F272-AAC0-01FB-E9263AA9455F}"/>
              </a:ext>
            </a:extLst>
          </p:cNvPr>
          <p:cNvSpPr/>
          <p:nvPr/>
        </p:nvSpPr>
        <p:spPr>
          <a:xfrm>
            <a:off x="6864556"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50" name="Rectangle 49">
            <a:extLst>
              <a:ext uri="{FF2B5EF4-FFF2-40B4-BE49-F238E27FC236}">
                <a16:creationId xmlns:a16="http://schemas.microsoft.com/office/drawing/2014/main" id="{8D48D556-37F9-EBB2-F9E8-88706A586B2D}"/>
              </a:ext>
            </a:extLst>
          </p:cNvPr>
          <p:cNvSpPr/>
          <p:nvPr/>
        </p:nvSpPr>
        <p:spPr>
          <a:xfrm>
            <a:off x="5800664" y="2586843"/>
            <a:ext cx="1236777" cy="303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grpSp>
        <p:nvGrpSpPr>
          <p:cNvPr id="51" name="Group 50">
            <a:extLst>
              <a:ext uri="{FF2B5EF4-FFF2-40B4-BE49-F238E27FC236}">
                <a16:creationId xmlns:a16="http://schemas.microsoft.com/office/drawing/2014/main" id="{337079C7-E885-F079-1FC5-372362B55220}"/>
              </a:ext>
            </a:extLst>
          </p:cNvPr>
          <p:cNvGrpSpPr/>
          <p:nvPr/>
        </p:nvGrpSpPr>
        <p:grpSpPr>
          <a:xfrm>
            <a:off x="639566" y="2110711"/>
            <a:ext cx="4493017" cy="308921"/>
            <a:chOff x="4911850" y="6335733"/>
            <a:chExt cx="4068115" cy="292745"/>
          </a:xfrm>
        </p:grpSpPr>
        <p:sp>
          <p:nvSpPr>
            <p:cNvPr id="52" name="Rectangle 51">
              <a:extLst>
                <a:ext uri="{FF2B5EF4-FFF2-40B4-BE49-F238E27FC236}">
                  <a16:creationId xmlns:a16="http://schemas.microsoft.com/office/drawing/2014/main" id="{2FDC557A-8E21-F634-EA38-CB9886357A26}"/>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3" name="Rectangle 52">
              <a:extLst>
                <a:ext uri="{FF2B5EF4-FFF2-40B4-BE49-F238E27FC236}">
                  <a16:creationId xmlns:a16="http://schemas.microsoft.com/office/drawing/2014/main" id="{09A4F45E-643E-6BA8-207E-E64DCCD38536}"/>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意思決定</a:t>
              </a:r>
              <a:endParaRPr lang="en-US" dirty="0">
                <a:solidFill>
                  <a:schemeClr val="tx1"/>
                </a:solidFill>
                <a:latin typeface="Meiryo UI" panose="020B0604030504040204" pitchFamily="50" charset="-128"/>
                <a:ea typeface="Meiryo UI" panose="020B0604030504040204" pitchFamily="50" charset="-128"/>
              </a:endParaRPr>
            </a:p>
          </p:txBody>
        </p:sp>
        <p:sp>
          <p:nvSpPr>
            <p:cNvPr id="54" name="Oval 53">
              <a:extLst>
                <a:ext uri="{FF2B5EF4-FFF2-40B4-BE49-F238E27FC236}">
                  <a16:creationId xmlns:a16="http://schemas.microsoft.com/office/drawing/2014/main" id="{E21B1C19-46DA-B482-833E-FD426B86152A}"/>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5" name="Rectangle 54">
              <a:extLst>
                <a:ext uri="{FF2B5EF4-FFF2-40B4-BE49-F238E27FC236}">
                  <a16:creationId xmlns:a16="http://schemas.microsoft.com/office/drawing/2014/main" id="{73B819CB-0EC3-9588-2F51-BD0D9BBACAF2}"/>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確率事象</a:t>
              </a:r>
              <a:endParaRPr lang="en-US" dirty="0">
                <a:solidFill>
                  <a:schemeClr val="tx1"/>
                </a:solidFill>
                <a:latin typeface="Meiryo UI" panose="020B0604030504040204" pitchFamily="50" charset="-128"/>
                <a:ea typeface="Meiryo UI" panose="020B0604030504040204" pitchFamily="50" charset="-128"/>
              </a:endParaRPr>
            </a:p>
          </p:txBody>
        </p:sp>
        <p:sp>
          <p:nvSpPr>
            <p:cNvPr id="56" name="Isosceles Triangle 55">
              <a:extLst>
                <a:ext uri="{FF2B5EF4-FFF2-40B4-BE49-F238E27FC236}">
                  <a16:creationId xmlns:a16="http://schemas.microsoft.com/office/drawing/2014/main" id="{E9E3CA7D-0B68-5782-5E6A-8CC0021CE0FA}"/>
                </a:ext>
              </a:extLst>
            </p:cNvPr>
            <p:cNvSpPr/>
            <p:nvPr/>
          </p:nvSpPr>
          <p:spPr>
            <a:xfrm rot="16200000">
              <a:off x="7607938"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7" name="Rectangle 56">
              <a:extLst>
                <a:ext uri="{FF2B5EF4-FFF2-40B4-BE49-F238E27FC236}">
                  <a16:creationId xmlns:a16="http://schemas.microsoft.com/office/drawing/2014/main" id="{322F09A0-B250-E607-A3DB-96CE8247A26A}"/>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結果</a:t>
              </a: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70" name="Connector: Elbow 69">
            <a:extLst>
              <a:ext uri="{FF2B5EF4-FFF2-40B4-BE49-F238E27FC236}">
                <a16:creationId xmlns:a16="http://schemas.microsoft.com/office/drawing/2014/main" id="{4A44BFA9-57F2-D807-7992-892415A4F898}"/>
              </a:ext>
            </a:extLst>
          </p:cNvPr>
          <p:cNvCxnSpPr>
            <a:cxnSpLocks/>
            <a:stCxn id="16" idx="0"/>
            <a:endCxn id="71" idx="0"/>
          </p:cNvCxnSpPr>
          <p:nvPr/>
        </p:nvCxnSpPr>
        <p:spPr>
          <a:xfrm rot="5400000" flipH="1" flipV="1">
            <a:off x="4761832" y="3138425"/>
            <a:ext cx="171047" cy="129531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1" name="Isosceles Triangle 70">
            <a:extLst>
              <a:ext uri="{FF2B5EF4-FFF2-40B4-BE49-F238E27FC236}">
                <a16:creationId xmlns:a16="http://schemas.microsoft.com/office/drawing/2014/main" id="{5467C17B-863A-81EB-E9FD-AA355A1A98AD}"/>
              </a:ext>
            </a:extLst>
          </p:cNvPr>
          <p:cNvSpPr/>
          <p:nvPr/>
        </p:nvSpPr>
        <p:spPr>
          <a:xfrm rot="16200000">
            <a:off x="5495011" y="356339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72" name="Isosceles Triangle 71">
            <a:extLst>
              <a:ext uri="{FF2B5EF4-FFF2-40B4-BE49-F238E27FC236}">
                <a16:creationId xmlns:a16="http://schemas.microsoft.com/office/drawing/2014/main" id="{71506244-327D-F57D-D20B-94709DB23414}"/>
              </a:ext>
            </a:extLst>
          </p:cNvPr>
          <p:cNvSpPr/>
          <p:nvPr/>
        </p:nvSpPr>
        <p:spPr>
          <a:xfrm rot="16200000">
            <a:off x="5495011" y="419036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73" name="Connector: Elbow 72">
            <a:extLst>
              <a:ext uri="{FF2B5EF4-FFF2-40B4-BE49-F238E27FC236}">
                <a16:creationId xmlns:a16="http://schemas.microsoft.com/office/drawing/2014/main" id="{0C25E820-576F-64CA-74E7-AA561E8BFAF3}"/>
              </a:ext>
            </a:extLst>
          </p:cNvPr>
          <p:cNvCxnSpPr>
            <a:cxnSpLocks/>
            <a:stCxn id="16" idx="4"/>
            <a:endCxn id="72" idx="0"/>
          </p:cNvCxnSpPr>
          <p:nvPr/>
        </p:nvCxnSpPr>
        <p:spPr>
          <a:xfrm rot="16200000" flipH="1">
            <a:off x="4756556" y="3589066"/>
            <a:ext cx="181598" cy="129531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0963F9B0-94E1-16DD-3784-1BA637D884DD}"/>
              </a:ext>
            </a:extLst>
          </p:cNvPr>
          <p:cNvSpPr/>
          <p:nvPr/>
        </p:nvSpPr>
        <p:spPr>
          <a:xfrm>
            <a:off x="5798610" y="356339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77" name="Rectangle 76">
            <a:extLst>
              <a:ext uri="{FF2B5EF4-FFF2-40B4-BE49-F238E27FC236}">
                <a16:creationId xmlns:a16="http://schemas.microsoft.com/office/drawing/2014/main" id="{7D8D8866-D8E7-1626-5930-E87077D93109}"/>
              </a:ext>
            </a:extLst>
          </p:cNvPr>
          <p:cNvSpPr/>
          <p:nvPr/>
        </p:nvSpPr>
        <p:spPr>
          <a:xfrm>
            <a:off x="5798610" y="419036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cxnSp>
        <p:nvCxnSpPr>
          <p:cNvPr id="81" name="Straight Connector 80">
            <a:extLst>
              <a:ext uri="{FF2B5EF4-FFF2-40B4-BE49-F238E27FC236}">
                <a16:creationId xmlns:a16="http://schemas.microsoft.com/office/drawing/2014/main" id="{51161B95-BDFC-1FA6-28B6-95ABB8090104}"/>
              </a:ext>
            </a:extLst>
          </p:cNvPr>
          <p:cNvCxnSpPr>
            <a:cxnSpLocks/>
            <a:stCxn id="16" idx="2"/>
            <a:endCxn id="13" idx="3"/>
          </p:cNvCxnSpPr>
          <p:nvPr/>
        </p:nvCxnSpPr>
        <p:spPr>
          <a:xfrm flipH="1" flipV="1">
            <a:off x="2441415" y="4001960"/>
            <a:ext cx="1621125" cy="6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8F8F2C0-4B1B-1A6C-50B7-50F0E0F287A6}"/>
              </a:ext>
            </a:extLst>
          </p:cNvPr>
          <p:cNvSpPr/>
          <p:nvPr/>
        </p:nvSpPr>
        <p:spPr>
          <a:xfrm>
            <a:off x="8296231"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快適度</a:t>
            </a:r>
            <a:endParaRPr lang="en-US" dirty="0">
              <a:solidFill>
                <a:schemeClr val="tx1"/>
              </a:solidFill>
              <a:latin typeface="Meiryo UI" panose="020B0604030504040204" pitchFamily="50" charset="-128"/>
              <a:ea typeface="Meiryo UI" panose="020B0604030504040204" pitchFamily="50" charset="-128"/>
            </a:endParaRPr>
          </a:p>
        </p:txBody>
      </p:sp>
      <p:cxnSp>
        <p:nvCxnSpPr>
          <p:cNvPr id="92" name="Straight Connector 91">
            <a:extLst>
              <a:ext uri="{FF2B5EF4-FFF2-40B4-BE49-F238E27FC236}">
                <a16:creationId xmlns:a16="http://schemas.microsoft.com/office/drawing/2014/main" id="{2A9AAE37-D604-485D-86F5-5C8F2E2637EB}"/>
              </a:ext>
            </a:extLst>
          </p:cNvPr>
          <p:cNvCxnSpPr>
            <a:cxnSpLocks/>
          </p:cNvCxnSpPr>
          <p:nvPr/>
        </p:nvCxnSpPr>
        <p:spPr>
          <a:xfrm>
            <a:off x="6788202"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28BEAAA-0BD2-7D99-D2C1-67D01C7283F9}"/>
              </a:ext>
            </a:extLst>
          </p:cNvPr>
          <p:cNvCxnSpPr>
            <a:cxnSpLocks/>
          </p:cNvCxnSpPr>
          <p:nvPr/>
        </p:nvCxnSpPr>
        <p:spPr>
          <a:xfrm>
            <a:off x="8127940"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2140FAD8-14C3-C2AD-F16D-35F96FE2D1D0}"/>
              </a:ext>
            </a:extLst>
          </p:cNvPr>
          <p:cNvCxnSpPr>
            <a:cxnSpLocks/>
            <a:stCxn id="13" idx="2"/>
            <a:endCxn id="98" idx="2"/>
          </p:cNvCxnSpPr>
          <p:nvPr/>
        </p:nvCxnSpPr>
        <p:spPr>
          <a:xfrm rot="16200000" flipH="1">
            <a:off x="2428215" y="4023597"/>
            <a:ext cx="1525606" cy="1743046"/>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87815AA9-74C6-26A4-3F2B-68C89A36D6CD}"/>
              </a:ext>
            </a:extLst>
          </p:cNvPr>
          <p:cNvSpPr/>
          <p:nvPr/>
        </p:nvSpPr>
        <p:spPr>
          <a:xfrm>
            <a:off x="4062541" y="552076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99" name="Connector: Elbow 98">
            <a:extLst>
              <a:ext uri="{FF2B5EF4-FFF2-40B4-BE49-F238E27FC236}">
                <a16:creationId xmlns:a16="http://schemas.microsoft.com/office/drawing/2014/main" id="{D9ED8166-FC9E-B4EB-3821-90C0BC65EA7C}"/>
              </a:ext>
            </a:extLst>
          </p:cNvPr>
          <p:cNvCxnSpPr>
            <a:cxnSpLocks/>
            <a:stCxn id="98" idx="0"/>
            <a:endCxn id="100" idx="0"/>
          </p:cNvCxnSpPr>
          <p:nvPr/>
        </p:nvCxnSpPr>
        <p:spPr>
          <a:xfrm rot="5400000" flipH="1" flipV="1">
            <a:off x="4760315" y="4786067"/>
            <a:ext cx="174082" cy="129531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6BFDB3EA-5A64-D9B1-94B9-0916B1CCF7C2}"/>
              </a:ext>
            </a:extLst>
          </p:cNvPr>
          <p:cNvSpPr/>
          <p:nvPr/>
        </p:nvSpPr>
        <p:spPr>
          <a:xfrm rot="16200000">
            <a:off x="5495011" y="520952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01" name="Isosceles Triangle 100">
            <a:extLst>
              <a:ext uri="{FF2B5EF4-FFF2-40B4-BE49-F238E27FC236}">
                <a16:creationId xmlns:a16="http://schemas.microsoft.com/office/drawing/2014/main" id="{ABFC8C16-A7C5-67AA-0A23-D0F35509EC94}"/>
              </a:ext>
            </a:extLst>
          </p:cNvPr>
          <p:cNvSpPr/>
          <p:nvPr/>
        </p:nvSpPr>
        <p:spPr>
          <a:xfrm rot="16200000">
            <a:off x="5495011" y="583648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2" name="Connector: Elbow 101">
            <a:extLst>
              <a:ext uri="{FF2B5EF4-FFF2-40B4-BE49-F238E27FC236}">
                <a16:creationId xmlns:a16="http://schemas.microsoft.com/office/drawing/2014/main" id="{0C12B8D6-B07B-C193-4994-573B8B9EB985}"/>
              </a:ext>
            </a:extLst>
          </p:cNvPr>
          <p:cNvCxnSpPr>
            <a:cxnSpLocks/>
            <a:stCxn id="98" idx="4"/>
            <a:endCxn id="101" idx="0"/>
          </p:cNvCxnSpPr>
          <p:nvPr/>
        </p:nvCxnSpPr>
        <p:spPr>
          <a:xfrm rot="16200000" flipH="1">
            <a:off x="4758075" y="5236709"/>
            <a:ext cx="178563" cy="129531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C59EEE01-EEF9-2E4D-A201-CAF79CD29AC6}"/>
              </a:ext>
            </a:extLst>
          </p:cNvPr>
          <p:cNvSpPr/>
          <p:nvPr/>
        </p:nvSpPr>
        <p:spPr>
          <a:xfrm>
            <a:off x="5798610" y="583648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残念な席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5" name="Rectangle 104">
            <a:extLst>
              <a:ext uri="{FF2B5EF4-FFF2-40B4-BE49-F238E27FC236}">
                <a16:creationId xmlns:a16="http://schemas.microsoft.com/office/drawing/2014/main" id="{E7B91D63-0F87-7E15-1FA0-25E1B0B485F7}"/>
              </a:ext>
            </a:extLst>
          </p:cNvPr>
          <p:cNvSpPr/>
          <p:nvPr/>
        </p:nvSpPr>
        <p:spPr>
          <a:xfrm>
            <a:off x="5798610" y="520952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7" name="Rectangle 106">
            <a:extLst>
              <a:ext uri="{FF2B5EF4-FFF2-40B4-BE49-F238E27FC236}">
                <a16:creationId xmlns:a16="http://schemas.microsoft.com/office/drawing/2014/main" id="{748BA24F-44F4-03DA-C789-5D3EB6E459C6}"/>
              </a:ext>
            </a:extLst>
          </p:cNvPr>
          <p:cNvSpPr/>
          <p:nvPr/>
        </p:nvSpPr>
        <p:spPr>
          <a:xfrm>
            <a:off x="6912713"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1500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8" name="Rectangle 107">
            <a:extLst>
              <a:ext uri="{FF2B5EF4-FFF2-40B4-BE49-F238E27FC236}">
                <a16:creationId xmlns:a16="http://schemas.microsoft.com/office/drawing/2014/main" id="{E6922C2D-E824-A493-455E-4490558821E7}"/>
              </a:ext>
            </a:extLst>
          </p:cNvPr>
          <p:cNvSpPr/>
          <p:nvPr/>
        </p:nvSpPr>
        <p:spPr>
          <a:xfrm>
            <a:off x="8257477"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9" name="Rectangle 108">
            <a:extLst>
              <a:ext uri="{FF2B5EF4-FFF2-40B4-BE49-F238E27FC236}">
                <a16:creationId xmlns:a16="http://schemas.microsoft.com/office/drawing/2014/main" id="{57143DD4-25FE-555B-20E6-7B97F42488DE}"/>
              </a:ext>
            </a:extLst>
          </p:cNvPr>
          <p:cNvSpPr/>
          <p:nvPr/>
        </p:nvSpPr>
        <p:spPr>
          <a:xfrm>
            <a:off x="6912713"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0" name="Rectangle 109">
            <a:extLst>
              <a:ext uri="{FF2B5EF4-FFF2-40B4-BE49-F238E27FC236}">
                <a16:creationId xmlns:a16="http://schemas.microsoft.com/office/drawing/2014/main" id="{E5FEA3B7-1EA5-3672-9D53-9C1768D447DD}"/>
              </a:ext>
            </a:extLst>
          </p:cNvPr>
          <p:cNvSpPr/>
          <p:nvPr/>
        </p:nvSpPr>
        <p:spPr>
          <a:xfrm>
            <a:off x="8257477" y="355136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1" name="Rectangle 110">
            <a:extLst>
              <a:ext uri="{FF2B5EF4-FFF2-40B4-BE49-F238E27FC236}">
                <a16:creationId xmlns:a16="http://schemas.microsoft.com/office/drawing/2014/main" id="{B7A56191-BEA9-9C38-45B8-6F821576BF1F}"/>
              </a:ext>
            </a:extLst>
          </p:cNvPr>
          <p:cNvSpPr/>
          <p:nvPr/>
        </p:nvSpPr>
        <p:spPr>
          <a:xfrm>
            <a:off x="6912713" y="4190360"/>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2" name="Rectangle 111">
            <a:extLst>
              <a:ext uri="{FF2B5EF4-FFF2-40B4-BE49-F238E27FC236}">
                <a16:creationId xmlns:a16="http://schemas.microsoft.com/office/drawing/2014/main" id="{CBA2BEC4-5438-DE1C-B466-2E211512260F}"/>
              </a:ext>
            </a:extLst>
          </p:cNvPr>
          <p:cNvSpPr/>
          <p:nvPr/>
        </p:nvSpPr>
        <p:spPr>
          <a:xfrm>
            <a:off x="8257477" y="4190360"/>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3" name="Rectangle 112">
            <a:extLst>
              <a:ext uri="{FF2B5EF4-FFF2-40B4-BE49-F238E27FC236}">
                <a16:creationId xmlns:a16="http://schemas.microsoft.com/office/drawing/2014/main" id="{308874E4-506E-D60A-C5C3-F6B41E28C16E}"/>
              </a:ext>
            </a:extLst>
          </p:cNvPr>
          <p:cNvSpPr/>
          <p:nvPr/>
        </p:nvSpPr>
        <p:spPr>
          <a:xfrm>
            <a:off x="7032474"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4" name="Rectangle 113">
            <a:extLst>
              <a:ext uri="{FF2B5EF4-FFF2-40B4-BE49-F238E27FC236}">
                <a16:creationId xmlns:a16="http://schemas.microsoft.com/office/drawing/2014/main" id="{298334D2-D899-EB68-E8CF-0F3EB530F888}"/>
              </a:ext>
            </a:extLst>
          </p:cNvPr>
          <p:cNvSpPr/>
          <p:nvPr/>
        </p:nvSpPr>
        <p:spPr>
          <a:xfrm>
            <a:off x="8257477" y="520952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5" name="Rectangle 114">
            <a:extLst>
              <a:ext uri="{FF2B5EF4-FFF2-40B4-BE49-F238E27FC236}">
                <a16:creationId xmlns:a16="http://schemas.microsoft.com/office/drawing/2014/main" id="{59EA86CE-2F31-6C76-E77F-68212E6E9FE2}"/>
              </a:ext>
            </a:extLst>
          </p:cNvPr>
          <p:cNvSpPr/>
          <p:nvPr/>
        </p:nvSpPr>
        <p:spPr>
          <a:xfrm>
            <a:off x="7032474" y="5840902"/>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6" name="Rectangle 115">
            <a:extLst>
              <a:ext uri="{FF2B5EF4-FFF2-40B4-BE49-F238E27FC236}">
                <a16:creationId xmlns:a16="http://schemas.microsoft.com/office/drawing/2014/main" id="{6FB66838-10FE-EC2E-9BBA-85932C34D0EE}"/>
              </a:ext>
            </a:extLst>
          </p:cNvPr>
          <p:cNvSpPr/>
          <p:nvPr/>
        </p:nvSpPr>
        <p:spPr>
          <a:xfrm>
            <a:off x="8257477" y="5840902"/>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0.5</a:t>
            </a:r>
          </a:p>
        </p:txBody>
      </p:sp>
      <p:sp>
        <p:nvSpPr>
          <p:cNvPr id="10" name="Rectangle 9">
            <a:extLst>
              <a:ext uri="{FF2B5EF4-FFF2-40B4-BE49-F238E27FC236}">
                <a16:creationId xmlns:a16="http://schemas.microsoft.com/office/drawing/2014/main" id="{6759417D-67F3-586B-4C84-71D01301A909}"/>
              </a:ext>
            </a:extLst>
          </p:cNvPr>
          <p:cNvSpPr/>
          <p:nvPr/>
        </p:nvSpPr>
        <p:spPr>
          <a:xfrm>
            <a:off x="4515598" y="4012072"/>
            <a:ext cx="932033"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UI" panose="020B0604030504040204" pitchFamily="50" charset="-128"/>
                <a:ea typeface="Meiryo UI" panose="020B0604030504040204" pitchFamily="50" charset="-128"/>
              </a:rPr>
              <a:t>20%</a:t>
            </a:r>
          </a:p>
        </p:txBody>
      </p:sp>
      <p:sp>
        <p:nvSpPr>
          <p:cNvPr id="15" name="Rectangle 14">
            <a:extLst>
              <a:ext uri="{FF2B5EF4-FFF2-40B4-BE49-F238E27FC236}">
                <a16:creationId xmlns:a16="http://schemas.microsoft.com/office/drawing/2014/main" id="{4179917B-B262-26C4-1330-D460203350FF}"/>
              </a:ext>
            </a:extLst>
          </p:cNvPr>
          <p:cNvSpPr/>
          <p:nvPr/>
        </p:nvSpPr>
        <p:spPr>
          <a:xfrm>
            <a:off x="9276290" y="2073071"/>
            <a:ext cx="1551157" cy="331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期待費用</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F6C1F52A-4CEA-5006-1D8D-16B404C56BFC}"/>
              </a:ext>
            </a:extLst>
          </p:cNvPr>
          <p:cNvSpPr/>
          <p:nvPr/>
        </p:nvSpPr>
        <p:spPr>
          <a:xfrm>
            <a:off x="10686535" y="2101874"/>
            <a:ext cx="1410143"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期待快適度</a:t>
            </a:r>
            <a:endParaRPr lang="en-US" dirty="0">
              <a:solidFill>
                <a:schemeClr val="tx1"/>
              </a:solidFill>
              <a:latin typeface="Meiryo UI" panose="020B0604030504040204" pitchFamily="50" charset="-128"/>
              <a:ea typeface="Meiryo UI" panose="020B0604030504040204" pitchFamily="50" charset="-128"/>
            </a:endParaRPr>
          </a:p>
        </p:txBody>
      </p:sp>
      <p:cxnSp>
        <p:nvCxnSpPr>
          <p:cNvPr id="19" name="Straight Connector 18">
            <a:extLst>
              <a:ext uri="{FF2B5EF4-FFF2-40B4-BE49-F238E27FC236}">
                <a16:creationId xmlns:a16="http://schemas.microsoft.com/office/drawing/2014/main" id="{8EFAAC14-9623-A325-2BB3-C5E63104EE50}"/>
              </a:ext>
            </a:extLst>
          </p:cNvPr>
          <p:cNvCxnSpPr>
            <a:cxnSpLocks/>
          </p:cNvCxnSpPr>
          <p:nvPr/>
        </p:nvCxnSpPr>
        <p:spPr>
          <a:xfrm>
            <a:off x="9445784"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D41CB08-97F5-FA91-DA85-D74AB05F8BF6}"/>
              </a:ext>
            </a:extLst>
          </p:cNvPr>
          <p:cNvCxnSpPr>
            <a:cxnSpLocks/>
          </p:cNvCxnSpPr>
          <p:nvPr/>
        </p:nvCxnSpPr>
        <p:spPr>
          <a:xfrm>
            <a:off x="10785522"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7F85335-0D54-CAFF-ADFB-56A19D0F74B5}"/>
              </a:ext>
            </a:extLst>
          </p:cNvPr>
          <p:cNvSpPr/>
          <p:nvPr/>
        </p:nvSpPr>
        <p:spPr>
          <a:xfrm>
            <a:off x="9570295"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1500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23" name="Rectangle 22">
            <a:extLst>
              <a:ext uri="{FF2B5EF4-FFF2-40B4-BE49-F238E27FC236}">
                <a16:creationId xmlns:a16="http://schemas.microsoft.com/office/drawing/2014/main" id="{81CE4B20-178D-C545-CCF6-C1B9C70469DD}"/>
              </a:ext>
            </a:extLst>
          </p:cNvPr>
          <p:cNvSpPr/>
          <p:nvPr/>
        </p:nvSpPr>
        <p:spPr>
          <a:xfrm>
            <a:off x="10915059"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24" name="Rectangle 23">
            <a:extLst>
              <a:ext uri="{FF2B5EF4-FFF2-40B4-BE49-F238E27FC236}">
                <a16:creationId xmlns:a16="http://schemas.microsoft.com/office/drawing/2014/main" id="{9C6D2D7B-BA29-E27E-CC04-BAFA8FC225E5}"/>
              </a:ext>
            </a:extLst>
          </p:cNvPr>
          <p:cNvSpPr/>
          <p:nvPr/>
        </p:nvSpPr>
        <p:spPr>
          <a:xfrm>
            <a:off x="9570295"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960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25" name="Rectangle 24">
            <a:extLst>
              <a:ext uri="{FF2B5EF4-FFF2-40B4-BE49-F238E27FC236}">
                <a16:creationId xmlns:a16="http://schemas.microsoft.com/office/drawing/2014/main" id="{2057AF24-D745-C32B-9747-EFB1CE03A89C}"/>
              </a:ext>
            </a:extLst>
          </p:cNvPr>
          <p:cNvSpPr/>
          <p:nvPr/>
        </p:nvSpPr>
        <p:spPr>
          <a:xfrm>
            <a:off x="10915059" y="355136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26" name="Rectangle 25">
            <a:extLst>
              <a:ext uri="{FF2B5EF4-FFF2-40B4-BE49-F238E27FC236}">
                <a16:creationId xmlns:a16="http://schemas.microsoft.com/office/drawing/2014/main" id="{24FC6B0D-46C5-813F-8566-0B96DA78CD7C}"/>
              </a:ext>
            </a:extLst>
          </p:cNvPr>
          <p:cNvSpPr/>
          <p:nvPr/>
        </p:nvSpPr>
        <p:spPr>
          <a:xfrm>
            <a:off x="9570295" y="4190360"/>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240</a:t>
            </a:r>
          </a:p>
        </p:txBody>
      </p:sp>
      <p:sp>
        <p:nvSpPr>
          <p:cNvPr id="27" name="Rectangle 26">
            <a:extLst>
              <a:ext uri="{FF2B5EF4-FFF2-40B4-BE49-F238E27FC236}">
                <a16:creationId xmlns:a16="http://schemas.microsoft.com/office/drawing/2014/main" id="{7AAC7035-F684-9108-6F20-700E46D32675}"/>
              </a:ext>
            </a:extLst>
          </p:cNvPr>
          <p:cNvSpPr/>
          <p:nvPr/>
        </p:nvSpPr>
        <p:spPr>
          <a:xfrm>
            <a:off x="10865364" y="4190359"/>
            <a:ext cx="972616" cy="304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0.16</a:t>
            </a:r>
          </a:p>
        </p:txBody>
      </p:sp>
      <p:sp>
        <p:nvSpPr>
          <p:cNvPr id="28" name="Rectangle 27">
            <a:extLst>
              <a:ext uri="{FF2B5EF4-FFF2-40B4-BE49-F238E27FC236}">
                <a16:creationId xmlns:a16="http://schemas.microsoft.com/office/drawing/2014/main" id="{AAE689B7-5E11-2FE3-5B1B-1AEE6DC5C056}"/>
              </a:ext>
            </a:extLst>
          </p:cNvPr>
          <p:cNvSpPr/>
          <p:nvPr/>
        </p:nvSpPr>
        <p:spPr>
          <a:xfrm>
            <a:off x="9690056"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525</a:t>
            </a:r>
          </a:p>
        </p:txBody>
      </p:sp>
      <p:sp>
        <p:nvSpPr>
          <p:cNvPr id="29" name="Rectangle 28">
            <a:extLst>
              <a:ext uri="{FF2B5EF4-FFF2-40B4-BE49-F238E27FC236}">
                <a16:creationId xmlns:a16="http://schemas.microsoft.com/office/drawing/2014/main" id="{4C55D0C1-0642-BB52-336F-F4ADE7FF175E}"/>
              </a:ext>
            </a:extLst>
          </p:cNvPr>
          <p:cNvSpPr/>
          <p:nvPr/>
        </p:nvSpPr>
        <p:spPr>
          <a:xfrm>
            <a:off x="10915059" y="520952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30" name="Rectangle 29">
            <a:extLst>
              <a:ext uri="{FF2B5EF4-FFF2-40B4-BE49-F238E27FC236}">
                <a16:creationId xmlns:a16="http://schemas.microsoft.com/office/drawing/2014/main" id="{084A8D21-9D0B-3B0B-E65D-D1C8A701DDC9}"/>
              </a:ext>
            </a:extLst>
          </p:cNvPr>
          <p:cNvSpPr/>
          <p:nvPr/>
        </p:nvSpPr>
        <p:spPr>
          <a:xfrm>
            <a:off x="9690056" y="5840902"/>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225</a:t>
            </a:r>
          </a:p>
        </p:txBody>
      </p:sp>
      <p:sp>
        <p:nvSpPr>
          <p:cNvPr id="31" name="Rectangle 30">
            <a:extLst>
              <a:ext uri="{FF2B5EF4-FFF2-40B4-BE49-F238E27FC236}">
                <a16:creationId xmlns:a16="http://schemas.microsoft.com/office/drawing/2014/main" id="{F91DEA03-EA7F-B6C3-334B-B59D66FADE01}"/>
              </a:ext>
            </a:extLst>
          </p:cNvPr>
          <p:cNvSpPr/>
          <p:nvPr/>
        </p:nvSpPr>
        <p:spPr>
          <a:xfrm>
            <a:off x="10823122" y="5840902"/>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0.15</a:t>
            </a:r>
          </a:p>
        </p:txBody>
      </p:sp>
      <p:cxnSp>
        <p:nvCxnSpPr>
          <p:cNvPr id="39" name="Connector: Curved 38">
            <a:extLst>
              <a:ext uri="{FF2B5EF4-FFF2-40B4-BE49-F238E27FC236}">
                <a16:creationId xmlns:a16="http://schemas.microsoft.com/office/drawing/2014/main" id="{A9490343-3AB1-C68C-8D42-4C6615F8FF70}"/>
              </a:ext>
            </a:extLst>
          </p:cNvPr>
          <p:cNvCxnSpPr>
            <a:stCxn id="109" idx="0"/>
            <a:endCxn id="24" idx="0"/>
          </p:cNvCxnSpPr>
          <p:nvPr/>
        </p:nvCxnSpPr>
        <p:spPr>
          <a:xfrm rot="5400000" flipH="1" flipV="1">
            <a:off x="8723077" y="2222573"/>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Curved 39">
            <a:extLst>
              <a:ext uri="{FF2B5EF4-FFF2-40B4-BE49-F238E27FC236}">
                <a16:creationId xmlns:a16="http://schemas.microsoft.com/office/drawing/2014/main" id="{DCD43CAF-CA50-7623-3CEF-73915EFF2B51}"/>
              </a:ext>
            </a:extLst>
          </p:cNvPr>
          <p:cNvCxnSpPr>
            <a:cxnSpLocks/>
            <a:stCxn id="110" idx="2"/>
            <a:endCxn id="25" idx="2"/>
          </p:cNvCxnSpPr>
          <p:nvPr/>
        </p:nvCxnSpPr>
        <p:spPr>
          <a:xfrm rot="16200000" flipH="1">
            <a:off x="10024062" y="2496893"/>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82C32C08-892B-BD43-1EC4-5BB26E11D70A}"/>
              </a:ext>
            </a:extLst>
          </p:cNvPr>
          <p:cNvCxnSpPr>
            <a:cxnSpLocks/>
            <a:stCxn id="111" idx="2"/>
            <a:endCxn id="26" idx="2"/>
          </p:cNvCxnSpPr>
          <p:nvPr/>
        </p:nvCxnSpPr>
        <p:spPr>
          <a:xfrm rot="16200000" flipH="1">
            <a:off x="8723077" y="3135889"/>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9D61A835-E22B-39B1-6F2F-131BAD3982E2}"/>
              </a:ext>
            </a:extLst>
          </p:cNvPr>
          <p:cNvCxnSpPr>
            <a:cxnSpLocks/>
            <a:stCxn id="112" idx="2"/>
            <a:endCxn id="27" idx="2"/>
          </p:cNvCxnSpPr>
          <p:nvPr/>
        </p:nvCxnSpPr>
        <p:spPr>
          <a:xfrm rot="16200000" flipH="1">
            <a:off x="10008272" y="3151678"/>
            <a:ext cx="30398" cy="2656401"/>
          </a:xfrm>
          <a:prstGeom prst="curvedConnector3">
            <a:avLst>
              <a:gd name="adj1" fmla="val 85202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5D9FA77A-7404-59E5-3551-58BAABB65427}"/>
              </a:ext>
            </a:extLst>
          </p:cNvPr>
          <p:cNvCxnSpPr>
            <a:cxnSpLocks/>
            <a:stCxn id="113" idx="0"/>
            <a:endCxn id="28" idx="0"/>
          </p:cNvCxnSpPr>
          <p:nvPr/>
        </p:nvCxnSpPr>
        <p:spPr>
          <a:xfrm rot="5400000" flipH="1" flipV="1">
            <a:off x="8723078" y="3880730"/>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DE782F4F-8276-B415-A783-65F7546920E2}"/>
              </a:ext>
            </a:extLst>
          </p:cNvPr>
          <p:cNvCxnSpPr>
            <a:cxnSpLocks/>
            <a:stCxn id="114" idx="2"/>
            <a:endCxn id="29" idx="2"/>
          </p:cNvCxnSpPr>
          <p:nvPr/>
        </p:nvCxnSpPr>
        <p:spPr>
          <a:xfrm rot="16200000" flipH="1">
            <a:off x="10024062" y="4155050"/>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237411A6-19F9-245D-573A-7F77F6295ADD}"/>
              </a:ext>
            </a:extLst>
          </p:cNvPr>
          <p:cNvCxnSpPr>
            <a:cxnSpLocks/>
            <a:stCxn id="115" idx="2"/>
            <a:endCxn id="30" idx="2"/>
          </p:cNvCxnSpPr>
          <p:nvPr/>
        </p:nvCxnSpPr>
        <p:spPr>
          <a:xfrm rot="16200000" flipH="1">
            <a:off x="8723078" y="4786431"/>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F6FF9352-A3CB-0F8D-7CFB-04EC0A095D45}"/>
              </a:ext>
            </a:extLst>
          </p:cNvPr>
          <p:cNvCxnSpPr>
            <a:cxnSpLocks/>
            <a:stCxn id="116" idx="2"/>
            <a:endCxn id="31" idx="2"/>
          </p:cNvCxnSpPr>
          <p:nvPr/>
        </p:nvCxnSpPr>
        <p:spPr>
          <a:xfrm rot="16200000" flipH="1">
            <a:off x="10024062" y="4786431"/>
            <a:ext cx="12700" cy="265758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510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E35CE-0415-62FF-BBB6-EF0FBB704E1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1DDCDAA5-5ABC-440F-CED1-C9F988DC487F}"/>
              </a:ext>
            </a:extLst>
          </p:cNvPr>
          <p:cNvSpPr/>
          <p:nvPr/>
        </p:nvSpPr>
        <p:spPr>
          <a:xfrm>
            <a:off x="1207561" y="5332757"/>
            <a:ext cx="1557421" cy="2413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エコノミー</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5" name="Rectangle 34">
            <a:extLst>
              <a:ext uri="{FF2B5EF4-FFF2-40B4-BE49-F238E27FC236}">
                <a16:creationId xmlns:a16="http://schemas.microsoft.com/office/drawing/2014/main" id="{24DE4332-3C13-2848-0FDE-521F66F1A389}"/>
              </a:ext>
            </a:extLst>
          </p:cNvPr>
          <p:cNvSpPr/>
          <p:nvPr/>
        </p:nvSpPr>
        <p:spPr>
          <a:xfrm>
            <a:off x="1450579" y="3643724"/>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ビジネス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36" name="Rectangle 35">
            <a:extLst>
              <a:ext uri="{FF2B5EF4-FFF2-40B4-BE49-F238E27FC236}">
                <a16:creationId xmlns:a16="http://schemas.microsoft.com/office/drawing/2014/main" id="{6FBEDD96-9D21-6F4C-042E-8771D00DC03C}"/>
              </a:ext>
            </a:extLst>
          </p:cNvPr>
          <p:cNvSpPr/>
          <p:nvPr/>
        </p:nvSpPr>
        <p:spPr>
          <a:xfrm>
            <a:off x="1268286" y="2806370"/>
            <a:ext cx="172204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ファーストクラス</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4" name="Rectangle 13">
            <a:extLst>
              <a:ext uri="{FF2B5EF4-FFF2-40B4-BE49-F238E27FC236}">
                <a16:creationId xmlns:a16="http://schemas.microsoft.com/office/drawing/2014/main" id="{54DF4001-1EDD-13B3-39FC-2BB128257C30}"/>
              </a:ext>
            </a:extLst>
          </p:cNvPr>
          <p:cNvSpPr/>
          <p:nvPr/>
        </p:nvSpPr>
        <p:spPr>
          <a:xfrm>
            <a:off x="2909935" y="5524342"/>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UI" panose="020B0604030504040204" pitchFamily="50" charset="-128"/>
                <a:ea typeface="Meiryo UI" panose="020B0604030504040204" pitchFamily="50" charset="-128"/>
              </a:rPr>
              <a:t>30%</a:t>
            </a:r>
          </a:p>
        </p:txBody>
      </p:sp>
      <p:sp>
        <p:nvSpPr>
          <p:cNvPr id="11" name="Rectangle 10">
            <a:extLst>
              <a:ext uri="{FF2B5EF4-FFF2-40B4-BE49-F238E27FC236}">
                <a16:creationId xmlns:a16="http://schemas.microsoft.com/office/drawing/2014/main" id="{6F52F9C3-EC68-1EAE-ED1E-73E62ECE68A7}"/>
              </a:ext>
            </a:extLst>
          </p:cNvPr>
          <p:cNvSpPr/>
          <p:nvPr/>
        </p:nvSpPr>
        <p:spPr>
          <a:xfrm>
            <a:off x="2909935" y="501082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UI" panose="020B0604030504040204" pitchFamily="50" charset="-128"/>
                <a:ea typeface="Meiryo UI" panose="020B0604030504040204" pitchFamily="50" charset="-128"/>
              </a:rPr>
              <a:t>70%</a:t>
            </a:r>
          </a:p>
        </p:txBody>
      </p:sp>
      <p:sp>
        <p:nvSpPr>
          <p:cNvPr id="3" name="Rectangle 2">
            <a:extLst>
              <a:ext uri="{FF2B5EF4-FFF2-40B4-BE49-F238E27FC236}">
                <a16:creationId xmlns:a16="http://schemas.microsoft.com/office/drawing/2014/main" id="{9D51D7A2-4C77-C56B-FDE9-80C53B058BEE}"/>
              </a:ext>
            </a:extLst>
          </p:cNvPr>
          <p:cNvSpPr/>
          <p:nvPr/>
        </p:nvSpPr>
        <p:spPr>
          <a:xfrm>
            <a:off x="2909935" y="3378368"/>
            <a:ext cx="1127760"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UI" panose="020B0604030504040204" pitchFamily="50" charset="-128"/>
                <a:ea typeface="Meiryo UI" panose="020B0604030504040204" pitchFamily="50" charset="-128"/>
              </a:rPr>
              <a:t>80%</a:t>
            </a:r>
          </a:p>
        </p:txBody>
      </p:sp>
      <p:sp>
        <p:nvSpPr>
          <p:cNvPr id="2" name="Title 1">
            <a:extLst>
              <a:ext uri="{FF2B5EF4-FFF2-40B4-BE49-F238E27FC236}">
                <a16:creationId xmlns:a16="http://schemas.microsoft.com/office/drawing/2014/main" id="{5F4C01A3-8E85-7528-FA6F-614BAF5C2920}"/>
              </a:ext>
            </a:extLst>
          </p:cNvPr>
          <p:cNvSpPr>
            <a:spLocks noGrp="1"/>
          </p:cNvSpPr>
          <p:nvPr>
            <p:ph type="title"/>
          </p:nvPr>
        </p:nvSpPr>
        <p:spPr/>
        <p:txBody>
          <a:bodyPr/>
          <a:lstStyle/>
          <a:p>
            <a:r>
              <a:rPr lang="ja-JP" altLang="en-US" dirty="0"/>
              <a:t>フライトの座席クラスを決めるーシミュレーション実施</a:t>
            </a:r>
            <a:endParaRPr lang="en-US" dirty="0"/>
          </a:p>
        </p:txBody>
      </p:sp>
      <p:sp>
        <p:nvSpPr>
          <p:cNvPr id="4" name="Slide Number Placeholder 3">
            <a:extLst>
              <a:ext uri="{FF2B5EF4-FFF2-40B4-BE49-F238E27FC236}">
                <a16:creationId xmlns:a16="http://schemas.microsoft.com/office/drawing/2014/main" id="{3DBE2864-16E5-D500-B76F-10FDF38619EF}"/>
              </a:ext>
            </a:extLst>
          </p:cNvPr>
          <p:cNvSpPr>
            <a:spLocks noGrp="1"/>
          </p:cNvSpPr>
          <p:nvPr>
            <p:ph type="sldNum" sz="quarter" idx="4"/>
          </p:nvPr>
        </p:nvSpPr>
        <p:spPr/>
        <p:txBody>
          <a:bodyPr/>
          <a:lstStyle/>
          <a:p>
            <a:fld id="{B5CEABB6-07DC-46E8-9B57-56EC44A396E5}" type="slidenum">
              <a:rPr lang="en-US" smtClean="0"/>
              <a:pPr/>
              <a:t>47</a:t>
            </a:fld>
            <a:endParaRPr lang="en-US" dirty="0"/>
          </a:p>
        </p:txBody>
      </p:sp>
      <p:sp>
        <p:nvSpPr>
          <p:cNvPr id="5" name="Table Placeholder 4">
            <a:extLst>
              <a:ext uri="{FF2B5EF4-FFF2-40B4-BE49-F238E27FC236}">
                <a16:creationId xmlns:a16="http://schemas.microsoft.com/office/drawing/2014/main" id="{05CA3E95-5531-AC16-22F0-9858B2EA9D8C}"/>
              </a:ext>
            </a:extLst>
          </p:cNvPr>
          <p:cNvSpPr>
            <a:spLocks noGrp="1"/>
          </p:cNvSpPr>
          <p:nvPr>
            <p:ph type="tbl" sz="quarter" idx="11"/>
          </p:nvPr>
        </p:nvSpPr>
        <p:spPr/>
        <p:txBody>
          <a:bodyPr/>
          <a:lstStyle/>
          <a:p>
            <a:r>
              <a:rPr lang="ja-JP" altLang="en-US" dirty="0"/>
              <a:t>期待値から各座席クラスの</a:t>
            </a:r>
            <a:r>
              <a:rPr lang="en-US" dirty="0"/>
              <a:t>QAH</a:t>
            </a:r>
            <a:r>
              <a:rPr lang="ja-JP" altLang="en-US" dirty="0"/>
              <a:t>を求める</a:t>
            </a:r>
            <a:endParaRPr lang="en-US" dirty="0"/>
          </a:p>
        </p:txBody>
      </p:sp>
      <p:grpSp>
        <p:nvGrpSpPr>
          <p:cNvPr id="6" name="Group 5">
            <a:extLst>
              <a:ext uri="{FF2B5EF4-FFF2-40B4-BE49-F238E27FC236}">
                <a16:creationId xmlns:a16="http://schemas.microsoft.com/office/drawing/2014/main" id="{C1C274A6-E57D-85A8-1AEE-1D557D69A2B6}"/>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237FDADA-A9E1-0E54-1761-2348884A55E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1B96A7F4-4CE2-F5FD-4FB0-90F24F4F6E14}"/>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61B6E6B4-05C8-F99C-BA72-BE2D3E8A7EDE}"/>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13" name="Rectangle 12">
            <a:extLst>
              <a:ext uri="{FF2B5EF4-FFF2-40B4-BE49-F238E27FC236}">
                <a16:creationId xmlns:a16="http://schemas.microsoft.com/office/drawing/2014/main" id="{51B03608-9170-C2CD-FDD2-6BD215CD1516}"/>
              </a:ext>
            </a:extLst>
          </p:cNvPr>
          <p:cNvSpPr/>
          <p:nvPr/>
        </p:nvSpPr>
        <p:spPr>
          <a:xfrm>
            <a:off x="1244258" y="3871603"/>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6" name="Oval 15">
            <a:extLst>
              <a:ext uri="{FF2B5EF4-FFF2-40B4-BE49-F238E27FC236}">
                <a16:creationId xmlns:a16="http://schemas.microsoft.com/office/drawing/2014/main" id="{FC6F1D03-E9DD-B2F6-D912-5BB945563E1F}"/>
              </a:ext>
            </a:extLst>
          </p:cNvPr>
          <p:cNvSpPr/>
          <p:nvPr/>
        </p:nvSpPr>
        <p:spPr>
          <a:xfrm>
            <a:off x="2554741" y="387160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7" name="Connector: Elbow 16">
            <a:extLst>
              <a:ext uri="{FF2B5EF4-FFF2-40B4-BE49-F238E27FC236}">
                <a16:creationId xmlns:a16="http://schemas.microsoft.com/office/drawing/2014/main" id="{478C12BB-E05F-98F9-79F9-7311BD9942A3}"/>
              </a:ext>
            </a:extLst>
          </p:cNvPr>
          <p:cNvCxnSpPr>
            <a:cxnSpLocks/>
            <a:stCxn id="13" idx="0"/>
            <a:endCxn id="21" idx="0"/>
          </p:cNvCxnSpPr>
          <p:nvPr/>
        </p:nvCxnSpPr>
        <p:spPr>
          <a:xfrm rot="5400000" flipH="1" flipV="1">
            <a:off x="2110089" y="1994480"/>
            <a:ext cx="1133213" cy="2621034"/>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C6580A2B-DB4B-BD09-6449-0D56163A020B}"/>
              </a:ext>
            </a:extLst>
          </p:cNvPr>
          <p:cNvSpPr/>
          <p:nvPr/>
        </p:nvSpPr>
        <p:spPr>
          <a:xfrm rot="16200000">
            <a:off x="3987212" y="2601230"/>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4" name="Straight Connector 33">
            <a:extLst>
              <a:ext uri="{FF2B5EF4-FFF2-40B4-BE49-F238E27FC236}">
                <a16:creationId xmlns:a16="http://schemas.microsoft.com/office/drawing/2014/main" id="{8F6CB744-8D1E-E1E6-3791-1170FAAD158F}"/>
              </a:ext>
            </a:extLst>
          </p:cNvPr>
          <p:cNvCxnSpPr>
            <a:cxnSpLocks/>
            <a:stCxn id="13" idx="1"/>
          </p:cNvCxnSpPr>
          <p:nvPr/>
        </p:nvCxnSpPr>
        <p:spPr>
          <a:xfrm flipH="1">
            <a:off x="282096" y="4001960"/>
            <a:ext cx="9621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0124B4F3-9E60-7510-19B4-62FC13A1DE83}"/>
              </a:ext>
            </a:extLst>
          </p:cNvPr>
          <p:cNvSpPr/>
          <p:nvPr/>
        </p:nvSpPr>
        <p:spPr>
          <a:xfrm>
            <a:off x="189259" y="3378368"/>
            <a:ext cx="1009223" cy="5620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座席を選ぶ</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D2A0538F-4C92-E677-6270-6E86F6A4526D}"/>
              </a:ext>
            </a:extLst>
          </p:cNvPr>
          <p:cNvSpPr/>
          <p:nvPr/>
        </p:nvSpPr>
        <p:spPr>
          <a:xfrm>
            <a:off x="5356757" y="210187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費用</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50" name="Rectangle 49">
            <a:extLst>
              <a:ext uri="{FF2B5EF4-FFF2-40B4-BE49-F238E27FC236}">
                <a16:creationId xmlns:a16="http://schemas.microsoft.com/office/drawing/2014/main" id="{88FA61A8-21B8-EE23-6495-70AB6C0A9582}"/>
              </a:ext>
            </a:extLst>
          </p:cNvPr>
          <p:cNvSpPr/>
          <p:nvPr/>
        </p:nvSpPr>
        <p:spPr>
          <a:xfrm>
            <a:off x="4292865" y="2586843"/>
            <a:ext cx="1236777" cy="3030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grpSp>
        <p:nvGrpSpPr>
          <p:cNvPr id="51" name="Group 50">
            <a:extLst>
              <a:ext uri="{FF2B5EF4-FFF2-40B4-BE49-F238E27FC236}">
                <a16:creationId xmlns:a16="http://schemas.microsoft.com/office/drawing/2014/main" id="{34E99218-7F6B-E371-3690-9F8270E5F104}"/>
              </a:ext>
            </a:extLst>
          </p:cNvPr>
          <p:cNvGrpSpPr/>
          <p:nvPr/>
        </p:nvGrpSpPr>
        <p:grpSpPr>
          <a:xfrm>
            <a:off x="639566" y="2053361"/>
            <a:ext cx="4493017" cy="308921"/>
            <a:chOff x="4911850" y="6335733"/>
            <a:chExt cx="4068115" cy="292745"/>
          </a:xfrm>
        </p:grpSpPr>
        <p:sp>
          <p:nvSpPr>
            <p:cNvPr id="52" name="Rectangle 51">
              <a:extLst>
                <a:ext uri="{FF2B5EF4-FFF2-40B4-BE49-F238E27FC236}">
                  <a16:creationId xmlns:a16="http://schemas.microsoft.com/office/drawing/2014/main" id="{10ABDD6B-8F2C-E6CC-66D1-E70740ED94F2}"/>
                </a:ext>
              </a:extLst>
            </p:cNvPr>
            <p:cNvSpPr/>
            <p:nvPr/>
          </p:nvSpPr>
          <p:spPr>
            <a:xfrm>
              <a:off x="4911850" y="6352525"/>
              <a:ext cx="243840" cy="260714"/>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3" name="Rectangle 52">
              <a:extLst>
                <a:ext uri="{FF2B5EF4-FFF2-40B4-BE49-F238E27FC236}">
                  <a16:creationId xmlns:a16="http://schemas.microsoft.com/office/drawing/2014/main" id="{1B187ECE-5405-1A2C-67B4-E277188C4B21}"/>
                </a:ext>
              </a:extLst>
            </p:cNvPr>
            <p:cNvSpPr/>
            <p:nvPr/>
          </p:nvSpPr>
          <p:spPr>
            <a:xfrm>
              <a:off x="5155690"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意思決定</a:t>
              </a:r>
              <a:endParaRPr lang="en-US" dirty="0">
                <a:solidFill>
                  <a:schemeClr val="tx1"/>
                </a:solidFill>
                <a:latin typeface="Meiryo UI" panose="020B0604030504040204" pitchFamily="50" charset="-128"/>
                <a:ea typeface="Meiryo UI" panose="020B0604030504040204" pitchFamily="50" charset="-128"/>
              </a:endParaRPr>
            </a:p>
          </p:txBody>
        </p:sp>
        <p:sp>
          <p:nvSpPr>
            <p:cNvPr id="54" name="Oval 53">
              <a:extLst>
                <a:ext uri="{FF2B5EF4-FFF2-40B4-BE49-F238E27FC236}">
                  <a16:creationId xmlns:a16="http://schemas.microsoft.com/office/drawing/2014/main" id="{808B1893-592C-FDD4-DC18-CCC765485CBE}"/>
                </a:ext>
              </a:extLst>
            </p:cNvPr>
            <p:cNvSpPr/>
            <p:nvPr/>
          </p:nvSpPr>
          <p:spPr>
            <a:xfrm>
              <a:off x="6258310" y="6338919"/>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5" name="Rectangle 54">
              <a:extLst>
                <a:ext uri="{FF2B5EF4-FFF2-40B4-BE49-F238E27FC236}">
                  <a16:creationId xmlns:a16="http://schemas.microsoft.com/office/drawing/2014/main" id="{9A46125E-6E91-4A93-1661-2B649E5926FF}"/>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確率事象</a:t>
              </a:r>
              <a:endParaRPr lang="en-US" dirty="0">
                <a:solidFill>
                  <a:schemeClr val="tx1"/>
                </a:solidFill>
                <a:latin typeface="Meiryo UI" panose="020B0604030504040204" pitchFamily="50" charset="-128"/>
                <a:ea typeface="Meiryo UI" panose="020B0604030504040204" pitchFamily="50" charset="-128"/>
              </a:endParaRPr>
            </a:p>
          </p:txBody>
        </p:sp>
        <p:sp>
          <p:nvSpPr>
            <p:cNvPr id="56" name="Isosceles Triangle 55">
              <a:extLst>
                <a:ext uri="{FF2B5EF4-FFF2-40B4-BE49-F238E27FC236}">
                  <a16:creationId xmlns:a16="http://schemas.microsoft.com/office/drawing/2014/main" id="{E71FF644-77FA-B291-6992-34EB995C8D62}"/>
                </a:ext>
              </a:extLst>
            </p:cNvPr>
            <p:cNvSpPr/>
            <p:nvPr/>
          </p:nvSpPr>
          <p:spPr>
            <a:xfrm rot="16200000">
              <a:off x="7607938" y="635415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7" name="Rectangle 56">
              <a:extLst>
                <a:ext uri="{FF2B5EF4-FFF2-40B4-BE49-F238E27FC236}">
                  <a16:creationId xmlns:a16="http://schemas.microsoft.com/office/drawing/2014/main" id="{E4FDE388-DBDE-DD39-92AC-CF214989F4E1}"/>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結果</a:t>
              </a:r>
              <a:endParaRPr lang="en-US" dirty="0">
                <a:solidFill>
                  <a:schemeClr val="tx1"/>
                </a:solidFill>
                <a:latin typeface="Meiryo UI" panose="020B0604030504040204" pitchFamily="50" charset="-128"/>
                <a:ea typeface="Meiryo UI" panose="020B0604030504040204" pitchFamily="50" charset="-128"/>
              </a:endParaRPr>
            </a:p>
          </p:txBody>
        </p:sp>
      </p:grpSp>
      <p:cxnSp>
        <p:nvCxnSpPr>
          <p:cNvPr id="70" name="Connector: Elbow 69">
            <a:extLst>
              <a:ext uri="{FF2B5EF4-FFF2-40B4-BE49-F238E27FC236}">
                <a16:creationId xmlns:a16="http://schemas.microsoft.com/office/drawing/2014/main" id="{BB499BF2-1BAB-44CA-006B-780A36E56567}"/>
              </a:ext>
            </a:extLst>
          </p:cNvPr>
          <p:cNvCxnSpPr>
            <a:cxnSpLocks/>
            <a:stCxn id="16" idx="0"/>
            <a:endCxn id="71" idx="0"/>
          </p:cNvCxnSpPr>
          <p:nvPr/>
        </p:nvCxnSpPr>
        <p:spPr>
          <a:xfrm rot="5400000" flipH="1" flipV="1">
            <a:off x="3254033" y="3138425"/>
            <a:ext cx="171047" cy="129531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1" name="Isosceles Triangle 70">
            <a:extLst>
              <a:ext uri="{FF2B5EF4-FFF2-40B4-BE49-F238E27FC236}">
                <a16:creationId xmlns:a16="http://schemas.microsoft.com/office/drawing/2014/main" id="{C020ED34-76D3-9DD6-D9C0-36DAFC5F82BC}"/>
              </a:ext>
            </a:extLst>
          </p:cNvPr>
          <p:cNvSpPr/>
          <p:nvPr/>
        </p:nvSpPr>
        <p:spPr>
          <a:xfrm rot="16200000">
            <a:off x="3987212" y="3563396"/>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72" name="Isosceles Triangle 71">
            <a:extLst>
              <a:ext uri="{FF2B5EF4-FFF2-40B4-BE49-F238E27FC236}">
                <a16:creationId xmlns:a16="http://schemas.microsoft.com/office/drawing/2014/main" id="{874293C8-F4D5-3217-E979-DBA4220B5ED1}"/>
              </a:ext>
            </a:extLst>
          </p:cNvPr>
          <p:cNvSpPr/>
          <p:nvPr/>
        </p:nvSpPr>
        <p:spPr>
          <a:xfrm rot="16200000">
            <a:off x="3987212" y="4081032"/>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73" name="Connector: Elbow 72">
            <a:extLst>
              <a:ext uri="{FF2B5EF4-FFF2-40B4-BE49-F238E27FC236}">
                <a16:creationId xmlns:a16="http://schemas.microsoft.com/office/drawing/2014/main" id="{AC76A4B8-2AFB-DDBE-F41C-0178908EDF4A}"/>
              </a:ext>
            </a:extLst>
          </p:cNvPr>
          <p:cNvCxnSpPr>
            <a:cxnSpLocks/>
            <a:stCxn id="16" idx="4"/>
            <a:endCxn id="72" idx="0"/>
          </p:cNvCxnSpPr>
          <p:nvPr/>
        </p:nvCxnSpPr>
        <p:spPr>
          <a:xfrm rot="16200000" flipH="1">
            <a:off x="3303422" y="3534401"/>
            <a:ext cx="72269" cy="1295311"/>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603FE58A-7286-A14B-3C83-50E06183C739}"/>
              </a:ext>
            </a:extLst>
          </p:cNvPr>
          <p:cNvSpPr/>
          <p:nvPr/>
        </p:nvSpPr>
        <p:spPr>
          <a:xfrm>
            <a:off x="4290811" y="3563395"/>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快適な席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77" name="Rectangle 76">
            <a:extLst>
              <a:ext uri="{FF2B5EF4-FFF2-40B4-BE49-F238E27FC236}">
                <a16:creationId xmlns:a16="http://schemas.microsoft.com/office/drawing/2014/main" id="{EAE4F757-4DB1-B7D0-0B26-F0433F7CBB67}"/>
              </a:ext>
            </a:extLst>
          </p:cNvPr>
          <p:cNvSpPr/>
          <p:nvPr/>
        </p:nvSpPr>
        <p:spPr>
          <a:xfrm>
            <a:off x="4290811" y="4081031"/>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cxnSp>
        <p:nvCxnSpPr>
          <p:cNvPr id="81" name="Straight Connector 80">
            <a:extLst>
              <a:ext uri="{FF2B5EF4-FFF2-40B4-BE49-F238E27FC236}">
                <a16:creationId xmlns:a16="http://schemas.microsoft.com/office/drawing/2014/main" id="{FCD00108-85D5-0F99-4EAF-F81BBAF9E6C9}"/>
              </a:ext>
            </a:extLst>
          </p:cNvPr>
          <p:cNvCxnSpPr>
            <a:cxnSpLocks/>
            <a:stCxn id="16" idx="2"/>
            <a:endCxn id="13" idx="3"/>
          </p:cNvCxnSpPr>
          <p:nvPr/>
        </p:nvCxnSpPr>
        <p:spPr>
          <a:xfrm flipH="1" flipV="1">
            <a:off x="1488098" y="4001960"/>
            <a:ext cx="1066643" cy="680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8DDCB26-D5A0-1920-A887-4B7DDA23AC14}"/>
              </a:ext>
            </a:extLst>
          </p:cNvPr>
          <p:cNvSpPr/>
          <p:nvPr/>
        </p:nvSpPr>
        <p:spPr>
          <a:xfrm>
            <a:off x="6788432"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快適度</a:t>
            </a:r>
            <a:endParaRPr lang="en-US" dirty="0">
              <a:solidFill>
                <a:schemeClr val="tx1"/>
              </a:solidFill>
              <a:latin typeface="Meiryo UI" panose="020B0604030504040204" pitchFamily="50" charset="-128"/>
              <a:ea typeface="Meiryo UI" panose="020B0604030504040204" pitchFamily="50" charset="-128"/>
            </a:endParaRPr>
          </a:p>
        </p:txBody>
      </p:sp>
      <p:cxnSp>
        <p:nvCxnSpPr>
          <p:cNvPr id="92" name="Straight Connector 91">
            <a:extLst>
              <a:ext uri="{FF2B5EF4-FFF2-40B4-BE49-F238E27FC236}">
                <a16:creationId xmlns:a16="http://schemas.microsoft.com/office/drawing/2014/main" id="{99B56F07-278F-C82D-C295-9343C45D12E7}"/>
              </a:ext>
            </a:extLst>
          </p:cNvPr>
          <p:cNvCxnSpPr>
            <a:cxnSpLocks/>
          </p:cNvCxnSpPr>
          <p:nvPr/>
        </p:nvCxnSpPr>
        <p:spPr>
          <a:xfrm>
            <a:off x="5280403"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E80F0AA-824A-FC9A-70B1-EE015AFDD720}"/>
              </a:ext>
            </a:extLst>
          </p:cNvPr>
          <p:cNvCxnSpPr>
            <a:cxnSpLocks/>
          </p:cNvCxnSpPr>
          <p:nvPr/>
        </p:nvCxnSpPr>
        <p:spPr>
          <a:xfrm>
            <a:off x="6620141"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33673D5F-4B98-77A1-C219-0E1A865208B1}"/>
              </a:ext>
            </a:extLst>
          </p:cNvPr>
          <p:cNvCxnSpPr>
            <a:cxnSpLocks/>
            <a:stCxn id="13" idx="2"/>
            <a:endCxn id="98" idx="2"/>
          </p:cNvCxnSpPr>
          <p:nvPr/>
        </p:nvCxnSpPr>
        <p:spPr>
          <a:xfrm rot="16200000" flipH="1">
            <a:off x="1197657" y="4300838"/>
            <a:ext cx="1525606" cy="1188564"/>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60BD7D6F-CEB9-0B03-5FC5-EFB79A5AA12B}"/>
              </a:ext>
            </a:extLst>
          </p:cNvPr>
          <p:cNvSpPr/>
          <p:nvPr/>
        </p:nvSpPr>
        <p:spPr>
          <a:xfrm>
            <a:off x="2554742" y="5520763"/>
            <a:ext cx="274320" cy="274320"/>
          </a:xfrm>
          <a:prstGeom prst="ellipse">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99" name="Connector: Elbow 98">
            <a:extLst>
              <a:ext uri="{FF2B5EF4-FFF2-40B4-BE49-F238E27FC236}">
                <a16:creationId xmlns:a16="http://schemas.microsoft.com/office/drawing/2014/main" id="{9B823AB6-7ED1-1160-453B-B00E39C11CD8}"/>
              </a:ext>
            </a:extLst>
          </p:cNvPr>
          <p:cNvCxnSpPr>
            <a:cxnSpLocks/>
            <a:stCxn id="98" idx="0"/>
            <a:endCxn id="100" idx="0"/>
          </p:cNvCxnSpPr>
          <p:nvPr/>
        </p:nvCxnSpPr>
        <p:spPr>
          <a:xfrm rot="5400000" flipH="1" flipV="1">
            <a:off x="3252516" y="4786067"/>
            <a:ext cx="174082" cy="129531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73737B3C-124A-DB9F-5CC1-8E280D34E545}"/>
              </a:ext>
            </a:extLst>
          </p:cNvPr>
          <p:cNvSpPr/>
          <p:nvPr/>
        </p:nvSpPr>
        <p:spPr>
          <a:xfrm rot="16200000">
            <a:off x="3987212" y="5209521"/>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01" name="Isosceles Triangle 100">
            <a:extLst>
              <a:ext uri="{FF2B5EF4-FFF2-40B4-BE49-F238E27FC236}">
                <a16:creationId xmlns:a16="http://schemas.microsoft.com/office/drawing/2014/main" id="{CACEFD0F-3CE3-E20C-D815-8C226F42E1F2}"/>
              </a:ext>
            </a:extLst>
          </p:cNvPr>
          <p:cNvSpPr/>
          <p:nvPr/>
        </p:nvSpPr>
        <p:spPr>
          <a:xfrm rot="16200000">
            <a:off x="3987212" y="5717218"/>
            <a:ext cx="274320" cy="274320"/>
          </a:xfrm>
          <a:prstGeom prst="triangl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02" name="Connector: Elbow 101">
            <a:extLst>
              <a:ext uri="{FF2B5EF4-FFF2-40B4-BE49-F238E27FC236}">
                <a16:creationId xmlns:a16="http://schemas.microsoft.com/office/drawing/2014/main" id="{EFACAA5C-2F2C-B8B6-723B-30790EC99A99}"/>
              </a:ext>
            </a:extLst>
          </p:cNvPr>
          <p:cNvCxnSpPr>
            <a:cxnSpLocks/>
            <a:stCxn id="98" idx="4"/>
            <a:endCxn id="101" idx="0"/>
          </p:cNvCxnSpPr>
          <p:nvPr/>
        </p:nvCxnSpPr>
        <p:spPr>
          <a:xfrm rot="16200000" flipH="1">
            <a:off x="3309910" y="5177075"/>
            <a:ext cx="59295" cy="1295310"/>
          </a:xfrm>
          <a:prstGeom prst="bentConnector2">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C558AA8D-1C35-6746-77DC-3341C3478DDE}"/>
              </a:ext>
            </a:extLst>
          </p:cNvPr>
          <p:cNvSpPr/>
          <p:nvPr/>
        </p:nvSpPr>
        <p:spPr>
          <a:xfrm>
            <a:off x="4290811" y="5717217"/>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残念な席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5" name="Rectangle 104">
            <a:extLst>
              <a:ext uri="{FF2B5EF4-FFF2-40B4-BE49-F238E27FC236}">
                <a16:creationId xmlns:a16="http://schemas.microsoft.com/office/drawing/2014/main" id="{BDF18AE2-961C-0854-C917-4F1C25755AFE}"/>
              </a:ext>
            </a:extLst>
          </p:cNvPr>
          <p:cNvSpPr/>
          <p:nvPr/>
        </p:nvSpPr>
        <p:spPr>
          <a:xfrm>
            <a:off x="4290811" y="5209520"/>
            <a:ext cx="1281948"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dirty="0">
                <a:solidFill>
                  <a:schemeClr val="tx1"/>
                </a:solidFill>
                <a:latin typeface="Meiryo UI" panose="020B0604030504040204" pitchFamily="50" charset="-128"/>
                <a:ea typeface="Meiryo UI" panose="020B0604030504040204" pitchFamily="50" charset="-128"/>
              </a:rPr>
              <a:t>普通の席</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107" name="Rectangle 106">
            <a:extLst>
              <a:ext uri="{FF2B5EF4-FFF2-40B4-BE49-F238E27FC236}">
                <a16:creationId xmlns:a16="http://schemas.microsoft.com/office/drawing/2014/main" id="{2478AD40-83FC-C300-DC91-707052FF95E8}"/>
              </a:ext>
            </a:extLst>
          </p:cNvPr>
          <p:cNvSpPr/>
          <p:nvPr/>
        </p:nvSpPr>
        <p:spPr>
          <a:xfrm>
            <a:off x="5404914"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1500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8" name="Rectangle 107">
            <a:extLst>
              <a:ext uri="{FF2B5EF4-FFF2-40B4-BE49-F238E27FC236}">
                <a16:creationId xmlns:a16="http://schemas.microsoft.com/office/drawing/2014/main" id="{29CD6A8D-0530-AB71-6272-C56093B24C7E}"/>
              </a:ext>
            </a:extLst>
          </p:cNvPr>
          <p:cNvSpPr/>
          <p:nvPr/>
        </p:nvSpPr>
        <p:spPr>
          <a:xfrm>
            <a:off x="6749678"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09" name="Rectangle 108">
            <a:extLst>
              <a:ext uri="{FF2B5EF4-FFF2-40B4-BE49-F238E27FC236}">
                <a16:creationId xmlns:a16="http://schemas.microsoft.com/office/drawing/2014/main" id="{5C45DC5C-2691-9CC0-CACD-DB41B2F1FBBC}"/>
              </a:ext>
            </a:extLst>
          </p:cNvPr>
          <p:cNvSpPr/>
          <p:nvPr/>
        </p:nvSpPr>
        <p:spPr>
          <a:xfrm>
            <a:off x="5404914"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0" name="Rectangle 109">
            <a:extLst>
              <a:ext uri="{FF2B5EF4-FFF2-40B4-BE49-F238E27FC236}">
                <a16:creationId xmlns:a16="http://schemas.microsoft.com/office/drawing/2014/main" id="{2D6CAEDB-307F-D2F0-67DE-6B2CE8B86CA6}"/>
              </a:ext>
            </a:extLst>
          </p:cNvPr>
          <p:cNvSpPr/>
          <p:nvPr/>
        </p:nvSpPr>
        <p:spPr>
          <a:xfrm>
            <a:off x="6749678" y="355136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1" name="Rectangle 110">
            <a:extLst>
              <a:ext uri="{FF2B5EF4-FFF2-40B4-BE49-F238E27FC236}">
                <a16:creationId xmlns:a16="http://schemas.microsoft.com/office/drawing/2014/main" id="{B1DF8ED2-754D-BACB-AB83-82DF57374F95}"/>
              </a:ext>
            </a:extLst>
          </p:cNvPr>
          <p:cNvSpPr/>
          <p:nvPr/>
        </p:nvSpPr>
        <p:spPr>
          <a:xfrm>
            <a:off x="5404914" y="4081031"/>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1200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112" name="Rectangle 111">
            <a:extLst>
              <a:ext uri="{FF2B5EF4-FFF2-40B4-BE49-F238E27FC236}">
                <a16:creationId xmlns:a16="http://schemas.microsoft.com/office/drawing/2014/main" id="{BDB1159F-E80E-F0E8-1DD9-11B8449D41D8}"/>
              </a:ext>
            </a:extLst>
          </p:cNvPr>
          <p:cNvSpPr/>
          <p:nvPr/>
        </p:nvSpPr>
        <p:spPr>
          <a:xfrm>
            <a:off x="6749678" y="408103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3" name="Rectangle 112">
            <a:extLst>
              <a:ext uri="{FF2B5EF4-FFF2-40B4-BE49-F238E27FC236}">
                <a16:creationId xmlns:a16="http://schemas.microsoft.com/office/drawing/2014/main" id="{D4CF2A6E-87CA-331A-D302-25C15C759E69}"/>
              </a:ext>
            </a:extLst>
          </p:cNvPr>
          <p:cNvSpPr/>
          <p:nvPr/>
        </p:nvSpPr>
        <p:spPr>
          <a:xfrm>
            <a:off x="5524675"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4" name="Rectangle 113">
            <a:extLst>
              <a:ext uri="{FF2B5EF4-FFF2-40B4-BE49-F238E27FC236}">
                <a16:creationId xmlns:a16="http://schemas.microsoft.com/office/drawing/2014/main" id="{3E8C8B24-4587-4456-9709-2B252E3C540C}"/>
              </a:ext>
            </a:extLst>
          </p:cNvPr>
          <p:cNvSpPr/>
          <p:nvPr/>
        </p:nvSpPr>
        <p:spPr>
          <a:xfrm>
            <a:off x="6749678" y="5209521"/>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0.8</a:t>
            </a:r>
          </a:p>
        </p:txBody>
      </p:sp>
      <p:sp>
        <p:nvSpPr>
          <p:cNvPr id="115" name="Rectangle 114">
            <a:extLst>
              <a:ext uri="{FF2B5EF4-FFF2-40B4-BE49-F238E27FC236}">
                <a16:creationId xmlns:a16="http://schemas.microsoft.com/office/drawing/2014/main" id="{202EAD38-3D31-4CE1-B439-2DF62FE9FF09}"/>
              </a:ext>
            </a:extLst>
          </p:cNvPr>
          <p:cNvSpPr/>
          <p:nvPr/>
        </p:nvSpPr>
        <p:spPr>
          <a:xfrm>
            <a:off x="5524675" y="5721634"/>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750</a:t>
            </a:r>
          </a:p>
        </p:txBody>
      </p:sp>
      <p:sp>
        <p:nvSpPr>
          <p:cNvPr id="116" name="Rectangle 115">
            <a:extLst>
              <a:ext uri="{FF2B5EF4-FFF2-40B4-BE49-F238E27FC236}">
                <a16:creationId xmlns:a16="http://schemas.microsoft.com/office/drawing/2014/main" id="{A80B25BC-32F8-EB40-8EAF-46DF70728BF7}"/>
              </a:ext>
            </a:extLst>
          </p:cNvPr>
          <p:cNvSpPr/>
          <p:nvPr/>
        </p:nvSpPr>
        <p:spPr>
          <a:xfrm>
            <a:off x="6749678" y="572163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Meiryo UI" panose="020B0604030504040204" pitchFamily="50" charset="-128"/>
                <a:ea typeface="Meiryo UI" panose="020B0604030504040204" pitchFamily="50" charset="-128"/>
              </a:rPr>
              <a:t>0.5</a:t>
            </a:r>
          </a:p>
        </p:txBody>
      </p:sp>
      <p:sp>
        <p:nvSpPr>
          <p:cNvPr id="10" name="Rectangle 9">
            <a:extLst>
              <a:ext uri="{FF2B5EF4-FFF2-40B4-BE49-F238E27FC236}">
                <a16:creationId xmlns:a16="http://schemas.microsoft.com/office/drawing/2014/main" id="{C0EA7542-BBA4-FC7E-C1CD-7A9960B66DBA}"/>
              </a:ext>
            </a:extLst>
          </p:cNvPr>
          <p:cNvSpPr/>
          <p:nvPr/>
        </p:nvSpPr>
        <p:spPr>
          <a:xfrm>
            <a:off x="3007799" y="3883035"/>
            <a:ext cx="932033"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UI" panose="020B0604030504040204" pitchFamily="50" charset="-128"/>
                <a:ea typeface="Meiryo UI" panose="020B0604030504040204" pitchFamily="50" charset="-128"/>
              </a:rPr>
              <a:t>20%</a:t>
            </a:r>
          </a:p>
        </p:txBody>
      </p:sp>
      <p:sp>
        <p:nvSpPr>
          <p:cNvPr id="15" name="Rectangle 14">
            <a:extLst>
              <a:ext uri="{FF2B5EF4-FFF2-40B4-BE49-F238E27FC236}">
                <a16:creationId xmlns:a16="http://schemas.microsoft.com/office/drawing/2014/main" id="{016E68F1-25ED-F2CB-7920-C62A86387D61}"/>
              </a:ext>
            </a:extLst>
          </p:cNvPr>
          <p:cNvSpPr/>
          <p:nvPr/>
        </p:nvSpPr>
        <p:spPr>
          <a:xfrm>
            <a:off x="7768491" y="2073071"/>
            <a:ext cx="1551157" cy="3319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期待費用</a:t>
            </a:r>
            <a:r>
              <a:rPr lang="en-US" altLang="ja-JP" dirty="0">
                <a:solidFill>
                  <a:schemeClr val="tx1"/>
                </a:solidFill>
                <a:latin typeface="Meiryo UI" panose="020B0604030504040204" pitchFamily="50" charset="-128"/>
                <a:ea typeface="Meiryo UI" panose="020B0604030504040204" pitchFamily="50" charset="-128"/>
              </a:rPr>
              <a:t>($)</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3BB93306-B859-2657-9C62-A17CE3A9342D}"/>
              </a:ext>
            </a:extLst>
          </p:cNvPr>
          <p:cNvSpPr/>
          <p:nvPr/>
        </p:nvSpPr>
        <p:spPr>
          <a:xfrm>
            <a:off x="9178736" y="2101874"/>
            <a:ext cx="1410143"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期待快適度</a:t>
            </a:r>
            <a:endParaRPr lang="en-US" dirty="0">
              <a:solidFill>
                <a:schemeClr val="tx1"/>
              </a:solidFill>
              <a:latin typeface="Meiryo UI" panose="020B0604030504040204" pitchFamily="50" charset="-128"/>
              <a:ea typeface="Meiryo UI" panose="020B0604030504040204" pitchFamily="50" charset="-128"/>
            </a:endParaRPr>
          </a:p>
        </p:txBody>
      </p:sp>
      <p:cxnSp>
        <p:nvCxnSpPr>
          <p:cNvPr id="19" name="Straight Connector 18">
            <a:extLst>
              <a:ext uri="{FF2B5EF4-FFF2-40B4-BE49-F238E27FC236}">
                <a16:creationId xmlns:a16="http://schemas.microsoft.com/office/drawing/2014/main" id="{68C94A22-3B38-7949-BC0E-DFD6E5C86362}"/>
              </a:ext>
            </a:extLst>
          </p:cNvPr>
          <p:cNvCxnSpPr>
            <a:cxnSpLocks/>
          </p:cNvCxnSpPr>
          <p:nvPr/>
        </p:nvCxnSpPr>
        <p:spPr>
          <a:xfrm>
            <a:off x="7937985"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00B55D1-5CCA-2DD8-39AC-C59B1527BE8E}"/>
              </a:ext>
            </a:extLst>
          </p:cNvPr>
          <p:cNvCxnSpPr>
            <a:cxnSpLocks/>
          </p:cNvCxnSpPr>
          <p:nvPr/>
        </p:nvCxnSpPr>
        <p:spPr>
          <a:xfrm>
            <a:off x="9277723"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C647CD2-4527-44F4-D12F-576DD5D0BDF1}"/>
              </a:ext>
            </a:extLst>
          </p:cNvPr>
          <p:cNvSpPr/>
          <p:nvPr/>
        </p:nvSpPr>
        <p:spPr>
          <a:xfrm>
            <a:off x="8062496" y="2587028"/>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1500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23" name="Rectangle 22">
            <a:extLst>
              <a:ext uri="{FF2B5EF4-FFF2-40B4-BE49-F238E27FC236}">
                <a16:creationId xmlns:a16="http://schemas.microsoft.com/office/drawing/2014/main" id="{AD3CA008-45C4-35BF-19F0-15450C618E94}"/>
              </a:ext>
            </a:extLst>
          </p:cNvPr>
          <p:cNvSpPr/>
          <p:nvPr/>
        </p:nvSpPr>
        <p:spPr>
          <a:xfrm>
            <a:off x="9407260"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24" name="Rectangle 23">
            <a:extLst>
              <a:ext uri="{FF2B5EF4-FFF2-40B4-BE49-F238E27FC236}">
                <a16:creationId xmlns:a16="http://schemas.microsoft.com/office/drawing/2014/main" id="{4140D58D-2F82-B203-719C-7BA024FCBBF7}"/>
              </a:ext>
            </a:extLst>
          </p:cNvPr>
          <p:cNvSpPr/>
          <p:nvPr/>
        </p:nvSpPr>
        <p:spPr>
          <a:xfrm>
            <a:off x="8062496" y="355136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960</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25" name="Rectangle 24">
            <a:extLst>
              <a:ext uri="{FF2B5EF4-FFF2-40B4-BE49-F238E27FC236}">
                <a16:creationId xmlns:a16="http://schemas.microsoft.com/office/drawing/2014/main" id="{E6692AFA-9B07-3BB6-A22A-6B5C62734C5A}"/>
              </a:ext>
            </a:extLst>
          </p:cNvPr>
          <p:cNvSpPr/>
          <p:nvPr/>
        </p:nvSpPr>
        <p:spPr>
          <a:xfrm>
            <a:off x="9292220" y="3561306"/>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dirty="0">
                <a:solidFill>
                  <a:schemeClr val="tx1"/>
                </a:solidFill>
                <a:latin typeface="Meiryo UI" panose="020B0604030504040204" pitchFamily="50" charset="-128"/>
                <a:ea typeface="Meiryo UI" panose="020B0604030504040204" pitchFamily="50" charset="-128"/>
              </a:rPr>
              <a:t>0.8</a:t>
            </a:r>
          </a:p>
        </p:txBody>
      </p:sp>
      <p:sp>
        <p:nvSpPr>
          <p:cNvPr id="26" name="Rectangle 25">
            <a:extLst>
              <a:ext uri="{FF2B5EF4-FFF2-40B4-BE49-F238E27FC236}">
                <a16:creationId xmlns:a16="http://schemas.microsoft.com/office/drawing/2014/main" id="{11076BAE-FB3F-8155-0025-6F3426C42B82}"/>
              </a:ext>
            </a:extLst>
          </p:cNvPr>
          <p:cNvSpPr/>
          <p:nvPr/>
        </p:nvSpPr>
        <p:spPr>
          <a:xfrm>
            <a:off x="8062496" y="4081031"/>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240</a:t>
            </a:r>
          </a:p>
        </p:txBody>
      </p:sp>
      <p:sp>
        <p:nvSpPr>
          <p:cNvPr id="27" name="Rectangle 26">
            <a:extLst>
              <a:ext uri="{FF2B5EF4-FFF2-40B4-BE49-F238E27FC236}">
                <a16:creationId xmlns:a16="http://schemas.microsoft.com/office/drawing/2014/main" id="{7C5E71F7-4370-D1FD-9639-BF95B66DC49E}"/>
              </a:ext>
            </a:extLst>
          </p:cNvPr>
          <p:cNvSpPr/>
          <p:nvPr/>
        </p:nvSpPr>
        <p:spPr>
          <a:xfrm>
            <a:off x="9412107" y="4081030"/>
            <a:ext cx="972616" cy="304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dirty="0">
                <a:solidFill>
                  <a:schemeClr val="tx1"/>
                </a:solidFill>
                <a:latin typeface="Meiryo UI" panose="020B0604030504040204" pitchFamily="50" charset="-128"/>
                <a:ea typeface="Meiryo UI" panose="020B0604030504040204" pitchFamily="50" charset="-128"/>
              </a:rPr>
              <a:t>0.16</a:t>
            </a:r>
          </a:p>
        </p:txBody>
      </p:sp>
      <p:sp>
        <p:nvSpPr>
          <p:cNvPr id="28" name="Rectangle 27">
            <a:extLst>
              <a:ext uri="{FF2B5EF4-FFF2-40B4-BE49-F238E27FC236}">
                <a16:creationId xmlns:a16="http://schemas.microsoft.com/office/drawing/2014/main" id="{466FD774-9F11-3230-CC65-286FD4381170}"/>
              </a:ext>
            </a:extLst>
          </p:cNvPr>
          <p:cNvSpPr/>
          <p:nvPr/>
        </p:nvSpPr>
        <p:spPr>
          <a:xfrm>
            <a:off x="8182257" y="5209521"/>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525</a:t>
            </a:r>
          </a:p>
        </p:txBody>
      </p:sp>
      <p:sp>
        <p:nvSpPr>
          <p:cNvPr id="29" name="Rectangle 28">
            <a:extLst>
              <a:ext uri="{FF2B5EF4-FFF2-40B4-BE49-F238E27FC236}">
                <a16:creationId xmlns:a16="http://schemas.microsoft.com/office/drawing/2014/main" id="{4E62ABC0-2525-69C5-6B99-B6ADE08818D3}"/>
              </a:ext>
            </a:extLst>
          </p:cNvPr>
          <p:cNvSpPr/>
          <p:nvPr/>
        </p:nvSpPr>
        <p:spPr>
          <a:xfrm>
            <a:off x="9277723" y="5209520"/>
            <a:ext cx="1107000" cy="3112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dirty="0">
                <a:solidFill>
                  <a:schemeClr val="tx1"/>
                </a:solidFill>
                <a:latin typeface="Meiryo UI" panose="020B0604030504040204" pitchFamily="50" charset="-128"/>
                <a:ea typeface="Meiryo UI" panose="020B0604030504040204" pitchFamily="50" charset="-128"/>
              </a:rPr>
              <a:t>0.56 </a:t>
            </a:r>
          </a:p>
        </p:txBody>
      </p:sp>
      <p:sp>
        <p:nvSpPr>
          <p:cNvPr id="30" name="Rectangle 29">
            <a:extLst>
              <a:ext uri="{FF2B5EF4-FFF2-40B4-BE49-F238E27FC236}">
                <a16:creationId xmlns:a16="http://schemas.microsoft.com/office/drawing/2014/main" id="{72500F53-38E6-26E1-E69C-5639791D5502}"/>
              </a:ext>
            </a:extLst>
          </p:cNvPr>
          <p:cNvSpPr/>
          <p:nvPr/>
        </p:nvSpPr>
        <p:spPr>
          <a:xfrm>
            <a:off x="8182257" y="5721634"/>
            <a:ext cx="723625"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solidFill>
                  <a:schemeClr val="tx1"/>
                </a:solidFill>
                <a:latin typeface="Meiryo UI" panose="020B0604030504040204" pitchFamily="50" charset="-128"/>
                <a:ea typeface="Meiryo UI" panose="020B0604030504040204" pitchFamily="50" charset="-128"/>
              </a:rPr>
              <a:t>225</a:t>
            </a:r>
          </a:p>
        </p:txBody>
      </p:sp>
      <p:sp>
        <p:nvSpPr>
          <p:cNvPr id="31" name="Rectangle 30">
            <a:extLst>
              <a:ext uri="{FF2B5EF4-FFF2-40B4-BE49-F238E27FC236}">
                <a16:creationId xmlns:a16="http://schemas.microsoft.com/office/drawing/2014/main" id="{F6EE2B5F-03AC-E533-E48C-83DE0BF39DAE}"/>
              </a:ext>
            </a:extLst>
          </p:cNvPr>
          <p:cNvSpPr/>
          <p:nvPr/>
        </p:nvSpPr>
        <p:spPr>
          <a:xfrm>
            <a:off x="9325262" y="572163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800" dirty="0">
                <a:solidFill>
                  <a:schemeClr val="tx1"/>
                </a:solidFill>
                <a:latin typeface="Meiryo UI" panose="020B0604030504040204" pitchFamily="50" charset="-128"/>
                <a:ea typeface="Meiryo UI" panose="020B0604030504040204" pitchFamily="50" charset="-128"/>
              </a:rPr>
              <a:t>0.15</a:t>
            </a:r>
          </a:p>
        </p:txBody>
      </p:sp>
      <p:cxnSp>
        <p:nvCxnSpPr>
          <p:cNvPr id="32" name="Straight Connector 31">
            <a:extLst>
              <a:ext uri="{FF2B5EF4-FFF2-40B4-BE49-F238E27FC236}">
                <a16:creationId xmlns:a16="http://schemas.microsoft.com/office/drawing/2014/main" id="{8B21D1DB-98F4-FEDC-BC64-1DA47E0157C6}"/>
              </a:ext>
            </a:extLst>
          </p:cNvPr>
          <p:cNvCxnSpPr>
            <a:cxnSpLocks/>
          </p:cNvCxnSpPr>
          <p:nvPr/>
        </p:nvCxnSpPr>
        <p:spPr>
          <a:xfrm>
            <a:off x="7900381" y="4469511"/>
            <a:ext cx="38043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E1AFAA3-1290-C748-BCB4-A0878C7FD8D9}"/>
              </a:ext>
            </a:extLst>
          </p:cNvPr>
          <p:cNvSpPr/>
          <p:nvPr/>
        </p:nvSpPr>
        <p:spPr>
          <a:xfrm>
            <a:off x="7885132" y="4549714"/>
            <a:ext cx="1059461"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dirty="0">
                <a:solidFill>
                  <a:schemeClr val="tx1"/>
                </a:solidFill>
                <a:latin typeface="Meiryo UI" panose="020B0604030504040204" pitchFamily="50" charset="-128"/>
                <a:ea typeface="Meiryo UI" panose="020B0604030504040204" pitchFamily="50" charset="-128"/>
              </a:rPr>
              <a:t>1200</a:t>
            </a:r>
          </a:p>
        </p:txBody>
      </p:sp>
      <p:sp>
        <p:nvSpPr>
          <p:cNvPr id="38" name="Rectangle 37">
            <a:extLst>
              <a:ext uri="{FF2B5EF4-FFF2-40B4-BE49-F238E27FC236}">
                <a16:creationId xmlns:a16="http://schemas.microsoft.com/office/drawing/2014/main" id="{9BF64263-C159-E586-6763-B65EA24074C2}"/>
              </a:ext>
            </a:extLst>
          </p:cNvPr>
          <p:cNvSpPr/>
          <p:nvPr/>
        </p:nvSpPr>
        <p:spPr>
          <a:xfrm>
            <a:off x="9402234" y="4549714"/>
            <a:ext cx="963146"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dirty="0">
                <a:solidFill>
                  <a:schemeClr val="tx1"/>
                </a:solidFill>
                <a:latin typeface="Meiryo UI" panose="020B0604030504040204" pitchFamily="50" charset="-128"/>
                <a:ea typeface="Meiryo UI" panose="020B0604030504040204" pitchFamily="50" charset="-128"/>
              </a:rPr>
              <a:t>0.96</a:t>
            </a:r>
          </a:p>
        </p:txBody>
      </p:sp>
      <p:cxnSp>
        <p:nvCxnSpPr>
          <p:cNvPr id="39" name="Straight Connector 38">
            <a:extLst>
              <a:ext uri="{FF2B5EF4-FFF2-40B4-BE49-F238E27FC236}">
                <a16:creationId xmlns:a16="http://schemas.microsoft.com/office/drawing/2014/main" id="{ADAD4635-B314-ADBD-3455-D5318476C7BB}"/>
              </a:ext>
            </a:extLst>
          </p:cNvPr>
          <p:cNvCxnSpPr>
            <a:cxnSpLocks/>
          </p:cNvCxnSpPr>
          <p:nvPr/>
        </p:nvCxnSpPr>
        <p:spPr>
          <a:xfrm>
            <a:off x="7900381" y="6102327"/>
            <a:ext cx="38043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7630E9E3-CED6-5302-E66A-C2ADE80C16D2}"/>
              </a:ext>
            </a:extLst>
          </p:cNvPr>
          <p:cNvSpPr/>
          <p:nvPr/>
        </p:nvSpPr>
        <p:spPr>
          <a:xfrm>
            <a:off x="8024278" y="6172732"/>
            <a:ext cx="1059461"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dirty="0">
                <a:solidFill>
                  <a:schemeClr val="tx1"/>
                </a:solidFill>
                <a:latin typeface="Meiryo UI" panose="020B0604030504040204" pitchFamily="50" charset="-128"/>
                <a:ea typeface="Meiryo UI" panose="020B0604030504040204" pitchFamily="50" charset="-128"/>
              </a:rPr>
              <a:t>750</a:t>
            </a:r>
          </a:p>
        </p:txBody>
      </p:sp>
      <p:sp>
        <p:nvSpPr>
          <p:cNvPr id="41" name="Rectangle 40">
            <a:extLst>
              <a:ext uri="{FF2B5EF4-FFF2-40B4-BE49-F238E27FC236}">
                <a16:creationId xmlns:a16="http://schemas.microsoft.com/office/drawing/2014/main" id="{75D2E729-B828-4523-8480-348374307BB1}"/>
              </a:ext>
            </a:extLst>
          </p:cNvPr>
          <p:cNvSpPr/>
          <p:nvPr/>
        </p:nvSpPr>
        <p:spPr>
          <a:xfrm>
            <a:off x="9461629" y="6172732"/>
            <a:ext cx="963146"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dirty="0">
                <a:solidFill>
                  <a:schemeClr val="tx1"/>
                </a:solidFill>
                <a:latin typeface="Meiryo UI" panose="020B0604030504040204" pitchFamily="50" charset="-128"/>
                <a:ea typeface="Meiryo UI" panose="020B0604030504040204" pitchFamily="50" charset="-128"/>
              </a:rPr>
              <a:t>0.71</a:t>
            </a:r>
          </a:p>
        </p:txBody>
      </p:sp>
      <p:sp>
        <p:nvSpPr>
          <p:cNvPr id="44" name="Rectangle 43">
            <a:extLst>
              <a:ext uri="{FF2B5EF4-FFF2-40B4-BE49-F238E27FC236}">
                <a16:creationId xmlns:a16="http://schemas.microsoft.com/office/drawing/2014/main" id="{F2CD59AB-F80C-3639-80FA-B930747B8DA7}"/>
              </a:ext>
            </a:extLst>
          </p:cNvPr>
          <p:cNvSpPr/>
          <p:nvPr/>
        </p:nvSpPr>
        <p:spPr>
          <a:xfrm>
            <a:off x="10740122" y="2101874"/>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Meiryo UI" panose="020B0604030504040204" pitchFamily="50" charset="-128"/>
                <a:ea typeface="Meiryo UI" panose="020B0604030504040204" pitchFamily="50" charset="-128"/>
              </a:rPr>
              <a:t>QAH</a:t>
            </a:r>
            <a:endParaRPr lang="en-US" dirty="0">
              <a:solidFill>
                <a:schemeClr val="tx1"/>
              </a:solidFill>
              <a:latin typeface="Meiryo UI" panose="020B0604030504040204" pitchFamily="50" charset="-128"/>
              <a:ea typeface="Meiryo UI" panose="020B0604030504040204" pitchFamily="50" charset="-128"/>
            </a:endParaRPr>
          </a:p>
        </p:txBody>
      </p:sp>
      <p:cxnSp>
        <p:nvCxnSpPr>
          <p:cNvPr id="45" name="Straight Connector 44">
            <a:extLst>
              <a:ext uri="{FF2B5EF4-FFF2-40B4-BE49-F238E27FC236}">
                <a16:creationId xmlns:a16="http://schemas.microsoft.com/office/drawing/2014/main" id="{B27E30C2-B5E0-C5B8-7FD4-D4509FF8CC1C}"/>
              </a:ext>
            </a:extLst>
          </p:cNvPr>
          <p:cNvCxnSpPr>
            <a:cxnSpLocks/>
          </p:cNvCxnSpPr>
          <p:nvPr/>
        </p:nvCxnSpPr>
        <p:spPr>
          <a:xfrm>
            <a:off x="10571831" y="2422048"/>
            <a:ext cx="12121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86CB5188-C377-6750-CF21-EC47E7F70072}"/>
              </a:ext>
            </a:extLst>
          </p:cNvPr>
          <p:cNvSpPr/>
          <p:nvPr/>
        </p:nvSpPr>
        <p:spPr>
          <a:xfrm>
            <a:off x="10768602" y="2587028"/>
            <a:ext cx="875587"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latin typeface="Meiryo UI" panose="020B0604030504040204" pitchFamily="50" charset="-128"/>
                <a:ea typeface="Meiryo UI" panose="020B0604030504040204" pitchFamily="50" charset="-128"/>
              </a:rPr>
              <a:t>18</a:t>
            </a:r>
            <a:endParaRPr lang="en-US" sz="2800" dirty="0">
              <a:solidFill>
                <a:schemeClr val="tx1"/>
              </a:solidFill>
              <a:latin typeface="Meiryo UI" panose="020B0604030504040204" pitchFamily="50" charset="-128"/>
              <a:ea typeface="Meiryo UI" panose="020B0604030504040204" pitchFamily="50" charset="-128"/>
            </a:endParaRPr>
          </a:p>
        </p:txBody>
      </p:sp>
      <p:sp>
        <p:nvSpPr>
          <p:cNvPr id="48" name="Rectangle 47">
            <a:extLst>
              <a:ext uri="{FF2B5EF4-FFF2-40B4-BE49-F238E27FC236}">
                <a16:creationId xmlns:a16="http://schemas.microsoft.com/office/drawing/2014/main" id="{2E87A075-E5C8-667E-605C-B3BC203269B5}"/>
              </a:ext>
            </a:extLst>
          </p:cNvPr>
          <p:cNvSpPr/>
          <p:nvPr/>
        </p:nvSpPr>
        <p:spPr>
          <a:xfrm>
            <a:off x="10566994" y="4524836"/>
            <a:ext cx="1137843"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dirty="0">
                <a:solidFill>
                  <a:schemeClr val="tx1"/>
                </a:solidFill>
                <a:latin typeface="Meiryo UI" panose="020B0604030504040204" pitchFamily="50" charset="-128"/>
                <a:ea typeface="Meiryo UI" panose="020B0604030504040204" pitchFamily="50" charset="-128"/>
              </a:rPr>
              <a:t>17.28</a:t>
            </a:r>
          </a:p>
        </p:txBody>
      </p:sp>
      <p:sp>
        <p:nvSpPr>
          <p:cNvPr id="49" name="Rectangle 48">
            <a:extLst>
              <a:ext uri="{FF2B5EF4-FFF2-40B4-BE49-F238E27FC236}">
                <a16:creationId xmlns:a16="http://schemas.microsoft.com/office/drawing/2014/main" id="{750EAB82-6AA4-30B0-CC1F-FD47FF2FC9AA}"/>
              </a:ext>
            </a:extLst>
          </p:cNvPr>
          <p:cNvSpPr/>
          <p:nvPr/>
        </p:nvSpPr>
        <p:spPr>
          <a:xfrm>
            <a:off x="10566994" y="6172732"/>
            <a:ext cx="1137843" cy="3240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dirty="0">
                <a:solidFill>
                  <a:schemeClr val="tx1"/>
                </a:solidFill>
                <a:latin typeface="Meiryo UI" panose="020B0604030504040204" pitchFamily="50" charset="-128"/>
                <a:ea typeface="Meiryo UI" panose="020B0604030504040204" pitchFamily="50" charset="-128"/>
              </a:rPr>
              <a:t>12.78</a:t>
            </a:r>
          </a:p>
        </p:txBody>
      </p:sp>
      <p:cxnSp>
        <p:nvCxnSpPr>
          <p:cNvPr id="58" name="Connector: Curved 57">
            <a:extLst>
              <a:ext uri="{FF2B5EF4-FFF2-40B4-BE49-F238E27FC236}">
                <a16:creationId xmlns:a16="http://schemas.microsoft.com/office/drawing/2014/main" id="{93C06E27-8FDD-826C-A516-DD2F5FC795F8}"/>
              </a:ext>
            </a:extLst>
          </p:cNvPr>
          <p:cNvCxnSpPr>
            <a:cxnSpLocks/>
            <a:stCxn id="23" idx="2"/>
            <a:endCxn id="47" idx="2"/>
          </p:cNvCxnSpPr>
          <p:nvPr/>
        </p:nvCxnSpPr>
        <p:spPr>
          <a:xfrm rot="16200000" flipH="1">
            <a:off x="10525725" y="2180677"/>
            <a:ext cx="12700" cy="1361342"/>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60">
            <a:extLst>
              <a:ext uri="{FF2B5EF4-FFF2-40B4-BE49-F238E27FC236}">
                <a16:creationId xmlns:a16="http://schemas.microsoft.com/office/drawing/2014/main" id="{6F632052-2029-9D51-50FD-2DB67C49AF09}"/>
              </a:ext>
            </a:extLst>
          </p:cNvPr>
          <p:cNvCxnSpPr>
            <a:cxnSpLocks/>
            <a:stCxn id="38" idx="2"/>
            <a:endCxn id="48" idx="2"/>
          </p:cNvCxnSpPr>
          <p:nvPr/>
        </p:nvCxnSpPr>
        <p:spPr>
          <a:xfrm rot="16200000" flipH="1">
            <a:off x="10497422" y="4210418"/>
            <a:ext cx="24879" cy="1252109"/>
          </a:xfrm>
          <a:prstGeom prst="curvedConnector3">
            <a:avLst>
              <a:gd name="adj1" fmla="val 101884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id="{7B997E6C-1AE8-72AF-BA7A-27165CBB9770}"/>
              </a:ext>
            </a:extLst>
          </p:cNvPr>
          <p:cNvCxnSpPr>
            <a:cxnSpLocks/>
            <a:stCxn id="41" idx="2"/>
            <a:endCxn id="49" idx="2"/>
          </p:cNvCxnSpPr>
          <p:nvPr/>
        </p:nvCxnSpPr>
        <p:spPr>
          <a:xfrm rot="16200000" flipH="1">
            <a:off x="10539559" y="5900452"/>
            <a:ext cx="12700" cy="1192714"/>
          </a:xfrm>
          <a:prstGeom prst="curved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99A6E0FC-322B-874E-93FE-53BC5FFA26B3}"/>
              </a:ext>
            </a:extLst>
          </p:cNvPr>
          <p:cNvSpPr/>
          <p:nvPr/>
        </p:nvSpPr>
        <p:spPr>
          <a:xfrm>
            <a:off x="10181856" y="3132324"/>
            <a:ext cx="770275" cy="2966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UI" panose="020B0604030504040204" pitchFamily="50" charset="-128"/>
                <a:ea typeface="Meiryo UI" panose="020B0604030504040204" pitchFamily="50" charset="-128"/>
              </a:rPr>
              <a:t>18h</a:t>
            </a:r>
          </a:p>
        </p:txBody>
      </p:sp>
    </p:spTree>
    <p:extLst>
      <p:ext uri="{BB962C8B-B14F-4D97-AF65-F5344CB8AC3E}">
        <p14:creationId xmlns:p14="http://schemas.microsoft.com/office/powerpoint/2010/main" val="35126368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CA4E-9ACF-6C73-E387-6123361AE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53FE1-2C98-AA1A-A276-035C7017B264}"/>
              </a:ext>
            </a:extLst>
          </p:cNvPr>
          <p:cNvSpPr>
            <a:spLocks noGrp="1"/>
          </p:cNvSpPr>
          <p:nvPr>
            <p:ph type="title"/>
          </p:nvPr>
        </p:nvSpPr>
        <p:spPr/>
        <p:txBody>
          <a:bodyPr/>
          <a:lstStyle/>
          <a:p>
            <a:r>
              <a:rPr lang="ja-JP" altLang="en-US" dirty="0"/>
              <a:t>フライトの座席クラスを決めるー結果を評価する</a:t>
            </a:r>
            <a:endParaRPr lang="en-US" dirty="0"/>
          </a:p>
        </p:txBody>
      </p:sp>
      <p:sp>
        <p:nvSpPr>
          <p:cNvPr id="4" name="Slide Number Placeholder 3">
            <a:extLst>
              <a:ext uri="{FF2B5EF4-FFF2-40B4-BE49-F238E27FC236}">
                <a16:creationId xmlns:a16="http://schemas.microsoft.com/office/drawing/2014/main" id="{8D2CF7C8-3785-E135-6D9D-4804E8C54AAC}"/>
              </a:ext>
            </a:extLst>
          </p:cNvPr>
          <p:cNvSpPr>
            <a:spLocks noGrp="1"/>
          </p:cNvSpPr>
          <p:nvPr>
            <p:ph type="sldNum" sz="quarter" idx="4"/>
          </p:nvPr>
        </p:nvSpPr>
        <p:spPr/>
        <p:txBody>
          <a:bodyPr/>
          <a:lstStyle/>
          <a:p>
            <a:fld id="{B5CEABB6-07DC-46E8-9B57-56EC44A396E5}" type="slidenum">
              <a:rPr lang="en-US" smtClean="0"/>
              <a:pPr/>
              <a:t>48</a:t>
            </a:fld>
            <a:endParaRPr lang="en-US" dirty="0"/>
          </a:p>
        </p:txBody>
      </p:sp>
      <p:sp>
        <p:nvSpPr>
          <p:cNvPr id="5" name="Table Placeholder 4">
            <a:extLst>
              <a:ext uri="{FF2B5EF4-FFF2-40B4-BE49-F238E27FC236}">
                <a16:creationId xmlns:a16="http://schemas.microsoft.com/office/drawing/2014/main" id="{73F211E2-E529-4E5A-8046-C20E93366228}"/>
              </a:ext>
            </a:extLst>
          </p:cNvPr>
          <p:cNvSpPr>
            <a:spLocks noGrp="1"/>
          </p:cNvSpPr>
          <p:nvPr>
            <p:ph type="tbl" sz="quarter" idx="11"/>
          </p:nvPr>
        </p:nvSpPr>
        <p:spPr/>
        <p:txBody>
          <a:bodyPr/>
          <a:lstStyle/>
          <a:p>
            <a:r>
              <a:rPr lang="en-US" dirty="0"/>
              <a:t>1QAH</a:t>
            </a:r>
            <a:r>
              <a:rPr lang="ja-JP" altLang="en-US" dirty="0"/>
              <a:t>に対して</a:t>
            </a:r>
            <a:r>
              <a:rPr lang="en-US" altLang="ja-JP" dirty="0"/>
              <a:t>$120</a:t>
            </a:r>
            <a:r>
              <a:rPr lang="ja-JP" altLang="en-US" dirty="0"/>
              <a:t>払ってもいいならエコノミーからビジネスに変えてもよい</a:t>
            </a:r>
            <a:endParaRPr lang="en-US" dirty="0"/>
          </a:p>
        </p:txBody>
      </p:sp>
      <p:grpSp>
        <p:nvGrpSpPr>
          <p:cNvPr id="6" name="Group 5">
            <a:extLst>
              <a:ext uri="{FF2B5EF4-FFF2-40B4-BE49-F238E27FC236}">
                <a16:creationId xmlns:a16="http://schemas.microsoft.com/office/drawing/2014/main" id="{F7E1F78A-62E1-885B-1876-E90C6B1D7B3C}"/>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1A6A5883-E3D7-F6C7-651D-56B2CE981FEE}"/>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1F59D20E-164B-D543-9C4A-132FB7B9EB75}"/>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06780AA8-3082-8A9C-38D9-3E2AF90F48EB}"/>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graphicFrame>
        <p:nvGraphicFramePr>
          <p:cNvPr id="43" name="Table 42">
            <a:extLst>
              <a:ext uri="{FF2B5EF4-FFF2-40B4-BE49-F238E27FC236}">
                <a16:creationId xmlns:a16="http://schemas.microsoft.com/office/drawing/2014/main" id="{6CEC781A-2569-1930-60D6-7309B7E328BD}"/>
              </a:ext>
            </a:extLst>
          </p:cNvPr>
          <p:cNvGraphicFramePr>
            <a:graphicFrameLocks noGrp="1"/>
          </p:cNvGraphicFramePr>
          <p:nvPr>
            <p:extLst>
              <p:ext uri="{D42A27DB-BD31-4B8C-83A1-F6EECF244321}">
                <p14:modId xmlns:p14="http://schemas.microsoft.com/office/powerpoint/2010/main" val="1578476781"/>
              </p:ext>
            </p:extLst>
          </p:nvPr>
        </p:nvGraphicFramePr>
        <p:xfrm>
          <a:off x="467138" y="2316480"/>
          <a:ext cx="11221276" cy="1828800"/>
        </p:xfrm>
        <a:graphic>
          <a:graphicData uri="http://schemas.openxmlformats.org/drawingml/2006/table">
            <a:tbl>
              <a:tblPr firstRow="1" bandRow="1">
                <a:tableStyleId>{5A111915-BE36-4E01-A7E5-04B1672EAD32}</a:tableStyleId>
              </a:tblPr>
              <a:tblGrid>
                <a:gridCol w="2805319">
                  <a:extLst>
                    <a:ext uri="{9D8B030D-6E8A-4147-A177-3AD203B41FA5}">
                      <a16:colId xmlns:a16="http://schemas.microsoft.com/office/drawing/2014/main" val="3624582228"/>
                    </a:ext>
                  </a:extLst>
                </a:gridCol>
                <a:gridCol w="2805319">
                  <a:extLst>
                    <a:ext uri="{9D8B030D-6E8A-4147-A177-3AD203B41FA5}">
                      <a16:colId xmlns:a16="http://schemas.microsoft.com/office/drawing/2014/main" val="3211746761"/>
                    </a:ext>
                  </a:extLst>
                </a:gridCol>
                <a:gridCol w="2805319">
                  <a:extLst>
                    <a:ext uri="{9D8B030D-6E8A-4147-A177-3AD203B41FA5}">
                      <a16:colId xmlns:a16="http://schemas.microsoft.com/office/drawing/2014/main" val="3261238044"/>
                    </a:ext>
                  </a:extLst>
                </a:gridCol>
                <a:gridCol w="2805319">
                  <a:extLst>
                    <a:ext uri="{9D8B030D-6E8A-4147-A177-3AD203B41FA5}">
                      <a16:colId xmlns:a16="http://schemas.microsoft.com/office/drawing/2014/main" val="65697615"/>
                    </a:ext>
                  </a:extLst>
                </a:gridCol>
              </a:tblGrid>
              <a:tr h="370840">
                <a:tc>
                  <a:txBody>
                    <a:bodyPr/>
                    <a:lstStyle/>
                    <a:p>
                      <a:r>
                        <a:rPr lang="ja-JP" altLang="en-US" sz="2400" b="1" dirty="0">
                          <a:latin typeface="Meiryo" panose="020B0604030504040204" pitchFamily="34" charset="-128"/>
                          <a:ea typeface="Meiryo" panose="020B0604030504040204" pitchFamily="34" charset="-128"/>
                        </a:rPr>
                        <a:t>座席クラス</a:t>
                      </a:r>
                      <a:endParaRPr lang="en-US" sz="2400" b="1" dirty="0">
                        <a:latin typeface="Meiryo" panose="020B0604030504040204" pitchFamily="34" charset="-128"/>
                        <a:ea typeface="Meiryo" panose="020B0604030504040204" pitchFamily="34" charset="-128"/>
                      </a:endParaRPr>
                    </a:p>
                  </a:txBody>
                  <a:tcPr>
                    <a:solidFill>
                      <a:srgbClr val="0070C0"/>
                    </a:solidFill>
                  </a:tcPr>
                </a:tc>
                <a:tc>
                  <a:txBody>
                    <a:bodyPr/>
                    <a:lstStyle/>
                    <a:p>
                      <a:pPr algn="r"/>
                      <a:r>
                        <a:rPr lang="ja-JP" altLang="en-US" sz="2400" b="1" dirty="0">
                          <a:latin typeface="Meiryo" panose="020B0604030504040204" pitchFamily="34" charset="-128"/>
                          <a:ea typeface="Meiryo" panose="020B0604030504040204" pitchFamily="34" charset="-128"/>
                        </a:rPr>
                        <a:t>費用</a:t>
                      </a:r>
                      <a:r>
                        <a:rPr lang="en-US" altLang="ja-JP" sz="2400" b="1" dirty="0">
                          <a:latin typeface="Meiryo" panose="020B0604030504040204" pitchFamily="34" charset="-128"/>
                          <a:ea typeface="Meiryo" panose="020B0604030504040204" pitchFamily="34" charset="-128"/>
                        </a:rPr>
                        <a:t>($)</a:t>
                      </a:r>
                      <a:endParaRPr lang="en-US" sz="2400" b="1" dirty="0">
                        <a:latin typeface="Meiryo" panose="020B0604030504040204" pitchFamily="34" charset="-128"/>
                        <a:ea typeface="Meiryo" panose="020B0604030504040204" pitchFamily="34" charset="-128"/>
                      </a:endParaRPr>
                    </a:p>
                  </a:txBody>
                  <a:tcPr>
                    <a:solidFill>
                      <a:srgbClr val="0070C0"/>
                    </a:solidFill>
                  </a:tcPr>
                </a:tc>
                <a:tc>
                  <a:txBody>
                    <a:bodyPr/>
                    <a:lstStyle/>
                    <a:p>
                      <a:pPr algn="r"/>
                      <a:r>
                        <a:rPr lang="en-US" sz="2400" b="1" dirty="0">
                          <a:latin typeface="Meiryo" panose="020B0604030504040204" pitchFamily="34" charset="-128"/>
                          <a:ea typeface="Meiryo" panose="020B0604030504040204" pitchFamily="34" charset="-128"/>
                        </a:rPr>
                        <a:t>QAH</a:t>
                      </a:r>
                    </a:p>
                  </a:txBody>
                  <a:tcPr>
                    <a:solidFill>
                      <a:srgbClr val="0070C0"/>
                    </a:solidFill>
                  </a:tcPr>
                </a:tc>
                <a:tc>
                  <a:txBody>
                    <a:bodyPr/>
                    <a:lstStyle/>
                    <a:p>
                      <a:pPr algn="r"/>
                      <a:r>
                        <a:rPr lang="en-US" sz="2400" b="1" dirty="0">
                          <a:latin typeface="Meiryo" panose="020B0604030504040204" pitchFamily="34" charset="-128"/>
                          <a:ea typeface="Meiryo" panose="020B0604030504040204" pitchFamily="34" charset="-128"/>
                        </a:rPr>
                        <a:t>ICER($/QAH)</a:t>
                      </a:r>
                    </a:p>
                  </a:txBody>
                  <a:tcPr>
                    <a:solidFill>
                      <a:srgbClr val="0070C0"/>
                    </a:solidFill>
                  </a:tcPr>
                </a:tc>
                <a:extLst>
                  <a:ext uri="{0D108BD9-81ED-4DB2-BD59-A6C34878D82A}">
                    <a16:rowId xmlns:a16="http://schemas.microsoft.com/office/drawing/2014/main" val="1533620200"/>
                  </a:ext>
                </a:extLst>
              </a:tr>
              <a:tr h="370840">
                <a:tc>
                  <a:txBody>
                    <a:bodyPr/>
                    <a:lstStyle/>
                    <a:p>
                      <a:r>
                        <a:rPr lang="ja-JP" altLang="en-US" sz="2400" b="1" dirty="0">
                          <a:latin typeface="Meiryo" panose="020B0604030504040204" pitchFamily="34" charset="-128"/>
                          <a:ea typeface="Meiryo" panose="020B0604030504040204" pitchFamily="34" charset="-128"/>
                        </a:rPr>
                        <a:t>エコノミー</a:t>
                      </a:r>
                      <a:endParaRPr lang="en-US" sz="2400" b="1" dirty="0">
                        <a:latin typeface="Meiryo" panose="020B0604030504040204" pitchFamily="34" charset="-128"/>
                        <a:ea typeface="Meiryo" panose="020B0604030504040204" pitchFamily="34" charset="-128"/>
                      </a:endParaRPr>
                    </a:p>
                  </a:txBody>
                  <a:tcPr/>
                </a:tc>
                <a:tc>
                  <a:txBody>
                    <a:bodyPr/>
                    <a:lstStyle/>
                    <a:p>
                      <a:pPr algn="r"/>
                      <a:r>
                        <a:rPr lang="en-US" sz="2400" b="1" dirty="0">
                          <a:latin typeface="Meiryo" panose="020B0604030504040204" pitchFamily="34" charset="-128"/>
                          <a:ea typeface="Meiryo" panose="020B0604030504040204" pitchFamily="34" charset="-128"/>
                        </a:rPr>
                        <a:t>750</a:t>
                      </a:r>
                    </a:p>
                  </a:txBody>
                  <a:tcPr/>
                </a:tc>
                <a:tc>
                  <a:txBody>
                    <a:bodyPr/>
                    <a:lstStyle/>
                    <a:p>
                      <a:pPr algn="r"/>
                      <a:r>
                        <a:rPr lang="en-US" sz="2400" b="1" dirty="0">
                          <a:latin typeface="Meiryo" panose="020B0604030504040204" pitchFamily="34" charset="-128"/>
                          <a:ea typeface="Meiryo" panose="020B0604030504040204" pitchFamily="34" charset="-128"/>
                        </a:rPr>
                        <a:t>12.78</a:t>
                      </a:r>
                    </a:p>
                  </a:txBody>
                  <a:tcPr/>
                </a:tc>
                <a:tc>
                  <a:txBody>
                    <a:bodyPr/>
                    <a:lstStyle/>
                    <a:p>
                      <a:pPr algn="r"/>
                      <a:r>
                        <a:rPr lang="en-US" sz="2400" b="1" dirty="0">
                          <a:latin typeface="Meiryo" panose="020B0604030504040204" pitchFamily="34" charset="-128"/>
                          <a:ea typeface="Meiryo" panose="020B0604030504040204" pitchFamily="34" charset="-128"/>
                        </a:rPr>
                        <a:t>-</a:t>
                      </a:r>
                    </a:p>
                  </a:txBody>
                  <a:tcPr/>
                </a:tc>
                <a:extLst>
                  <a:ext uri="{0D108BD9-81ED-4DB2-BD59-A6C34878D82A}">
                    <a16:rowId xmlns:a16="http://schemas.microsoft.com/office/drawing/2014/main" val="2276694104"/>
                  </a:ext>
                </a:extLst>
              </a:tr>
              <a:tr h="370840">
                <a:tc>
                  <a:txBody>
                    <a:bodyPr/>
                    <a:lstStyle/>
                    <a:p>
                      <a:r>
                        <a:rPr lang="ja-JP" altLang="en-US" sz="2400" b="1" dirty="0">
                          <a:latin typeface="Meiryo" panose="020B0604030504040204" pitchFamily="34" charset="-128"/>
                          <a:ea typeface="Meiryo" panose="020B0604030504040204" pitchFamily="34" charset="-128"/>
                        </a:rPr>
                        <a:t>ビジネス</a:t>
                      </a:r>
                      <a:endParaRPr lang="en-US" sz="2400" b="1" dirty="0">
                        <a:latin typeface="Meiryo" panose="020B0604030504040204" pitchFamily="34" charset="-128"/>
                        <a:ea typeface="Meiryo" panose="020B0604030504040204" pitchFamily="34" charset="-128"/>
                      </a:endParaRPr>
                    </a:p>
                  </a:txBody>
                  <a:tcPr/>
                </a:tc>
                <a:tc>
                  <a:txBody>
                    <a:bodyPr/>
                    <a:lstStyle/>
                    <a:p>
                      <a:pPr algn="r"/>
                      <a:r>
                        <a:rPr lang="en-US" sz="2400" b="1" dirty="0">
                          <a:latin typeface="Meiryo" panose="020B0604030504040204" pitchFamily="34" charset="-128"/>
                          <a:ea typeface="Meiryo" panose="020B0604030504040204" pitchFamily="34" charset="-128"/>
                        </a:rPr>
                        <a:t>1200</a:t>
                      </a:r>
                    </a:p>
                  </a:txBody>
                  <a:tcPr/>
                </a:tc>
                <a:tc>
                  <a:txBody>
                    <a:bodyPr/>
                    <a:lstStyle/>
                    <a:p>
                      <a:pPr algn="r"/>
                      <a:r>
                        <a:rPr lang="en-US" sz="2400" b="1" dirty="0">
                          <a:latin typeface="Meiryo" panose="020B0604030504040204" pitchFamily="34" charset="-128"/>
                          <a:ea typeface="Meiryo" panose="020B0604030504040204" pitchFamily="34" charset="-128"/>
                        </a:rPr>
                        <a:t>17.28</a:t>
                      </a:r>
                    </a:p>
                  </a:txBody>
                  <a:tcPr/>
                </a:tc>
                <a:tc>
                  <a:txBody>
                    <a:bodyPr/>
                    <a:lstStyle/>
                    <a:p>
                      <a:pPr algn="r"/>
                      <a:r>
                        <a:rPr lang="en-US" sz="2400" b="1" dirty="0">
                          <a:latin typeface="Meiryo" panose="020B0604030504040204" pitchFamily="34" charset="-128"/>
                          <a:ea typeface="Meiryo" panose="020B0604030504040204" pitchFamily="34" charset="-128"/>
                        </a:rPr>
                        <a:t>100</a:t>
                      </a:r>
                    </a:p>
                  </a:txBody>
                  <a:tcPr/>
                </a:tc>
                <a:extLst>
                  <a:ext uri="{0D108BD9-81ED-4DB2-BD59-A6C34878D82A}">
                    <a16:rowId xmlns:a16="http://schemas.microsoft.com/office/drawing/2014/main" val="3371756953"/>
                  </a:ext>
                </a:extLst>
              </a:tr>
              <a:tr h="370840">
                <a:tc>
                  <a:txBody>
                    <a:bodyPr/>
                    <a:lstStyle/>
                    <a:p>
                      <a:r>
                        <a:rPr lang="ja-JP" altLang="en-US" sz="2400" b="1" dirty="0">
                          <a:latin typeface="Meiryo" panose="020B0604030504040204" pitchFamily="34" charset="-128"/>
                          <a:ea typeface="Meiryo" panose="020B0604030504040204" pitchFamily="34" charset="-128"/>
                        </a:rPr>
                        <a:t>ファーストクラス</a:t>
                      </a:r>
                      <a:endParaRPr lang="en-US" sz="2400" b="1" dirty="0">
                        <a:latin typeface="Meiryo" panose="020B0604030504040204" pitchFamily="34" charset="-128"/>
                        <a:ea typeface="Meiryo" panose="020B0604030504040204" pitchFamily="34" charset="-128"/>
                      </a:endParaRPr>
                    </a:p>
                  </a:txBody>
                  <a:tcPr/>
                </a:tc>
                <a:tc>
                  <a:txBody>
                    <a:bodyPr/>
                    <a:lstStyle/>
                    <a:p>
                      <a:pPr algn="r"/>
                      <a:r>
                        <a:rPr lang="en-US" sz="2400" b="1" dirty="0">
                          <a:latin typeface="Meiryo" panose="020B0604030504040204" pitchFamily="34" charset="-128"/>
                          <a:ea typeface="Meiryo" panose="020B0604030504040204" pitchFamily="34" charset="-128"/>
                        </a:rPr>
                        <a:t>1500</a:t>
                      </a:r>
                    </a:p>
                  </a:txBody>
                  <a:tcPr/>
                </a:tc>
                <a:tc>
                  <a:txBody>
                    <a:bodyPr/>
                    <a:lstStyle/>
                    <a:p>
                      <a:pPr algn="r"/>
                      <a:r>
                        <a:rPr lang="en-US" sz="2400" b="1" dirty="0">
                          <a:latin typeface="Meiryo" panose="020B0604030504040204" pitchFamily="34" charset="-128"/>
                          <a:ea typeface="Meiryo" panose="020B0604030504040204" pitchFamily="34" charset="-128"/>
                        </a:rPr>
                        <a:t>18.00</a:t>
                      </a:r>
                    </a:p>
                  </a:txBody>
                  <a:tcPr/>
                </a:tc>
                <a:tc>
                  <a:txBody>
                    <a:bodyPr/>
                    <a:lstStyle/>
                    <a:p>
                      <a:pPr algn="r"/>
                      <a:r>
                        <a:rPr lang="en-US" sz="2400" b="1" dirty="0">
                          <a:latin typeface="Meiryo" panose="020B0604030504040204" pitchFamily="34" charset="-128"/>
                          <a:ea typeface="Meiryo" panose="020B0604030504040204" pitchFamily="34" charset="-128"/>
                        </a:rPr>
                        <a:t>144</a:t>
                      </a:r>
                    </a:p>
                  </a:txBody>
                  <a:tcPr/>
                </a:tc>
                <a:extLst>
                  <a:ext uri="{0D108BD9-81ED-4DB2-BD59-A6C34878D82A}">
                    <a16:rowId xmlns:a16="http://schemas.microsoft.com/office/drawing/2014/main" val="1480723072"/>
                  </a:ext>
                </a:extLst>
              </a:tr>
            </a:tbl>
          </a:graphicData>
        </a:graphic>
      </p:graphicFrame>
    </p:spTree>
    <p:extLst>
      <p:ext uri="{BB962C8B-B14F-4D97-AF65-F5344CB8AC3E}">
        <p14:creationId xmlns:p14="http://schemas.microsoft.com/office/powerpoint/2010/main" val="89299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E25F0-D3D4-618B-C1E5-F11B1A805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C68D3-4CD9-40E6-0D69-DA19197648C9}"/>
              </a:ext>
            </a:extLst>
          </p:cNvPr>
          <p:cNvSpPr>
            <a:spLocks noGrp="1"/>
          </p:cNvSpPr>
          <p:nvPr>
            <p:ph type="title"/>
          </p:nvPr>
        </p:nvSpPr>
        <p:spPr/>
        <p:txBody>
          <a:bodyPr/>
          <a:lstStyle/>
          <a:p>
            <a:r>
              <a:rPr lang="ja-JP" altLang="en-US" dirty="0"/>
              <a:t>フライトの座席クラスを決めるー感度分析①</a:t>
            </a:r>
            <a:endParaRPr lang="en-US" dirty="0"/>
          </a:p>
        </p:txBody>
      </p:sp>
      <p:sp>
        <p:nvSpPr>
          <p:cNvPr id="4" name="Slide Number Placeholder 3">
            <a:extLst>
              <a:ext uri="{FF2B5EF4-FFF2-40B4-BE49-F238E27FC236}">
                <a16:creationId xmlns:a16="http://schemas.microsoft.com/office/drawing/2014/main" id="{3D5B090C-5EA6-8A24-6028-0E59A3F113DC}"/>
              </a:ext>
            </a:extLst>
          </p:cNvPr>
          <p:cNvSpPr>
            <a:spLocks noGrp="1"/>
          </p:cNvSpPr>
          <p:nvPr>
            <p:ph type="sldNum" sz="quarter" idx="4"/>
          </p:nvPr>
        </p:nvSpPr>
        <p:spPr/>
        <p:txBody>
          <a:bodyPr/>
          <a:lstStyle/>
          <a:p>
            <a:fld id="{B5CEABB6-07DC-46E8-9B57-56EC44A396E5}" type="slidenum">
              <a:rPr lang="en-US" smtClean="0"/>
              <a:pPr/>
              <a:t>49</a:t>
            </a:fld>
            <a:endParaRPr lang="en-US" dirty="0"/>
          </a:p>
        </p:txBody>
      </p:sp>
      <p:sp>
        <p:nvSpPr>
          <p:cNvPr id="5" name="Table Placeholder 4">
            <a:extLst>
              <a:ext uri="{FF2B5EF4-FFF2-40B4-BE49-F238E27FC236}">
                <a16:creationId xmlns:a16="http://schemas.microsoft.com/office/drawing/2014/main" id="{5393C7D9-05ED-9B2D-2B58-77E60BBB5E70}"/>
              </a:ext>
            </a:extLst>
          </p:cNvPr>
          <p:cNvSpPr>
            <a:spLocks noGrp="1"/>
          </p:cNvSpPr>
          <p:nvPr>
            <p:ph type="tbl" sz="quarter" idx="11"/>
          </p:nvPr>
        </p:nvSpPr>
        <p:spPr/>
        <p:txBody>
          <a:bodyPr/>
          <a:lstStyle/>
          <a:p>
            <a:r>
              <a:rPr lang="ja-JP" altLang="en-US" dirty="0"/>
              <a:t>「残念な席」の快適度とビジネスクラスの費用によって、最も費用対効果が高い　座席クラスが変わるのでは</a:t>
            </a:r>
            <a:endParaRPr lang="en-US" dirty="0"/>
          </a:p>
        </p:txBody>
      </p:sp>
      <p:grpSp>
        <p:nvGrpSpPr>
          <p:cNvPr id="6" name="Group 5">
            <a:extLst>
              <a:ext uri="{FF2B5EF4-FFF2-40B4-BE49-F238E27FC236}">
                <a16:creationId xmlns:a16="http://schemas.microsoft.com/office/drawing/2014/main" id="{98624EA3-5444-F187-2FA8-4F74F319EBD1}"/>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08EC9EEC-A146-BA3D-0148-F2B53ED0FFB2}"/>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E57F141A-3481-285A-3ECD-EDACA5FB28D2}"/>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79D81081-796B-13AB-886D-C0A1D61E8DF1}"/>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61" name="Picture 60">
            <a:extLst>
              <a:ext uri="{FF2B5EF4-FFF2-40B4-BE49-F238E27FC236}">
                <a16:creationId xmlns:a16="http://schemas.microsoft.com/office/drawing/2014/main" id="{EE503973-1BFA-BECE-E426-144C633F8527}"/>
              </a:ext>
            </a:extLst>
          </p:cNvPr>
          <p:cNvPicPr>
            <a:picLocks noChangeAspect="1"/>
          </p:cNvPicPr>
          <p:nvPr/>
        </p:nvPicPr>
        <p:blipFill>
          <a:blip r:embed="rId2"/>
          <a:stretch>
            <a:fillRect/>
          </a:stretch>
        </p:blipFill>
        <p:spPr>
          <a:xfrm>
            <a:off x="491187" y="2184619"/>
            <a:ext cx="10159034" cy="4278655"/>
          </a:xfrm>
          <a:prstGeom prst="rect">
            <a:avLst/>
          </a:prstGeom>
        </p:spPr>
      </p:pic>
      <p:sp>
        <p:nvSpPr>
          <p:cNvPr id="60" name="Rectangle: Rounded Corners 59">
            <a:extLst>
              <a:ext uri="{FF2B5EF4-FFF2-40B4-BE49-F238E27FC236}">
                <a16:creationId xmlns:a16="http://schemas.microsoft.com/office/drawing/2014/main" id="{3D41723B-0DF1-43AA-C009-E980340DF3C3}"/>
              </a:ext>
            </a:extLst>
          </p:cNvPr>
          <p:cNvSpPr/>
          <p:nvPr/>
        </p:nvSpPr>
        <p:spPr>
          <a:xfrm>
            <a:off x="8307421" y="3638145"/>
            <a:ext cx="1112849" cy="1309854"/>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62" name="Rectangle: Rounded Corners 61">
            <a:extLst>
              <a:ext uri="{FF2B5EF4-FFF2-40B4-BE49-F238E27FC236}">
                <a16:creationId xmlns:a16="http://schemas.microsoft.com/office/drawing/2014/main" id="{ECFD7B58-AA9B-D429-72B8-C841475E30C0}"/>
              </a:ext>
            </a:extLst>
          </p:cNvPr>
          <p:cNvSpPr/>
          <p:nvPr/>
        </p:nvSpPr>
        <p:spPr>
          <a:xfrm>
            <a:off x="9541571" y="5807903"/>
            <a:ext cx="1108650" cy="505349"/>
          </a:xfrm>
          <a:prstGeom prst="roundRect">
            <a:avLst/>
          </a:prstGeom>
          <a:noFill/>
          <a:ln w="5715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63" name="Straight Connector 62">
            <a:extLst>
              <a:ext uri="{FF2B5EF4-FFF2-40B4-BE49-F238E27FC236}">
                <a16:creationId xmlns:a16="http://schemas.microsoft.com/office/drawing/2014/main" id="{9D5C5985-858B-7CBE-D133-2162C41704E8}"/>
              </a:ext>
            </a:extLst>
          </p:cNvPr>
          <p:cNvCxnSpPr>
            <a:cxnSpLocks/>
            <a:stCxn id="60" idx="3"/>
            <a:endCxn id="64" idx="2"/>
          </p:cNvCxnSpPr>
          <p:nvPr/>
        </p:nvCxnSpPr>
        <p:spPr>
          <a:xfrm flipV="1">
            <a:off x="9420270" y="3476881"/>
            <a:ext cx="981109" cy="816191"/>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6B0E271-AD5A-CB27-A516-4777E009C1A1}"/>
              </a:ext>
            </a:extLst>
          </p:cNvPr>
          <p:cNvSpPr/>
          <p:nvPr/>
        </p:nvSpPr>
        <p:spPr>
          <a:xfrm>
            <a:off x="9522315" y="3084339"/>
            <a:ext cx="1758128"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$1000~2000</a:t>
            </a:r>
          </a:p>
        </p:txBody>
      </p:sp>
      <p:sp>
        <p:nvSpPr>
          <p:cNvPr id="68" name="Rectangle 67">
            <a:extLst>
              <a:ext uri="{FF2B5EF4-FFF2-40B4-BE49-F238E27FC236}">
                <a16:creationId xmlns:a16="http://schemas.microsoft.com/office/drawing/2014/main" id="{657DE55D-6C92-6A93-754C-50DAE61FF6AD}"/>
              </a:ext>
            </a:extLst>
          </p:cNvPr>
          <p:cNvSpPr/>
          <p:nvPr/>
        </p:nvSpPr>
        <p:spPr>
          <a:xfrm>
            <a:off x="10575568" y="4918929"/>
            <a:ext cx="1112849" cy="392542"/>
          </a:xfrm>
          <a:prstGeom prst="rect">
            <a:avLst/>
          </a:prstGeom>
          <a:solidFill>
            <a:schemeClr val="bg1"/>
          </a:solid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0.3~1</a:t>
            </a:r>
          </a:p>
        </p:txBody>
      </p:sp>
      <p:cxnSp>
        <p:nvCxnSpPr>
          <p:cNvPr id="69" name="Straight Connector 68">
            <a:extLst>
              <a:ext uri="{FF2B5EF4-FFF2-40B4-BE49-F238E27FC236}">
                <a16:creationId xmlns:a16="http://schemas.microsoft.com/office/drawing/2014/main" id="{8026F233-78C9-9255-4308-56172C961477}"/>
              </a:ext>
            </a:extLst>
          </p:cNvPr>
          <p:cNvCxnSpPr>
            <a:cxnSpLocks/>
            <a:stCxn id="62" idx="3"/>
            <a:endCxn id="68" idx="2"/>
          </p:cNvCxnSpPr>
          <p:nvPr/>
        </p:nvCxnSpPr>
        <p:spPr>
          <a:xfrm flipV="1">
            <a:off x="10650221" y="5311471"/>
            <a:ext cx="481772" cy="749107"/>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6067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713B9-0EFB-E7C1-3D7D-93A486312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BA16B-CF20-CF77-6E52-F63AF99F92B0}"/>
              </a:ext>
            </a:extLst>
          </p:cNvPr>
          <p:cNvSpPr>
            <a:spLocks noGrp="1"/>
          </p:cNvSpPr>
          <p:nvPr>
            <p:ph type="title"/>
          </p:nvPr>
        </p:nvSpPr>
        <p:spPr/>
        <p:txBody>
          <a:bodyPr/>
          <a:lstStyle/>
          <a:p>
            <a:r>
              <a:rPr lang="ja-JP" altLang="en-US" dirty="0"/>
              <a:t>フライトの座席クラスを決めるー感度分析①</a:t>
            </a:r>
            <a:endParaRPr lang="en-US" dirty="0"/>
          </a:p>
        </p:txBody>
      </p:sp>
      <p:sp>
        <p:nvSpPr>
          <p:cNvPr id="4" name="Slide Number Placeholder 3">
            <a:extLst>
              <a:ext uri="{FF2B5EF4-FFF2-40B4-BE49-F238E27FC236}">
                <a16:creationId xmlns:a16="http://schemas.microsoft.com/office/drawing/2014/main" id="{6ACC1907-8888-D34A-A847-F1902F1E9A5B}"/>
              </a:ext>
            </a:extLst>
          </p:cNvPr>
          <p:cNvSpPr>
            <a:spLocks noGrp="1"/>
          </p:cNvSpPr>
          <p:nvPr>
            <p:ph type="sldNum" sz="quarter" idx="4"/>
          </p:nvPr>
        </p:nvSpPr>
        <p:spPr/>
        <p:txBody>
          <a:bodyPr/>
          <a:lstStyle/>
          <a:p>
            <a:fld id="{B5CEABB6-07DC-46E8-9B57-56EC44A396E5}" type="slidenum">
              <a:rPr lang="en-US" smtClean="0"/>
              <a:pPr/>
              <a:t>50</a:t>
            </a:fld>
            <a:endParaRPr lang="en-US" dirty="0"/>
          </a:p>
        </p:txBody>
      </p:sp>
      <p:sp>
        <p:nvSpPr>
          <p:cNvPr id="5" name="Table Placeholder 4">
            <a:extLst>
              <a:ext uri="{FF2B5EF4-FFF2-40B4-BE49-F238E27FC236}">
                <a16:creationId xmlns:a16="http://schemas.microsoft.com/office/drawing/2014/main" id="{DEFB0C96-91FA-7CC7-241E-B1E193DD779B}"/>
              </a:ext>
            </a:extLst>
          </p:cNvPr>
          <p:cNvSpPr>
            <a:spLocks noGrp="1"/>
          </p:cNvSpPr>
          <p:nvPr>
            <p:ph type="tbl" sz="quarter" idx="11"/>
          </p:nvPr>
        </p:nvSpPr>
        <p:spPr/>
        <p:txBody>
          <a:bodyPr/>
          <a:lstStyle/>
          <a:p>
            <a:r>
              <a:rPr lang="ja-JP" altLang="en-US" dirty="0"/>
              <a:t>「残念な席」の快適度とビジネスクラスの費用によって最も費用対効果が高い　座席クラスが変わる</a:t>
            </a:r>
            <a:endParaRPr lang="en-US" dirty="0"/>
          </a:p>
        </p:txBody>
      </p:sp>
      <p:grpSp>
        <p:nvGrpSpPr>
          <p:cNvPr id="6" name="Group 5">
            <a:extLst>
              <a:ext uri="{FF2B5EF4-FFF2-40B4-BE49-F238E27FC236}">
                <a16:creationId xmlns:a16="http://schemas.microsoft.com/office/drawing/2014/main" id="{4F95CD40-7AB9-46CA-0D05-311A980AD02A}"/>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8C62941F-7900-113F-0439-03001BDC3F68}"/>
                </a:ext>
              </a:extLst>
            </p:cNvPr>
            <p:cNvSpPr/>
            <p:nvPr/>
          </p:nvSpPr>
          <p:spPr>
            <a:xfrm>
              <a:off x="3192565"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③ユースケース</a:t>
              </a:r>
              <a:endParaRPr lang="en-US" altLang="ja-JP" sz="1600"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5B14EF89-E689-A368-8702-F41DF9EC14D4}"/>
                </a:ext>
              </a:extLst>
            </p:cNvPr>
            <p:cNvSpPr/>
            <p:nvPr/>
          </p:nvSpPr>
          <p:spPr>
            <a:xfrm>
              <a:off x="1817136"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②体験</a:t>
              </a:r>
              <a:endParaRPr lang="en-US" altLang="ja-JP" sz="1600" b="1"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E057B572-08BF-13F6-2D98-549A8959BAD5}"/>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2" name="Picture 11" descr="A graph of two people&#10;&#10;AI-generated content may be incorrect.">
            <a:extLst>
              <a:ext uri="{FF2B5EF4-FFF2-40B4-BE49-F238E27FC236}">
                <a16:creationId xmlns:a16="http://schemas.microsoft.com/office/drawing/2014/main" id="{3F9544FE-3F7C-1107-AEA9-A4CB220FE2BE}"/>
              </a:ext>
            </a:extLst>
          </p:cNvPr>
          <p:cNvPicPr>
            <a:picLocks noChangeAspect="1"/>
          </p:cNvPicPr>
          <p:nvPr/>
        </p:nvPicPr>
        <p:blipFill>
          <a:blip r:embed="rId3"/>
          <a:srcRect r="16348"/>
          <a:stretch/>
        </p:blipFill>
        <p:spPr>
          <a:xfrm>
            <a:off x="434968" y="2354572"/>
            <a:ext cx="5437051" cy="4484223"/>
          </a:xfrm>
          <a:prstGeom prst="rect">
            <a:avLst/>
          </a:prstGeom>
        </p:spPr>
      </p:pic>
      <p:sp>
        <p:nvSpPr>
          <p:cNvPr id="13" name="Multiplication Sign 12">
            <a:extLst>
              <a:ext uri="{FF2B5EF4-FFF2-40B4-BE49-F238E27FC236}">
                <a16:creationId xmlns:a16="http://schemas.microsoft.com/office/drawing/2014/main" id="{08567938-9B20-C930-2463-C338355754AB}"/>
              </a:ext>
            </a:extLst>
          </p:cNvPr>
          <p:cNvSpPr/>
          <p:nvPr/>
        </p:nvSpPr>
        <p:spPr>
          <a:xfrm>
            <a:off x="2034148" y="4698463"/>
            <a:ext cx="690664" cy="564204"/>
          </a:xfrm>
          <a:prstGeom prst="mathMultiply">
            <a:avLst>
              <a:gd name="adj1" fmla="val 1366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4" name="Table Placeholder 2">
            <a:extLst>
              <a:ext uri="{FF2B5EF4-FFF2-40B4-BE49-F238E27FC236}">
                <a16:creationId xmlns:a16="http://schemas.microsoft.com/office/drawing/2014/main" id="{2C2DFEA5-6E95-AF12-C3ED-E162E2F7A25B}"/>
              </a:ext>
            </a:extLst>
          </p:cNvPr>
          <p:cNvSpPr>
            <a:spLocks noGrp="1"/>
          </p:cNvSpPr>
          <p:nvPr>
            <p:ph type="tbl" sz="quarter" idx="10"/>
          </p:nvPr>
        </p:nvSpPr>
        <p:spPr>
          <a:xfrm>
            <a:off x="6319983" y="1938130"/>
            <a:ext cx="5404878" cy="4692045"/>
          </a:xfrm>
        </p:spPr>
        <p:txBody>
          <a:bodyPr/>
          <a:lstStyle/>
          <a:p>
            <a:r>
              <a:rPr lang="ja-JP" altLang="en-US" dirty="0"/>
              <a:t>「残念な席」の快適度が低い場合</a:t>
            </a:r>
            <a:endParaRPr lang="en-US" altLang="ja-JP" dirty="0"/>
          </a:p>
          <a:p>
            <a:pPr lvl="1"/>
            <a:r>
              <a:rPr lang="ja-JP" altLang="en-US" dirty="0"/>
              <a:t>ビジネスの費用に関わらず  ファーストクラスに乗るべし</a:t>
            </a:r>
            <a:endParaRPr lang="en-US" altLang="ja-JP" dirty="0"/>
          </a:p>
          <a:p>
            <a:pPr lvl="1"/>
            <a:endParaRPr lang="en-US" altLang="ja-JP" dirty="0"/>
          </a:p>
          <a:p>
            <a:r>
              <a:rPr lang="ja-JP" altLang="en-US" dirty="0"/>
              <a:t>「残念な席」の快適度が悪くなく、かつビジネスの費用が低い場合</a:t>
            </a:r>
            <a:endParaRPr lang="en-US" altLang="ja-JP" dirty="0"/>
          </a:p>
          <a:p>
            <a:pPr lvl="1"/>
            <a:r>
              <a:rPr lang="ja-JP" altLang="en-US" dirty="0"/>
              <a:t>ビジネスクラスに乗るべし</a:t>
            </a:r>
            <a:endParaRPr lang="en-US" altLang="ja-JP" dirty="0"/>
          </a:p>
          <a:p>
            <a:pPr lvl="1"/>
            <a:endParaRPr lang="en-US" altLang="ja-JP" dirty="0"/>
          </a:p>
          <a:p>
            <a:r>
              <a:rPr lang="ja-JP" altLang="en-US" dirty="0"/>
              <a:t>それ以外</a:t>
            </a:r>
            <a:endParaRPr lang="en-US" altLang="ja-JP" dirty="0"/>
          </a:p>
          <a:p>
            <a:pPr lvl="1"/>
            <a:r>
              <a:rPr lang="ja-JP" altLang="en-US" dirty="0"/>
              <a:t>エコノミークラスに乗るべし</a:t>
            </a:r>
            <a:endParaRPr lang="en-US" altLang="ja-JP" dirty="0"/>
          </a:p>
        </p:txBody>
      </p:sp>
      <p:grpSp>
        <p:nvGrpSpPr>
          <p:cNvPr id="15" name="Group 14">
            <a:extLst>
              <a:ext uri="{FF2B5EF4-FFF2-40B4-BE49-F238E27FC236}">
                <a16:creationId xmlns:a16="http://schemas.microsoft.com/office/drawing/2014/main" id="{8D3F0BEC-E8AC-1F37-6AE8-F93DB7279B62}"/>
              </a:ext>
            </a:extLst>
          </p:cNvPr>
          <p:cNvGrpSpPr/>
          <p:nvPr/>
        </p:nvGrpSpPr>
        <p:grpSpPr>
          <a:xfrm>
            <a:off x="1250643" y="1962202"/>
            <a:ext cx="4493017" cy="308922"/>
            <a:chOff x="4911850" y="6335733"/>
            <a:chExt cx="4068115" cy="292746"/>
          </a:xfrm>
        </p:grpSpPr>
        <p:sp>
          <p:nvSpPr>
            <p:cNvPr id="16" name="Rectangle 15">
              <a:extLst>
                <a:ext uri="{FF2B5EF4-FFF2-40B4-BE49-F238E27FC236}">
                  <a16:creationId xmlns:a16="http://schemas.microsoft.com/office/drawing/2014/main" id="{EC73BE27-9B91-96A3-8F50-11C53AE21AE2}"/>
                </a:ext>
              </a:extLst>
            </p:cNvPr>
            <p:cNvSpPr/>
            <p:nvPr/>
          </p:nvSpPr>
          <p:spPr>
            <a:xfrm>
              <a:off x="4911850" y="6353721"/>
              <a:ext cx="248378" cy="259956"/>
            </a:xfrm>
            <a:prstGeom prst="rect">
              <a:avLst/>
            </a:prstGeom>
            <a:solidFill>
              <a:schemeClr val="tx2">
                <a:lumMod val="20000"/>
                <a:lumOff val="80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AD2ECB9C-5EE0-E612-0632-44F0B04D31DB}"/>
                </a:ext>
              </a:extLst>
            </p:cNvPr>
            <p:cNvSpPr/>
            <p:nvPr/>
          </p:nvSpPr>
          <p:spPr>
            <a:xfrm>
              <a:off x="5199551" y="6335733"/>
              <a:ext cx="1048849" cy="2927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エコノミー</a:t>
              </a:r>
              <a:endParaRPr lang="en-US" dirty="0">
                <a:solidFill>
                  <a:schemeClr val="tx1"/>
                </a:solidFill>
                <a:latin typeface="Meiryo UI" panose="020B0604030504040204" pitchFamily="50" charset="-128"/>
                <a:ea typeface="Meiryo UI" panose="020B0604030504040204" pitchFamily="50" charset="-128"/>
              </a:endParaRPr>
            </a:p>
          </p:txBody>
        </p:sp>
        <p:sp>
          <p:nvSpPr>
            <p:cNvPr id="18" name="Rectangle 17">
              <a:extLst>
                <a:ext uri="{FF2B5EF4-FFF2-40B4-BE49-F238E27FC236}">
                  <a16:creationId xmlns:a16="http://schemas.microsoft.com/office/drawing/2014/main" id="{8B383AFB-4B86-3729-3693-857904E791AD}"/>
                </a:ext>
              </a:extLst>
            </p:cNvPr>
            <p:cNvSpPr/>
            <p:nvPr/>
          </p:nvSpPr>
          <p:spPr>
            <a:xfrm>
              <a:off x="6258310" y="6353721"/>
              <a:ext cx="248378" cy="259956"/>
            </a:xfrm>
            <a:prstGeom prst="rect">
              <a:avLst/>
            </a:prstGeom>
            <a:solidFill>
              <a:srgbClr val="0070C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9" name="Rectangle 18">
              <a:extLst>
                <a:ext uri="{FF2B5EF4-FFF2-40B4-BE49-F238E27FC236}">
                  <a16:creationId xmlns:a16="http://schemas.microsoft.com/office/drawing/2014/main" id="{0E762361-3648-2C2D-7BD4-C672ACAE2588}"/>
                </a:ext>
              </a:extLst>
            </p:cNvPr>
            <p:cNvSpPr/>
            <p:nvPr/>
          </p:nvSpPr>
          <p:spPr>
            <a:xfrm>
              <a:off x="6546011"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ビジネス</a:t>
              </a:r>
              <a:endParaRPr lang="en-US" dirty="0">
                <a:solidFill>
                  <a:schemeClr val="tx1"/>
                </a:solidFill>
                <a:latin typeface="Meiryo UI" panose="020B0604030504040204" pitchFamily="50" charset="-128"/>
                <a:ea typeface="Meiryo UI" panose="020B0604030504040204" pitchFamily="50" charset="-128"/>
              </a:endParaRPr>
            </a:p>
          </p:txBody>
        </p:sp>
        <p:sp>
          <p:nvSpPr>
            <p:cNvPr id="20" name="Rectangle 19">
              <a:extLst>
                <a:ext uri="{FF2B5EF4-FFF2-40B4-BE49-F238E27FC236}">
                  <a16:creationId xmlns:a16="http://schemas.microsoft.com/office/drawing/2014/main" id="{9650505F-4EFC-27A3-B62D-568124FC84F9}"/>
                </a:ext>
              </a:extLst>
            </p:cNvPr>
            <p:cNvSpPr/>
            <p:nvPr/>
          </p:nvSpPr>
          <p:spPr>
            <a:xfrm rot="16200000">
              <a:off x="7602149" y="6359510"/>
              <a:ext cx="259956" cy="2483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Rectangle 20">
              <a:extLst>
                <a:ext uri="{FF2B5EF4-FFF2-40B4-BE49-F238E27FC236}">
                  <a16:creationId xmlns:a16="http://schemas.microsoft.com/office/drawing/2014/main" id="{9834DB34-9DFD-DD60-A8D4-8F5212148148}"/>
                </a:ext>
              </a:extLst>
            </p:cNvPr>
            <p:cNvSpPr/>
            <p:nvPr/>
          </p:nvSpPr>
          <p:spPr>
            <a:xfrm>
              <a:off x="7887255" y="6335733"/>
              <a:ext cx="1092710" cy="2820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ファースト</a:t>
              </a:r>
              <a:endParaRPr lang="en-US" dirty="0">
                <a:solidFill>
                  <a:schemeClr val="tx1"/>
                </a:solidFill>
                <a:latin typeface="Meiryo UI" panose="020B0604030504040204" pitchFamily="50" charset="-128"/>
                <a:ea typeface="Meiryo UI" panose="020B0604030504040204" pitchFamily="50" charset="-128"/>
              </a:endParaRPr>
            </a:p>
          </p:txBody>
        </p:sp>
      </p:grpSp>
      <p:sp>
        <p:nvSpPr>
          <p:cNvPr id="22" name="Rectangle 21">
            <a:extLst>
              <a:ext uri="{FF2B5EF4-FFF2-40B4-BE49-F238E27FC236}">
                <a16:creationId xmlns:a16="http://schemas.microsoft.com/office/drawing/2014/main" id="{5CE1203E-D587-D3C6-06ED-3C0F225276B5}"/>
              </a:ext>
            </a:extLst>
          </p:cNvPr>
          <p:cNvSpPr/>
          <p:nvPr/>
        </p:nvSpPr>
        <p:spPr>
          <a:xfrm>
            <a:off x="434968" y="2708760"/>
            <a:ext cx="364801" cy="31507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残念な席の快適度</a:t>
            </a:r>
            <a:endParaRPr lang="en-US" sz="2000" dirty="0">
              <a:solidFill>
                <a:schemeClr val="tx1"/>
              </a:solidFill>
              <a:latin typeface="Meiryo UI" panose="020B0604030504040204" pitchFamily="50" charset="-128"/>
              <a:ea typeface="Meiryo UI" panose="020B0604030504040204" pitchFamily="50" charset="-128"/>
            </a:endParaRPr>
          </a:p>
        </p:txBody>
      </p:sp>
      <p:sp>
        <p:nvSpPr>
          <p:cNvPr id="23" name="Rectangle 22">
            <a:extLst>
              <a:ext uri="{FF2B5EF4-FFF2-40B4-BE49-F238E27FC236}">
                <a16:creationId xmlns:a16="http://schemas.microsoft.com/office/drawing/2014/main" id="{4A29344C-8EAC-A22E-EE10-3EFDE1E369D8}"/>
              </a:ext>
            </a:extLst>
          </p:cNvPr>
          <p:cNvSpPr/>
          <p:nvPr/>
        </p:nvSpPr>
        <p:spPr>
          <a:xfrm>
            <a:off x="2143376" y="6473972"/>
            <a:ext cx="2530223" cy="2897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ビジネスの費用</a:t>
            </a:r>
            <a:r>
              <a:rPr lang="en-US" altLang="ja-JP" sz="2000" dirty="0">
                <a:solidFill>
                  <a:schemeClr val="tx1"/>
                </a:solidFill>
                <a:latin typeface="Meiryo UI" panose="020B0604030504040204" pitchFamily="50" charset="-128"/>
                <a:ea typeface="Meiryo UI" panose="020B0604030504040204" pitchFamily="50" charset="-128"/>
              </a:rPr>
              <a:t>($)</a:t>
            </a:r>
            <a:endParaRPr lang="en-US" sz="20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457669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5B3EF-C730-3D4E-4DCC-11D09147B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5B27F-3B55-F7BA-4601-7C7C40262D7F}"/>
              </a:ext>
            </a:extLst>
          </p:cNvPr>
          <p:cNvSpPr>
            <a:spLocks noGrp="1"/>
          </p:cNvSpPr>
          <p:nvPr>
            <p:ph type="title"/>
          </p:nvPr>
        </p:nvSpPr>
        <p:spPr>
          <a:xfrm>
            <a:off x="467139" y="589724"/>
            <a:ext cx="11221278" cy="362776"/>
          </a:xfrm>
        </p:spPr>
        <p:txBody>
          <a:bodyPr/>
          <a:lstStyle/>
          <a:p>
            <a:r>
              <a:rPr lang="ja-JP" altLang="en-US" dirty="0"/>
              <a:t>アジェンダ</a:t>
            </a:r>
            <a:endParaRPr lang="en-US" dirty="0"/>
          </a:p>
        </p:txBody>
      </p:sp>
      <p:sp>
        <p:nvSpPr>
          <p:cNvPr id="4" name="Slide Number Placeholder 3">
            <a:extLst>
              <a:ext uri="{FF2B5EF4-FFF2-40B4-BE49-F238E27FC236}">
                <a16:creationId xmlns:a16="http://schemas.microsoft.com/office/drawing/2014/main" id="{FAB97F58-3181-CD30-5DBD-1CB610AEB189}"/>
              </a:ext>
            </a:extLst>
          </p:cNvPr>
          <p:cNvSpPr>
            <a:spLocks noGrp="1"/>
          </p:cNvSpPr>
          <p:nvPr>
            <p:ph type="sldNum" sz="quarter" idx="4"/>
          </p:nvPr>
        </p:nvSpPr>
        <p:spPr/>
        <p:txBody>
          <a:bodyPr/>
          <a:lstStyle/>
          <a:p>
            <a:fld id="{B5CEABB6-07DC-46E8-9B57-56EC44A396E5}" type="slidenum">
              <a:rPr lang="en-US" smtClean="0"/>
              <a:pPr/>
              <a:t>51</a:t>
            </a:fld>
            <a:endParaRPr lang="en-US" dirty="0"/>
          </a:p>
        </p:txBody>
      </p:sp>
      <p:sp>
        <p:nvSpPr>
          <p:cNvPr id="5" name="Table Placeholder 4">
            <a:extLst>
              <a:ext uri="{FF2B5EF4-FFF2-40B4-BE49-F238E27FC236}">
                <a16:creationId xmlns:a16="http://schemas.microsoft.com/office/drawing/2014/main" id="{76619FF9-19A0-FBA4-884E-03E9EB44D1A1}"/>
              </a:ext>
            </a:extLst>
          </p:cNvPr>
          <p:cNvSpPr>
            <a:spLocks noGrp="1"/>
          </p:cNvSpPr>
          <p:nvPr>
            <p:ph type="tbl" sz="quarter" idx="11"/>
          </p:nvPr>
        </p:nvSpPr>
        <p:spPr/>
        <p:txBody>
          <a:bodyPr/>
          <a:lstStyle/>
          <a:p>
            <a:endParaRPr lang="en-US" dirty="0"/>
          </a:p>
        </p:txBody>
      </p:sp>
      <p:sp>
        <p:nvSpPr>
          <p:cNvPr id="6" name="Rectangle 5">
            <a:extLst>
              <a:ext uri="{FF2B5EF4-FFF2-40B4-BE49-F238E27FC236}">
                <a16:creationId xmlns:a16="http://schemas.microsoft.com/office/drawing/2014/main" id="{606187E7-353A-8250-EAF3-8B1C8403C815}"/>
              </a:ext>
            </a:extLst>
          </p:cNvPr>
          <p:cNvSpPr/>
          <p:nvPr/>
        </p:nvSpPr>
        <p:spPr>
          <a:xfrm>
            <a:off x="467139" y="2064970"/>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Meiryo UI" panose="020B0604030504040204" pitchFamily="50" charset="-128"/>
                <a:ea typeface="Meiryo UI" panose="020B0604030504040204" pitchFamily="50" charset="-128"/>
              </a:rPr>
              <a:t>1. </a:t>
            </a:r>
            <a:r>
              <a:rPr lang="ja-JP" altLang="en-US" sz="2400" b="1" dirty="0">
                <a:latin typeface="Meiryo UI" panose="020B0604030504040204" pitchFamily="50" charset="-128"/>
                <a:ea typeface="Meiryo UI" panose="020B0604030504040204" pitchFamily="50" charset="-128"/>
              </a:rPr>
              <a:t>意思決定科学とは何か・どう分析するか</a:t>
            </a:r>
            <a:r>
              <a:rPr lang="en-US" sz="2400" b="1" dirty="0">
                <a:latin typeface="Meiryo UI" panose="020B0604030504040204" pitchFamily="50" charset="-128"/>
                <a:ea typeface="Meiryo UI" panose="020B0604030504040204" pitchFamily="50" charset="-128"/>
              </a:rPr>
              <a:t> </a:t>
            </a:r>
          </a:p>
        </p:txBody>
      </p:sp>
      <p:sp>
        <p:nvSpPr>
          <p:cNvPr id="7" name="Rectangle 6">
            <a:extLst>
              <a:ext uri="{FF2B5EF4-FFF2-40B4-BE49-F238E27FC236}">
                <a16:creationId xmlns:a16="http://schemas.microsoft.com/office/drawing/2014/main" id="{CCB6E144-ECA1-A054-8301-271C10819E40}"/>
              </a:ext>
            </a:extLst>
          </p:cNvPr>
          <p:cNvSpPr/>
          <p:nvPr/>
        </p:nvSpPr>
        <p:spPr>
          <a:xfrm>
            <a:off x="467139" y="3506988"/>
            <a:ext cx="11221278" cy="73549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２</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意思決定科学を実際に体験してみる</a:t>
            </a:r>
            <a:r>
              <a:rPr lang="en-US" sz="2400" b="1" dirty="0">
                <a:latin typeface="Meiryo UI" panose="020B0604030504040204" pitchFamily="50" charset="-128"/>
                <a:ea typeface="Meiryo UI" panose="020B0604030504040204" pitchFamily="50" charset="-128"/>
              </a:rPr>
              <a:t> </a:t>
            </a:r>
          </a:p>
        </p:txBody>
      </p:sp>
      <p:sp>
        <p:nvSpPr>
          <p:cNvPr id="8" name="Rectangle 7">
            <a:extLst>
              <a:ext uri="{FF2B5EF4-FFF2-40B4-BE49-F238E27FC236}">
                <a16:creationId xmlns:a16="http://schemas.microsoft.com/office/drawing/2014/main" id="{AA90813E-583B-0E0E-A18A-4540ACB21BF6}"/>
              </a:ext>
            </a:extLst>
          </p:cNvPr>
          <p:cNvSpPr/>
          <p:nvPr/>
        </p:nvSpPr>
        <p:spPr>
          <a:xfrm>
            <a:off x="467139" y="4949006"/>
            <a:ext cx="11221278" cy="735496"/>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latin typeface="Meiryo UI" panose="020B0604030504040204" pitchFamily="50" charset="-128"/>
                <a:ea typeface="Meiryo UI" panose="020B0604030504040204" pitchFamily="50" charset="-128"/>
              </a:rPr>
              <a:t>３</a:t>
            </a:r>
            <a:r>
              <a:rPr lang="en-US" sz="2400" b="1" dirty="0">
                <a:latin typeface="Meiryo UI" panose="020B0604030504040204" pitchFamily="50" charset="-128"/>
                <a:ea typeface="Meiryo UI" panose="020B0604030504040204" pitchFamily="50" charset="-128"/>
              </a:rPr>
              <a:t>. </a:t>
            </a:r>
            <a:r>
              <a:rPr lang="ja-JP" altLang="en-US" sz="2400" b="1" dirty="0">
                <a:latin typeface="Meiryo UI" panose="020B0604030504040204" pitchFamily="50" charset="-128"/>
                <a:ea typeface="Meiryo UI" panose="020B0604030504040204" pitchFamily="50" charset="-128"/>
              </a:rPr>
              <a:t>意思決定科学のユースケース</a:t>
            </a:r>
            <a:endParaRPr lang="en-US" sz="24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499759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43B4-8755-FC65-EB87-0E12AD8D0A3C}"/>
              </a:ext>
            </a:extLst>
          </p:cNvPr>
          <p:cNvSpPr>
            <a:spLocks noGrp="1"/>
          </p:cNvSpPr>
          <p:nvPr>
            <p:ph type="title"/>
          </p:nvPr>
        </p:nvSpPr>
        <p:spPr/>
        <p:txBody>
          <a:bodyPr/>
          <a:lstStyle/>
          <a:p>
            <a:r>
              <a:rPr lang="ja-JP" altLang="en-US" dirty="0"/>
              <a:t>医療におけるユースケース</a:t>
            </a:r>
            <a:endParaRPr lang="en-US" dirty="0"/>
          </a:p>
        </p:txBody>
      </p:sp>
      <p:sp>
        <p:nvSpPr>
          <p:cNvPr id="3" name="Table Placeholder 2">
            <a:extLst>
              <a:ext uri="{FF2B5EF4-FFF2-40B4-BE49-F238E27FC236}">
                <a16:creationId xmlns:a16="http://schemas.microsoft.com/office/drawing/2014/main" id="{790C91FA-9A5B-504B-1F1B-0713F4FAB50B}"/>
              </a:ext>
            </a:extLst>
          </p:cNvPr>
          <p:cNvSpPr>
            <a:spLocks noGrp="1"/>
          </p:cNvSpPr>
          <p:nvPr>
            <p:ph type="tbl" sz="quarter" idx="10"/>
          </p:nvPr>
        </p:nvSpPr>
        <p:spPr>
          <a:xfrm>
            <a:off x="467139" y="1938131"/>
            <a:ext cx="11221278" cy="4622672"/>
          </a:xfrm>
        </p:spPr>
        <p:txBody>
          <a:bodyPr/>
          <a:lstStyle/>
          <a:p>
            <a:r>
              <a:rPr lang="ja-JP" altLang="en-US" dirty="0"/>
              <a:t>年齢別大腸がん検査のガイドライン</a:t>
            </a:r>
            <a:r>
              <a:rPr lang="en-US" altLang="ja-JP" sz="2000" dirty="0"/>
              <a:t>(US Preventive Services Task Force 2021)</a:t>
            </a:r>
            <a:endParaRPr lang="en-US" dirty="0"/>
          </a:p>
          <a:p>
            <a:pPr lvl="1">
              <a:lnSpc>
                <a:spcPct val="100000"/>
              </a:lnSpc>
              <a:spcBef>
                <a:spcPts val="800"/>
              </a:spcBef>
            </a:pPr>
            <a:r>
              <a:rPr lang="ja-JP" altLang="en-US" dirty="0"/>
              <a:t>米国予防医学専門委員会</a:t>
            </a:r>
            <a:r>
              <a:rPr lang="en-US" altLang="ja-JP" sz="2000" dirty="0"/>
              <a:t>(US Preventive Services Task Force)</a:t>
            </a:r>
            <a:endParaRPr lang="en-US" altLang="ja-JP" dirty="0"/>
          </a:p>
          <a:p>
            <a:pPr lvl="2">
              <a:lnSpc>
                <a:spcPct val="100000"/>
              </a:lnSpc>
              <a:spcBef>
                <a:spcPts val="800"/>
              </a:spcBef>
            </a:pPr>
            <a:r>
              <a:rPr lang="ja-JP" altLang="en-US" dirty="0"/>
              <a:t>一次診療における疾病予防のための検診や介入について、科学的根拠に基づいたガイドラインを示す、独立した専門家委員会</a:t>
            </a:r>
            <a:endParaRPr lang="en-US" altLang="ja-JP" dirty="0"/>
          </a:p>
          <a:p>
            <a:pPr lvl="1">
              <a:lnSpc>
                <a:spcPct val="100000"/>
              </a:lnSpc>
              <a:spcBef>
                <a:spcPts val="800"/>
              </a:spcBef>
            </a:pPr>
            <a:r>
              <a:rPr lang="ja-JP" altLang="en-US" dirty="0"/>
              <a:t>大腸がん検査ガイドラインの更新にあたり、複数の検査開始年齢と検査方法の選択肢における、延命効果・予防可能な大腸がんの件数・大腸がんによる死亡回避数をシミュレーションによって評価することに</a:t>
            </a:r>
            <a:endParaRPr lang="en-US" altLang="ja-JP" dirty="0"/>
          </a:p>
          <a:p>
            <a:pPr lvl="1">
              <a:lnSpc>
                <a:spcPct val="100000"/>
              </a:lnSpc>
              <a:spcBef>
                <a:spcPts val="800"/>
              </a:spcBef>
            </a:pPr>
            <a:r>
              <a:rPr lang="en-US" altLang="ja-JP" dirty="0"/>
              <a:t>CISNET</a:t>
            </a:r>
            <a:r>
              <a:rPr lang="en-US" altLang="ja-JP" sz="2000" dirty="0"/>
              <a:t>(Cancer Intervention and Surveillance Modeling Network:</a:t>
            </a:r>
            <a:r>
              <a:rPr lang="ja-JP" altLang="en-US" sz="2000" dirty="0"/>
              <a:t>米・欧・豪の　　　意思決定科学者・疫学者・医療経済学者などから構成されるコンソーシアム</a:t>
            </a:r>
            <a:r>
              <a:rPr lang="en-US" altLang="ja-JP" sz="2000" dirty="0"/>
              <a:t>)</a:t>
            </a:r>
            <a:r>
              <a:rPr lang="ja-JP" altLang="en-US" dirty="0"/>
              <a:t>に委託</a:t>
            </a:r>
            <a:endParaRPr lang="en-US" altLang="ja-JP" dirty="0"/>
          </a:p>
          <a:p>
            <a:pPr lvl="1">
              <a:lnSpc>
                <a:spcPct val="100000"/>
              </a:lnSpc>
              <a:spcBef>
                <a:spcPts val="800"/>
              </a:spcBef>
            </a:pPr>
            <a:r>
              <a:rPr lang="ja-JP" altLang="en-US" dirty="0"/>
              <a:t>システマティックレビューの知見も踏まえて、年齢別の検査ガイドラインを作成</a:t>
            </a:r>
            <a:endParaRPr lang="en-US" altLang="ja-JP"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8B9D293F-48AA-6BE1-D12E-5AC29D66AF00}"/>
              </a:ext>
            </a:extLst>
          </p:cNvPr>
          <p:cNvSpPr>
            <a:spLocks noGrp="1"/>
          </p:cNvSpPr>
          <p:nvPr>
            <p:ph type="sldNum" sz="quarter" idx="4"/>
          </p:nvPr>
        </p:nvSpPr>
        <p:spPr/>
        <p:txBody>
          <a:bodyPr/>
          <a:lstStyle/>
          <a:p>
            <a:fld id="{B5CEABB6-07DC-46E8-9B57-56EC44A396E5}" type="slidenum">
              <a:rPr lang="en-US" smtClean="0"/>
              <a:pPr/>
              <a:t>52</a:t>
            </a:fld>
            <a:endParaRPr lang="en-US" dirty="0"/>
          </a:p>
        </p:txBody>
      </p:sp>
      <p:sp>
        <p:nvSpPr>
          <p:cNvPr id="5" name="Table Placeholder 4">
            <a:extLst>
              <a:ext uri="{FF2B5EF4-FFF2-40B4-BE49-F238E27FC236}">
                <a16:creationId xmlns:a16="http://schemas.microsoft.com/office/drawing/2014/main" id="{5B2165A4-D232-E2E7-416C-6A40DF1F57BF}"/>
              </a:ext>
            </a:extLst>
          </p:cNvPr>
          <p:cNvSpPr>
            <a:spLocks noGrp="1"/>
          </p:cNvSpPr>
          <p:nvPr>
            <p:ph type="tbl" sz="quarter" idx="11"/>
          </p:nvPr>
        </p:nvSpPr>
        <p:spPr/>
        <p:txBody>
          <a:bodyPr/>
          <a:lstStyle/>
          <a:p>
            <a:r>
              <a:rPr lang="ja-JP" altLang="en-US" dirty="0"/>
              <a:t>国レベルの検査・治療ガイドラインの策定・更新に寄与した事例</a:t>
            </a:r>
            <a:endParaRPr lang="en-US" dirty="0"/>
          </a:p>
        </p:txBody>
      </p:sp>
      <p:grpSp>
        <p:nvGrpSpPr>
          <p:cNvPr id="6" name="Group 5">
            <a:extLst>
              <a:ext uri="{FF2B5EF4-FFF2-40B4-BE49-F238E27FC236}">
                <a16:creationId xmlns:a16="http://schemas.microsoft.com/office/drawing/2014/main" id="{E2588E7F-60AE-9482-CD96-74F7FAA6ED93}"/>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45583D32-E2C5-D414-4168-FC34EC3AAA84}"/>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E86F26DB-2094-48CB-0B88-D1674C4A1847}"/>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92884582-F80C-8613-0FE7-3FDED96072BB}"/>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11" name="TextBox 10">
            <a:extLst>
              <a:ext uri="{FF2B5EF4-FFF2-40B4-BE49-F238E27FC236}">
                <a16:creationId xmlns:a16="http://schemas.microsoft.com/office/drawing/2014/main" id="{2104FBDA-EA33-7D5E-9DAD-19A319B08DB5}"/>
              </a:ext>
            </a:extLst>
          </p:cNvPr>
          <p:cNvSpPr txBox="1"/>
          <p:nvPr/>
        </p:nvSpPr>
        <p:spPr>
          <a:xfrm>
            <a:off x="1352810" y="6422959"/>
            <a:ext cx="10335605" cy="461665"/>
          </a:xfrm>
          <a:prstGeom prst="rect">
            <a:avLst/>
          </a:prstGeom>
          <a:noFill/>
        </p:spPr>
        <p:txBody>
          <a:bodyPr wrap="square">
            <a:spAutoFit/>
          </a:bodyPr>
          <a:lstStyle/>
          <a:p>
            <a:r>
              <a:rPr lang="en-US" sz="1200" dirty="0">
                <a:latin typeface="Meiryo" panose="020B0604030504040204" pitchFamily="34" charset="-128"/>
                <a:ea typeface="Meiryo" panose="020B0604030504040204" pitchFamily="34" charset="-128"/>
              </a:rPr>
              <a:t>US Preventive Services Task Force. Screening for Colorectal Cancer: US Preventive Services Task Force Recommendation Statement. JAMA. 2021;325(19):1965–1977. doi:10.1001/jama.2021.6238</a:t>
            </a:r>
          </a:p>
        </p:txBody>
      </p:sp>
    </p:spTree>
    <p:extLst>
      <p:ext uri="{BB962C8B-B14F-4D97-AF65-F5344CB8AC3E}">
        <p14:creationId xmlns:p14="http://schemas.microsoft.com/office/powerpoint/2010/main" val="1853305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A36F-91DD-801C-3E8C-CAF370E51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9C0C27-FD3C-A8E9-96AE-1400C795AE9A}"/>
              </a:ext>
            </a:extLst>
          </p:cNvPr>
          <p:cNvSpPr>
            <a:spLocks noGrp="1"/>
          </p:cNvSpPr>
          <p:nvPr>
            <p:ph type="title"/>
          </p:nvPr>
        </p:nvSpPr>
        <p:spPr/>
        <p:txBody>
          <a:bodyPr/>
          <a:lstStyle/>
          <a:p>
            <a:r>
              <a:rPr lang="ja-JP" altLang="en-US" dirty="0"/>
              <a:t>医療におけるユースケース</a:t>
            </a:r>
            <a:endParaRPr lang="en-US" dirty="0"/>
          </a:p>
        </p:txBody>
      </p:sp>
      <p:sp>
        <p:nvSpPr>
          <p:cNvPr id="3" name="Table Placeholder 2">
            <a:extLst>
              <a:ext uri="{FF2B5EF4-FFF2-40B4-BE49-F238E27FC236}">
                <a16:creationId xmlns:a16="http://schemas.microsoft.com/office/drawing/2014/main" id="{FBA2FB5C-B7A2-3826-EFE5-565889F864C8}"/>
              </a:ext>
            </a:extLst>
          </p:cNvPr>
          <p:cNvSpPr>
            <a:spLocks noGrp="1"/>
          </p:cNvSpPr>
          <p:nvPr>
            <p:ph type="tbl" sz="quarter" idx="10"/>
          </p:nvPr>
        </p:nvSpPr>
        <p:spPr>
          <a:xfrm>
            <a:off x="467138" y="1938131"/>
            <a:ext cx="11420061" cy="4622672"/>
          </a:xfrm>
        </p:spPr>
        <p:txBody>
          <a:bodyPr/>
          <a:lstStyle/>
          <a:p>
            <a:r>
              <a:rPr lang="en-US" altLang="ja-JP" dirty="0"/>
              <a:t>COVID-19</a:t>
            </a:r>
            <a:r>
              <a:rPr lang="ja-JP" altLang="en-US" dirty="0"/>
              <a:t>ブースターガイドライン</a:t>
            </a:r>
            <a:r>
              <a:rPr lang="en-US" altLang="ja-JP" sz="2000" dirty="0"/>
              <a:t>(Roper et al. 2024)</a:t>
            </a:r>
            <a:endParaRPr lang="en-US" dirty="0"/>
          </a:p>
          <a:p>
            <a:pPr lvl="1">
              <a:lnSpc>
                <a:spcPct val="100000"/>
              </a:lnSpc>
              <a:spcBef>
                <a:spcPts val="800"/>
              </a:spcBef>
            </a:pPr>
            <a:r>
              <a:rPr lang="ja-JP" altLang="en-US" dirty="0"/>
              <a:t>予防接種実施に関する諮問委員会</a:t>
            </a:r>
            <a:r>
              <a:rPr lang="en-US" altLang="ja-JP" sz="2000" dirty="0"/>
              <a:t>(Advisory Committee on Immunization Practices)</a:t>
            </a:r>
          </a:p>
          <a:p>
            <a:pPr lvl="2">
              <a:lnSpc>
                <a:spcPct val="100000"/>
              </a:lnSpc>
              <a:spcBef>
                <a:spcPts val="800"/>
              </a:spcBef>
            </a:pPr>
            <a:r>
              <a:rPr lang="en-US" altLang="ja-JP" dirty="0"/>
              <a:t>CDC</a:t>
            </a:r>
            <a:r>
              <a:rPr lang="ja-JP" altLang="en-US" dirty="0"/>
              <a:t>内に設置された委員会であり、米国民に対するワクチン接種に関する助言を実施</a:t>
            </a:r>
            <a:endParaRPr lang="en-US" altLang="ja-JP" dirty="0"/>
          </a:p>
          <a:p>
            <a:pPr lvl="1">
              <a:lnSpc>
                <a:spcPct val="100000"/>
              </a:lnSpc>
              <a:spcBef>
                <a:spcPts val="800"/>
              </a:spcBef>
            </a:pPr>
            <a:r>
              <a:rPr lang="en-US" altLang="ja-JP" dirty="0"/>
              <a:t>2024-2025</a:t>
            </a:r>
            <a:r>
              <a:rPr lang="ja-JP" altLang="en-US" dirty="0"/>
              <a:t>年シーズンのブースター接種の推奨対象者を特定する分析を実施</a:t>
            </a:r>
            <a:endParaRPr lang="en-US" altLang="ja-JP" dirty="0"/>
          </a:p>
          <a:p>
            <a:pPr lvl="1">
              <a:lnSpc>
                <a:spcPct val="100000"/>
              </a:lnSpc>
              <a:spcBef>
                <a:spcPts val="800"/>
              </a:spcBef>
            </a:pPr>
            <a:r>
              <a:rPr lang="ja-JP" altLang="en-US" dirty="0"/>
              <a:t>ミシガン大学と共同で、ブースター２回・ブースター１回・ブースター未接種の場合の、臨床効果</a:t>
            </a:r>
            <a:r>
              <a:rPr lang="en-US" altLang="ja-JP" dirty="0"/>
              <a:t>(</a:t>
            </a:r>
            <a:r>
              <a:rPr lang="ja-JP" altLang="en-US" dirty="0"/>
              <a:t>感染者数・入院件数・死亡数・副反応件数</a:t>
            </a:r>
            <a:r>
              <a:rPr lang="en-US" altLang="ja-JP" dirty="0"/>
              <a:t>)</a:t>
            </a:r>
            <a:r>
              <a:rPr lang="ja-JP" altLang="en-US" dirty="0"/>
              <a:t>と費用を　　シミュレーションし費用対効果分析を実施</a:t>
            </a:r>
            <a:endParaRPr lang="en-US" altLang="ja-JP" dirty="0"/>
          </a:p>
          <a:p>
            <a:pPr lvl="1">
              <a:lnSpc>
                <a:spcPct val="100000"/>
              </a:lnSpc>
              <a:spcBef>
                <a:spcPts val="800"/>
              </a:spcBef>
            </a:pPr>
            <a:r>
              <a:rPr lang="ja-JP" altLang="en-US" dirty="0"/>
              <a:t>各地病院や</a:t>
            </a:r>
            <a:r>
              <a:rPr lang="en-US" altLang="ja-JP" dirty="0"/>
              <a:t>Medicare</a:t>
            </a:r>
            <a:r>
              <a:rPr lang="ja-JP" altLang="en-US" dirty="0"/>
              <a:t>データベースを使ったワクチン有効性の分析、文献　　レビューに基づく安全性分析も加味し、高齢者の</a:t>
            </a:r>
            <a:r>
              <a:rPr lang="en-US" altLang="ja-JP" dirty="0"/>
              <a:t>2024–2025</a:t>
            </a:r>
            <a:r>
              <a:rPr lang="ja-JP" altLang="en-US" dirty="0"/>
              <a:t>ブースター接種を推奨</a:t>
            </a:r>
            <a:endParaRPr lang="en-US" dirty="0"/>
          </a:p>
        </p:txBody>
      </p:sp>
      <p:sp>
        <p:nvSpPr>
          <p:cNvPr id="4" name="Slide Number Placeholder 3">
            <a:extLst>
              <a:ext uri="{FF2B5EF4-FFF2-40B4-BE49-F238E27FC236}">
                <a16:creationId xmlns:a16="http://schemas.microsoft.com/office/drawing/2014/main" id="{78B6CE73-88F1-6E93-786D-C63C87D6CB5C}"/>
              </a:ext>
            </a:extLst>
          </p:cNvPr>
          <p:cNvSpPr>
            <a:spLocks noGrp="1"/>
          </p:cNvSpPr>
          <p:nvPr>
            <p:ph type="sldNum" sz="quarter" idx="4"/>
          </p:nvPr>
        </p:nvSpPr>
        <p:spPr/>
        <p:txBody>
          <a:bodyPr/>
          <a:lstStyle/>
          <a:p>
            <a:fld id="{B5CEABB6-07DC-46E8-9B57-56EC44A396E5}" type="slidenum">
              <a:rPr lang="en-US" smtClean="0"/>
              <a:pPr/>
              <a:t>53</a:t>
            </a:fld>
            <a:endParaRPr lang="en-US" dirty="0"/>
          </a:p>
        </p:txBody>
      </p:sp>
      <p:sp>
        <p:nvSpPr>
          <p:cNvPr id="5" name="Table Placeholder 4">
            <a:extLst>
              <a:ext uri="{FF2B5EF4-FFF2-40B4-BE49-F238E27FC236}">
                <a16:creationId xmlns:a16="http://schemas.microsoft.com/office/drawing/2014/main" id="{68A4AC77-8090-2B82-D496-B933DB24AEDD}"/>
              </a:ext>
            </a:extLst>
          </p:cNvPr>
          <p:cNvSpPr>
            <a:spLocks noGrp="1"/>
          </p:cNvSpPr>
          <p:nvPr>
            <p:ph type="tbl" sz="quarter" idx="11"/>
          </p:nvPr>
        </p:nvSpPr>
        <p:spPr/>
        <p:txBody>
          <a:bodyPr/>
          <a:lstStyle/>
          <a:p>
            <a:r>
              <a:rPr lang="ja-JP" altLang="en-US" dirty="0"/>
              <a:t>国レベルの検査・治療ガイドラインの策定・更新に寄与した事例</a:t>
            </a:r>
            <a:endParaRPr lang="en-US" dirty="0"/>
          </a:p>
        </p:txBody>
      </p:sp>
      <p:grpSp>
        <p:nvGrpSpPr>
          <p:cNvPr id="6" name="Group 5">
            <a:extLst>
              <a:ext uri="{FF2B5EF4-FFF2-40B4-BE49-F238E27FC236}">
                <a16:creationId xmlns:a16="http://schemas.microsoft.com/office/drawing/2014/main" id="{C0640FF2-1256-DE2A-B124-04B81DB013E1}"/>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0A0B9B4A-47CA-679A-374D-7DF3DB8DFDEC}"/>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31F60457-77E3-FD4B-2186-7DF1B5C78838}"/>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8826BE43-5CFF-1803-4996-FE1198C528FA}"/>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11" name="TextBox 10">
            <a:extLst>
              <a:ext uri="{FF2B5EF4-FFF2-40B4-BE49-F238E27FC236}">
                <a16:creationId xmlns:a16="http://schemas.microsoft.com/office/drawing/2014/main" id="{C07D377D-D1D4-FCD2-70D4-AC31C2474AD7}"/>
              </a:ext>
            </a:extLst>
          </p:cNvPr>
          <p:cNvSpPr txBox="1"/>
          <p:nvPr/>
        </p:nvSpPr>
        <p:spPr>
          <a:xfrm>
            <a:off x="350729" y="6211920"/>
            <a:ext cx="11279687" cy="646331"/>
          </a:xfrm>
          <a:prstGeom prst="rect">
            <a:avLst/>
          </a:prstGeom>
          <a:solidFill>
            <a:schemeClr val="bg1"/>
          </a:solidFill>
        </p:spPr>
        <p:txBody>
          <a:bodyPr wrap="square">
            <a:spAutoFit/>
          </a:bodyPr>
          <a:lstStyle/>
          <a:p>
            <a:r>
              <a:rPr lang="en-US" sz="1200" dirty="0">
                <a:latin typeface="Meiryo" panose="020B0604030504040204" pitchFamily="34" charset="-128"/>
                <a:ea typeface="Meiryo" panose="020B0604030504040204" pitchFamily="34" charset="-128"/>
              </a:rPr>
              <a:t>Roper LE, Godfrey M, Link-Gelles R, et al. Use of Additional Doses of 2024–2025 COVID-19 Vaccine for Adults Aged ≥65 Years and Persons Aged ≥6 Months with Moderate or Severe Immunocompromise: Recommendations of the Advisory Committee on Immunization Practices—United States, 2024. MMWR </a:t>
            </a:r>
            <a:r>
              <a:rPr lang="en-US" sz="1200" dirty="0" err="1">
                <a:latin typeface="Meiryo" panose="020B0604030504040204" pitchFamily="34" charset="-128"/>
                <a:ea typeface="Meiryo" panose="020B0604030504040204" pitchFamily="34" charset="-128"/>
              </a:rPr>
              <a:t>Morb</a:t>
            </a:r>
            <a:r>
              <a:rPr lang="en-US" sz="1200" dirty="0">
                <a:latin typeface="Meiryo" panose="020B0604030504040204" pitchFamily="34" charset="-128"/>
                <a:ea typeface="Meiryo" panose="020B0604030504040204" pitchFamily="34" charset="-128"/>
              </a:rPr>
              <a:t> Mortal </a:t>
            </a:r>
            <a:r>
              <a:rPr lang="en-US" sz="1200" dirty="0" err="1">
                <a:latin typeface="Meiryo" panose="020B0604030504040204" pitchFamily="34" charset="-128"/>
                <a:ea typeface="Meiryo" panose="020B0604030504040204" pitchFamily="34" charset="-128"/>
              </a:rPr>
              <a:t>Wkly</a:t>
            </a:r>
            <a:r>
              <a:rPr lang="en-US" sz="1200" dirty="0">
                <a:latin typeface="Meiryo" panose="020B0604030504040204" pitchFamily="34" charset="-128"/>
                <a:ea typeface="Meiryo" panose="020B0604030504040204" pitchFamily="34" charset="-128"/>
              </a:rPr>
              <a:t> Rep 2024;73:1118–1123. DOI: http://dx.doi.org/10.15585/mmwr.mm7349a2</a:t>
            </a:r>
          </a:p>
        </p:txBody>
      </p:sp>
    </p:spTree>
    <p:extLst>
      <p:ext uri="{BB962C8B-B14F-4D97-AF65-F5344CB8AC3E}">
        <p14:creationId xmlns:p14="http://schemas.microsoft.com/office/powerpoint/2010/main" val="41954236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B78BA-538C-1521-D9EA-46D77D72A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653F5-0B1D-D3E5-D914-E8634E50A6D2}"/>
              </a:ext>
            </a:extLst>
          </p:cNvPr>
          <p:cNvSpPr>
            <a:spLocks noGrp="1"/>
          </p:cNvSpPr>
          <p:nvPr>
            <p:ph type="title"/>
          </p:nvPr>
        </p:nvSpPr>
        <p:spPr/>
        <p:txBody>
          <a:bodyPr/>
          <a:lstStyle/>
          <a:p>
            <a:r>
              <a:rPr lang="ja-JP" altLang="en-US" dirty="0"/>
              <a:t>医療保険制度におけるユースケース</a:t>
            </a:r>
            <a:endParaRPr lang="en-US" dirty="0"/>
          </a:p>
        </p:txBody>
      </p:sp>
      <p:sp>
        <p:nvSpPr>
          <p:cNvPr id="4" name="Slide Number Placeholder 3">
            <a:extLst>
              <a:ext uri="{FF2B5EF4-FFF2-40B4-BE49-F238E27FC236}">
                <a16:creationId xmlns:a16="http://schemas.microsoft.com/office/drawing/2014/main" id="{3C9DD5E7-D2B1-AFA8-2E30-AFC87ADE4410}"/>
              </a:ext>
            </a:extLst>
          </p:cNvPr>
          <p:cNvSpPr>
            <a:spLocks noGrp="1"/>
          </p:cNvSpPr>
          <p:nvPr>
            <p:ph type="sldNum" sz="quarter" idx="4"/>
          </p:nvPr>
        </p:nvSpPr>
        <p:spPr/>
        <p:txBody>
          <a:bodyPr/>
          <a:lstStyle/>
          <a:p>
            <a:fld id="{B5CEABB6-07DC-46E8-9B57-56EC44A396E5}" type="slidenum">
              <a:rPr lang="en-US" smtClean="0"/>
              <a:pPr/>
              <a:t>54</a:t>
            </a:fld>
            <a:endParaRPr lang="en-US" dirty="0"/>
          </a:p>
        </p:txBody>
      </p:sp>
      <p:sp>
        <p:nvSpPr>
          <p:cNvPr id="5" name="Table Placeholder 4">
            <a:extLst>
              <a:ext uri="{FF2B5EF4-FFF2-40B4-BE49-F238E27FC236}">
                <a16:creationId xmlns:a16="http://schemas.microsoft.com/office/drawing/2014/main" id="{9AF70F6F-C17C-8771-4B89-975B8C1E0AA7}"/>
              </a:ext>
            </a:extLst>
          </p:cNvPr>
          <p:cNvSpPr>
            <a:spLocks noGrp="1"/>
          </p:cNvSpPr>
          <p:nvPr>
            <p:ph type="tbl" sz="quarter" idx="11"/>
          </p:nvPr>
        </p:nvSpPr>
        <p:spPr/>
        <p:txBody>
          <a:bodyPr/>
          <a:lstStyle/>
          <a:p>
            <a:r>
              <a:rPr lang="ja-JP" altLang="en-US" dirty="0"/>
              <a:t>日本の保険診療で使用される医薬品の価格は厚生労働省が決定し、定期的に　　見直されている</a:t>
            </a:r>
            <a:endParaRPr lang="en-US" dirty="0"/>
          </a:p>
        </p:txBody>
      </p:sp>
      <p:pic>
        <p:nvPicPr>
          <p:cNvPr id="1026" name="Picture 2">
            <a:extLst>
              <a:ext uri="{FF2B5EF4-FFF2-40B4-BE49-F238E27FC236}">
                <a16:creationId xmlns:a16="http://schemas.microsoft.com/office/drawing/2014/main" id="{00B53515-E448-196E-A4AE-83371EDB3B6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082800" y="2690169"/>
            <a:ext cx="7620000" cy="31718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10BE473-1E89-DC91-FBE4-DE05E18222AF}"/>
              </a:ext>
            </a:extLst>
          </p:cNvPr>
          <p:cNvSpPr txBox="1"/>
          <p:nvPr/>
        </p:nvSpPr>
        <p:spPr>
          <a:xfrm>
            <a:off x="487460" y="6194659"/>
            <a:ext cx="11219688" cy="461665"/>
          </a:xfrm>
          <a:prstGeom prst="rect">
            <a:avLst/>
          </a:prstGeom>
          <a:noFill/>
        </p:spPr>
        <p:txBody>
          <a:bodyPr wrap="square">
            <a:spAutoFit/>
          </a:bodyPr>
          <a:lstStyle/>
          <a:p>
            <a:r>
              <a:rPr lang="ja-JP" altLang="en-US" sz="1200" dirty="0">
                <a:latin typeface="Meiryo" panose="020B0604030504040204" pitchFamily="34" charset="-128"/>
                <a:ea typeface="Meiryo" panose="020B0604030504040204" pitchFamily="34" charset="-128"/>
              </a:rPr>
              <a:t>アメブロ：処方箋の薬、同じ薬でもコストコの調剤薬局が激安 </a:t>
            </a:r>
            <a:r>
              <a:rPr lang="en-US" altLang="ja-JP" sz="1200" dirty="0">
                <a:latin typeface="Meiryo" panose="020B0604030504040204" pitchFamily="34" charset="-128"/>
                <a:ea typeface="Meiryo" panose="020B0604030504040204" pitchFamily="34" charset="-128"/>
              </a:rPr>
              <a:t>| </a:t>
            </a:r>
            <a:r>
              <a:rPr lang="ja-JP" altLang="en-US" sz="1200" dirty="0">
                <a:latin typeface="Meiryo" panose="020B0604030504040204" pitchFamily="34" charset="-128"/>
                <a:ea typeface="Meiryo" panose="020B0604030504040204" pitchFamily="34" charset="-128"/>
              </a:rPr>
              <a:t>栄養士ママそっち～の簡単美味しいサイクル献立 </a:t>
            </a:r>
            <a:r>
              <a:rPr lang="en-US" altLang="ja-JP" sz="1200" dirty="0">
                <a:latin typeface="Meiryo" panose="020B0604030504040204" pitchFamily="34" charset="-128"/>
                <a:ea typeface="Meiryo" panose="020B0604030504040204" pitchFamily="34" charset="-128"/>
                <a:hlinkClick r:id="rId5"/>
              </a:rPr>
              <a:t>https://ameblo.jp/socchidiary/entry-12687858014.html</a:t>
            </a:r>
            <a:endParaRPr lang="en-US" altLang="ja-JP" sz="1200" dirty="0">
              <a:latin typeface="Meiryo" panose="020B0604030504040204" pitchFamily="34" charset="-128"/>
              <a:ea typeface="Meiryo" panose="020B0604030504040204" pitchFamily="34" charset="-128"/>
            </a:endParaRPr>
          </a:p>
        </p:txBody>
      </p:sp>
      <p:sp>
        <p:nvSpPr>
          <p:cNvPr id="15" name="Rectangle: Rounded Corners 14">
            <a:extLst>
              <a:ext uri="{FF2B5EF4-FFF2-40B4-BE49-F238E27FC236}">
                <a16:creationId xmlns:a16="http://schemas.microsoft.com/office/drawing/2014/main" id="{2C5A6104-D407-52E5-6EC8-5EB4FE6515CD}"/>
              </a:ext>
            </a:extLst>
          </p:cNvPr>
          <p:cNvSpPr/>
          <p:nvPr/>
        </p:nvSpPr>
        <p:spPr>
          <a:xfrm>
            <a:off x="7970520" y="3920754"/>
            <a:ext cx="843280" cy="416560"/>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panose="020B0604030504040204" pitchFamily="34" charset="-128"/>
              <a:ea typeface="Meiryo" panose="020B0604030504040204" pitchFamily="34" charset="-128"/>
            </a:endParaRPr>
          </a:p>
        </p:txBody>
      </p:sp>
      <p:sp>
        <p:nvSpPr>
          <p:cNvPr id="17" name="TextBox 16">
            <a:extLst>
              <a:ext uri="{FF2B5EF4-FFF2-40B4-BE49-F238E27FC236}">
                <a16:creationId xmlns:a16="http://schemas.microsoft.com/office/drawing/2014/main" id="{12A26319-AF2B-92F5-FB07-68A0757C5E6C}"/>
              </a:ext>
            </a:extLst>
          </p:cNvPr>
          <p:cNvSpPr txBox="1"/>
          <p:nvPr/>
        </p:nvSpPr>
        <p:spPr>
          <a:xfrm>
            <a:off x="9794125" y="2103424"/>
            <a:ext cx="1726481" cy="707886"/>
          </a:xfrm>
          <a:prstGeom prst="rect">
            <a:avLst/>
          </a:prstGeom>
          <a:noFill/>
        </p:spPr>
        <p:txBody>
          <a:bodyPr wrap="square">
            <a:spAutoFit/>
          </a:bodyPr>
          <a:lstStyle/>
          <a:p>
            <a:pPr algn="ctr"/>
            <a:r>
              <a:rPr lang="ja-JP" altLang="en-US" sz="2000" dirty="0">
                <a:latin typeface="Meiryo" panose="020B0604030504040204" pitchFamily="34" charset="-128"/>
                <a:ea typeface="Meiryo" panose="020B0604030504040204" pitchFamily="34" charset="-128"/>
              </a:rPr>
              <a:t>薬価基準収載品目リスト</a:t>
            </a:r>
            <a:endParaRPr lang="en-US" sz="2000" dirty="0">
              <a:latin typeface="Meiryo" panose="020B0604030504040204" pitchFamily="34" charset="-128"/>
              <a:ea typeface="Meiryo" panose="020B0604030504040204" pitchFamily="34" charset="-128"/>
            </a:endParaRPr>
          </a:p>
        </p:txBody>
      </p:sp>
      <p:pic>
        <p:nvPicPr>
          <p:cNvPr id="19" name="Picture 18" descr="A black background with a black square&#10;&#10;AI-generated content may be incorrect.">
            <a:extLst>
              <a:ext uri="{FF2B5EF4-FFF2-40B4-BE49-F238E27FC236}">
                <a16:creationId xmlns:a16="http://schemas.microsoft.com/office/drawing/2014/main" id="{F2CA8B97-0E0F-91E2-FAC9-F26E555139B4}"/>
              </a:ext>
            </a:extLst>
          </p:cNvPr>
          <p:cNvPicPr>
            <a:picLocks noChangeAspect="1"/>
          </p:cNvPicPr>
          <p:nvPr/>
        </p:nvPicPr>
        <p:blipFill>
          <a:blip r:embed="rId6"/>
          <a:stretch>
            <a:fillRect/>
          </a:stretch>
        </p:blipFill>
        <p:spPr>
          <a:xfrm>
            <a:off x="9950950" y="2784341"/>
            <a:ext cx="1412832" cy="1412832"/>
          </a:xfrm>
          <a:prstGeom prst="rect">
            <a:avLst/>
          </a:prstGeom>
        </p:spPr>
      </p:pic>
      <p:cxnSp>
        <p:nvCxnSpPr>
          <p:cNvPr id="21" name="Straight Arrow Connector 20">
            <a:extLst>
              <a:ext uri="{FF2B5EF4-FFF2-40B4-BE49-F238E27FC236}">
                <a16:creationId xmlns:a16="http://schemas.microsoft.com/office/drawing/2014/main" id="{7914880E-BD72-DAFB-B5D7-B8411718C58E}"/>
              </a:ext>
            </a:extLst>
          </p:cNvPr>
          <p:cNvCxnSpPr>
            <a:cxnSpLocks/>
            <a:stCxn id="19" idx="1"/>
            <a:endCxn id="15" idx="3"/>
          </p:cNvCxnSpPr>
          <p:nvPr/>
        </p:nvCxnSpPr>
        <p:spPr>
          <a:xfrm flipH="1">
            <a:off x="8813800" y="3490757"/>
            <a:ext cx="1137150" cy="638277"/>
          </a:xfrm>
          <a:prstGeom prst="straightConnector1">
            <a:avLst/>
          </a:prstGeom>
          <a:ln w="571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FA78F36-236D-B0DC-02EB-B23BD7509390}"/>
              </a:ext>
            </a:extLst>
          </p:cNvPr>
          <p:cNvSpPr txBox="1"/>
          <p:nvPr/>
        </p:nvSpPr>
        <p:spPr>
          <a:xfrm>
            <a:off x="4516120" y="2369878"/>
            <a:ext cx="2753360" cy="400110"/>
          </a:xfrm>
          <a:prstGeom prst="rect">
            <a:avLst/>
          </a:prstGeom>
          <a:noFill/>
        </p:spPr>
        <p:txBody>
          <a:bodyPr wrap="square">
            <a:spAutoFit/>
          </a:bodyPr>
          <a:lstStyle/>
          <a:p>
            <a:pPr algn="ctr"/>
            <a:r>
              <a:rPr lang="ja-JP" altLang="en-US" sz="2000" dirty="0">
                <a:latin typeface="Meiryo" panose="020B0604030504040204" pitchFamily="34" charset="-128"/>
                <a:ea typeface="Meiryo" panose="020B0604030504040204" pitchFamily="34" charset="-128"/>
              </a:rPr>
              <a:t>調剤明細書の例</a:t>
            </a:r>
            <a:endParaRPr lang="en-US" sz="2000" dirty="0">
              <a:latin typeface="Meiryo" panose="020B0604030504040204" pitchFamily="34" charset="-128"/>
              <a:ea typeface="Meiryo" panose="020B0604030504040204" pitchFamily="34" charset="-128"/>
            </a:endParaRPr>
          </a:p>
        </p:txBody>
      </p:sp>
      <p:pic>
        <p:nvPicPr>
          <p:cNvPr id="24" name="Picture 23" descr="A person in a dark room&#10;&#10;AI-generated content may be incorrect.">
            <a:extLst>
              <a:ext uri="{FF2B5EF4-FFF2-40B4-BE49-F238E27FC236}">
                <a16:creationId xmlns:a16="http://schemas.microsoft.com/office/drawing/2014/main" id="{5FFD1E11-BB90-0790-BDDC-006D434614C1}"/>
              </a:ext>
            </a:extLst>
          </p:cNvPr>
          <p:cNvPicPr>
            <a:picLocks noChangeAspect="1"/>
          </p:cNvPicPr>
          <p:nvPr/>
        </p:nvPicPr>
        <p:blipFill>
          <a:blip r:embed="rId7"/>
          <a:stretch>
            <a:fillRect/>
          </a:stretch>
        </p:blipFill>
        <p:spPr>
          <a:xfrm>
            <a:off x="382640" y="4086079"/>
            <a:ext cx="1282774" cy="1282774"/>
          </a:xfrm>
          <a:prstGeom prst="rect">
            <a:avLst/>
          </a:prstGeom>
        </p:spPr>
      </p:pic>
      <p:pic>
        <p:nvPicPr>
          <p:cNvPr id="26" name="Picture 25" descr="A black background with a black square&#10;&#10;AI-generated content may be incorrect.">
            <a:extLst>
              <a:ext uri="{FF2B5EF4-FFF2-40B4-BE49-F238E27FC236}">
                <a16:creationId xmlns:a16="http://schemas.microsoft.com/office/drawing/2014/main" id="{7CF42C4F-15E8-D132-03F5-7608A566A499}"/>
              </a:ext>
            </a:extLst>
          </p:cNvPr>
          <p:cNvPicPr>
            <a:picLocks noChangeAspect="1"/>
          </p:cNvPicPr>
          <p:nvPr/>
        </p:nvPicPr>
        <p:blipFill>
          <a:blip r:embed="rId8"/>
          <a:stretch>
            <a:fillRect/>
          </a:stretch>
        </p:blipFill>
        <p:spPr>
          <a:xfrm>
            <a:off x="447852" y="2452796"/>
            <a:ext cx="1245406" cy="1245406"/>
          </a:xfrm>
          <a:prstGeom prst="rect">
            <a:avLst/>
          </a:prstGeom>
        </p:spPr>
      </p:pic>
      <p:pic>
        <p:nvPicPr>
          <p:cNvPr id="30" name="Picture 29" descr="A black background with a black square&#10;&#10;AI-generated content may be incorrect.">
            <a:extLst>
              <a:ext uri="{FF2B5EF4-FFF2-40B4-BE49-F238E27FC236}">
                <a16:creationId xmlns:a16="http://schemas.microsoft.com/office/drawing/2014/main" id="{FC2E6E44-9681-D2A1-33F0-1DCE27655E8D}"/>
              </a:ext>
            </a:extLst>
          </p:cNvPr>
          <p:cNvPicPr>
            <a:picLocks noChangeAspect="1"/>
          </p:cNvPicPr>
          <p:nvPr/>
        </p:nvPicPr>
        <p:blipFill>
          <a:blip r:embed="rId9"/>
          <a:stretch>
            <a:fillRect/>
          </a:stretch>
        </p:blipFill>
        <p:spPr>
          <a:xfrm>
            <a:off x="426260" y="4737291"/>
            <a:ext cx="360750" cy="360750"/>
          </a:xfrm>
          <a:prstGeom prst="rect">
            <a:avLst/>
          </a:prstGeom>
        </p:spPr>
      </p:pic>
      <p:sp>
        <p:nvSpPr>
          <p:cNvPr id="31" name="Rectangle 30">
            <a:extLst>
              <a:ext uri="{FF2B5EF4-FFF2-40B4-BE49-F238E27FC236}">
                <a16:creationId xmlns:a16="http://schemas.microsoft.com/office/drawing/2014/main" id="{A2C5ACFB-0CA0-95C5-9889-083526BF8C1F}"/>
              </a:ext>
            </a:extLst>
          </p:cNvPr>
          <p:cNvSpPr/>
          <p:nvPr/>
        </p:nvSpPr>
        <p:spPr>
          <a:xfrm rot="1645455">
            <a:off x="1269752" y="4545161"/>
            <a:ext cx="179629" cy="313216"/>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3" name="Straight Connector 32">
            <a:extLst>
              <a:ext uri="{FF2B5EF4-FFF2-40B4-BE49-F238E27FC236}">
                <a16:creationId xmlns:a16="http://schemas.microsoft.com/office/drawing/2014/main" id="{15596ACE-5C62-9297-F925-5CC8C7B522D9}"/>
              </a:ext>
            </a:extLst>
          </p:cNvPr>
          <p:cNvCxnSpPr>
            <a:cxnSpLocks/>
          </p:cNvCxnSpPr>
          <p:nvPr/>
        </p:nvCxnSpPr>
        <p:spPr>
          <a:xfrm flipH="1">
            <a:off x="1534634" y="2739210"/>
            <a:ext cx="499514" cy="18235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FC88014-C5B9-741E-CD34-F789D939FB8B}"/>
              </a:ext>
            </a:extLst>
          </p:cNvPr>
          <p:cNvCxnSpPr>
            <a:cxnSpLocks/>
            <a:endCxn id="31" idx="2"/>
          </p:cNvCxnSpPr>
          <p:nvPr/>
        </p:nvCxnSpPr>
        <p:spPr>
          <a:xfrm flipH="1" flipV="1">
            <a:off x="1287437" y="4840778"/>
            <a:ext cx="746711" cy="1021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A250358F-4FCD-CB48-59A9-CA547946B714}"/>
              </a:ext>
            </a:extLst>
          </p:cNvPr>
          <p:cNvGrpSpPr/>
          <p:nvPr/>
        </p:nvGrpSpPr>
        <p:grpSpPr>
          <a:xfrm>
            <a:off x="467139" y="108959"/>
            <a:ext cx="4197304" cy="307297"/>
            <a:chOff x="562270" y="127168"/>
            <a:chExt cx="4197304" cy="307297"/>
          </a:xfrm>
        </p:grpSpPr>
        <p:sp>
          <p:nvSpPr>
            <p:cNvPr id="51" name="Arrow: Pentagon 50">
              <a:extLst>
                <a:ext uri="{FF2B5EF4-FFF2-40B4-BE49-F238E27FC236}">
                  <a16:creationId xmlns:a16="http://schemas.microsoft.com/office/drawing/2014/main" id="{85B5A1B1-43CE-1446-AC19-BF90AD37BD0A}"/>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52" name="Arrow: Pentagon 51">
              <a:extLst>
                <a:ext uri="{FF2B5EF4-FFF2-40B4-BE49-F238E27FC236}">
                  <a16:creationId xmlns:a16="http://schemas.microsoft.com/office/drawing/2014/main" id="{7DA45F3D-4DB6-71A0-12F3-F9CE2BFD97A1}"/>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53" name="Arrow: Pentagon 52">
              <a:extLst>
                <a:ext uri="{FF2B5EF4-FFF2-40B4-BE49-F238E27FC236}">
                  <a16:creationId xmlns:a16="http://schemas.microsoft.com/office/drawing/2014/main" id="{C7A6AB6F-45FD-F7DA-C97E-2C7DA560D8A9}"/>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40622581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D5802-6BA4-733D-B772-9E06CABD0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67A39-4A16-922C-3E3C-17C7AC35234D}"/>
              </a:ext>
            </a:extLst>
          </p:cNvPr>
          <p:cNvSpPr>
            <a:spLocks noGrp="1"/>
          </p:cNvSpPr>
          <p:nvPr>
            <p:ph type="title"/>
          </p:nvPr>
        </p:nvSpPr>
        <p:spPr/>
        <p:txBody>
          <a:bodyPr/>
          <a:lstStyle/>
          <a:p>
            <a:r>
              <a:rPr lang="ja-JP" altLang="en-US" dirty="0"/>
              <a:t>医療保険制度におけるユースケース</a:t>
            </a:r>
            <a:endParaRPr lang="en-US" dirty="0"/>
          </a:p>
        </p:txBody>
      </p:sp>
      <p:sp>
        <p:nvSpPr>
          <p:cNvPr id="4" name="Slide Number Placeholder 3">
            <a:extLst>
              <a:ext uri="{FF2B5EF4-FFF2-40B4-BE49-F238E27FC236}">
                <a16:creationId xmlns:a16="http://schemas.microsoft.com/office/drawing/2014/main" id="{FFA630F4-6394-4E90-A0A5-D755B6BB2252}"/>
              </a:ext>
            </a:extLst>
          </p:cNvPr>
          <p:cNvSpPr>
            <a:spLocks noGrp="1"/>
          </p:cNvSpPr>
          <p:nvPr>
            <p:ph type="sldNum" sz="quarter" idx="4"/>
          </p:nvPr>
        </p:nvSpPr>
        <p:spPr/>
        <p:txBody>
          <a:bodyPr/>
          <a:lstStyle/>
          <a:p>
            <a:fld id="{B5CEABB6-07DC-46E8-9B57-56EC44A396E5}" type="slidenum">
              <a:rPr lang="en-US" smtClean="0"/>
              <a:pPr/>
              <a:t>55</a:t>
            </a:fld>
            <a:endParaRPr lang="en-US" dirty="0"/>
          </a:p>
        </p:txBody>
      </p:sp>
      <p:sp>
        <p:nvSpPr>
          <p:cNvPr id="5" name="Table Placeholder 4">
            <a:extLst>
              <a:ext uri="{FF2B5EF4-FFF2-40B4-BE49-F238E27FC236}">
                <a16:creationId xmlns:a16="http://schemas.microsoft.com/office/drawing/2014/main" id="{64BD1F72-7C0D-95D9-7C9C-3B888FB59742}"/>
              </a:ext>
            </a:extLst>
          </p:cNvPr>
          <p:cNvSpPr>
            <a:spLocks noGrp="1"/>
          </p:cNvSpPr>
          <p:nvPr>
            <p:ph type="tbl" sz="quarter" idx="11"/>
          </p:nvPr>
        </p:nvSpPr>
        <p:spPr/>
        <p:txBody>
          <a:bodyPr/>
          <a:lstStyle/>
          <a:p>
            <a:r>
              <a:rPr lang="en-US" altLang="ja-JP" dirty="0"/>
              <a:t>2019</a:t>
            </a:r>
            <a:r>
              <a:rPr lang="ja-JP" altLang="en-US" dirty="0"/>
              <a:t>年度より一部の医薬品・医療機器を対象に、保険収載後の価格調整のために費用対効果分析が活用されている</a:t>
            </a:r>
            <a:endParaRPr lang="en-US" dirty="0"/>
          </a:p>
        </p:txBody>
      </p:sp>
      <p:sp>
        <p:nvSpPr>
          <p:cNvPr id="11" name="TextBox 10">
            <a:extLst>
              <a:ext uri="{FF2B5EF4-FFF2-40B4-BE49-F238E27FC236}">
                <a16:creationId xmlns:a16="http://schemas.microsoft.com/office/drawing/2014/main" id="{5B2B6771-13B8-C0F5-A368-AA7627FD4614}"/>
              </a:ext>
            </a:extLst>
          </p:cNvPr>
          <p:cNvSpPr txBox="1"/>
          <p:nvPr/>
        </p:nvSpPr>
        <p:spPr>
          <a:xfrm>
            <a:off x="5597993" y="6393808"/>
            <a:ext cx="6088833" cy="461665"/>
          </a:xfrm>
          <a:prstGeom prst="rect">
            <a:avLst/>
          </a:prstGeom>
          <a:noFill/>
        </p:spPr>
        <p:txBody>
          <a:bodyPr wrap="square">
            <a:spAutoFit/>
          </a:bodyPr>
          <a:lstStyle/>
          <a:p>
            <a:r>
              <a:rPr lang="ja-JP" altLang="en-US" sz="1200" dirty="0">
                <a:latin typeface="Meiryo" panose="020B0604030504040204" pitchFamily="34" charset="-128"/>
                <a:ea typeface="Meiryo" panose="020B0604030504040204" pitchFamily="34" charset="-128"/>
              </a:rPr>
              <a:t>令和６年度診療報酬改定の概要「費用対効果評価制度」厚生労働省保健局医療課 </a:t>
            </a:r>
            <a:endParaRPr lang="en-US" altLang="ja-JP" sz="1200" dirty="0">
              <a:latin typeface="Meiryo" panose="020B0604030504040204" pitchFamily="34" charset="-128"/>
              <a:ea typeface="Meiryo" panose="020B0604030504040204" pitchFamily="34" charset="-128"/>
            </a:endParaRPr>
          </a:p>
          <a:p>
            <a:r>
              <a:rPr lang="en-US" altLang="ja-JP" sz="1200" dirty="0">
                <a:latin typeface="Meiryo" panose="020B0604030504040204" pitchFamily="34" charset="-128"/>
                <a:ea typeface="Meiryo" panose="020B0604030504040204" pitchFamily="34" charset="-128"/>
              </a:rPr>
              <a:t>C2H </a:t>
            </a:r>
            <a:r>
              <a:rPr lang="ja-JP" altLang="en-US" sz="1200" dirty="0">
                <a:latin typeface="Meiryo" panose="020B0604030504040204" pitchFamily="34" charset="-128"/>
                <a:ea typeface="Meiryo" panose="020B0604030504040204" pitchFamily="34" charset="-128"/>
              </a:rPr>
              <a:t>国立保健医療科学院・保健医療経済評価研究センター</a:t>
            </a:r>
            <a:endParaRPr lang="en-US" altLang="ja-JP" sz="1200" dirty="0">
              <a:latin typeface="Meiryo" panose="020B0604030504040204" pitchFamily="34" charset="-128"/>
              <a:ea typeface="Meiryo" panose="020B0604030504040204" pitchFamily="34" charset="-128"/>
            </a:endParaRPr>
          </a:p>
        </p:txBody>
      </p:sp>
      <p:sp>
        <p:nvSpPr>
          <p:cNvPr id="13" name="Table Placeholder 2">
            <a:extLst>
              <a:ext uri="{FF2B5EF4-FFF2-40B4-BE49-F238E27FC236}">
                <a16:creationId xmlns:a16="http://schemas.microsoft.com/office/drawing/2014/main" id="{FD39B94A-55E1-2A82-2B79-DE6FDBC67E98}"/>
              </a:ext>
            </a:extLst>
          </p:cNvPr>
          <p:cNvSpPr>
            <a:spLocks noGrp="1"/>
          </p:cNvSpPr>
          <p:nvPr>
            <p:ph type="tbl" sz="quarter" idx="10"/>
          </p:nvPr>
        </p:nvSpPr>
        <p:spPr>
          <a:xfrm>
            <a:off x="5597994" y="2509520"/>
            <a:ext cx="6126866" cy="3717879"/>
          </a:xfrm>
        </p:spPr>
        <p:txBody>
          <a:bodyPr/>
          <a:lstStyle/>
          <a:p>
            <a:r>
              <a:rPr lang="ja-JP" altLang="en-US" sz="2000" dirty="0"/>
              <a:t>高齢化に伴う医療費の上昇に伴い</a:t>
            </a:r>
            <a:r>
              <a:rPr lang="en-US" altLang="ja-JP" sz="2000" dirty="0"/>
              <a:t>2019</a:t>
            </a:r>
            <a:r>
              <a:rPr lang="ja-JP" altLang="en-US" sz="2000" dirty="0"/>
              <a:t>年度より　費用対効果評価制度が導入</a:t>
            </a:r>
            <a:endParaRPr lang="en-US" altLang="ja-JP" sz="2000" dirty="0"/>
          </a:p>
          <a:p>
            <a:r>
              <a:rPr lang="ja-JP" altLang="en-US" sz="2000" dirty="0"/>
              <a:t>市場規模が大きい、または著しく単価が高い製品に限り実施</a:t>
            </a:r>
            <a:endParaRPr lang="en-US" altLang="ja-JP" sz="2000" dirty="0"/>
          </a:p>
          <a:p>
            <a:r>
              <a:rPr lang="ja-JP" altLang="en-US" sz="2000" dirty="0"/>
              <a:t>企業の評価を</a:t>
            </a:r>
            <a:r>
              <a:rPr lang="en-US" altLang="ja-JP" sz="2000" dirty="0"/>
              <a:t>C2H(</a:t>
            </a:r>
            <a:r>
              <a:rPr lang="zh-CN" altLang="en-US" sz="2000" dirty="0"/>
              <a:t>国立保健医療科学院</a:t>
            </a:r>
            <a:r>
              <a:rPr lang="en-US" altLang="zh-CN" sz="2000" dirty="0"/>
              <a:t>)</a:t>
            </a:r>
            <a:r>
              <a:rPr lang="ja-JP" altLang="en-US" sz="2000" dirty="0"/>
              <a:t>が医療経済学者や臨床専門家らと共に検証・再分析</a:t>
            </a:r>
            <a:endParaRPr lang="en-US" altLang="ja-JP" sz="2000" dirty="0"/>
          </a:p>
          <a:p>
            <a:r>
              <a:rPr lang="ja-JP" altLang="en-US" sz="2000" dirty="0"/>
              <a:t>総合的評価を経て、費用対効果の低い品目</a:t>
            </a:r>
            <a:r>
              <a:rPr lang="en-US" altLang="ja-JP" sz="2000" dirty="0"/>
              <a:t>(500</a:t>
            </a:r>
            <a:r>
              <a:rPr lang="ja-JP" altLang="en-US" sz="2000" dirty="0"/>
              <a:t>万円以上</a:t>
            </a:r>
            <a:r>
              <a:rPr lang="en-US" altLang="ja-JP" sz="2000" dirty="0"/>
              <a:t>/QALY)</a:t>
            </a:r>
            <a:r>
              <a:rPr lang="ja-JP" altLang="en-US" sz="2000" dirty="0"/>
              <a:t>は価格を引下・医療費削減に繋がる品目は価格を引上</a:t>
            </a:r>
            <a:endParaRPr lang="en-US" altLang="ja-JP" sz="2000" dirty="0"/>
          </a:p>
          <a:p>
            <a:r>
              <a:rPr lang="ja-JP" altLang="en-US" sz="2000" dirty="0"/>
              <a:t>課題：評価できる人材が不足しており現時点で評価できる件数は</a:t>
            </a:r>
            <a:r>
              <a:rPr lang="en-US" altLang="ja-JP" sz="2000" dirty="0"/>
              <a:t>10±</a:t>
            </a:r>
            <a:r>
              <a:rPr lang="ja-JP" altLang="en-US" sz="2000" dirty="0"/>
              <a:t>製品</a:t>
            </a:r>
            <a:r>
              <a:rPr lang="en-US" altLang="ja-JP" sz="2000" dirty="0"/>
              <a:t>/</a:t>
            </a:r>
            <a:r>
              <a:rPr lang="ja-JP" altLang="en-US" sz="2000" dirty="0"/>
              <a:t>年。人材育成が必要</a:t>
            </a:r>
            <a:endParaRPr lang="en-US" altLang="ja-JP" sz="2000" dirty="0"/>
          </a:p>
        </p:txBody>
      </p:sp>
      <p:sp>
        <p:nvSpPr>
          <p:cNvPr id="14" name="Rectangle 13">
            <a:extLst>
              <a:ext uri="{FF2B5EF4-FFF2-40B4-BE49-F238E27FC236}">
                <a16:creationId xmlns:a16="http://schemas.microsoft.com/office/drawing/2014/main" id="{A0D94C5F-468D-D4A9-DC1C-B8331535A9C1}"/>
              </a:ext>
            </a:extLst>
          </p:cNvPr>
          <p:cNvSpPr/>
          <p:nvPr/>
        </p:nvSpPr>
        <p:spPr>
          <a:xfrm>
            <a:off x="490026" y="2499360"/>
            <a:ext cx="4536606"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r>
              <a:rPr lang="ja-JP" altLang="en-US" dirty="0">
                <a:solidFill>
                  <a:schemeClr val="tx1"/>
                </a:solidFill>
                <a:latin typeface="Meiryo" panose="020B0604030504040204" pitchFamily="34" charset="-128"/>
                <a:ea typeface="Meiryo" panose="020B0604030504040204" pitchFamily="34" charset="-128"/>
              </a:rPr>
              <a:t>医薬品・医療機器が保険収載</a:t>
            </a:r>
            <a:endParaRPr lang="en-US" dirty="0">
              <a:solidFill>
                <a:schemeClr val="tx1"/>
              </a:solidFill>
              <a:latin typeface="Meiryo" panose="020B0604030504040204" pitchFamily="34" charset="-128"/>
              <a:ea typeface="Meiryo" panose="020B0604030504040204" pitchFamily="34" charset="-128"/>
            </a:endParaRPr>
          </a:p>
        </p:txBody>
      </p:sp>
      <p:sp>
        <p:nvSpPr>
          <p:cNvPr id="15" name="Rectangle 14">
            <a:extLst>
              <a:ext uri="{FF2B5EF4-FFF2-40B4-BE49-F238E27FC236}">
                <a16:creationId xmlns:a16="http://schemas.microsoft.com/office/drawing/2014/main" id="{BF9A5B42-3D51-13A2-346D-CA25DC89BF01}"/>
              </a:ext>
            </a:extLst>
          </p:cNvPr>
          <p:cNvSpPr/>
          <p:nvPr/>
        </p:nvSpPr>
        <p:spPr>
          <a:xfrm>
            <a:off x="490026" y="3183262"/>
            <a:ext cx="4536606"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r>
              <a:rPr lang="ja-JP" altLang="en-US" dirty="0">
                <a:solidFill>
                  <a:schemeClr val="tx1"/>
                </a:solidFill>
                <a:latin typeface="Meiryo" panose="020B0604030504040204" pitchFamily="34" charset="-128"/>
                <a:ea typeface="Meiryo" panose="020B0604030504040204" pitchFamily="34" charset="-128"/>
              </a:rPr>
              <a:t>中医協が費用対効果評価対象になるか選定</a:t>
            </a:r>
            <a:endParaRPr lang="en-US" dirty="0">
              <a:solidFill>
                <a:schemeClr val="tx1"/>
              </a:solidFill>
              <a:latin typeface="Meiryo" panose="020B0604030504040204" pitchFamily="34" charset="-128"/>
              <a:ea typeface="Meiryo" panose="020B0604030504040204" pitchFamily="34" charset="-128"/>
            </a:endParaRPr>
          </a:p>
        </p:txBody>
      </p:sp>
      <p:sp>
        <p:nvSpPr>
          <p:cNvPr id="16" name="Rectangle 15">
            <a:extLst>
              <a:ext uri="{FF2B5EF4-FFF2-40B4-BE49-F238E27FC236}">
                <a16:creationId xmlns:a16="http://schemas.microsoft.com/office/drawing/2014/main" id="{ED84A614-3F3E-F82C-D49C-21CC83EC0951}"/>
              </a:ext>
            </a:extLst>
          </p:cNvPr>
          <p:cNvSpPr/>
          <p:nvPr/>
        </p:nvSpPr>
        <p:spPr>
          <a:xfrm>
            <a:off x="467139" y="3857004"/>
            <a:ext cx="1696941" cy="99265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panose="020B0604030504040204" pitchFamily="34" charset="-128"/>
                <a:ea typeface="Meiryo" panose="020B0604030504040204" pitchFamily="34" charset="-128"/>
              </a:rPr>
              <a:t>製薬企業・医療機器メーカーによる分析</a:t>
            </a:r>
            <a:endParaRPr lang="en-US" dirty="0">
              <a:solidFill>
                <a:schemeClr val="tx1"/>
              </a:solidFill>
              <a:latin typeface="Meiryo" panose="020B0604030504040204" pitchFamily="34" charset="-128"/>
              <a:ea typeface="Meiryo" panose="020B0604030504040204" pitchFamily="34" charset="-128"/>
            </a:endParaRPr>
          </a:p>
        </p:txBody>
      </p:sp>
      <p:sp>
        <p:nvSpPr>
          <p:cNvPr id="17" name="Rectangle 16">
            <a:extLst>
              <a:ext uri="{FF2B5EF4-FFF2-40B4-BE49-F238E27FC236}">
                <a16:creationId xmlns:a16="http://schemas.microsoft.com/office/drawing/2014/main" id="{6BFB5CD4-5BD5-3F7E-B1B3-9906F8A9CEB3}"/>
              </a:ext>
            </a:extLst>
          </p:cNvPr>
          <p:cNvSpPr/>
          <p:nvPr/>
        </p:nvSpPr>
        <p:spPr>
          <a:xfrm>
            <a:off x="3329691" y="3857004"/>
            <a:ext cx="1696941" cy="99265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Meiryo" panose="020B0604030504040204" pitchFamily="34" charset="-128"/>
                <a:ea typeface="Meiryo" panose="020B0604030504040204" pitchFamily="34" charset="-128"/>
              </a:rPr>
              <a:t>C2H</a:t>
            </a:r>
            <a:r>
              <a:rPr lang="ja-JP" altLang="en-US" dirty="0">
                <a:solidFill>
                  <a:schemeClr val="tx1"/>
                </a:solidFill>
                <a:latin typeface="Meiryo" panose="020B0604030504040204" pitchFamily="34" charset="-128"/>
                <a:ea typeface="Meiryo" panose="020B0604030504040204" pitchFamily="34" charset="-128"/>
              </a:rPr>
              <a:t>が医療経済学者や臨床専門家とともに分析</a:t>
            </a:r>
            <a:endParaRPr lang="en-US" dirty="0">
              <a:solidFill>
                <a:schemeClr val="tx1"/>
              </a:solidFill>
              <a:latin typeface="Meiryo" panose="020B0604030504040204" pitchFamily="34" charset="-128"/>
              <a:ea typeface="Meiryo" panose="020B0604030504040204" pitchFamily="34" charset="-128"/>
            </a:endParaRPr>
          </a:p>
        </p:txBody>
      </p:sp>
      <p:sp>
        <p:nvSpPr>
          <p:cNvPr id="18" name="Rectangle 17">
            <a:extLst>
              <a:ext uri="{FF2B5EF4-FFF2-40B4-BE49-F238E27FC236}">
                <a16:creationId xmlns:a16="http://schemas.microsoft.com/office/drawing/2014/main" id="{FF99858C-EED0-AEE2-97C1-2AD7EEBBCA65}"/>
              </a:ext>
            </a:extLst>
          </p:cNvPr>
          <p:cNvSpPr/>
          <p:nvPr/>
        </p:nvSpPr>
        <p:spPr>
          <a:xfrm>
            <a:off x="490026" y="5198277"/>
            <a:ext cx="4536606"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r>
              <a:rPr lang="ja-JP" altLang="en-US" dirty="0">
                <a:solidFill>
                  <a:schemeClr val="tx1"/>
                </a:solidFill>
                <a:latin typeface="Meiryo" panose="020B0604030504040204" pitchFamily="34" charset="-128"/>
                <a:ea typeface="Meiryo" panose="020B0604030504040204" pitchFamily="34" charset="-128"/>
              </a:rPr>
              <a:t>総合的評価</a:t>
            </a:r>
            <a:endParaRPr lang="en-US" dirty="0">
              <a:solidFill>
                <a:schemeClr val="tx1"/>
              </a:solidFill>
              <a:latin typeface="Meiryo" panose="020B0604030504040204" pitchFamily="34" charset="-128"/>
              <a:ea typeface="Meiryo" panose="020B0604030504040204" pitchFamily="34" charset="-128"/>
            </a:endParaRPr>
          </a:p>
        </p:txBody>
      </p:sp>
      <p:sp>
        <p:nvSpPr>
          <p:cNvPr id="19" name="Rectangle 18">
            <a:extLst>
              <a:ext uri="{FF2B5EF4-FFF2-40B4-BE49-F238E27FC236}">
                <a16:creationId xmlns:a16="http://schemas.microsoft.com/office/drawing/2014/main" id="{AC053F4D-221C-8737-17A8-0DDDE2E8F386}"/>
              </a:ext>
            </a:extLst>
          </p:cNvPr>
          <p:cNvSpPr/>
          <p:nvPr/>
        </p:nvSpPr>
        <p:spPr>
          <a:xfrm>
            <a:off x="490026" y="5872018"/>
            <a:ext cx="4536606" cy="32512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r>
              <a:rPr lang="ja-JP" altLang="en-US" dirty="0">
                <a:solidFill>
                  <a:schemeClr val="tx1"/>
                </a:solidFill>
                <a:latin typeface="Meiryo" panose="020B0604030504040204" pitchFamily="34" charset="-128"/>
                <a:ea typeface="Meiryo" panose="020B0604030504040204" pitchFamily="34" charset="-128"/>
              </a:rPr>
              <a:t>価格決定後に価格調整</a:t>
            </a:r>
            <a:endParaRPr lang="en-US" dirty="0">
              <a:solidFill>
                <a:schemeClr val="tx1"/>
              </a:solidFill>
              <a:latin typeface="Meiryo" panose="020B0604030504040204" pitchFamily="34" charset="-128"/>
              <a:ea typeface="Meiryo" panose="020B0604030504040204" pitchFamily="34" charset="-128"/>
            </a:endParaRPr>
          </a:p>
        </p:txBody>
      </p:sp>
      <p:grpSp>
        <p:nvGrpSpPr>
          <p:cNvPr id="20" name="Group 19">
            <a:extLst>
              <a:ext uri="{FF2B5EF4-FFF2-40B4-BE49-F238E27FC236}">
                <a16:creationId xmlns:a16="http://schemas.microsoft.com/office/drawing/2014/main" id="{10CFF8B8-5749-7BC2-A6E6-D4ED03E2A6A6}"/>
              </a:ext>
            </a:extLst>
          </p:cNvPr>
          <p:cNvGrpSpPr/>
          <p:nvPr/>
        </p:nvGrpSpPr>
        <p:grpSpPr>
          <a:xfrm>
            <a:off x="467139" y="108959"/>
            <a:ext cx="4197304" cy="307297"/>
            <a:chOff x="562270" y="127168"/>
            <a:chExt cx="4197304" cy="307297"/>
          </a:xfrm>
        </p:grpSpPr>
        <p:sp>
          <p:nvSpPr>
            <p:cNvPr id="21" name="Arrow: Pentagon 20">
              <a:extLst>
                <a:ext uri="{FF2B5EF4-FFF2-40B4-BE49-F238E27FC236}">
                  <a16:creationId xmlns:a16="http://schemas.microsoft.com/office/drawing/2014/main" id="{E689F409-41B6-A70E-306A-F6BAD2C82CD3}"/>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22" name="Arrow: Pentagon 21">
              <a:extLst>
                <a:ext uri="{FF2B5EF4-FFF2-40B4-BE49-F238E27FC236}">
                  <a16:creationId xmlns:a16="http://schemas.microsoft.com/office/drawing/2014/main" id="{3FD37890-524C-DAA6-BB8A-6479C1432DB2}"/>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23" name="Arrow: Pentagon 22">
              <a:extLst>
                <a:ext uri="{FF2B5EF4-FFF2-40B4-BE49-F238E27FC236}">
                  <a16:creationId xmlns:a16="http://schemas.microsoft.com/office/drawing/2014/main" id="{49E67158-AB9C-1E64-2F13-02158F0C9024}"/>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cxnSp>
        <p:nvCxnSpPr>
          <p:cNvPr id="26" name="Straight Arrow Connector 25">
            <a:extLst>
              <a:ext uri="{FF2B5EF4-FFF2-40B4-BE49-F238E27FC236}">
                <a16:creationId xmlns:a16="http://schemas.microsoft.com/office/drawing/2014/main" id="{CDC64D6B-6733-BEEC-FB39-CC3F1349FF64}"/>
              </a:ext>
            </a:extLst>
          </p:cNvPr>
          <p:cNvCxnSpPr>
            <a:cxnSpLocks/>
            <a:stCxn id="14" idx="2"/>
            <a:endCxn id="15" idx="0"/>
          </p:cNvCxnSpPr>
          <p:nvPr/>
        </p:nvCxnSpPr>
        <p:spPr>
          <a:xfrm>
            <a:off x="2758329" y="2824480"/>
            <a:ext cx="0" cy="3587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48FA776-22B9-5699-E1A6-DCCB2526BB73}"/>
              </a:ext>
            </a:extLst>
          </p:cNvPr>
          <p:cNvCxnSpPr>
            <a:cxnSpLocks/>
          </p:cNvCxnSpPr>
          <p:nvPr/>
        </p:nvCxnSpPr>
        <p:spPr>
          <a:xfrm>
            <a:off x="1315609" y="3518542"/>
            <a:ext cx="0" cy="3587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ED89983-7E38-C71E-1581-807B17840909}"/>
              </a:ext>
            </a:extLst>
          </p:cNvPr>
          <p:cNvCxnSpPr>
            <a:cxnSpLocks/>
          </p:cNvCxnSpPr>
          <p:nvPr/>
        </p:nvCxnSpPr>
        <p:spPr>
          <a:xfrm>
            <a:off x="2164080" y="4160290"/>
            <a:ext cx="116561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35A4B70-E6C5-483E-C988-11278D04B607}"/>
              </a:ext>
            </a:extLst>
          </p:cNvPr>
          <p:cNvCxnSpPr>
            <a:cxnSpLocks/>
          </p:cNvCxnSpPr>
          <p:nvPr/>
        </p:nvCxnSpPr>
        <p:spPr>
          <a:xfrm flipH="1">
            <a:off x="2164080" y="4465090"/>
            <a:ext cx="116561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B512F05-6528-39D2-FA0B-C2FE9E957A34}"/>
              </a:ext>
            </a:extLst>
          </p:cNvPr>
          <p:cNvCxnSpPr>
            <a:cxnSpLocks/>
          </p:cNvCxnSpPr>
          <p:nvPr/>
        </p:nvCxnSpPr>
        <p:spPr>
          <a:xfrm>
            <a:off x="4178161" y="4849656"/>
            <a:ext cx="0" cy="3587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DAB2771-3945-F75C-144A-02145561ACCC}"/>
              </a:ext>
            </a:extLst>
          </p:cNvPr>
          <p:cNvCxnSpPr>
            <a:cxnSpLocks/>
            <a:stCxn id="18" idx="2"/>
            <a:endCxn id="19" idx="0"/>
          </p:cNvCxnSpPr>
          <p:nvPr/>
        </p:nvCxnSpPr>
        <p:spPr>
          <a:xfrm>
            <a:off x="2758329" y="5523397"/>
            <a:ext cx="0" cy="3486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7FD9298-4AD0-30F3-2827-F6B5D0E2ACD0}"/>
              </a:ext>
            </a:extLst>
          </p:cNvPr>
          <p:cNvCxnSpPr>
            <a:cxnSpLocks/>
          </p:cNvCxnSpPr>
          <p:nvPr/>
        </p:nvCxnSpPr>
        <p:spPr>
          <a:xfrm>
            <a:off x="490026" y="2422048"/>
            <a:ext cx="45366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F0F495B-A6F6-911F-770C-3B0F741A8C1D}"/>
              </a:ext>
            </a:extLst>
          </p:cNvPr>
          <p:cNvSpPr/>
          <p:nvPr/>
        </p:nvSpPr>
        <p:spPr>
          <a:xfrm>
            <a:off x="490026" y="2072641"/>
            <a:ext cx="453660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プロセス </a:t>
            </a:r>
            <a:r>
              <a:rPr lang="en-US" altLang="ja-JP" dirty="0">
                <a:solidFill>
                  <a:schemeClr val="tx1"/>
                </a:solidFill>
                <a:latin typeface="Meiryo UI" panose="020B0604030504040204" pitchFamily="50" charset="-128"/>
                <a:ea typeface="Meiryo UI" panose="020B0604030504040204" pitchFamily="50" charset="-128"/>
              </a:rPr>
              <a:t>(</a:t>
            </a:r>
            <a:r>
              <a:rPr lang="ja-JP" altLang="en-US" dirty="0">
                <a:solidFill>
                  <a:schemeClr val="tx1"/>
                </a:solidFill>
                <a:latin typeface="Meiryo UI" panose="020B0604030504040204" pitchFamily="50" charset="-128"/>
                <a:ea typeface="Meiryo UI" panose="020B0604030504040204" pitchFamily="50" charset="-128"/>
              </a:rPr>
              <a:t>厚労省</a:t>
            </a:r>
            <a:r>
              <a:rPr lang="en-US" altLang="ja-JP" dirty="0">
                <a:solidFill>
                  <a:schemeClr val="tx1"/>
                </a:solidFill>
                <a:latin typeface="Meiryo UI" panose="020B0604030504040204" pitchFamily="50" charset="-128"/>
                <a:ea typeface="Meiryo UI" panose="020B0604030504040204" pitchFamily="50" charset="-128"/>
              </a:rPr>
              <a:t>2024</a:t>
            </a:r>
            <a:r>
              <a:rPr lang="ja-JP" altLang="en-US" dirty="0">
                <a:solidFill>
                  <a:schemeClr val="tx1"/>
                </a:solidFill>
                <a:latin typeface="Meiryo UI" panose="020B0604030504040204" pitchFamily="50" charset="-128"/>
                <a:ea typeface="Meiryo UI" panose="020B0604030504040204" pitchFamily="50" charset="-128"/>
              </a:rPr>
              <a:t>を参考</a:t>
            </a:r>
            <a:r>
              <a:rPr lang="en-US" altLang="ja-JP" dirty="0">
                <a:solidFill>
                  <a:schemeClr val="tx1"/>
                </a:solidFill>
                <a:latin typeface="Meiryo UI" panose="020B0604030504040204" pitchFamily="50" charset="-128"/>
                <a:ea typeface="Meiryo UI" panose="020B0604030504040204" pitchFamily="50" charset="-128"/>
              </a:rPr>
              <a:t>)</a:t>
            </a:r>
            <a:endParaRPr lang="en-US" sz="2000" dirty="0">
              <a:solidFill>
                <a:schemeClr val="tx1"/>
              </a:solidFill>
              <a:latin typeface="Meiryo UI" panose="020B0604030504040204" pitchFamily="50" charset="-128"/>
              <a:ea typeface="Meiryo UI" panose="020B0604030504040204" pitchFamily="50" charset="-128"/>
            </a:endParaRPr>
          </a:p>
        </p:txBody>
      </p:sp>
      <p:cxnSp>
        <p:nvCxnSpPr>
          <p:cNvPr id="40" name="Straight Connector 39">
            <a:extLst>
              <a:ext uri="{FF2B5EF4-FFF2-40B4-BE49-F238E27FC236}">
                <a16:creationId xmlns:a16="http://schemas.microsoft.com/office/drawing/2014/main" id="{3801AAF7-CFB8-F32A-7174-F8F024AECDEC}"/>
              </a:ext>
            </a:extLst>
          </p:cNvPr>
          <p:cNvCxnSpPr>
            <a:cxnSpLocks/>
          </p:cNvCxnSpPr>
          <p:nvPr/>
        </p:nvCxnSpPr>
        <p:spPr>
          <a:xfrm>
            <a:off x="5597994" y="2422048"/>
            <a:ext cx="61268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7B58CC9D-3B93-5650-6478-FFB316B54CF3}"/>
              </a:ext>
            </a:extLst>
          </p:cNvPr>
          <p:cNvSpPr/>
          <p:nvPr/>
        </p:nvSpPr>
        <p:spPr>
          <a:xfrm>
            <a:off x="5597994" y="2072641"/>
            <a:ext cx="612686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ポイント</a:t>
            </a:r>
            <a:endParaRPr lang="en-US" sz="20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386315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372E7-E399-FDBC-2157-09C05E4C6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9E7A2-F020-BA4F-055A-3E21B94F05DE}"/>
              </a:ext>
            </a:extLst>
          </p:cNvPr>
          <p:cNvSpPr>
            <a:spLocks noGrp="1"/>
          </p:cNvSpPr>
          <p:nvPr>
            <p:ph type="title"/>
          </p:nvPr>
        </p:nvSpPr>
        <p:spPr/>
        <p:txBody>
          <a:bodyPr/>
          <a:lstStyle/>
          <a:p>
            <a:r>
              <a:rPr lang="ja-JP" altLang="en-US" dirty="0"/>
              <a:t>研究におけるユースケース</a:t>
            </a:r>
            <a:endParaRPr lang="en-US" dirty="0"/>
          </a:p>
        </p:txBody>
      </p:sp>
      <p:sp>
        <p:nvSpPr>
          <p:cNvPr id="4" name="Slide Number Placeholder 3">
            <a:extLst>
              <a:ext uri="{FF2B5EF4-FFF2-40B4-BE49-F238E27FC236}">
                <a16:creationId xmlns:a16="http://schemas.microsoft.com/office/drawing/2014/main" id="{A48F2224-6468-6B6A-1B4D-E72F4A1E44D7}"/>
              </a:ext>
            </a:extLst>
          </p:cNvPr>
          <p:cNvSpPr>
            <a:spLocks noGrp="1"/>
          </p:cNvSpPr>
          <p:nvPr>
            <p:ph type="sldNum" sz="quarter" idx="4"/>
          </p:nvPr>
        </p:nvSpPr>
        <p:spPr/>
        <p:txBody>
          <a:bodyPr/>
          <a:lstStyle/>
          <a:p>
            <a:fld id="{B5CEABB6-07DC-46E8-9B57-56EC44A396E5}" type="slidenum">
              <a:rPr lang="en-US" smtClean="0"/>
              <a:pPr/>
              <a:t>56</a:t>
            </a:fld>
            <a:endParaRPr lang="en-US" dirty="0"/>
          </a:p>
        </p:txBody>
      </p:sp>
      <p:sp>
        <p:nvSpPr>
          <p:cNvPr id="5" name="Table Placeholder 4">
            <a:extLst>
              <a:ext uri="{FF2B5EF4-FFF2-40B4-BE49-F238E27FC236}">
                <a16:creationId xmlns:a16="http://schemas.microsoft.com/office/drawing/2014/main" id="{C4C70683-6D08-1DD2-0188-85C885C44A15}"/>
              </a:ext>
            </a:extLst>
          </p:cNvPr>
          <p:cNvSpPr>
            <a:spLocks noGrp="1"/>
          </p:cNvSpPr>
          <p:nvPr>
            <p:ph type="tbl" sz="quarter" idx="11"/>
          </p:nvPr>
        </p:nvSpPr>
        <p:spPr/>
        <p:txBody>
          <a:bodyPr/>
          <a:lstStyle/>
          <a:p>
            <a:r>
              <a:rPr lang="ja-JP" altLang="en-US" dirty="0"/>
              <a:t>研究者と研究資金提供者は限られた予算に直面している。費用対効果が高い追加研究を計画することが可能</a:t>
            </a:r>
            <a:endParaRPr lang="en-US" dirty="0"/>
          </a:p>
        </p:txBody>
      </p:sp>
      <p:grpSp>
        <p:nvGrpSpPr>
          <p:cNvPr id="6" name="Group 5">
            <a:extLst>
              <a:ext uri="{FF2B5EF4-FFF2-40B4-BE49-F238E27FC236}">
                <a16:creationId xmlns:a16="http://schemas.microsoft.com/office/drawing/2014/main" id="{21EE5734-F30E-5371-267E-A5F5FF89A4EA}"/>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7A617626-6B5D-D969-1609-2BF45E1A8A1A}"/>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D451AB56-8CDC-779D-13F8-6609571A0CD3}"/>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61C6E712-5D7E-736D-4FF7-EA6571D582F0}"/>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4" name="Picture 13" descr="A black background with a black square&#10;&#10;AI-generated content may be incorrect.">
            <a:extLst>
              <a:ext uri="{FF2B5EF4-FFF2-40B4-BE49-F238E27FC236}">
                <a16:creationId xmlns:a16="http://schemas.microsoft.com/office/drawing/2014/main" id="{8EF033FB-9346-5F7E-8D04-F72B02E62EB4}"/>
              </a:ext>
            </a:extLst>
          </p:cNvPr>
          <p:cNvPicPr>
            <a:picLocks noChangeAspect="1"/>
          </p:cNvPicPr>
          <p:nvPr/>
        </p:nvPicPr>
        <p:blipFill>
          <a:blip r:embed="rId2"/>
          <a:stretch>
            <a:fillRect/>
          </a:stretch>
        </p:blipFill>
        <p:spPr>
          <a:xfrm>
            <a:off x="5857149" y="4465429"/>
            <a:ext cx="1412459" cy="1412459"/>
          </a:xfrm>
          <a:prstGeom prst="rect">
            <a:avLst/>
          </a:prstGeom>
        </p:spPr>
      </p:pic>
      <p:sp>
        <p:nvSpPr>
          <p:cNvPr id="17" name="Speech Bubble: Rectangle 16">
            <a:extLst>
              <a:ext uri="{FF2B5EF4-FFF2-40B4-BE49-F238E27FC236}">
                <a16:creationId xmlns:a16="http://schemas.microsoft.com/office/drawing/2014/main" id="{E78DDBA5-AE93-CE48-BF2B-836FEFCB6ED3}"/>
              </a:ext>
            </a:extLst>
          </p:cNvPr>
          <p:cNvSpPr/>
          <p:nvPr/>
        </p:nvSpPr>
        <p:spPr>
          <a:xfrm>
            <a:off x="467139" y="2082627"/>
            <a:ext cx="2987261" cy="1676573"/>
          </a:xfrm>
          <a:prstGeom prst="wedgeRectCallout">
            <a:avLst>
              <a:gd name="adj1" fmla="val 69637"/>
              <a:gd name="adj2" fmla="val 2922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ある病気に対する治療</a:t>
            </a:r>
            <a:r>
              <a:rPr lang="en-US" altLang="ja-JP"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・治療</a:t>
            </a:r>
            <a:r>
              <a:rPr lang="en-US" altLang="ja-JP" dirty="0">
                <a:solidFill>
                  <a:schemeClr val="tx1"/>
                </a:solidFill>
                <a:latin typeface="Meiryo UI" panose="020B0604030504040204" pitchFamily="50" charset="-128"/>
                <a:ea typeface="Meiryo UI" panose="020B0604030504040204" pitchFamily="50" charset="-128"/>
              </a:rPr>
              <a:t>B</a:t>
            </a:r>
            <a:r>
              <a:rPr lang="ja-JP" altLang="en-US" dirty="0">
                <a:solidFill>
                  <a:schemeClr val="tx1"/>
                </a:solidFill>
                <a:latin typeface="Meiryo UI" panose="020B0604030504040204" pitchFamily="50" charset="-128"/>
                <a:ea typeface="Meiryo UI" panose="020B0604030504040204" pitchFamily="50" charset="-128"/>
              </a:rPr>
              <a:t>のどちらが優れているのか既存の研究では有意差が見られない。</a:t>
            </a:r>
            <a:r>
              <a:rPr lang="en-US" altLang="ja-JP"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と</a:t>
            </a:r>
            <a:r>
              <a:rPr lang="en-US" altLang="ja-JP" dirty="0">
                <a:solidFill>
                  <a:schemeClr val="tx1"/>
                </a:solidFill>
                <a:latin typeface="Meiryo UI" panose="020B0604030504040204" pitchFamily="50" charset="-128"/>
                <a:ea typeface="Meiryo UI" panose="020B0604030504040204" pitchFamily="50" charset="-128"/>
              </a:rPr>
              <a:t>B</a:t>
            </a:r>
            <a:r>
              <a:rPr lang="ja-JP" altLang="en-US" dirty="0">
                <a:solidFill>
                  <a:schemeClr val="tx1"/>
                </a:solidFill>
                <a:latin typeface="Meiryo UI" panose="020B0604030504040204" pitchFamily="50" charset="-128"/>
                <a:ea typeface="Meiryo UI" panose="020B0604030504040204" pitchFamily="50" charset="-128"/>
              </a:rPr>
              <a:t>を比較する介入研究や　　観察研究をするべきか？</a:t>
            </a:r>
            <a:endParaRPr lang="en-US" altLang="ja-JP" dirty="0">
              <a:solidFill>
                <a:schemeClr val="tx1"/>
              </a:solidFill>
              <a:latin typeface="Meiryo UI" panose="020B0604030504040204" pitchFamily="50" charset="-128"/>
              <a:ea typeface="Meiryo UI" panose="020B0604030504040204" pitchFamily="50" charset="-128"/>
            </a:endParaRPr>
          </a:p>
        </p:txBody>
      </p:sp>
      <p:pic>
        <p:nvPicPr>
          <p:cNvPr id="12" name="Picture 11" descr="A black background with a black square&#10;&#10;AI-generated content may be incorrect.">
            <a:extLst>
              <a:ext uri="{FF2B5EF4-FFF2-40B4-BE49-F238E27FC236}">
                <a16:creationId xmlns:a16="http://schemas.microsoft.com/office/drawing/2014/main" id="{953C6578-F96F-4391-2D14-3F7ED569017A}"/>
              </a:ext>
            </a:extLst>
          </p:cNvPr>
          <p:cNvPicPr>
            <a:picLocks noChangeAspect="1"/>
          </p:cNvPicPr>
          <p:nvPr/>
        </p:nvPicPr>
        <p:blipFill>
          <a:blip r:embed="rId3"/>
          <a:stretch>
            <a:fillRect/>
          </a:stretch>
        </p:blipFill>
        <p:spPr>
          <a:xfrm>
            <a:off x="3863226" y="3052970"/>
            <a:ext cx="1412459" cy="1412459"/>
          </a:xfrm>
          <a:prstGeom prst="rect">
            <a:avLst/>
          </a:prstGeom>
        </p:spPr>
      </p:pic>
    </p:spTree>
    <p:extLst>
      <p:ext uri="{BB962C8B-B14F-4D97-AF65-F5344CB8AC3E}">
        <p14:creationId xmlns:p14="http://schemas.microsoft.com/office/powerpoint/2010/main" val="34223862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45FBB-BBD5-6BD5-23FE-C1113C151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9FE44-C9D4-86A7-786C-FA7AA00DCDA7}"/>
              </a:ext>
            </a:extLst>
          </p:cNvPr>
          <p:cNvSpPr>
            <a:spLocks noGrp="1"/>
          </p:cNvSpPr>
          <p:nvPr>
            <p:ph type="title"/>
          </p:nvPr>
        </p:nvSpPr>
        <p:spPr/>
        <p:txBody>
          <a:bodyPr/>
          <a:lstStyle/>
          <a:p>
            <a:r>
              <a:rPr lang="ja-JP" altLang="en-US" dirty="0"/>
              <a:t>研究におけるユースケース</a:t>
            </a:r>
            <a:endParaRPr lang="en-US" dirty="0"/>
          </a:p>
        </p:txBody>
      </p:sp>
      <p:sp>
        <p:nvSpPr>
          <p:cNvPr id="4" name="Slide Number Placeholder 3">
            <a:extLst>
              <a:ext uri="{FF2B5EF4-FFF2-40B4-BE49-F238E27FC236}">
                <a16:creationId xmlns:a16="http://schemas.microsoft.com/office/drawing/2014/main" id="{098259CB-A2D1-F3E0-6E80-31F0E6ADBCC8}"/>
              </a:ext>
            </a:extLst>
          </p:cNvPr>
          <p:cNvSpPr>
            <a:spLocks noGrp="1"/>
          </p:cNvSpPr>
          <p:nvPr>
            <p:ph type="sldNum" sz="quarter" idx="4"/>
          </p:nvPr>
        </p:nvSpPr>
        <p:spPr/>
        <p:txBody>
          <a:bodyPr/>
          <a:lstStyle/>
          <a:p>
            <a:fld id="{B5CEABB6-07DC-46E8-9B57-56EC44A396E5}" type="slidenum">
              <a:rPr lang="en-US" smtClean="0"/>
              <a:pPr/>
              <a:t>57</a:t>
            </a:fld>
            <a:endParaRPr lang="en-US" dirty="0"/>
          </a:p>
        </p:txBody>
      </p:sp>
      <p:sp>
        <p:nvSpPr>
          <p:cNvPr id="5" name="Table Placeholder 4">
            <a:extLst>
              <a:ext uri="{FF2B5EF4-FFF2-40B4-BE49-F238E27FC236}">
                <a16:creationId xmlns:a16="http://schemas.microsoft.com/office/drawing/2014/main" id="{2D0B3006-C47B-3C4E-C193-58363ABDA3C5}"/>
              </a:ext>
            </a:extLst>
          </p:cNvPr>
          <p:cNvSpPr>
            <a:spLocks noGrp="1"/>
          </p:cNvSpPr>
          <p:nvPr>
            <p:ph type="tbl" sz="quarter" idx="11"/>
          </p:nvPr>
        </p:nvSpPr>
        <p:spPr/>
        <p:txBody>
          <a:bodyPr/>
          <a:lstStyle/>
          <a:p>
            <a:r>
              <a:rPr lang="ja-JP" altLang="en-US" dirty="0"/>
              <a:t>研究者や研究資金提供者が直面する意思決定に係る問いに対し、既存の情報からモデルを作成。問題となるパラメータの不確実性がなくなった時の価値を推定</a:t>
            </a:r>
          </a:p>
        </p:txBody>
      </p:sp>
      <p:grpSp>
        <p:nvGrpSpPr>
          <p:cNvPr id="6" name="Group 5">
            <a:extLst>
              <a:ext uri="{FF2B5EF4-FFF2-40B4-BE49-F238E27FC236}">
                <a16:creationId xmlns:a16="http://schemas.microsoft.com/office/drawing/2014/main" id="{BBEF7218-EC2C-D350-7489-9C7E46FB06D7}"/>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1954DE52-90ED-04C8-4A75-472986AFEA42}"/>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F8A6F73B-687E-178E-3E57-20235C8D742E}"/>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BF230F66-2464-357B-F2F6-258B953BDC77}"/>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4" name="Picture 13" descr="A black background with a black square&#10;&#10;AI-generated content may be incorrect.">
            <a:extLst>
              <a:ext uri="{FF2B5EF4-FFF2-40B4-BE49-F238E27FC236}">
                <a16:creationId xmlns:a16="http://schemas.microsoft.com/office/drawing/2014/main" id="{B9FCBE13-D1AA-E84A-5814-C5ADF60DFF97}"/>
              </a:ext>
            </a:extLst>
          </p:cNvPr>
          <p:cNvPicPr>
            <a:picLocks noChangeAspect="1"/>
          </p:cNvPicPr>
          <p:nvPr/>
        </p:nvPicPr>
        <p:blipFill>
          <a:blip r:embed="rId3"/>
          <a:stretch>
            <a:fillRect/>
          </a:stretch>
        </p:blipFill>
        <p:spPr>
          <a:xfrm>
            <a:off x="5857149" y="4465429"/>
            <a:ext cx="1412459" cy="1412459"/>
          </a:xfrm>
          <a:prstGeom prst="rect">
            <a:avLst/>
          </a:prstGeom>
        </p:spPr>
      </p:pic>
      <p:sp>
        <p:nvSpPr>
          <p:cNvPr id="17" name="Speech Bubble: Rectangle 16">
            <a:extLst>
              <a:ext uri="{FF2B5EF4-FFF2-40B4-BE49-F238E27FC236}">
                <a16:creationId xmlns:a16="http://schemas.microsoft.com/office/drawing/2014/main" id="{B30696FC-CEF2-42F4-91F0-684F200F1A6C}"/>
              </a:ext>
            </a:extLst>
          </p:cNvPr>
          <p:cNvSpPr/>
          <p:nvPr/>
        </p:nvSpPr>
        <p:spPr>
          <a:xfrm>
            <a:off x="467139" y="2082627"/>
            <a:ext cx="2987261" cy="1676573"/>
          </a:xfrm>
          <a:prstGeom prst="wedgeRectCallout">
            <a:avLst>
              <a:gd name="adj1" fmla="val 69637"/>
              <a:gd name="adj2" fmla="val 2922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ある病気に対する治療</a:t>
            </a:r>
            <a:r>
              <a:rPr lang="en-US" altLang="ja-JP"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・治療</a:t>
            </a:r>
            <a:r>
              <a:rPr lang="en-US" altLang="ja-JP" dirty="0">
                <a:solidFill>
                  <a:schemeClr val="tx1"/>
                </a:solidFill>
                <a:latin typeface="Meiryo UI" panose="020B0604030504040204" pitchFamily="50" charset="-128"/>
                <a:ea typeface="Meiryo UI" panose="020B0604030504040204" pitchFamily="50" charset="-128"/>
              </a:rPr>
              <a:t>B</a:t>
            </a:r>
            <a:r>
              <a:rPr lang="ja-JP" altLang="en-US" dirty="0">
                <a:solidFill>
                  <a:schemeClr val="tx1"/>
                </a:solidFill>
                <a:latin typeface="Meiryo UI" panose="020B0604030504040204" pitchFamily="50" charset="-128"/>
                <a:ea typeface="Meiryo UI" panose="020B0604030504040204" pitchFamily="50" charset="-128"/>
              </a:rPr>
              <a:t>のどちらが優れているのか既存の研究では有意差が見られない。</a:t>
            </a:r>
            <a:r>
              <a:rPr lang="en-US" altLang="ja-JP"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と</a:t>
            </a:r>
            <a:r>
              <a:rPr lang="en-US" altLang="ja-JP" dirty="0">
                <a:solidFill>
                  <a:schemeClr val="tx1"/>
                </a:solidFill>
                <a:latin typeface="Meiryo UI" panose="020B0604030504040204" pitchFamily="50" charset="-128"/>
                <a:ea typeface="Meiryo UI" panose="020B0604030504040204" pitchFamily="50" charset="-128"/>
              </a:rPr>
              <a:t>B</a:t>
            </a:r>
            <a:r>
              <a:rPr lang="ja-JP" altLang="en-US" dirty="0">
                <a:solidFill>
                  <a:schemeClr val="tx1"/>
                </a:solidFill>
                <a:latin typeface="Meiryo UI" panose="020B0604030504040204" pitchFamily="50" charset="-128"/>
                <a:ea typeface="Meiryo UI" panose="020B0604030504040204" pitchFamily="50" charset="-128"/>
              </a:rPr>
              <a:t>を比較する介入研究や　　観察研究をするべきか？</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8" name="Arrow: Circular 17">
            <a:extLst>
              <a:ext uri="{FF2B5EF4-FFF2-40B4-BE49-F238E27FC236}">
                <a16:creationId xmlns:a16="http://schemas.microsoft.com/office/drawing/2014/main" id="{CBFF7F1A-AF77-F26E-8F29-B2E0C271589D}"/>
              </a:ext>
            </a:extLst>
          </p:cNvPr>
          <p:cNvSpPr/>
          <p:nvPr/>
        </p:nvSpPr>
        <p:spPr>
          <a:xfrm rot="356095">
            <a:off x="3726752" y="276293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1" name="Rectangle 20">
            <a:extLst>
              <a:ext uri="{FF2B5EF4-FFF2-40B4-BE49-F238E27FC236}">
                <a16:creationId xmlns:a16="http://schemas.microsoft.com/office/drawing/2014/main" id="{C6CB59FE-F341-8304-99AB-601F4AE1C255}"/>
              </a:ext>
            </a:extLst>
          </p:cNvPr>
          <p:cNvSpPr/>
          <p:nvPr/>
        </p:nvSpPr>
        <p:spPr>
          <a:xfrm>
            <a:off x="5208323" y="2775902"/>
            <a:ext cx="2398716" cy="13433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altLang="ja-JP" dirty="0">
                <a:solidFill>
                  <a:schemeClr val="tx1"/>
                </a:solidFill>
                <a:latin typeface="Meiryo" panose="020B0604030504040204" pitchFamily="34" charset="-128"/>
                <a:ea typeface="Meiryo" panose="020B0604030504040204" pitchFamily="34" charset="-128"/>
              </a:rPr>
              <a:t>95</a:t>
            </a:r>
            <a:r>
              <a:rPr lang="ja-JP" altLang="en-US" dirty="0">
                <a:solidFill>
                  <a:schemeClr val="tx1"/>
                </a:solidFill>
                <a:latin typeface="Meiryo" panose="020B0604030504040204" pitchFamily="34" charset="-128"/>
                <a:ea typeface="Meiryo" panose="020B0604030504040204" pitchFamily="34" charset="-128"/>
              </a:rPr>
              <a:t>％</a:t>
            </a:r>
            <a:r>
              <a:rPr lang="en-US" altLang="ja-JP" dirty="0">
                <a:solidFill>
                  <a:schemeClr val="tx1"/>
                </a:solidFill>
                <a:latin typeface="Meiryo" panose="020B0604030504040204" pitchFamily="34" charset="-128"/>
                <a:ea typeface="Meiryo" panose="020B0604030504040204" pitchFamily="34" charset="-128"/>
              </a:rPr>
              <a:t>CI</a:t>
            </a:r>
            <a:r>
              <a:rPr lang="ja-JP" altLang="en-US" dirty="0">
                <a:solidFill>
                  <a:schemeClr val="tx1"/>
                </a:solidFill>
                <a:latin typeface="Meiryo" panose="020B0604030504040204" pitchFamily="34" charset="-128"/>
                <a:ea typeface="Meiryo" panose="020B0604030504040204" pitchFamily="34" charset="-128"/>
              </a:rPr>
              <a:t>含む有効性</a:t>
            </a:r>
            <a:endParaRPr lang="en-US" altLang="ja-JP" dirty="0">
              <a:solidFill>
                <a:schemeClr val="tx1"/>
              </a:solidFill>
              <a:latin typeface="Meiryo" panose="020B0604030504040204" pitchFamily="34" charset="-128"/>
              <a:ea typeface="Meiryo" panose="020B0604030504040204" pitchFamily="34" charset="-128"/>
            </a:endParaRPr>
          </a:p>
          <a:p>
            <a:pPr marL="91440" indent="-91440">
              <a:buFont typeface="Arial" panose="020B0604020202020204" pitchFamily="34" charset="0"/>
              <a:buChar char="•"/>
            </a:pPr>
            <a:r>
              <a:rPr lang="ja-JP" altLang="en-US" dirty="0">
                <a:solidFill>
                  <a:schemeClr val="tx1"/>
                </a:solidFill>
                <a:latin typeface="Meiryo" panose="020B0604030504040204" pitchFamily="34" charset="-128"/>
                <a:ea typeface="Meiryo" panose="020B0604030504040204" pitchFamily="34" charset="-128"/>
              </a:rPr>
              <a:t>治療費用</a:t>
            </a:r>
            <a:endParaRPr lang="en-US" altLang="ja-JP" dirty="0">
              <a:solidFill>
                <a:schemeClr val="tx1"/>
              </a:solidFill>
              <a:latin typeface="Meiryo" panose="020B0604030504040204" pitchFamily="34" charset="-128"/>
              <a:ea typeface="Meiryo" panose="020B0604030504040204" pitchFamily="34" charset="-128"/>
            </a:endParaRPr>
          </a:p>
          <a:p>
            <a:pPr marL="91440" indent="-91440">
              <a:buFont typeface="Arial" panose="020B0604020202020204" pitchFamily="34" charset="0"/>
              <a:buChar char="•"/>
            </a:pPr>
            <a:r>
              <a:rPr lang="ja-JP" altLang="en-US" dirty="0">
                <a:solidFill>
                  <a:schemeClr val="tx1"/>
                </a:solidFill>
                <a:latin typeface="Meiryo" panose="020B0604030504040204" pitchFamily="34" charset="-128"/>
                <a:ea typeface="Meiryo" panose="020B0604030504040204" pitchFamily="34" charset="-128"/>
              </a:rPr>
              <a:t>治療による効用</a:t>
            </a:r>
            <a:endParaRPr lang="en-US" altLang="ja-JP" dirty="0">
              <a:solidFill>
                <a:schemeClr val="tx1"/>
              </a:solidFill>
              <a:latin typeface="Meiryo" panose="020B0604030504040204" pitchFamily="34" charset="-128"/>
              <a:ea typeface="Meiryo" panose="020B0604030504040204" pitchFamily="34" charset="-128"/>
            </a:endParaRPr>
          </a:p>
          <a:p>
            <a:pPr marL="91440" indent="-91440">
              <a:buFont typeface="Arial" panose="020B0604020202020204" pitchFamily="34" charset="0"/>
              <a:buChar char="•"/>
            </a:pPr>
            <a:r>
              <a:rPr lang="ja-JP" altLang="en-US" dirty="0">
                <a:solidFill>
                  <a:schemeClr val="tx1"/>
                </a:solidFill>
                <a:latin typeface="Meiryo" panose="020B0604030504040204" pitchFamily="34" charset="-128"/>
                <a:ea typeface="Meiryo" panose="020B0604030504040204" pitchFamily="34" charset="-128"/>
              </a:rPr>
              <a:t>新しい研究にかけてもよい費用</a:t>
            </a:r>
            <a:r>
              <a:rPr lang="en-US" altLang="ja-JP" dirty="0">
                <a:solidFill>
                  <a:schemeClr val="tx1"/>
                </a:solidFill>
                <a:latin typeface="Meiryo" panose="020B0604030504040204" pitchFamily="34" charset="-128"/>
                <a:ea typeface="Meiryo" panose="020B0604030504040204" pitchFamily="34" charset="-128"/>
              </a:rPr>
              <a:t>	</a:t>
            </a:r>
            <a:r>
              <a:rPr lang="ja-JP" altLang="en-US" dirty="0">
                <a:solidFill>
                  <a:schemeClr val="tx1"/>
                </a:solidFill>
                <a:latin typeface="Meiryo" panose="020B0604030504040204" pitchFamily="34" charset="-128"/>
                <a:ea typeface="Meiryo" panose="020B0604030504040204" pitchFamily="34" charset="-128"/>
              </a:rPr>
              <a:t>など</a:t>
            </a:r>
            <a:endParaRPr lang="en-US" altLang="ja-JP" dirty="0">
              <a:solidFill>
                <a:schemeClr val="tx1"/>
              </a:solidFill>
              <a:latin typeface="Meiryo" panose="020B0604030504040204" pitchFamily="34" charset="-128"/>
              <a:ea typeface="Meiryo" panose="020B0604030504040204" pitchFamily="34" charset="-128"/>
            </a:endParaRPr>
          </a:p>
        </p:txBody>
      </p:sp>
      <p:pic>
        <p:nvPicPr>
          <p:cNvPr id="12" name="Picture 11" descr="A black background with a black square&#10;&#10;AI-generated content may be incorrect.">
            <a:extLst>
              <a:ext uri="{FF2B5EF4-FFF2-40B4-BE49-F238E27FC236}">
                <a16:creationId xmlns:a16="http://schemas.microsoft.com/office/drawing/2014/main" id="{FBA8ECF9-5EE7-2897-4D8B-4974AE06D055}"/>
              </a:ext>
            </a:extLst>
          </p:cNvPr>
          <p:cNvPicPr>
            <a:picLocks noChangeAspect="1"/>
          </p:cNvPicPr>
          <p:nvPr/>
        </p:nvPicPr>
        <p:blipFill>
          <a:blip r:embed="rId4"/>
          <a:stretch>
            <a:fillRect/>
          </a:stretch>
        </p:blipFill>
        <p:spPr>
          <a:xfrm>
            <a:off x="3863226" y="3052970"/>
            <a:ext cx="1412459" cy="1412459"/>
          </a:xfrm>
          <a:prstGeom prst="rect">
            <a:avLst/>
          </a:prstGeom>
        </p:spPr>
      </p:pic>
      <p:sp>
        <p:nvSpPr>
          <p:cNvPr id="23" name="Speech Bubble: Rectangle 22">
            <a:extLst>
              <a:ext uri="{FF2B5EF4-FFF2-40B4-BE49-F238E27FC236}">
                <a16:creationId xmlns:a16="http://schemas.microsoft.com/office/drawing/2014/main" id="{6E61489A-94B9-91BC-C314-E96146B5F293}"/>
              </a:ext>
            </a:extLst>
          </p:cNvPr>
          <p:cNvSpPr/>
          <p:nvPr/>
        </p:nvSpPr>
        <p:spPr>
          <a:xfrm>
            <a:off x="7851071" y="2082626"/>
            <a:ext cx="3924093" cy="4478177"/>
          </a:xfrm>
          <a:prstGeom prst="wedgeRectCallout">
            <a:avLst>
              <a:gd name="adj1" fmla="val -61126"/>
              <a:gd name="adj2" fmla="val 20005"/>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ja-JP" dirty="0">
              <a:solidFill>
                <a:schemeClr val="tx1"/>
              </a:solidFill>
              <a:latin typeface="Meiryo UI" panose="020B0604030504040204" pitchFamily="50" charset="-128"/>
              <a:ea typeface="Meiryo UI" panose="020B0604030504040204" pitchFamily="50" charset="-128"/>
            </a:endParaRPr>
          </a:p>
        </p:txBody>
      </p:sp>
      <p:grpSp>
        <p:nvGrpSpPr>
          <p:cNvPr id="41" name="Group 40">
            <a:extLst>
              <a:ext uri="{FF2B5EF4-FFF2-40B4-BE49-F238E27FC236}">
                <a16:creationId xmlns:a16="http://schemas.microsoft.com/office/drawing/2014/main" id="{F66DA15F-34A9-4031-01C9-F7CACE2BC271}"/>
              </a:ext>
            </a:extLst>
          </p:cNvPr>
          <p:cNvGrpSpPr/>
          <p:nvPr/>
        </p:nvGrpSpPr>
        <p:grpSpPr>
          <a:xfrm>
            <a:off x="8597800" y="2181731"/>
            <a:ext cx="2430635" cy="1819704"/>
            <a:chOff x="8567512" y="2181731"/>
            <a:chExt cx="2430635" cy="1819704"/>
          </a:xfrm>
        </p:grpSpPr>
        <p:sp>
          <p:nvSpPr>
            <p:cNvPr id="25" name="Isosceles Triangle 24">
              <a:extLst>
                <a:ext uri="{FF2B5EF4-FFF2-40B4-BE49-F238E27FC236}">
                  <a16:creationId xmlns:a16="http://schemas.microsoft.com/office/drawing/2014/main" id="{79BE06C6-1A2E-7155-AFE6-0610BDDD1349}"/>
                </a:ext>
              </a:extLst>
            </p:cNvPr>
            <p:cNvSpPr/>
            <p:nvPr/>
          </p:nvSpPr>
          <p:spPr>
            <a:xfrm>
              <a:off x="8861549" y="2546491"/>
              <a:ext cx="1744397" cy="840283"/>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27" name="Straight Arrow Connector 26">
              <a:extLst>
                <a:ext uri="{FF2B5EF4-FFF2-40B4-BE49-F238E27FC236}">
                  <a16:creationId xmlns:a16="http://schemas.microsoft.com/office/drawing/2014/main" id="{578230FB-09CC-6697-C7A2-B34447F2F738}"/>
                </a:ext>
              </a:extLst>
            </p:cNvPr>
            <p:cNvCxnSpPr>
              <a:cxnSpLocks/>
              <a:stCxn id="25" idx="0"/>
            </p:cNvCxnSpPr>
            <p:nvPr/>
          </p:nvCxnSpPr>
          <p:spPr>
            <a:xfrm flipV="1">
              <a:off x="8861549" y="2489858"/>
              <a:ext cx="13433" cy="8833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DA3D055-53C8-9214-1E7E-A951BF0A97C0}"/>
                </a:ext>
              </a:extLst>
            </p:cNvPr>
            <p:cNvCxnSpPr>
              <a:cxnSpLocks/>
              <a:stCxn id="25" idx="0"/>
            </p:cNvCxnSpPr>
            <p:nvPr/>
          </p:nvCxnSpPr>
          <p:spPr>
            <a:xfrm>
              <a:off x="8861549" y="3373251"/>
              <a:ext cx="193999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5E221DAC-AABE-8D47-5A8C-BC66D010F68D}"/>
                </a:ext>
              </a:extLst>
            </p:cNvPr>
            <p:cNvSpPr/>
            <p:nvPr/>
          </p:nvSpPr>
          <p:spPr>
            <a:xfrm>
              <a:off x="8567512" y="256791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確率</a:t>
              </a:r>
              <a:endParaRPr lang="en-US" dirty="0">
                <a:solidFill>
                  <a:schemeClr val="tx1"/>
                </a:solidFill>
                <a:latin typeface="Meiryo UI" panose="020B0604030504040204" pitchFamily="50" charset="-128"/>
                <a:ea typeface="Meiryo UI" panose="020B0604030504040204" pitchFamily="50" charset="-128"/>
              </a:endParaRPr>
            </a:p>
          </p:txBody>
        </p:sp>
        <p:sp>
          <p:nvSpPr>
            <p:cNvPr id="33" name="Rectangle 32">
              <a:extLst>
                <a:ext uri="{FF2B5EF4-FFF2-40B4-BE49-F238E27FC236}">
                  <a16:creationId xmlns:a16="http://schemas.microsoft.com/office/drawing/2014/main" id="{E074C009-8F21-2F09-B285-51CA71C2C247}"/>
                </a:ext>
              </a:extLst>
            </p:cNvPr>
            <p:cNvSpPr/>
            <p:nvPr/>
          </p:nvSpPr>
          <p:spPr>
            <a:xfrm>
              <a:off x="8633856"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Meiryo UI" panose="020B0604030504040204" pitchFamily="50" charset="-128"/>
                  <a:ea typeface="Meiryo UI" panose="020B0604030504040204" pitchFamily="50" charset="-128"/>
                </a:rPr>
                <a:t>0.5</a:t>
              </a:r>
              <a:endParaRPr lang="en-US" dirty="0">
                <a:solidFill>
                  <a:schemeClr val="tx1"/>
                </a:solidFill>
                <a:latin typeface="Meiryo UI" panose="020B0604030504040204" pitchFamily="50" charset="-128"/>
                <a:ea typeface="Meiryo UI" panose="020B0604030504040204" pitchFamily="50" charset="-128"/>
              </a:endParaRPr>
            </a:p>
          </p:txBody>
        </p:sp>
        <p:sp>
          <p:nvSpPr>
            <p:cNvPr id="34" name="Rectangle 33">
              <a:extLst>
                <a:ext uri="{FF2B5EF4-FFF2-40B4-BE49-F238E27FC236}">
                  <a16:creationId xmlns:a16="http://schemas.microsoft.com/office/drawing/2014/main" id="{269FB9B6-7EA1-7ECC-4FE6-F0E002A43ED0}"/>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a:t>
              </a:r>
            </a:p>
          </p:txBody>
        </p:sp>
        <p:sp>
          <p:nvSpPr>
            <p:cNvPr id="35" name="Rectangle 34">
              <a:extLst>
                <a:ext uri="{FF2B5EF4-FFF2-40B4-BE49-F238E27FC236}">
                  <a16:creationId xmlns:a16="http://schemas.microsoft.com/office/drawing/2014/main" id="{2F64B8C8-2773-FDB1-B445-360594090583}"/>
                </a:ext>
              </a:extLst>
            </p:cNvPr>
            <p:cNvSpPr/>
            <p:nvPr/>
          </p:nvSpPr>
          <p:spPr>
            <a:xfrm>
              <a:off x="10171875" y="3429000"/>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1.5</a:t>
              </a:r>
            </a:p>
          </p:txBody>
        </p:sp>
        <p:sp>
          <p:nvSpPr>
            <p:cNvPr id="39" name="Rectangle 38">
              <a:extLst>
                <a:ext uri="{FF2B5EF4-FFF2-40B4-BE49-F238E27FC236}">
                  <a16:creationId xmlns:a16="http://schemas.microsoft.com/office/drawing/2014/main" id="{E304AA8B-90E0-9DFE-EAB0-68421A997973}"/>
                </a:ext>
              </a:extLst>
            </p:cNvPr>
            <p:cNvSpPr/>
            <p:nvPr/>
          </p:nvSpPr>
          <p:spPr>
            <a:xfrm>
              <a:off x="8717108" y="3723978"/>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B</a:t>
              </a:r>
              <a:r>
                <a:rPr lang="ja-JP" altLang="en-US" dirty="0">
                  <a:solidFill>
                    <a:schemeClr val="tx1"/>
                  </a:solidFill>
                  <a:latin typeface="Meiryo UI" panose="020B0604030504040204" pitchFamily="50" charset="-128"/>
                  <a:ea typeface="Meiryo UI" panose="020B0604030504040204" pitchFamily="50" charset="-128"/>
                </a:rPr>
                <a:t>と比べた</a:t>
              </a:r>
              <a:r>
                <a:rPr lang="en-US"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の有効性</a:t>
              </a:r>
              <a:endParaRPr lang="en-US" dirty="0">
                <a:solidFill>
                  <a:schemeClr val="tx1"/>
                </a:solidFill>
                <a:latin typeface="Meiryo UI" panose="020B0604030504040204" pitchFamily="50" charset="-128"/>
                <a:ea typeface="Meiryo UI" panose="020B0604030504040204" pitchFamily="50" charset="-128"/>
              </a:endParaRPr>
            </a:p>
          </p:txBody>
        </p:sp>
        <p:sp>
          <p:nvSpPr>
            <p:cNvPr id="40" name="Rectangle 39">
              <a:extLst>
                <a:ext uri="{FF2B5EF4-FFF2-40B4-BE49-F238E27FC236}">
                  <a16:creationId xmlns:a16="http://schemas.microsoft.com/office/drawing/2014/main" id="{3382CBE0-1701-B9A5-7C21-E4C91DB6BFCC}"/>
                </a:ext>
              </a:extLst>
            </p:cNvPr>
            <p:cNvSpPr/>
            <p:nvPr/>
          </p:nvSpPr>
          <p:spPr>
            <a:xfrm>
              <a:off x="8717108" y="2181731"/>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既存データ</a:t>
              </a:r>
              <a:endParaRPr lang="en-US" dirty="0">
                <a:solidFill>
                  <a:schemeClr val="tx1"/>
                </a:solidFill>
                <a:latin typeface="Meiryo UI" panose="020B0604030504040204" pitchFamily="50" charset="-128"/>
                <a:ea typeface="Meiryo UI" panose="020B0604030504040204" pitchFamily="50" charset="-128"/>
              </a:endParaRPr>
            </a:p>
          </p:txBody>
        </p:sp>
      </p:grpSp>
      <p:sp>
        <p:nvSpPr>
          <p:cNvPr id="45" name="Isosceles Triangle 44">
            <a:extLst>
              <a:ext uri="{FF2B5EF4-FFF2-40B4-BE49-F238E27FC236}">
                <a16:creationId xmlns:a16="http://schemas.microsoft.com/office/drawing/2014/main" id="{EA249D14-5D11-6274-AE61-DA79AD8BD05C}"/>
              </a:ext>
            </a:extLst>
          </p:cNvPr>
          <p:cNvSpPr/>
          <p:nvPr/>
        </p:nvSpPr>
        <p:spPr>
          <a:xfrm flipV="1">
            <a:off x="8532564" y="4365189"/>
            <a:ext cx="2503481" cy="75456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43" name="Rectangle 42">
            <a:extLst>
              <a:ext uri="{FF2B5EF4-FFF2-40B4-BE49-F238E27FC236}">
                <a16:creationId xmlns:a16="http://schemas.microsoft.com/office/drawing/2014/main" id="{948EF531-DB2E-C8B2-C71B-E1EE997FA78D}"/>
              </a:ext>
            </a:extLst>
          </p:cNvPr>
          <p:cNvSpPr/>
          <p:nvPr/>
        </p:nvSpPr>
        <p:spPr>
          <a:xfrm>
            <a:off x="8733642" y="4373627"/>
            <a:ext cx="2130789" cy="559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panose="020B0604030504040204" pitchFamily="34" charset="-128"/>
                <a:ea typeface="Meiryo" panose="020B0604030504040204" pitchFamily="34" charset="-128"/>
              </a:rPr>
              <a:t>モデル作成～</a:t>
            </a:r>
            <a:endParaRPr lang="en-US" altLang="ja-JP" dirty="0">
              <a:solidFill>
                <a:schemeClr val="tx1"/>
              </a:solidFill>
              <a:latin typeface="Meiryo" panose="020B0604030504040204" pitchFamily="34" charset="-128"/>
              <a:ea typeface="Meiryo" panose="020B0604030504040204" pitchFamily="34" charset="-128"/>
            </a:endParaRPr>
          </a:p>
          <a:p>
            <a:pPr algn="ctr"/>
            <a:r>
              <a:rPr lang="ja-JP" altLang="en-US" dirty="0">
                <a:solidFill>
                  <a:schemeClr val="tx1"/>
                </a:solidFill>
                <a:latin typeface="Meiryo" panose="020B0604030504040204" pitchFamily="34" charset="-128"/>
                <a:ea typeface="Meiryo" panose="020B0604030504040204" pitchFamily="34" charset="-128"/>
              </a:rPr>
              <a:t>何回も確率試行</a:t>
            </a:r>
            <a:endParaRPr lang="en-US" altLang="ja-JP" dirty="0">
              <a:solidFill>
                <a:schemeClr val="tx1"/>
              </a:solidFill>
              <a:latin typeface="Meiryo" panose="020B0604030504040204" pitchFamily="34" charset="-128"/>
              <a:ea typeface="Meiryo" panose="020B0604030504040204" pitchFamily="34" charset="-128"/>
            </a:endParaRPr>
          </a:p>
        </p:txBody>
      </p:sp>
      <p:sp>
        <p:nvSpPr>
          <p:cNvPr id="46" name="Rectangle 45">
            <a:extLst>
              <a:ext uri="{FF2B5EF4-FFF2-40B4-BE49-F238E27FC236}">
                <a16:creationId xmlns:a16="http://schemas.microsoft.com/office/drawing/2014/main" id="{859A2332-0447-79AF-393B-700C3CDFC4CB}"/>
              </a:ext>
            </a:extLst>
          </p:cNvPr>
          <p:cNvSpPr/>
          <p:nvPr/>
        </p:nvSpPr>
        <p:spPr>
          <a:xfrm>
            <a:off x="7942104" y="5206601"/>
            <a:ext cx="3774824" cy="13193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panose="020B0604030504040204" pitchFamily="34" charset="-128"/>
                <a:ea typeface="Meiryo" panose="020B0604030504040204" pitchFamily="34" charset="-128"/>
              </a:rPr>
              <a:t>情報を無限に集めて、有効性の数値が完全にわかった</a:t>
            </a:r>
            <a:r>
              <a:rPr lang="en-US" altLang="ja-JP" dirty="0">
                <a:solidFill>
                  <a:schemeClr val="tx1"/>
                </a:solidFill>
                <a:latin typeface="Meiryo" panose="020B0604030504040204" pitchFamily="34" charset="-128"/>
                <a:ea typeface="Meiryo" panose="020B0604030504040204" pitchFamily="34" charset="-128"/>
              </a:rPr>
              <a:t>(</a:t>
            </a:r>
            <a:r>
              <a:rPr lang="ja-JP" altLang="en-US" dirty="0">
                <a:solidFill>
                  <a:schemeClr val="tx1"/>
                </a:solidFill>
                <a:latin typeface="Meiryo" panose="020B0604030504040204" pitchFamily="34" charset="-128"/>
                <a:ea typeface="Meiryo" panose="020B0604030504040204" pitchFamily="34" charset="-128"/>
              </a:rPr>
              <a:t>不確実性ゼロ</a:t>
            </a:r>
            <a:r>
              <a:rPr lang="en-US" altLang="ja-JP" dirty="0">
                <a:solidFill>
                  <a:schemeClr val="tx1"/>
                </a:solidFill>
                <a:latin typeface="Meiryo" panose="020B0604030504040204" pitchFamily="34" charset="-128"/>
                <a:ea typeface="Meiryo" panose="020B0604030504040204" pitchFamily="34" charset="-128"/>
              </a:rPr>
              <a:t>)</a:t>
            </a:r>
            <a:r>
              <a:rPr lang="ja-JP" altLang="en-US" dirty="0">
                <a:solidFill>
                  <a:schemeClr val="tx1"/>
                </a:solidFill>
                <a:latin typeface="Meiryo" panose="020B0604030504040204" pitchFamily="34" charset="-128"/>
                <a:ea typeface="Meiryo" panose="020B0604030504040204" pitchFamily="34" charset="-128"/>
              </a:rPr>
              <a:t>時に</a:t>
            </a:r>
            <a:r>
              <a:rPr lang="ja-JP" altLang="en-US" b="1" dirty="0">
                <a:solidFill>
                  <a:schemeClr val="tx1"/>
                </a:solidFill>
                <a:latin typeface="Meiryo" panose="020B0604030504040204" pitchFamily="34" charset="-128"/>
                <a:ea typeface="Meiryo" panose="020B0604030504040204" pitchFamily="34" charset="-128"/>
              </a:rPr>
              <a:t>期待される価値</a:t>
            </a:r>
            <a:r>
              <a:rPr lang="ja-JP" altLang="en-US" dirty="0">
                <a:solidFill>
                  <a:schemeClr val="tx1"/>
                </a:solidFill>
                <a:latin typeface="Meiryo" panose="020B0604030504040204" pitchFamily="34" charset="-128"/>
                <a:ea typeface="Meiryo" panose="020B0604030504040204" pitchFamily="34" charset="-128"/>
              </a:rPr>
              <a:t>がわかる</a:t>
            </a:r>
            <a:endParaRPr lang="en-US" altLang="ja-JP" dirty="0">
              <a:solidFill>
                <a:schemeClr val="tx1"/>
              </a:solidFill>
              <a:latin typeface="Meiryo" panose="020B0604030504040204" pitchFamily="34" charset="-128"/>
              <a:ea typeface="Meiryo" panose="020B0604030504040204" pitchFamily="34" charset="-128"/>
            </a:endParaRPr>
          </a:p>
          <a:p>
            <a:pPr algn="ctr"/>
            <a:r>
              <a:rPr lang="ja-JP" altLang="en-US" dirty="0">
                <a:solidFill>
                  <a:schemeClr val="tx1"/>
                </a:solidFill>
                <a:latin typeface="Meiryo" panose="020B0604030504040204" pitchFamily="34" charset="-128"/>
                <a:ea typeface="Meiryo" panose="020B0604030504040204" pitchFamily="34" charset="-128"/>
              </a:rPr>
              <a:t>→</a:t>
            </a:r>
            <a:r>
              <a:rPr lang="ja-JP" altLang="en-US" b="1" dirty="0">
                <a:solidFill>
                  <a:schemeClr val="tx1"/>
                </a:solidFill>
                <a:latin typeface="Meiryo" panose="020B0604030504040204" pitchFamily="34" charset="-128"/>
                <a:ea typeface="Meiryo" panose="020B0604030504040204" pitchFamily="34" charset="-128"/>
              </a:rPr>
              <a:t>追加研究を行うべきかの指標に</a:t>
            </a:r>
            <a:endParaRPr lang="en-US"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6666699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ACF8A-C009-C119-57C1-076FFD776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A91A2-D917-2E97-6E7F-1D00B04E93EA}"/>
              </a:ext>
            </a:extLst>
          </p:cNvPr>
          <p:cNvSpPr>
            <a:spLocks noGrp="1"/>
          </p:cNvSpPr>
          <p:nvPr>
            <p:ph type="title"/>
          </p:nvPr>
        </p:nvSpPr>
        <p:spPr/>
        <p:txBody>
          <a:bodyPr/>
          <a:lstStyle/>
          <a:p>
            <a:r>
              <a:rPr lang="ja-JP" altLang="en-US" dirty="0"/>
              <a:t>研究におけるユースケース</a:t>
            </a:r>
            <a:endParaRPr lang="en-US" dirty="0"/>
          </a:p>
        </p:txBody>
      </p:sp>
      <p:sp>
        <p:nvSpPr>
          <p:cNvPr id="4" name="Slide Number Placeholder 3">
            <a:extLst>
              <a:ext uri="{FF2B5EF4-FFF2-40B4-BE49-F238E27FC236}">
                <a16:creationId xmlns:a16="http://schemas.microsoft.com/office/drawing/2014/main" id="{DFFA8000-CA2D-1A17-67AC-1A7314D42F30}"/>
              </a:ext>
            </a:extLst>
          </p:cNvPr>
          <p:cNvSpPr>
            <a:spLocks noGrp="1"/>
          </p:cNvSpPr>
          <p:nvPr>
            <p:ph type="sldNum" sz="quarter" idx="4"/>
          </p:nvPr>
        </p:nvSpPr>
        <p:spPr/>
        <p:txBody>
          <a:bodyPr/>
          <a:lstStyle/>
          <a:p>
            <a:fld id="{B5CEABB6-07DC-46E8-9B57-56EC44A396E5}" type="slidenum">
              <a:rPr lang="en-US" smtClean="0"/>
              <a:pPr/>
              <a:t>58</a:t>
            </a:fld>
            <a:endParaRPr lang="en-US" dirty="0"/>
          </a:p>
        </p:txBody>
      </p:sp>
      <p:sp>
        <p:nvSpPr>
          <p:cNvPr id="5" name="Table Placeholder 4">
            <a:extLst>
              <a:ext uri="{FF2B5EF4-FFF2-40B4-BE49-F238E27FC236}">
                <a16:creationId xmlns:a16="http://schemas.microsoft.com/office/drawing/2014/main" id="{49D580F8-8FF9-1DEE-D106-A71F424D1BE7}"/>
              </a:ext>
            </a:extLst>
          </p:cNvPr>
          <p:cNvSpPr>
            <a:spLocks noGrp="1"/>
          </p:cNvSpPr>
          <p:nvPr>
            <p:ph type="tbl" sz="quarter" idx="11"/>
          </p:nvPr>
        </p:nvSpPr>
        <p:spPr/>
        <p:txBody>
          <a:bodyPr/>
          <a:lstStyle/>
          <a:p>
            <a:r>
              <a:rPr lang="ja-JP" altLang="en-US" dirty="0"/>
              <a:t>追加研究において、得られうる情報の価値が高くなるようなサンプル数を推定することができる</a:t>
            </a:r>
          </a:p>
        </p:txBody>
      </p:sp>
      <p:grpSp>
        <p:nvGrpSpPr>
          <p:cNvPr id="6" name="Group 5">
            <a:extLst>
              <a:ext uri="{FF2B5EF4-FFF2-40B4-BE49-F238E27FC236}">
                <a16:creationId xmlns:a16="http://schemas.microsoft.com/office/drawing/2014/main" id="{0F5852DF-6F58-5D08-D31D-EB6AF659B1D5}"/>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AC8135C4-A910-6DEC-F620-69667785AEB9}"/>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59F07C9C-BB92-69A6-F801-77954A36021C}"/>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93428AAB-4A5A-1D18-4312-FCBCA309BB9B}"/>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4" name="Picture 13" descr="A black background with a black square&#10;&#10;AI-generated content may be incorrect.">
            <a:extLst>
              <a:ext uri="{FF2B5EF4-FFF2-40B4-BE49-F238E27FC236}">
                <a16:creationId xmlns:a16="http://schemas.microsoft.com/office/drawing/2014/main" id="{C1BCB3CC-56A0-CBAB-957E-0543FA42D168}"/>
              </a:ext>
            </a:extLst>
          </p:cNvPr>
          <p:cNvPicPr>
            <a:picLocks noChangeAspect="1"/>
          </p:cNvPicPr>
          <p:nvPr/>
        </p:nvPicPr>
        <p:blipFill>
          <a:blip r:embed="rId3"/>
          <a:stretch>
            <a:fillRect/>
          </a:stretch>
        </p:blipFill>
        <p:spPr>
          <a:xfrm>
            <a:off x="5857149" y="4465429"/>
            <a:ext cx="1412459" cy="1412459"/>
          </a:xfrm>
          <a:prstGeom prst="rect">
            <a:avLst/>
          </a:prstGeom>
        </p:spPr>
      </p:pic>
      <p:sp>
        <p:nvSpPr>
          <p:cNvPr id="18" name="Arrow: Circular 17">
            <a:extLst>
              <a:ext uri="{FF2B5EF4-FFF2-40B4-BE49-F238E27FC236}">
                <a16:creationId xmlns:a16="http://schemas.microsoft.com/office/drawing/2014/main" id="{0F7DA157-B641-8675-084E-5CEC578B24A5}"/>
              </a:ext>
            </a:extLst>
          </p:cNvPr>
          <p:cNvSpPr/>
          <p:nvPr/>
        </p:nvSpPr>
        <p:spPr>
          <a:xfrm rot="356095">
            <a:off x="3726752" y="276293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pic>
        <p:nvPicPr>
          <p:cNvPr id="12" name="Picture 11" descr="A black background with a black square&#10;&#10;AI-generated content may be incorrect.">
            <a:extLst>
              <a:ext uri="{FF2B5EF4-FFF2-40B4-BE49-F238E27FC236}">
                <a16:creationId xmlns:a16="http://schemas.microsoft.com/office/drawing/2014/main" id="{E0A48226-59A6-B120-ED5C-556BE8A37680}"/>
              </a:ext>
            </a:extLst>
          </p:cNvPr>
          <p:cNvPicPr>
            <a:picLocks noChangeAspect="1"/>
          </p:cNvPicPr>
          <p:nvPr/>
        </p:nvPicPr>
        <p:blipFill>
          <a:blip r:embed="rId4"/>
          <a:stretch>
            <a:fillRect/>
          </a:stretch>
        </p:blipFill>
        <p:spPr>
          <a:xfrm>
            <a:off x="3863226" y="3052970"/>
            <a:ext cx="1412459" cy="1412459"/>
          </a:xfrm>
          <a:prstGeom prst="rect">
            <a:avLst/>
          </a:prstGeom>
        </p:spPr>
      </p:pic>
      <p:sp>
        <p:nvSpPr>
          <p:cNvPr id="23" name="Speech Bubble: Rectangle 22">
            <a:extLst>
              <a:ext uri="{FF2B5EF4-FFF2-40B4-BE49-F238E27FC236}">
                <a16:creationId xmlns:a16="http://schemas.microsoft.com/office/drawing/2014/main" id="{13859804-7DD2-8CA2-1826-AB4A66A56BC8}"/>
              </a:ext>
            </a:extLst>
          </p:cNvPr>
          <p:cNvSpPr/>
          <p:nvPr/>
        </p:nvSpPr>
        <p:spPr>
          <a:xfrm>
            <a:off x="7851071" y="2082626"/>
            <a:ext cx="3924093" cy="4478177"/>
          </a:xfrm>
          <a:prstGeom prst="wedgeRectCallout">
            <a:avLst>
              <a:gd name="adj1" fmla="val -61126"/>
              <a:gd name="adj2" fmla="val 20005"/>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46" name="Rectangle 45">
            <a:extLst>
              <a:ext uri="{FF2B5EF4-FFF2-40B4-BE49-F238E27FC236}">
                <a16:creationId xmlns:a16="http://schemas.microsoft.com/office/drawing/2014/main" id="{9289FB01-058E-7697-B4D3-F7712B027C1E}"/>
              </a:ext>
            </a:extLst>
          </p:cNvPr>
          <p:cNvSpPr/>
          <p:nvPr/>
        </p:nvSpPr>
        <p:spPr>
          <a:xfrm>
            <a:off x="7942104" y="2394736"/>
            <a:ext cx="3774824" cy="42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dirty="0">
                <a:solidFill>
                  <a:schemeClr val="tx1"/>
                </a:solidFill>
                <a:latin typeface="Meiryo" panose="020B0604030504040204" pitchFamily="34" charset="-128"/>
                <a:ea typeface="Meiryo" panose="020B0604030504040204" pitchFamily="34" charset="-128"/>
              </a:rPr>
              <a:t>追加研究の意義があるとなった場合、問：全数調査は不可能。どのくらいのサンプル数を確保すればよいのか</a:t>
            </a:r>
          </a:p>
        </p:txBody>
      </p:sp>
      <p:sp>
        <p:nvSpPr>
          <p:cNvPr id="11" name="Isosceles Triangle 10">
            <a:extLst>
              <a:ext uri="{FF2B5EF4-FFF2-40B4-BE49-F238E27FC236}">
                <a16:creationId xmlns:a16="http://schemas.microsoft.com/office/drawing/2014/main" id="{C14418ED-E75D-06F6-068F-C839D89BE5BB}"/>
              </a:ext>
            </a:extLst>
          </p:cNvPr>
          <p:cNvSpPr/>
          <p:nvPr/>
        </p:nvSpPr>
        <p:spPr>
          <a:xfrm flipV="1">
            <a:off x="8532564" y="3103408"/>
            <a:ext cx="2503481" cy="75456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3" name="Rectangle 12">
            <a:extLst>
              <a:ext uri="{FF2B5EF4-FFF2-40B4-BE49-F238E27FC236}">
                <a16:creationId xmlns:a16="http://schemas.microsoft.com/office/drawing/2014/main" id="{D1D76EE4-1CA5-5E70-FC51-774591D1EE3A}"/>
              </a:ext>
            </a:extLst>
          </p:cNvPr>
          <p:cNvSpPr/>
          <p:nvPr/>
        </p:nvSpPr>
        <p:spPr>
          <a:xfrm>
            <a:off x="8733642" y="3111846"/>
            <a:ext cx="2130789" cy="5595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panose="020B0604030504040204" pitchFamily="34" charset="-128"/>
                <a:ea typeface="Meiryo" panose="020B0604030504040204" pitchFamily="34" charset="-128"/>
              </a:rPr>
              <a:t>モデル上で色々な　サンプル数を試す</a:t>
            </a:r>
            <a:endParaRPr lang="en-US" dirty="0">
              <a:solidFill>
                <a:schemeClr val="tx1"/>
              </a:solidFill>
              <a:latin typeface="Meiryo" panose="020B0604030504040204" pitchFamily="34" charset="-128"/>
              <a:ea typeface="Meiryo" panose="020B0604030504040204" pitchFamily="34" charset="-128"/>
            </a:endParaRPr>
          </a:p>
        </p:txBody>
      </p:sp>
      <p:grpSp>
        <p:nvGrpSpPr>
          <p:cNvPr id="49" name="Group 48">
            <a:extLst>
              <a:ext uri="{FF2B5EF4-FFF2-40B4-BE49-F238E27FC236}">
                <a16:creationId xmlns:a16="http://schemas.microsoft.com/office/drawing/2014/main" id="{C29FAAC8-EF39-A6CD-9884-1599D92CEC7E}"/>
              </a:ext>
            </a:extLst>
          </p:cNvPr>
          <p:cNvGrpSpPr/>
          <p:nvPr/>
        </p:nvGrpSpPr>
        <p:grpSpPr>
          <a:xfrm>
            <a:off x="8386863" y="3844375"/>
            <a:ext cx="4067525" cy="1955555"/>
            <a:chOff x="8452099" y="4130325"/>
            <a:chExt cx="4067525" cy="1955555"/>
          </a:xfrm>
        </p:grpSpPr>
        <p:grpSp>
          <p:nvGrpSpPr>
            <p:cNvPr id="15" name="Group 14">
              <a:extLst>
                <a:ext uri="{FF2B5EF4-FFF2-40B4-BE49-F238E27FC236}">
                  <a16:creationId xmlns:a16="http://schemas.microsoft.com/office/drawing/2014/main" id="{75A3DEA8-7ED5-E0D4-232C-2874D8A05D95}"/>
                </a:ext>
              </a:extLst>
            </p:cNvPr>
            <p:cNvGrpSpPr/>
            <p:nvPr/>
          </p:nvGrpSpPr>
          <p:grpSpPr>
            <a:xfrm>
              <a:off x="8452099" y="4130325"/>
              <a:ext cx="2617650" cy="1710070"/>
              <a:chOff x="8421811" y="2291365"/>
              <a:chExt cx="2617650" cy="1710070"/>
            </a:xfrm>
          </p:grpSpPr>
          <p:cxnSp>
            <p:nvCxnSpPr>
              <p:cNvPr id="19" name="Straight Arrow Connector 18">
                <a:extLst>
                  <a:ext uri="{FF2B5EF4-FFF2-40B4-BE49-F238E27FC236}">
                    <a16:creationId xmlns:a16="http://schemas.microsoft.com/office/drawing/2014/main" id="{6D19D590-26C8-F085-9EAE-5FA38D54F322}"/>
                  </a:ext>
                </a:extLst>
              </p:cNvPr>
              <p:cNvCxnSpPr>
                <a:cxnSpLocks/>
              </p:cNvCxnSpPr>
              <p:nvPr/>
            </p:nvCxnSpPr>
            <p:spPr>
              <a:xfrm flipV="1">
                <a:off x="8861549" y="2304961"/>
                <a:ext cx="8556" cy="106829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84A6EFF-097E-8486-002C-3281AD30EF76}"/>
                  </a:ext>
                </a:extLst>
              </p:cNvPr>
              <p:cNvCxnSpPr>
                <a:cxnSpLocks/>
              </p:cNvCxnSpPr>
              <p:nvPr/>
            </p:nvCxnSpPr>
            <p:spPr>
              <a:xfrm>
                <a:off x="8861549" y="3373251"/>
                <a:ext cx="19725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2B23BEA-BBDA-570E-0A61-FE38CDD4D98B}"/>
                  </a:ext>
                </a:extLst>
              </p:cNvPr>
              <p:cNvSpPr/>
              <p:nvPr/>
            </p:nvSpPr>
            <p:spPr>
              <a:xfrm>
                <a:off x="8421811" y="2291365"/>
                <a:ext cx="395677" cy="12799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追加</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期待価値</a:t>
                </a:r>
                <a:endParaRPr lang="en-US" dirty="0">
                  <a:solidFill>
                    <a:schemeClr val="tx1"/>
                  </a:solidFill>
                  <a:latin typeface="Meiryo UI" panose="020B0604030504040204" pitchFamily="50" charset="-128"/>
                  <a:ea typeface="Meiryo UI" panose="020B0604030504040204" pitchFamily="50" charset="-128"/>
                </a:endParaRPr>
              </a:p>
            </p:txBody>
          </p:sp>
          <p:sp>
            <p:nvSpPr>
              <p:cNvPr id="24" name="Rectangle 23">
                <a:extLst>
                  <a:ext uri="{FF2B5EF4-FFF2-40B4-BE49-F238E27FC236}">
                    <a16:creationId xmlns:a16="http://schemas.microsoft.com/office/drawing/2014/main" id="{931E43EC-123C-4B08-E499-F2750884A308}"/>
                  </a:ext>
                </a:extLst>
              </p:cNvPr>
              <p:cNvSpPr/>
              <p:nvPr/>
            </p:nvSpPr>
            <p:spPr>
              <a:xfrm>
                <a:off x="8813788" y="3418668"/>
                <a:ext cx="466409"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10</a:t>
                </a:r>
              </a:p>
            </p:txBody>
          </p:sp>
          <p:sp>
            <p:nvSpPr>
              <p:cNvPr id="26" name="Rectangle 25">
                <a:extLst>
                  <a:ext uri="{FF2B5EF4-FFF2-40B4-BE49-F238E27FC236}">
                    <a16:creationId xmlns:a16="http://schemas.microsoft.com/office/drawing/2014/main" id="{C0975CBE-7BB9-9164-9CF8-B3A4F2645DBF}"/>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100</a:t>
                </a:r>
              </a:p>
            </p:txBody>
          </p:sp>
          <p:sp>
            <p:nvSpPr>
              <p:cNvPr id="29" name="Rectangle 28">
                <a:extLst>
                  <a:ext uri="{FF2B5EF4-FFF2-40B4-BE49-F238E27FC236}">
                    <a16:creationId xmlns:a16="http://schemas.microsoft.com/office/drawing/2014/main" id="{4F1E4956-85F0-6F7C-7973-8DA3D561E0FC}"/>
                  </a:ext>
                </a:extLst>
              </p:cNvPr>
              <p:cNvSpPr/>
              <p:nvPr/>
            </p:nvSpPr>
            <p:spPr>
              <a:xfrm>
                <a:off x="10130562" y="3429000"/>
                <a:ext cx="908899"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1,000</a:t>
                </a:r>
              </a:p>
            </p:txBody>
          </p:sp>
          <p:sp>
            <p:nvSpPr>
              <p:cNvPr id="30" name="Rectangle 29">
                <a:extLst>
                  <a:ext uri="{FF2B5EF4-FFF2-40B4-BE49-F238E27FC236}">
                    <a16:creationId xmlns:a16="http://schemas.microsoft.com/office/drawing/2014/main" id="{61751C1A-6E72-30F9-B3A2-7077EF3B1311}"/>
                  </a:ext>
                </a:extLst>
              </p:cNvPr>
              <p:cNvSpPr/>
              <p:nvPr/>
            </p:nvSpPr>
            <p:spPr>
              <a:xfrm>
                <a:off x="8717108" y="3723978"/>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追加サンプル数</a:t>
                </a:r>
                <a:endParaRPr lang="en-US" dirty="0">
                  <a:solidFill>
                    <a:schemeClr val="tx1"/>
                  </a:solidFill>
                  <a:latin typeface="Meiryo UI" panose="020B0604030504040204" pitchFamily="50" charset="-128"/>
                  <a:ea typeface="Meiryo UI" panose="020B0604030504040204" pitchFamily="50" charset="-128"/>
                </a:endParaRPr>
              </a:p>
            </p:txBody>
          </p:sp>
        </p:grpSp>
        <p:grpSp>
          <p:nvGrpSpPr>
            <p:cNvPr id="48" name="Group 47">
              <a:extLst>
                <a:ext uri="{FF2B5EF4-FFF2-40B4-BE49-F238E27FC236}">
                  <a16:creationId xmlns:a16="http://schemas.microsoft.com/office/drawing/2014/main" id="{0E5A840E-BBAE-8F3D-7F03-E2DD8B580878}"/>
                </a:ext>
              </a:extLst>
            </p:cNvPr>
            <p:cNvGrpSpPr/>
            <p:nvPr/>
          </p:nvGrpSpPr>
          <p:grpSpPr>
            <a:xfrm>
              <a:off x="8915111" y="4318418"/>
              <a:ext cx="3604513" cy="1767462"/>
              <a:chOff x="8915111" y="4318418"/>
              <a:chExt cx="3604513" cy="1767462"/>
            </a:xfrm>
          </p:grpSpPr>
          <p:sp>
            <p:nvSpPr>
              <p:cNvPr id="36" name="Partial Circle 35">
                <a:extLst>
                  <a:ext uri="{FF2B5EF4-FFF2-40B4-BE49-F238E27FC236}">
                    <a16:creationId xmlns:a16="http://schemas.microsoft.com/office/drawing/2014/main" id="{8BD1F4CD-1188-DD15-D46C-A5A8EF0CA943}"/>
                  </a:ext>
                </a:extLst>
              </p:cNvPr>
              <p:cNvSpPr/>
              <p:nvPr/>
            </p:nvSpPr>
            <p:spPr>
              <a:xfrm>
                <a:off x="8915111" y="4337207"/>
                <a:ext cx="3604513" cy="1748673"/>
              </a:xfrm>
              <a:prstGeom prst="pie">
                <a:avLst>
                  <a:gd name="adj1" fmla="val 10792705"/>
                  <a:gd name="adj2" fmla="val 162000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42" name="Straight Connector 41">
                <a:extLst>
                  <a:ext uri="{FF2B5EF4-FFF2-40B4-BE49-F238E27FC236}">
                    <a16:creationId xmlns:a16="http://schemas.microsoft.com/office/drawing/2014/main" id="{51CA838E-03A1-4F4E-E7A2-D664D58A428A}"/>
                  </a:ext>
                </a:extLst>
              </p:cNvPr>
              <p:cNvCxnSpPr>
                <a:cxnSpLocks/>
              </p:cNvCxnSpPr>
              <p:nvPr/>
            </p:nvCxnSpPr>
            <p:spPr>
              <a:xfrm>
                <a:off x="10706047" y="4318418"/>
                <a:ext cx="0" cy="874336"/>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50" name="Rectangle 49">
            <a:extLst>
              <a:ext uri="{FF2B5EF4-FFF2-40B4-BE49-F238E27FC236}">
                <a16:creationId xmlns:a16="http://schemas.microsoft.com/office/drawing/2014/main" id="{BE7FAECA-C511-35F3-5E2F-DEE138963B88}"/>
              </a:ext>
            </a:extLst>
          </p:cNvPr>
          <p:cNvSpPr/>
          <p:nvPr/>
        </p:nvSpPr>
        <p:spPr>
          <a:xfrm>
            <a:off x="7940832" y="5817327"/>
            <a:ext cx="3747585" cy="6770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b="1" dirty="0">
                <a:solidFill>
                  <a:schemeClr val="tx1"/>
                </a:solidFill>
                <a:latin typeface="Meiryo" panose="020B0604030504040204" pitchFamily="34" charset="-128"/>
                <a:ea typeface="Meiryo" panose="020B0604030504040204" pitchFamily="34" charset="-128"/>
              </a:rPr>
              <a:t>特定のサンプルサイズの研究から得られる追加情報の期待価値</a:t>
            </a:r>
            <a:r>
              <a:rPr lang="ja-JP" altLang="en-US" dirty="0">
                <a:solidFill>
                  <a:schemeClr val="tx1"/>
                </a:solidFill>
                <a:latin typeface="Meiryo" panose="020B0604030504040204" pitchFamily="34" charset="-128"/>
                <a:ea typeface="Meiryo" panose="020B0604030504040204" pitchFamily="34" charset="-128"/>
              </a:rPr>
              <a:t>がわかる</a:t>
            </a:r>
            <a:endParaRPr lang="en-US" altLang="ja-JP" dirty="0">
              <a:solidFill>
                <a:schemeClr val="tx1"/>
              </a:solidFill>
              <a:latin typeface="Meiryo" panose="020B0604030504040204" pitchFamily="34" charset="-128"/>
              <a:ea typeface="Meiryo" panose="020B0604030504040204" pitchFamily="34" charset="-128"/>
            </a:endParaRPr>
          </a:p>
        </p:txBody>
      </p:sp>
      <p:sp>
        <p:nvSpPr>
          <p:cNvPr id="51" name="Arrow: Circular 50">
            <a:extLst>
              <a:ext uri="{FF2B5EF4-FFF2-40B4-BE49-F238E27FC236}">
                <a16:creationId xmlns:a16="http://schemas.microsoft.com/office/drawing/2014/main" id="{DB31664F-8F2C-B514-9C4D-37C8A921BDC7}"/>
              </a:ext>
            </a:extLst>
          </p:cNvPr>
          <p:cNvSpPr/>
          <p:nvPr/>
        </p:nvSpPr>
        <p:spPr>
          <a:xfrm rot="12153872">
            <a:off x="3726752" y="276602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52" name="Rectangle 51">
            <a:extLst>
              <a:ext uri="{FF2B5EF4-FFF2-40B4-BE49-F238E27FC236}">
                <a16:creationId xmlns:a16="http://schemas.microsoft.com/office/drawing/2014/main" id="{B1213219-30C7-C794-3608-6CBA297526B9}"/>
              </a:ext>
            </a:extLst>
          </p:cNvPr>
          <p:cNvSpPr/>
          <p:nvPr/>
        </p:nvSpPr>
        <p:spPr>
          <a:xfrm>
            <a:off x="2706575" y="4755461"/>
            <a:ext cx="3323213" cy="10092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dirty="0">
                <a:solidFill>
                  <a:schemeClr val="tx1"/>
                </a:solidFill>
                <a:latin typeface="Meiryo" panose="020B0604030504040204" pitchFamily="34" charset="-128"/>
                <a:ea typeface="Meiryo" panose="020B0604030504040204" pitchFamily="34" charset="-128"/>
              </a:rPr>
              <a:t>サンプル数</a:t>
            </a:r>
            <a:r>
              <a:rPr lang="en-US" altLang="ja-JP" dirty="0">
                <a:solidFill>
                  <a:schemeClr val="tx1"/>
                </a:solidFill>
                <a:latin typeface="Meiryo" panose="020B0604030504040204" pitchFamily="34" charset="-128"/>
                <a:ea typeface="Meiryo" panose="020B0604030504040204" pitchFamily="34" charset="-128"/>
              </a:rPr>
              <a:t>×</a:t>
            </a:r>
            <a:r>
              <a:rPr lang="ja-JP" altLang="en-US" dirty="0">
                <a:solidFill>
                  <a:schemeClr val="tx1"/>
                </a:solidFill>
                <a:latin typeface="Meiryo" panose="020B0604030504040204" pitchFamily="34" charset="-128"/>
                <a:ea typeface="Meiryo" panose="020B0604030504040204" pitchFamily="34" charset="-128"/>
              </a:rPr>
              <a:t>追加価値</a:t>
            </a:r>
            <a:r>
              <a:rPr lang="en-US" altLang="ja-JP" dirty="0">
                <a:solidFill>
                  <a:schemeClr val="tx1"/>
                </a:solidFill>
                <a:latin typeface="Meiryo" panose="020B0604030504040204" pitchFamily="34" charset="-128"/>
                <a:ea typeface="Meiryo" panose="020B0604030504040204" pitchFamily="34" charset="-128"/>
              </a:rPr>
              <a:t>/</a:t>
            </a:r>
            <a:r>
              <a:rPr lang="ja-JP" altLang="en-US" dirty="0">
                <a:solidFill>
                  <a:schemeClr val="tx1"/>
                </a:solidFill>
                <a:latin typeface="Meiryo" panose="020B0604030504040204" pitchFamily="34" charset="-128"/>
                <a:ea typeface="Meiryo" panose="020B0604030504040204" pitchFamily="34" charset="-128"/>
              </a:rPr>
              <a:t>サンプル</a:t>
            </a:r>
            <a:endParaRPr lang="en-US" altLang="ja-JP" dirty="0">
              <a:solidFill>
                <a:schemeClr val="tx1"/>
              </a:solidFill>
              <a:latin typeface="Meiryo" panose="020B0604030504040204" pitchFamily="34" charset="-128"/>
              <a:ea typeface="Meiryo" panose="020B0604030504040204" pitchFamily="34" charset="-128"/>
            </a:endParaRPr>
          </a:p>
          <a:p>
            <a:r>
              <a:rPr lang="ja-JP" altLang="en-US" dirty="0">
                <a:solidFill>
                  <a:schemeClr val="tx1"/>
                </a:solidFill>
                <a:latin typeface="Meiryo" panose="020B0604030504040204" pitchFamily="34" charset="-128"/>
                <a:ea typeface="Meiryo" panose="020B0604030504040204" pitchFamily="34" charset="-128"/>
              </a:rPr>
              <a:t>＞そのサンプル数の研究費用</a:t>
            </a:r>
            <a:endParaRPr lang="en-US" altLang="ja-JP" dirty="0">
              <a:solidFill>
                <a:schemeClr val="tx1"/>
              </a:solidFill>
              <a:latin typeface="Meiryo" panose="020B0604030504040204" pitchFamily="34" charset="-128"/>
              <a:ea typeface="Meiryo" panose="020B0604030504040204" pitchFamily="34" charset="-128"/>
            </a:endParaRPr>
          </a:p>
          <a:p>
            <a:r>
              <a:rPr lang="ja-JP" altLang="en-US" dirty="0">
                <a:solidFill>
                  <a:schemeClr val="tx1"/>
                </a:solidFill>
                <a:latin typeface="Meiryo" panose="020B0604030504040204" pitchFamily="34" charset="-128"/>
                <a:ea typeface="Meiryo" panose="020B0604030504040204" pitchFamily="34" charset="-128"/>
              </a:rPr>
              <a:t>なら追加研究を実施すべき</a:t>
            </a:r>
            <a:endParaRPr lang="en-US" altLang="ja-JP"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254855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43F2D-1B34-31FE-90F9-E820EA6C2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A1363-68A6-0B53-4316-0CCDF82BA245}"/>
              </a:ext>
            </a:extLst>
          </p:cNvPr>
          <p:cNvSpPr>
            <a:spLocks noGrp="1"/>
          </p:cNvSpPr>
          <p:nvPr>
            <p:ph type="title"/>
          </p:nvPr>
        </p:nvSpPr>
        <p:spPr/>
        <p:txBody>
          <a:bodyPr/>
          <a:lstStyle/>
          <a:p>
            <a:r>
              <a:rPr lang="ja-JP" altLang="en-US" dirty="0"/>
              <a:t>研究におけるユースケース</a:t>
            </a:r>
            <a:endParaRPr lang="en-US" dirty="0"/>
          </a:p>
        </p:txBody>
      </p:sp>
      <p:sp>
        <p:nvSpPr>
          <p:cNvPr id="4" name="Slide Number Placeholder 3">
            <a:extLst>
              <a:ext uri="{FF2B5EF4-FFF2-40B4-BE49-F238E27FC236}">
                <a16:creationId xmlns:a16="http://schemas.microsoft.com/office/drawing/2014/main" id="{706C3900-8413-4527-5F81-4766B11723A4}"/>
              </a:ext>
            </a:extLst>
          </p:cNvPr>
          <p:cNvSpPr>
            <a:spLocks noGrp="1"/>
          </p:cNvSpPr>
          <p:nvPr>
            <p:ph type="sldNum" sz="quarter" idx="4"/>
          </p:nvPr>
        </p:nvSpPr>
        <p:spPr/>
        <p:txBody>
          <a:bodyPr/>
          <a:lstStyle/>
          <a:p>
            <a:fld id="{B5CEABB6-07DC-46E8-9B57-56EC44A396E5}" type="slidenum">
              <a:rPr lang="en-US" smtClean="0"/>
              <a:pPr/>
              <a:t>59</a:t>
            </a:fld>
            <a:endParaRPr lang="en-US" dirty="0"/>
          </a:p>
        </p:txBody>
      </p:sp>
      <p:sp>
        <p:nvSpPr>
          <p:cNvPr id="5" name="Table Placeholder 4">
            <a:extLst>
              <a:ext uri="{FF2B5EF4-FFF2-40B4-BE49-F238E27FC236}">
                <a16:creationId xmlns:a16="http://schemas.microsoft.com/office/drawing/2014/main" id="{3E7CC6D2-2DC3-A295-D905-EC61CBCE0509}"/>
              </a:ext>
            </a:extLst>
          </p:cNvPr>
          <p:cNvSpPr>
            <a:spLocks noGrp="1"/>
          </p:cNvSpPr>
          <p:nvPr>
            <p:ph type="tbl" sz="quarter" idx="11"/>
          </p:nvPr>
        </p:nvSpPr>
        <p:spPr/>
        <p:txBody>
          <a:bodyPr/>
          <a:lstStyle/>
          <a:p>
            <a:r>
              <a:rPr lang="ja-JP" altLang="en-US" dirty="0"/>
              <a:t>試験的に行った研究のデータから、更に追加の研究をした際の情報の価値を推定することができる</a:t>
            </a:r>
          </a:p>
        </p:txBody>
      </p:sp>
      <p:grpSp>
        <p:nvGrpSpPr>
          <p:cNvPr id="6" name="Group 5">
            <a:extLst>
              <a:ext uri="{FF2B5EF4-FFF2-40B4-BE49-F238E27FC236}">
                <a16:creationId xmlns:a16="http://schemas.microsoft.com/office/drawing/2014/main" id="{D249ECB2-F0F1-5B86-012C-409796650967}"/>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8E700F56-7FB8-6635-7004-8F544AEC9F42}"/>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A1E44A9F-B875-A3F1-3E87-6D16614E9A43}"/>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FCF9C672-B742-E0AA-ED1A-133E7C972FB7}"/>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pic>
        <p:nvPicPr>
          <p:cNvPr id="14" name="Picture 13" descr="A black background with a black square&#10;&#10;AI-generated content may be incorrect.">
            <a:extLst>
              <a:ext uri="{FF2B5EF4-FFF2-40B4-BE49-F238E27FC236}">
                <a16:creationId xmlns:a16="http://schemas.microsoft.com/office/drawing/2014/main" id="{D2B8DB3E-9160-EAC4-D47D-5E6E224FA311}"/>
              </a:ext>
            </a:extLst>
          </p:cNvPr>
          <p:cNvPicPr>
            <a:picLocks noChangeAspect="1"/>
          </p:cNvPicPr>
          <p:nvPr/>
        </p:nvPicPr>
        <p:blipFill>
          <a:blip r:embed="rId2"/>
          <a:stretch>
            <a:fillRect/>
          </a:stretch>
        </p:blipFill>
        <p:spPr>
          <a:xfrm>
            <a:off x="5857149" y="4465429"/>
            <a:ext cx="1412459" cy="1412459"/>
          </a:xfrm>
          <a:prstGeom prst="rect">
            <a:avLst/>
          </a:prstGeom>
        </p:spPr>
      </p:pic>
      <p:sp>
        <p:nvSpPr>
          <p:cNvPr id="18" name="Arrow: Circular 17">
            <a:extLst>
              <a:ext uri="{FF2B5EF4-FFF2-40B4-BE49-F238E27FC236}">
                <a16:creationId xmlns:a16="http://schemas.microsoft.com/office/drawing/2014/main" id="{6E8CBC25-3F9B-A20C-EDE7-5139D1867567}"/>
              </a:ext>
            </a:extLst>
          </p:cNvPr>
          <p:cNvSpPr/>
          <p:nvPr/>
        </p:nvSpPr>
        <p:spPr>
          <a:xfrm rot="356095">
            <a:off x="3726752" y="276293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pic>
        <p:nvPicPr>
          <p:cNvPr id="12" name="Picture 11" descr="A black background with a black square&#10;&#10;AI-generated content may be incorrect.">
            <a:extLst>
              <a:ext uri="{FF2B5EF4-FFF2-40B4-BE49-F238E27FC236}">
                <a16:creationId xmlns:a16="http://schemas.microsoft.com/office/drawing/2014/main" id="{AF573EC0-0FA1-3293-8C26-68EE50E61A75}"/>
              </a:ext>
            </a:extLst>
          </p:cNvPr>
          <p:cNvPicPr>
            <a:picLocks noChangeAspect="1"/>
          </p:cNvPicPr>
          <p:nvPr/>
        </p:nvPicPr>
        <p:blipFill>
          <a:blip r:embed="rId3"/>
          <a:stretch>
            <a:fillRect/>
          </a:stretch>
        </p:blipFill>
        <p:spPr>
          <a:xfrm>
            <a:off x="3863226" y="3052970"/>
            <a:ext cx="1412459" cy="1412459"/>
          </a:xfrm>
          <a:prstGeom prst="rect">
            <a:avLst/>
          </a:prstGeom>
        </p:spPr>
      </p:pic>
      <p:sp>
        <p:nvSpPr>
          <p:cNvPr id="51" name="Arrow: Circular 50">
            <a:extLst>
              <a:ext uri="{FF2B5EF4-FFF2-40B4-BE49-F238E27FC236}">
                <a16:creationId xmlns:a16="http://schemas.microsoft.com/office/drawing/2014/main" id="{D6CDD42C-824A-D84B-6426-398A44DEE813}"/>
              </a:ext>
            </a:extLst>
          </p:cNvPr>
          <p:cNvSpPr/>
          <p:nvPr/>
        </p:nvSpPr>
        <p:spPr>
          <a:xfrm rot="12153872">
            <a:off x="3726752" y="2766023"/>
            <a:ext cx="3747285" cy="3747285"/>
          </a:xfrm>
          <a:prstGeom prst="circularArrow">
            <a:avLst>
              <a:gd name="adj1" fmla="val 22589"/>
              <a:gd name="adj2" fmla="val 703293"/>
              <a:gd name="adj3" fmla="val 20105413"/>
              <a:gd name="adj4" fmla="val 14113690"/>
              <a:gd name="adj5" fmla="val 1648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 name="Speech Bubble: Rectangle 2">
            <a:extLst>
              <a:ext uri="{FF2B5EF4-FFF2-40B4-BE49-F238E27FC236}">
                <a16:creationId xmlns:a16="http://schemas.microsoft.com/office/drawing/2014/main" id="{110E3B9A-FFCB-CB39-3D5B-EF45A415E9DB}"/>
              </a:ext>
            </a:extLst>
          </p:cNvPr>
          <p:cNvSpPr/>
          <p:nvPr/>
        </p:nvSpPr>
        <p:spPr>
          <a:xfrm>
            <a:off x="467139" y="2082627"/>
            <a:ext cx="2987261" cy="1676573"/>
          </a:xfrm>
          <a:prstGeom prst="wedgeRectCallout">
            <a:avLst>
              <a:gd name="adj1" fmla="val 69637"/>
              <a:gd name="adj2" fmla="val 2922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とりあえず</a:t>
            </a:r>
            <a:r>
              <a:rPr lang="en-US" altLang="ja-JP" dirty="0">
                <a:solidFill>
                  <a:schemeClr val="tx1"/>
                </a:solidFill>
                <a:latin typeface="Meiryo UI" panose="020B0604030504040204" pitchFamily="50" charset="-128"/>
                <a:ea typeface="Meiryo UI" panose="020B0604030504040204" pitchFamily="50" charset="-128"/>
              </a:rPr>
              <a:t>100</a:t>
            </a:r>
            <a:r>
              <a:rPr lang="ja-JP" altLang="en-US" dirty="0">
                <a:solidFill>
                  <a:schemeClr val="tx1"/>
                </a:solidFill>
                <a:latin typeface="Meiryo UI" panose="020B0604030504040204" pitchFamily="50" charset="-128"/>
                <a:ea typeface="Meiryo UI" panose="020B0604030504040204" pitchFamily="50" charset="-128"/>
              </a:rPr>
              <a:t>人のデータを</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集めたけれど、まだ研究を続けるべきなのか？</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0" name="Rectangle 9">
            <a:extLst>
              <a:ext uri="{FF2B5EF4-FFF2-40B4-BE49-F238E27FC236}">
                <a16:creationId xmlns:a16="http://schemas.microsoft.com/office/drawing/2014/main" id="{5A113D1E-371A-8387-A5B7-45C75AC02B13}"/>
              </a:ext>
            </a:extLst>
          </p:cNvPr>
          <p:cNvSpPr/>
          <p:nvPr/>
        </p:nvSpPr>
        <p:spPr>
          <a:xfrm>
            <a:off x="5066083" y="3249127"/>
            <a:ext cx="2398716" cy="5464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ja-JP" altLang="en-US" dirty="0">
                <a:solidFill>
                  <a:schemeClr val="tx1"/>
                </a:solidFill>
                <a:latin typeface="Meiryo" panose="020B0604030504040204" pitchFamily="34" charset="-128"/>
                <a:ea typeface="Meiryo" panose="020B0604030504040204" pitchFamily="34" charset="-128"/>
              </a:rPr>
              <a:t>新しく得られたデータ</a:t>
            </a:r>
            <a:endParaRPr lang="en-US" altLang="ja-JP" dirty="0">
              <a:solidFill>
                <a:schemeClr val="tx1"/>
              </a:solidFill>
              <a:latin typeface="Meiryo" panose="020B0604030504040204" pitchFamily="34" charset="-128"/>
              <a:ea typeface="Meiryo" panose="020B0604030504040204" pitchFamily="34" charset="-128"/>
            </a:endParaRPr>
          </a:p>
        </p:txBody>
      </p:sp>
      <p:sp>
        <p:nvSpPr>
          <p:cNvPr id="16" name="Speech Bubble: Rectangle 15">
            <a:extLst>
              <a:ext uri="{FF2B5EF4-FFF2-40B4-BE49-F238E27FC236}">
                <a16:creationId xmlns:a16="http://schemas.microsoft.com/office/drawing/2014/main" id="{97399C49-1400-4E62-B066-EDAB04D3A350}"/>
              </a:ext>
            </a:extLst>
          </p:cNvPr>
          <p:cNvSpPr/>
          <p:nvPr/>
        </p:nvSpPr>
        <p:spPr>
          <a:xfrm>
            <a:off x="7851071" y="2082626"/>
            <a:ext cx="3924093" cy="4478177"/>
          </a:xfrm>
          <a:prstGeom prst="wedgeRectCallout">
            <a:avLst>
              <a:gd name="adj1" fmla="val -61126"/>
              <a:gd name="adj2" fmla="val 20005"/>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7" name="Rectangle 16">
            <a:extLst>
              <a:ext uri="{FF2B5EF4-FFF2-40B4-BE49-F238E27FC236}">
                <a16:creationId xmlns:a16="http://schemas.microsoft.com/office/drawing/2014/main" id="{E0538E83-D242-6FB8-DA76-0AA9C17EA97E}"/>
              </a:ext>
            </a:extLst>
          </p:cNvPr>
          <p:cNvSpPr/>
          <p:nvPr/>
        </p:nvSpPr>
        <p:spPr>
          <a:xfrm>
            <a:off x="7942104" y="2237721"/>
            <a:ext cx="3774824" cy="42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dirty="0">
                <a:solidFill>
                  <a:schemeClr val="tx1"/>
                </a:solidFill>
                <a:latin typeface="Meiryo" panose="020B0604030504040204" pitchFamily="34" charset="-128"/>
                <a:ea typeface="Meiryo" panose="020B0604030504040204" pitchFamily="34" charset="-128"/>
              </a:rPr>
              <a:t>不確実性が少し減った新規データで再度モデルを回す</a:t>
            </a:r>
          </a:p>
        </p:txBody>
      </p:sp>
      <p:sp>
        <p:nvSpPr>
          <p:cNvPr id="21" name="Rectangle 20">
            <a:extLst>
              <a:ext uri="{FF2B5EF4-FFF2-40B4-BE49-F238E27FC236}">
                <a16:creationId xmlns:a16="http://schemas.microsoft.com/office/drawing/2014/main" id="{7D2D80CE-E014-2751-E520-5F6CF2B37B37}"/>
              </a:ext>
            </a:extLst>
          </p:cNvPr>
          <p:cNvSpPr/>
          <p:nvPr/>
        </p:nvSpPr>
        <p:spPr>
          <a:xfrm>
            <a:off x="8099972" y="5305894"/>
            <a:ext cx="3454340" cy="116135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lstStyle/>
          <a:p>
            <a:pPr algn="ctr"/>
            <a:r>
              <a:rPr lang="ja-JP" altLang="en-US" sz="2800" b="1" dirty="0">
                <a:solidFill>
                  <a:schemeClr val="tx1"/>
                </a:solidFill>
                <a:latin typeface="Meiryo" panose="020B0604030504040204" pitchFamily="34" charset="-128"/>
                <a:ea typeface="Meiryo" panose="020B0604030504040204" pitchFamily="34" charset="-128"/>
              </a:rPr>
              <a:t>情報の価値分析</a:t>
            </a:r>
            <a:endParaRPr lang="en-US" altLang="ja-JP" sz="2800" b="1" dirty="0">
              <a:solidFill>
                <a:schemeClr val="tx1"/>
              </a:solidFill>
              <a:latin typeface="Meiryo" panose="020B0604030504040204" pitchFamily="34" charset="-128"/>
              <a:ea typeface="Meiryo" panose="020B0604030504040204" pitchFamily="34" charset="-128"/>
            </a:endParaRPr>
          </a:p>
          <a:p>
            <a:pPr algn="ctr"/>
            <a:r>
              <a:rPr lang="en-US" altLang="ja-JP" sz="2000" dirty="0">
                <a:solidFill>
                  <a:schemeClr val="tx1"/>
                </a:solidFill>
                <a:latin typeface="Meiryo" panose="020B0604030504040204" pitchFamily="34" charset="-128"/>
                <a:ea typeface="Meiryo" panose="020B0604030504040204" pitchFamily="34" charset="-128"/>
              </a:rPr>
              <a:t>(Value of Information </a:t>
            </a:r>
          </a:p>
          <a:p>
            <a:pPr algn="ctr"/>
            <a:r>
              <a:rPr lang="en-US" altLang="ja-JP" sz="2000" dirty="0">
                <a:solidFill>
                  <a:schemeClr val="tx1"/>
                </a:solidFill>
                <a:latin typeface="Meiryo" panose="020B0604030504040204" pitchFamily="34" charset="-128"/>
                <a:ea typeface="Meiryo" panose="020B0604030504040204" pitchFamily="34" charset="-128"/>
              </a:rPr>
              <a:t>analysis; VOI)</a:t>
            </a:r>
            <a:endParaRPr lang="ja-JP" altLang="en-US" sz="2000" dirty="0">
              <a:solidFill>
                <a:schemeClr val="tx1"/>
              </a:solidFill>
              <a:latin typeface="Meiryo" panose="020B0604030504040204" pitchFamily="34" charset="-128"/>
              <a:ea typeface="Meiryo" panose="020B0604030504040204" pitchFamily="34" charset="-128"/>
            </a:endParaRPr>
          </a:p>
        </p:txBody>
      </p:sp>
      <p:grpSp>
        <p:nvGrpSpPr>
          <p:cNvPr id="30" name="Group 29">
            <a:extLst>
              <a:ext uri="{FF2B5EF4-FFF2-40B4-BE49-F238E27FC236}">
                <a16:creationId xmlns:a16="http://schemas.microsoft.com/office/drawing/2014/main" id="{6BAEB167-A189-F4F8-8FEB-FE7708F25A40}"/>
              </a:ext>
            </a:extLst>
          </p:cNvPr>
          <p:cNvGrpSpPr/>
          <p:nvPr/>
        </p:nvGrpSpPr>
        <p:grpSpPr>
          <a:xfrm>
            <a:off x="8597800" y="2724378"/>
            <a:ext cx="2430635" cy="1853282"/>
            <a:chOff x="8597800" y="2862923"/>
            <a:chExt cx="2430635" cy="1853282"/>
          </a:xfrm>
        </p:grpSpPr>
        <p:grpSp>
          <p:nvGrpSpPr>
            <p:cNvPr id="11" name="Group 10">
              <a:extLst>
                <a:ext uri="{FF2B5EF4-FFF2-40B4-BE49-F238E27FC236}">
                  <a16:creationId xmlns:a16="http://schemas.microsoft.com/office/drawing/2014/main" id="{686E533D-6EB8-851E-5AFE-284D8F3FCF6F}"/>
                </a:ext>
              </a:extLst>
            </p:cNvPr>
            <p:cNvGrpSpPr/>
            <p:nvPr/>
          </p:nvGrpSpPr>
          <p:grpSpPr>
            <a:xfrm>
              <a:off x="8597800" y="2862923"/>
              <a:ext cx="2430635" cy="1853282"/>
              <a:chOff x="8567512" y="2148153"/>
              <a:chExt cx="2430635" cy="1853282"/>
            </a:xfrm>
          </p:grpSpPr>
          <p:sp>
            <p:nvSpPr>
              <p:cNvPr id="13" name="Isosceles Triangle 24">
                <a:extLst>
                  <a:ext uri="{FF2B5EF4-FFF2-40B4-BE49-F238E27FC236}">
                    <a16:creationId xmlns:a16="http://schemas.microsoft.com/office/drawing/2014/main" id="{A19C8188-0A8B-0719-1FB5-D256494FEC84}"/>
                  </a:ext>
                </a:extLst>
              </p:cNvPr>
              <p:cNvSpPr/>
              <p:nvPr/>
            </p:nvSpPr>
            <p:spPr>
              <a:xfrm>
                <a:off x="8861549" y="2546492"/>
                <a:ext cx="1744397" cy="826760"/>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bg1"/>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5" name="Straight Arrow Connector 14">
                <a:extLst>
                  <a:ext uri="{FF2B5EF4-FFF2-40B4-BE49-F238E27FC236}">
                    <a16:creationId xmlns:a16="http://schemas.microsoft.com/office/drawing/2014/main" id="{46E36EF7-8328-1424-2F41-F9072C4AEF0E}"/>
                  </a:ext>
                </a:extLst>
              </p:cNvPr>
              <p:cNvCxnSpPr>
                <a:cxnSpLocks/>
                <a:stCxn id="13" idx="0"/>
              </p:cNvCxnSpPr>
              <p:nvPr/>
            </p:nvCxnSpPr>
            <p:spPr>
              <a:xfrm flipV="1">
                <a:off x="8861549" y="2489858"/>
                <a:ext cx="13433" cy="87008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5CB3DF6-E491-C0A8-B998-C1503FEF7569}"/>
                  </a:ext>
                </a:extLst>
              </p:cNvPr>
              <p:cNvSpPr/>
              <p:nvPr/>
            </p:nvSpPr>
            <p:spPr>
              <a:xfrm>
                <a:off x="8567512" y="2567917"/>
                <a:ext cx="176493" cy="7193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確率</a:t>
                </a:r>
                <a:endParaRPr lang="en-US" dirty="0">
                  <a:solidFill>
                    <a:schemeClr val="tx1"/>
                  </a:solidFill>
                  <a:latin typeface="Meiryo UI" panose="020B0604030504040204" pitchFamily="50" charset="-128"/>
                  <a:ea typeface="Meiryo UI" panose="020B0604030504040204" pitchFamily="50" charset="-128"/>
                </a:endParaRPr>
              </a:p>
            </p:txBody>
          </p:sp>
          <p:sp>
            <p:nvSpPr>
              <p:cNvPr id="22" name="Rectangle 21">
                <a:extLst>
                  <a:ext uri="{FF2B5EF4-FFF2-40B4-BE49-F238E27FC236}">
                    <a16:creationId xmlns:a16="http://schemas.microsoft.com/office/drawing/2014/main" id="{EE7DB821-D0E7-713B-C801-27981CD0349E}"/>
                  </a:ext>
                </a:extLst>
              </p:cNvPr>
              <p:cNvSpPr/>
              <p:nvPr/>
            </p:nvSpPr>
            <p:spPr>
              <a:xfrm>
                <a:off x="8633856"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Meiryo UI" panose="020B0604030504040204" pitchFamily="50" charset="-128"/>
                    <a:ea typeface="Meiryo UI" panose="020B0604030504040204" pitchFamily="50" charset="-128"/>
                  </a:rPr>
                  <a:t>0.5</a:t>
                </a:r>
                <a:endParaRPr lang="en-US" dirty="0">
                  <a:solidFill>
                    <a:schemeClr val="tx1"/>
                  </a:solidFill>
                  <a:latin typeface="Meiryo UI" panose="020B0604030504040204" pitchFamily="50" charset="-128"/>
                  <a:ea typeface="Meiryo UI" panose="020B0604030504040204" pitchFamily="50" charset="-128"/>
                </a:endParaRPr>
              </a:p>
            </p:txBody>
          </p:sp>
          <p:sp>
            <p:nvSpPr>
              <p:cNvPr id="23" name="Rectangle 22">
                <a:extLst>
                  <a:ext uri="{FF2B5EF4-FFF2-40B4-BE49-F238E27FC236}">
                    <a16:creationId xmlns:a16="http://schemas.microsoft.com/office/drawing/2014/main" id="{A3C81FDA-3D7D-C04A-6192-21A0F1881045}"/>
                  </a:ext>
                </a:extLst>
              </p:cNvPr>
              <p:cNvSpPr/>
              <p:nvPr/>
            </p:nvSpPr>
            <p:spPr>
              <a:xfrm>
                <a:off x="9365381" y="3418668"/>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a:t>
                </a:r>
              </a:p>
            </p:txBody>
          </p:sp>
          <p:sp>
            <p:nvSpPr>
              <p:cNvPr id="24" name="Rectangle 23">
                <a:extLst>
                  <a:ext uri="{FF2B5EF4-FFF2-40B4-BE49-F238E27FC236}">
                    <a16:creationId xmlns:a16="http://schemas.microsoft.com/office/drawing/2014/main" id="{53576DCE-16BB-4872-93B6-BC1644CE20C2}"/>
                  </a:ext>
                </a:extLst>
              </p:cNvPr>
              <p:cNvSpPr/>
              <p:nvPr/>
            </p:nvSpPr>
            <p:spPr>
              <a:xfrm>
                <a:off x="10171875" y="3429000"/>
                <a:ext cx="826272" cy="335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1.5</a:t>
                </a:r>
              </a:p>
            </p:txBody>
          </p:sp>
          <p:sp>
            <p:nvSpPr>
              <p:cNvPr id="25" name="Rectangle 24">
                <a:extLst>
                  <a:ext uri="{FF2B5EF4-FFF2-40B4-BE49-F238E27FC236}">
                    <a16:creationId xmlns:a16="http://schemas.microsoft.com/office/drawing/2014/main" id="{18A55CA3-FA3C-F48D-A21F-9A2BD25E75DD}"/>
                  </a:ext>
                </a:extLst>
              </p:cNvPr>
              <p:cNvSpPr/>
              <p:nvPr/>
            </p:nvSpPr>
            <p:spPr>
              <a:xfrm>
                <a:off x="8717108" y="3723978"/>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UI" panose="020B0604030504040204" pitchFamily="50" charset="-128"/>
                    <a:ea typeface="Meiryo UI" panose="020B0604030504040204" pitchFamily="50" charset="-128"/>
                  </a:rPr>
                  <a:t>B</a:t>
                </a:r>
                <a:r>
                  <a:rPr lang="ja-JP" altLang="en-US" dirty="0">
                    <a:solidFill>
                      <a:schemeClr val="tx1"/>
                    </a:solidFill>
                    <a:latin typeface="Meiryo UI" panose="020B0604030504040204" pitchFamily="50" charset="-128"/>
                    <a:ea typeface="Meiryo UI" panose="020B0604030504040204" pitchFamily="50" charset="-128"/>
                  </a:rPr>
                  <a:t>と比べた</a:t>
                </a:r>
                <a:r>
                  <a:rPr lang="en-US" dirty="0">
                    <a:solidFill>
                      <a:schemeClr val="tx1"/>
                    </a:solidFill>
                    <a:latin typeface="Meiryo UI" panose="020B0604030504040204" pitchFamily="50" charset="-128"/>
                    <a:ea typeface="Meiryo UI" panose="020B0604030504040204" pitchFamily="50" charset="-128"/>
                  </a:rPr>
                  <a:t>A</a:t>
                </a:r>
                <a:r>
                  <a:rPr lang="ja-JP" altLang="en-US" dirty="0">
                    <a:solidFill>
                      <a:schemeClr val="tx1"/>
                    </a:solidFill>
                    <a:latin typeface="Meiryo UI" panose="020B0604030504040204" pitchFamily="50" charset="-128"/>
                    <a:ea typeface="Meiryo UI" panose="020B0604030504040204" pitchFamily="50" charset="-128"/>
                  </a:rPr>
                  <a:t>の有効性</a:t>
                </a:r>
                <a:endParaRPr lang="en-US" dirty="0">
                  <a:solidFill>
                    <a:schemeClr val="tx1"/>
                  </a:solidFill>
                  <a:latin typeface="Meiryo UI" panose="020B0604030504040204" pitchFamily="50" charset="-128"/>
                  <a:ea typeface="Meiryo UI" panose="020B0604030504040204" pitchFamily="50" charset="-128"/>
                </a:endParaRPr>
              </a:p>
            </p:txBody>
          </p:sp>
          <p:sp>
            <p:nvSpPr>
              <p:cNvPr id="26" name="Rectangle 25">
                <a:extLst>
                  <a:ext uri="{FF2B5EF4-FFF2-40B4-BE49-F238E27FC236}">
                    <a16:creationId xmlns:a16="http://schemas.microsoft.com/office/drawing/2014/main" id="{85646664-FFDD-E504-68FA-2CF1AE5C693F}"/>
                  </a:ext>
                </a:extLst>
              </p:cNvPr>
              <p:cNvSpPr/>
              <p:nvPr/>
            </p:nvSpPr>
            <p:spPr>
              <a:xfrm>
                <a:off x="8717108" y="2148153"/>
                <a:ext cx="2143138" cy="277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新規データ</a:t>
                </a:r>
                <a:endParaRPr lang="en-US" dirty="0">
                  <a:solidFill>
                    <a:schemeClr val="tx1"/>
                  </a:solidFill>
                  <a:latin typeface="Meiryo UI" panose="020B0604030504040204" pitchFamily="50" charset="-128"/>
                  <a:ea typeface="Meiryo UI" panose="020B0604030504040204" pitchFamily="50" charset="-128"/>
                </a:endParaRPr>
              </a:p>
            </p:txBody>
          </p:sp>
          <p:cxnSp>
            <p:nvCxnSpPr>
              <p:cNvPr id="19" name="Straight Arrow Connector 18">
                <a:extLst>
                  <a:ext uri="{FF2B5EF4-FFF2-40B4-BE49-F238E27FC236}">
                    <a16:creationId xmlns:a16="http://schemas.microsoft.com/office/drawing/2014/main" id="{A51943E1-FDEF-B1C6-0BE5-1EA4DF9D6E5B}"/>
                  </a:ext>
                </a:extLst>
              </p:cNvPr>
              <p:cNvCxnSpPr>
                <a:cxnSpLocks/>
                <a:stCxn id="13" idx="0"/>
              </p:cNvCxnSpPr>
              <p:nvPr/>
            </p:nvCxnSpPr>
            <p:spPr>
              <a:xfrm>
                <a:off x="8861549" y="3359947"/>
                <a:ext cx="1939993" cy="133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 name="Isosceles Triangle 24">
              <a:extLst>
                <a:ext uri="{FF2B5EF4-FFF2-40B4-BE49-F238E27FC236}">
                  <a16:creationId xmlns:a16="http://schemas.microsoft.com/office/drawing/2014/main" id="{DBEA3185-D1E0-9A8F-2542-822F940AD387}"/>
                </a:ext>
              </a:extLst>
            </p:cNvPr>
            <p:cNvSpPr/>
            <p:nvPr/>
          </p:nvSpPr>
          <p:spPr>
            <a:xfrm>
              <a:off x="9098614" y="3138685"/>
              <a:ext cx="1343027" cy="936031"/>
            </a:xfrm>
            <a:custGeom>
              <a:avLst/>
              <a:gdLst>
                <a:gd name="connsiteX0" fmla="*/ 0 w 1180271"/>
                <a:gd name="connsiteY0" fmla="*/ 702437 h 702437"/>
                <a:gd name="connsiteX1" fmla="*/ 590136 w 1180271"/>
                <a:gd name="connsiteY1" fmla="*/ 0 h 702437"/>
                <a:gd name="connsiteX2" fmla="*/ 1180271 w 1180271"/>
                <a:gd name="connsiteY2" fmla="*/ 702437 h 702437"/>
                <a:gd name="connsiteX3" fmla="*/ 0 w 1180271"/>
                <a:gd name="connsiteY3" fmla="*/ 702437 h 702437"/>
                <a:gd name="connsiteX0" fmla="*/ 0 w 1180271"/>
                <a:gd name="connsiteY0" fmla="*/ 702437 h 702437"/>
                <a:gd name="connsiteX1" fmla="*/ 261907 w 1180271"/>
                <a:gd name="connsiteY1" fmla="*/ 315746 h 702437"/>
                <a:gd name="connsiteX2" fmla="*/ 590136 w 1180271"/>
                <a:gd name="connsiteY2" fmla="*/ 0 h 702437"/>
                <a:gd name="connsiteX3" fmla="*/ 1180271 w 1180271"/>
                <a:gd name="connsiteY3" fmla="*/ 702437 h 702437"/>
                <a:gd name="connsiteX4" fmla="*/ 0 w 1180271"/>
                <a:gd name="connsiteY4" fmla="*/ 702437 h 70243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180271"/>
                <a:gd name="connsiteY0" fmla="*/ 621157 h 621157"/>
                <a:gd name="connsiteX1" fmla="*/ 261907 w 1180271"/>
                <a:gd name="connsiteY1" fmla="*/ 234466 h 621157"/>
                <a:gd name="connsiteX2" fmla="*/ 651096 w 1180271"/>
                <a:gd name="connsiteY2" fmla="*/ 0 h 621157"/>
                <a:gd name="connsiteX3" fmla="*/ 1180271 w 1180271"/>
                <a:gd name="connsiteY3" fmla="*/ 621157 h 621157"/>
                <a:gd name="connsiteX4" fmla="*/ 0 w 1180271"/>
                <a:gd name="connsiteY4" fmla="*/ 621157 h 621157"/>
                <a:gd name="connsiteX0" fmla="*/ 0 w 1259636"/>
                <a:gd name="connsiteY0" fmla="*/ 621157 h 621157"/>
                <a:gd name="connsiteX1" fmla="*/ 261907 w 1259636"/>
                <a:gd name="connsiteY1" fmla="*/ 234466 h 621157"/>
                <a:gd name="connsiteX2" fmla="*/ 651096 w 1259636"/>
                <a:gd name="connsiteY2" fmla="*/ 0 h 621157"/>
                <a:gd name="connsiteX3" fmla="*/ 1115347 w 1259636"/>
                <a:gd name="connsiteY3" fmla="*/ 447826 h 621157"/>
                <a:gd name="connsiteX4" fmla="*/ 1180271 w 1259636"/>
                <a:gd name="connsiteY4" fmla="*/ 621157 h 621157"/>
                <a:gd name="connsiteX5" fmla="*/ 0 w 1259636"/>
                <a:gd name="connsiteY5" fmla="*/ 621157 h 621157"/>
                <a:gd name="connsiteX0" fmla="*/ 0 w 1274952"/>
                <a:gd name="connsiteY0" fmla="*/ 621157 h 631317"/>
                <a:gd name="connsiteX1" fmla="*/ 261907 w 1274952"/>
                <a:gd name="connsiteY1" fmla="*/ 234466 h 631317"/>
                <a:gd name="connsiteX2" fmla="*/ 651096 w 1274952"/>
                <a:gd name="connsiteY2" fmla="*/ 0 h 631317"/>
                <a:gd name="connsiteX3" fmla="*/ 1115347 w 1274952"/>
                <a:gd name="connsiteY3" fmla="*/ 447826 h 631317"/>
                <a:gd name="connsiteX4" fmla="*/ 1200591 w 1274952"/>
                <a:gd name="connsiteY4" fmla="*/ 631317 h 631317"/>
                <a:gd name="connsiteX5" fmla="*/ 0 w 1274952"/>
                <a:gd name="connsiteY5" fmla="*/ 621157 h 631317"/>
                <a:gd name="connsiteX0" fmla="*/ 0 w 1310591"/>
                <a:gd name="connsiteY0" fmla="*/ 621157 h 631317"/>
                <a:gd name="connsiteX1" fmla="*/ 261907 w 1310591"/>
                <a:gd name="connsiteY1" fmla="*/ 234466 h 631317"/>
                <a:gd name="connsiteX2" fmla="*/ 651096 w 1310591"/>
                <a:gd name="connsiteY2" fmla="*/ 0 h 631317"/>
                <a:gd name="connsiteX3" fmla="*/ 1115347 w 1310591"/>
                <a:gd name="connsiteY3" fmla="*/ 447826 h 631317"/>
                <a:gd name="connsiteX4" fmla="*/ 1241151 w 1310591"/>
                <a:gd name="connsiteY4" fmla="*/ 589767 h 631317"/>
                <a:gd name="connsiteX5" fmla="*/ 1200591 w 1310591"/>
                <a:gd name="connsiteY5" fmla="*/ 631317 h 631317"/>
                <a:gd name="connsiteX6" fmla="*/ 0 w 1310591"/>
                <a:gd name="connsiteY6" fmla="*/ 621157 h 63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10591" h="631317">
                  <a:moveTo>
                    <a:pt x="0" y="621157"/>
                  </a:moveTo>
                  <a:cubicBezTo>
                    <a:pt x="111009" y="499033"/>
                    <a:pt x="150898" y="356590"/>
                    <a:pt x="261907" y="234466"/>
                  </a:cubicBezTo>
                  <a:cubicBezTo>
                    <a:pt x="391637" y="156311"/>
                    <a:pt x="419766" y="47675"/>
                    <a:pt x="651096" y="0"/>
                  </a:cubicBezTo>
                  <a:cubicBezTo>
                    <a:pt x="779789" y="27093"/>
                    <a:pt x="1027151" y="344300"/>
                    <a:pt x="1115347" y="447826"/>
                  </a:cubicBezTo>
                  <a:cubicBezTo>
                    <a:pt x="1218919" y="546867"/>
                    <a:pt x="1226944" y="559185"/>
                    <a:pt x="1241151" y="589767"/>
                  </a:cubicBezTo>
                  <a:cubicBezTo>
                    <a:pt x="1255358" y="620349"/>
                    <a:pt x="1412679" y="626833"/>
                    <a:pt x="1200591" y="631317"/>
                  </a:cubicBezTo>
                  <a:lnTo>
                    <a:pt x="0" y="621157"/>
                  </a:lnTo>
                  <a:close/>
                </a:path>
              </a:pathLst>
            </a:cu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grpSp>
      <p:sp>
        <p:nvSpPr>
          <p:cNvPr id="31" name="Rectangle 30">
            <a:extLst>
              <a:ext uri="{FF2B5EF4-FFF2-40B4-BE49-F238E27FC236}">
                <a16:creationId xmlns:a16="http://schemas.microsoft.com/office/drawing/2014/main" id="{DB239CD8-345D-08C1-9652-59E725726C4A}"/>
              </a:ext>
            </a:extLst>
          </p:cNvPr>
          <p:cNvSpPr/>
          <p:nvPr/>
        </p:nvSpPr>
        <p:spPr>
          <a:xfrm>
            <a:off x="7942104" y="4726846"/>
            <a:ext cx="3774824" cy="420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dirty="0">
                <a:solidFill>
                  <a:schemeClr val="tx1"/>
                </a:solidFill>
                <a:latin typeface="Meiryo" panose="020B0604030504040204" pitchFamily="34" charset="-128"/>
                <a:ea typeface="Meiryo" panose="020B0604030504040204" pitchFamily="34" charset="-128"/>
              </a:rPr>
              <a:t>更に追加で研究をした時の追加情報の期待価値がわかる</a:t>
            </a:r>
          </a:p>
        </p:txBody>
      </p:sp>
    </p:spTree>
    <p:extLst>
      <p:ext uri="{BB962C8B-B14F-4D97-AF65-F5344CB8AC3E}">
        <p14:creationId xmlns:p14="http://schemas.microsoft.com/office/powerpoint/2010/main" val="30116684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61999-DFB1-467B-635F-0692BE37F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78FD3-3CB6-601D-7376-59CA703B9CED}"/>
              </a:ext>
            </a:extLst>
          </p:cNvPr>
          <p:cNvSpPr>
            <a:spLocks noGrp="1"/>
          </p:cNvSpPr>
          <p:nvPr>
            <p:ph type="title"/>
          </p:nvPr>
        </p:nvSpPr>
        <p:spPr/>
        <p:txBody>
          <a:bodyPr/>
          <a:lstStyle/>
          <a:p>
            <a:r>
              <a:rPr lang="ja-JP" altLang="en-US" dirty="0"/>
              <a:t>研究におけるユースケース</a:t>
            </a:r>
            <a:endParaRPr lang="en-US" dirty="0"/>
          </a:p>
        </p:txBody>
      </p:sp>
      <p:sp>
        <p:nvSpPr>
          <p:cNvPr id="4" name="Slide Number Placeholder 3">
            <a:extLst>
              <a:ext uri="{FF2B5EF4-FFF2-40B4-BE49-F238E27FC236}">
                <a16:creationId xmlns:a16="http://schemas.microsoft.com/office/drawing/2014/main" id="{7F1F1D85-B7F8-FD79-6675-0E7C6FB814AC}"/>
              </a:ext>
            </a:extLst>
          </p:cNvPr>
          <p:cNvSpPr>
            <a:spLocks noGrp="1"/>
          </p:cNvSpPr>
          <p:nvPr>
            <p:ph type="sldNum" sz="quarter" idx="4"/>
          </p:nvPr>
        </p:nvSpPr>
        <p:spPr/>
        <p:txBody>
          <a:bodyPr/>
          <a:lstStyle/>
          <a:p>
            <a:fld id="{B5CEABB6-07DC-46E8-9B57-56EC44A396E5}" type="slidenum">
              <a:rPr lang="en-US" smtClean="0"/>
              <a:pPr/>
              <a:t>60</a:t>
            </a:fld>
            <a:endParaRPr lang="en-US" dirty="0"/>
          </a:p>
        </p:txBody>
      </p:sp>
      <p:sp>
        <p:nvSpPr>
          <p:cNvPr id="5" name="Table Placeholder 4">
            <a:extLst>
              <a:ext uri="{FF2B5EF4-FFF2-40B4-BE49-F238E27FC236}">
                <a16:creationId xmlns:a16="http://schemas.microsoft.com/office/drawing/2014/main" id="{83AA2E6C-DE3D-FE67-6DCB-09FFAEE40E23}"/>
              </a:ext>
            </a:extLst>
          </p:cNvPr>
          <p:cNvSpPr>
            <a:spLocks noGrp="1"/>
          </p:cNvSpPr>
          <p:nvPr>
            <p:ph type="tbl" sz="quarter" idx="11"/>
          </p:nvPr>
        </p:nvSpPr>
        <p:spPr/>
        <p:txBody>
          <a:bodyPr/>
          <a:lstStyle/>
          <a:p>
            <a:r>
              <a:rPr lang="ja-JP" altLang="en-US" dirty="0"/>
              <a:t>英国の国民保健サービス</a:t>
            </a:r>
            <a:r>
              <a:rPr lang="en-US" altLang="ja-JP" dirty="0"/>
              <a:t>(NHS)</a:t>
            </a:r>
            <a:r>
              <a:rPr lang="ja-JP" altLang="en-US" dirty="0"/>
              <a:t>で実施された情報の価値分析の事例</a:t>
            </a:r>
          </a:p>
        </p:txBody>
      </p:sp>
      <p:grpSp>
        <p:nvGrpSpPr>
          <p:cNvPr id="6" name="Group 5">
            <a:extLst>
              <a:ext uri="{FF2B5EF4-FFF2-40B4-BE49-F238E27FC236}">
                <a16:creationId xmlns:a16="http://schemas.microsoft.com/office/drawing/2014/main" id="{7DE5625C-CF2D-BACC-009A-C121097B1B33}"/>
              </a:ext>
            </a:extLst>
          </p:cNvPr>
          <p:cNvGrpSpPr/>
          <p:nvPr/>
        </p:nvGrpSpPr>
        <p:grpSpPr>
          <a:xfrm>
            <a:off x="467139" y="108959"/>
            <a:ext cx="4197304" cy="307297"/>
            <a:chOff x="562270" y="127168"/>
            <a:chExt cx="4197304" cy="307297"/>
          </a:xfrm>
        </p:grpSpPr>
        <p:sp>
          <p:nvSpPr>
            <p:cNvPr id="7" name="Arrow: Pentagon 6">
              <a:extLst>
                <a:ext uri="{FF2B5EF4-FFF2-40B4-BE49-F238E27FC236}">
                  <a16:creationId xmlns:a16="http://schemas.microsoft.com/office/drawing/2014/main" id="{E5B6D222-DB73-4CBB-62FF-ACD0D1D1FFBE}"/>
                </a:ext>
              </a:extLst>
            </p:cNvPr>
            <p:cNvSpPr/>
            <p:nvPr/>
          </p:nvSpPr>
          <p:spPr>
            <a:xfrm>
              <a:off x="3192565" y="127168"/>
              <a:ext cx="1567009" cy="307297"/>
            </a:xfrm>
            <a:prstGeom prst="homePlat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b="1" dirty="0">
                  <a:latin typeface="Meiryo UI" panose="020B0604030504040204" pitchFamily="50" charset="-128"/>
                  <a:ea typeface="Meiryo UI" panose="020B0604030504040204" pitchFamily="50" charset="-128"/>
                </a:rPr>
                <a:t>　③ユースケース</a:t>
              </a:r>
              <a:endParaRPr lang="en-US" altLang="ja-JP" sz="1600" b="1" dirty="0">
                <a:latin typeface="Meiryo UI" panose="020B0604030504040204" pitchFamily="50" charset="-128"/>
                <a:ea typeface="Meiryo UI" panose="020B0604030504040204" pitchFamily="50" charset="-128"/>
              </a:endParaRPr>
            </a:p>
          </p:txBody>
        </p:sp>
        <p:sp>
          <p:nvSpPr>
            <p:cNvPr id="8" name="Arrow: Pentagon 7">
              <a:extLst>
                <a:ext uri="{FF2B5EF4-FFF2-40B4-BE49-F238E27FC236}">
                  <a16:creationId xmlns:a16="http://schemas.microsoft.com/office/drawing/2014/main" id="{7C805024-FC6E-F5F3-E9CD-0B0FCC918E4D}"/>
                </a:ext>
              </a:extLst>
            </p:cNvPr>
            <p:cNvSpPr/>
            <p:nvPr/>
          </p:nvSpPr>
          <p:spPr>
            <a:xfrm>
              <a:off x="1817136"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 ②体験</a:t>
              </a:r>
              <a:endParaRPr lang="en-US" altLang="ja-JP" sz="1600" dirty="0">
                <a:latin typeface="Meiryo UI" panose="020B0604030504040204" pitchFamily="50" charset="-128"/>
                <a:ea typeface="Meiryo UI" panose="020B0604030504040204" pitchFamily="50" charset="-128"/>
              </a:endParaRPr>
            </a:p>
          </p:txBody>
        </p:sp>
        <p:sp>
          <p:nvSpPr>
            <p:cNvPr id="9" name="Arrow: Pentagon 8">
              <a:extLst>
                <a:ext uri="{FF2B5EF4-FFF2-40B4-BE49-F238E27FC236}">
                  <a16:creationId xmlns:a16="http://schemas.microsoft.com/office/drawing/2014/main" id="{E618BDD2-49F1-B1E0-2ECA-8567541B3579}"/>
                </a:ext>
              </a:extLst>
            </p:cNvPr>
            <p:cNvSpPr/>
            <p:nvPr/>
          </p:nvSpPr>
          <p:spPr>
            <a:xfrm>
              <a:off x="562270" y="127168"/>
              <a:ext cx="1567009" cy="307297"/>
            </a:xfrm>
            <a:prstGeom prst="homePlate">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600" dirty="0">
                  <a:latin typeface="Meiryo UI" panose="020B0604030504040204" pitchFamily="50" charset="-128"/>
                  <a:ea typeface="Meiryo UI" panose="020B0604030504040204" pitchFamily="50" charset="-128"/>
                </a:rPr>
                <a:t>①定義・分析</a:t>
              </a:r>
              <a:endParaRPr lang="en-US" altLang="ja-JP" sz="1600" dirty="0">
                <a:latin typeface="Meiryo UI" panose="020B0604030504040204" pitchFamily="50" charset="-128"/>
                <a:ea typeface="Meiryo UI" panose="020B0604030504040204" pitchFamily="50" charset="-128"/>
              </a:endParaRPr>
            </a:p>
          </p:txBody>
        </p:sp>
      </p:grpSp>
      <p:sp>
        <p:nvSpPr>
          <p:cNvPr id="3" name="Table Placeholder 2">
            <a:extLst>
              <a:ext uri="{FF2B5EF4-FFF2-40B4-BE49-F238E27FC236}">
                <a16:creationId xmlns:a16="http://schemas.microsoft.com/office/drawing/2014/main" id="{E9AA4689-7930-CEED-3B91-BBE14F7DD6A6}"/>
              </a:ext>
            </a:extLst>
          </p:cNvPr>
          <p:cNvSpPr>
            <a:spLocks noGrp="1"/>
          </p:cNvSpPr>
          <p:nvPr>
            <p:ph type="tbl" sz="quarter" idx="10"/>
          </p:nvPr>
        </p:nvSpPr>
        <p:spPr>
          <a:xfrm>
            <a:off x="467139" y="1938131"/>
            <a:ext cx="11221278" cy="4622672"/>
          </a:xfrm>
        </p:spPr>
        <p:txBody>
          <a:bodyPr/>
          <a:lstStyle/>
          <a:p>
            <a:r>
              <a:rPr lang="ja-JP" altLang="en-US" dirty="0"/>
              <a:t>外科手術後の感染抑制を目的とした被覆材比較</a:t>
            </a:r>
            <a:r>
              <a:rPr lang="en-US" altLang="ja-JP" dirty="0"/>
              <a:t>RCT</a:t>
            </a:r>
            <a:r>
              <a:rPr lang="en-US" altLang="ja-JP" sz="2000" dirty="0"/>
              <a:t>(Reeves et al. 2019)</a:t>
            </a:r>
            <a:endParaRPr lang="en-US" dirty="0"/>
          </a:p>
          <a:p>
            <a:pPr lvl="1">
              <a:lnSpc>
                <a:spcPct val="100000"/>
              </a:lnSpc>
              <a:spcBef>
                <a:spcPts val="800"/>
              </a:spcBef>
            </a:pPr>
            <a:r>
              <a:rPr lang="ja-JP" altLang="en-US" dirty="0"/>
              <a:t>手術後の感染抑制のために「単純な被覆材」「医療用接着剤を用いた被覆」　「被覆なし」のどれが効果的かを調べる大規模</a:t>
            </a:r>
            <a:r>
              <a:rPr lang="en-US" altLang="ja-JP" dirty="0"/>
              <a:t>RCT</a:t>
            </a:r>
            <a:r>
              <a:rPr lang="ja-JP" altLang="en-US" dirty="0"/>
              <a:t>をすべきか</a:t>
            </a:r>
            <a:endParaRPr lang="en-US" altLang="ja-JP" dirty="0"/>
          </a:p>
          <a:p>
            <a:pPr lvl="1">
              <a:lnSpc>
                <a:spcPct val="100000"/>
              </a:lnSpc>
              <a:spcBef>
                <a:spcPts val="800"/>
              </a:spcBef>
            </a:pPr>
            <a:r>
              <a:rPr lang="en-US" altLang="ja-JP" dirty="0"/>
              <a:t>Phase A:</a:t>
            </a:r>
            <a:r>
              <a:rPr lang="ja-JP" altLang="en-US" dirty="0"/>
              <a:t>メタアナリシスから得られた各被覆材選択時の術後感染抑制効果・被覆の費用・感染の費用・感染時の効用を元にモデルを作成</a:t>
            </a:r>
            <a:endParaRPr lang="en-US" altLang="ja-JP" sz="2000" dirty="0"/>
          </a:p>
          <a:p>
            <a:pPr lvl="2">
              <a:lnSpc>
                <a:spcPct val="100000"/>
              </a:lnSpc>
              <a:spcBef>
                <a:spcPts val="800"/>
              </a:spcBef>
            </a:pPr>
            <a:r>
              <a:rPr lang="ja-JP" altLang="en-US" dirty="0"/>
              <a:t>「医療用接着剤」か「被覆なし」のどちらかが費用対効果が高いという結果に</a:t>
            </a:r>
            <a:endParaRPr lang="en-US" altLang="ja-JP" dirty="0"/>
          </a:p>
          <a:p>
            <a:pPr lvl="2">
              <a:lnSpc>
                <a:spcPct val="100000"/>
              </a:lnSpc>
              <a:spcBef>
                <a:spcPts val="800"/>
              </a:spcBef>
            </a:pPr>
            <a:r>
              <a:rPr lang="ja-JP" altLang="en-US" dirty="0"/>
              <a:t>術後感染抑制効果の値の不確実性をなくすと￡</a:t>
            </a:r>
            <a:r>
              <a:rPr lang="en-US" altLang="ja-JP" dirty="0"/>
              <a:t>222/</a:t>
            </a:r>
            <a:r>
              <a:rPr lang="ja-JP" altLang="en-US" dirty="0"/>
              <a:t>傷→￡</a:t>
            </a:r>
            <a:r>
              <a:rPr lang="en-US" altLang="ja-JP" dirty="0"/>
              <a:t>23</a:t>
            </a:r>
            <a:r>
              <a:rPr lang="ja-JP" altLang="en-US" dirty="0"/>
              <a:t>億</a:t>
            </a:r>
            <a:r>
              <a:rPr lang="en-US" altLang="ja-JP" dirty="0"/>
              <a:t>/</a:t>
            </a:r>
            <a:r>
              <a:rPr lang="ja-JP" altLang="en-US" dirty="0"/>
              <a:t>人口の追加価値</a:t>
            </a:r>
            <a:endParaRPr lang="en-US" altLang="ja-JP" dirty="0"/>
          </a:p>
          <a:p>
            <a:pPr lvl="1">
              <a:lnSpc>
                <a:spcPct val="100000"/>
              </a:lnSpc>
              <a:spcBef>
                <a:spcPts val="800"/>
              </a:spcBef>
            </a:pPr>
            <a:r>
              <a:rPr lang="en-US" altLang="ja-JP" dirty="0"/>
              <a:t>Phase B:</a:t>
            </a:r>
            <a:r>
              <a:rPr lang="ja-JP" altLang="en-US" dirty="0"/>
              <a:t>約</a:t>
            </a:r>
            <a:r>
              <a:rPr lang="en-US" altLang="ja-JP" dirty="0"/>
              <a:t>400</a:t>
            </a:r>
            <a:r>
              <a:rPr lang="ja-JP" altLang="en-US" dirty="0"/>
              <a:t>人での試験的</a:t>
            </a:r>
            <a:r>
              <a:rPr lang="en-US" altLang="ja-JP" dirty="0"/>
              <a:t>RCT</a:t>
            </a:r>
            <a:r>
              <a:rPr lang="ja-JP" altLang="en-US" dirty="0"/>
              <a:t>を実施した結果でモデルを再計算</a:t>
            </a:r>
            <a:endParaRPr lang="en-US" altLang="ja-JP" dirty="0"/>
          </a:p>
          <a:p>
            <a:pPr lvl="2">
              <a:lnSpc>
                <a:spcPct val="100000"/>
              </a:lnSpc>
              <a:spcBef>
                <a:spcPts val="800"/>
              </a:spcBef>
            </a:pPr>
            <a:r>
              <a:rPr lang="ja-JP" altLang="en-US" dirty="0"/>
              <a:t>「医療用接着剤」が最も費用対効果が高い確率が高い</a:t>
            </a:r>
            <a:endParaRPr lang="en-US" altLang="ja-JP" dirty="0"/>
          </a:p>
          <a:p>
            <a:pPr lvl="2">
              <a:lnSpc>
                <a:spcPct val="100000"/>
              </a:lnSpc>
              <a:spcBef>
                <a:spcPts val="800"/>
              </a:spcBef>
            </a:pPr>
            <a:r>
              <a:rPr lang="ja-JP" altLang="en-US" dirty="0"/>
              <a:t>術後感染抑制効果の値の不確実性をなくすと￡</a:t>
            </a:r>
            <a:r>
              <a:rPr lang="en-US" altLang="ja-JP" dirty="0"/>
              <a:t>177/</a:t>
            </a:r>
            <a:r>
              <a:rPr lang="ja-JP" altLang="en-US" dirty="0"/>
              <a:t>傷→￡</a:t>
            </a:r>
            <a:r>
              <a:rPr lang="en-US" altLang="ja-JP" dirty="0"/>
              <a:t>18</a:t>
            </a:r>
            <a:r>
              <a:rPr lang="ja-JP" altLang="en-US" dirty="0"/>
              <a:t>億</a:t>
            </a:r>
            <a:r>
              <a:rPr lang="en-US" altLang="ja-JP" dirty="0"/>
              <a:t>/</a:t>
            </a:r>
            <a:r>
              <a:rPr lang="ja-JP" altLang="en-US" dirty="0"/>
              <a:t>人口の追加価値</a:t>
            </a:r>
            <a:endParaRPr lang="en-US" altLang="ja-JP" dirty="0"/>
          </a:p>
          <a:p>
            <a:pPr lvl="1">
              <a:lnSpc>
                <a:spcPct val="100000"/>
              </a:lnSpc>
              <a:spcBef>
                <a:spcPts val="800"/>
              </a:spcBef>
            </a:pPr>
            <a:endParaRPr lang="en-US" altLang="ja-JP" dirty="0"/>
          </a:p>
          <a:p>
            <a:pPr lvl="1"/>
            <a:endParaRPr lang="en-US" dirty="0"/>
          </a:p>
          <a:p>
            <a:pPr lvl="1"/>
            <a:endParaRPr lang="en-US" dirty="0"/>
          </a:p>
        </p:txBody>
      </p:sp>
      <p:sp>
        <p:nvSpPr>
          <p:cNvPr id="12" name="TextBox 11">
            <a:extLst>
              <a:ext uri="{FF2B5EF4-FFF2-40B4-BE49-F238E27FC236}">
                <a16:creationId xmlns:a16="http://schemas.microsoft.com/office/drawing/2014/main" id="{EA65D71B-8039-8DCA-5068-6FCC20FF1769}"/>
              </a:ext>
            </a:extLst>
          </p:cNvPr>
          <p:cNvSpPr txBox="1"/>
          <p:nvPr/>
        </p:nvSpPr>
        <p:spPr>
          <a:xfrm>
            <a:off x="1271392" y="6394156"/>
            <a:ext cx="10371550" cy="461665"/>
          </a:xfrm>
          <a:prstGeom prst="rect">
            <a:avLst/>
          </a:prstGeom>
          <a:noFill/>
        </p:spPr>
        <p:txBody>
          <a:bodyPr wrap="square">
            <a:spAutoFit/>
          </a:bodyPr>
          <a:lstStyle/>
          <a:p>
            <a:r>
              <a:rPr lang="en-US" sz="1200" dirty="0">
                <a:latin typeface="Meiryo" panose="020B0604030504040204" pitchFamily="34" charset="-128"/>
                <a:ea typeface="Meiryo" panose="020B0604030504040204" pitchFamily="34" charset="-128"/>
              </a:rPr>
              <a:t>Reeves BC, </a:t>
            </a:r>
            <a:r>
              <a:rPr lang="en-US" sz="1200" dirty="0" err="1">
                <a:latin typeface="Meiryo" panose="020B0604030504040204" pitchFamily="34" charset="-128"/>
                <a:ea typeface="Meiryo" panose="020B0604030504040204" pitchFamily="34" charset="-128"/>
              </a:rPr>
              <a:t>Rooshenas</a:t>
            </a:r>
            <a:r>
              <a:rPr lang="en-US" sz="1200" dirty="0">
                <a:latin typeface="Meiryo" panose="020B0604030504040204" pitchFamily="34" charset="-128"/>
                <a:ea typeface="Meiryo" panose="020B0604030504040204" pitchFamily="34" charset="-128"/>
              </a:rPr>
              <a:t> L, </a:t>
            </a:r>
            <a:r>
              <a:rPr lang="en-US" sz="1200" dirty="0" err="1">
                <a:latin typeface="Meiryo" panose="020B0604030504040204" pitchFamily="34" charset="-128"/>
                <a:ea typeface="Meiryo" panose="020B0604030504040204" pitchFamily="34" charset="-128"/>
              </a:rPr>
              <a:t>Macefield</a:t>
            </a:r>
            <a:r>
              <a:rPr lang="en-US" sz="1200" dirty="0">
                <a:latin typeface="Meiryo" panose="020B0604030504040204" pitchFamily="34" charset="-128"/>
                <a:ea typeface="Meiryo" panose="020B0604030504040204" pitchFamily="34" charset="-128"/>
              </a:rPr>
              <a:t> RC, et al. Three wound-dressing strategies to reduce surgical site infection after abdominal surgery: the Bluebelle feasibility study and pilot RCT. Health Technol Assess. 2019;23(39):1-166. doi:10.3310/hta23390</a:t>
            </a:r>
          </a:p>
        </p:txBody>
      </p:sp>
    </p:spTree>
    <p:extLst>
      <p:ext uri="{BB962C8B-B14F-4D97-AF65-F5344CB8AC3E}">
        <p14:creationId xmlns:p14="http://schemas.microsoft.com/office/powerpoint/2010/main" val="3949732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68DA-85E4-FFCF-56D9-0E0891A60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42E21-37C4-49EC-E228-3FFC01E91106}"/>
              </a:ext>
            </a:extLst>
          </p:cNvPr>
          <p:cNvSpPr>
            <a:spLocks noGrp="1"/>
          </p:cNvSpPr>
          <p:nvPr>
            <p:ph type="title"/>
          </p:nvPr>
        </p:nvSpPr>
        <p:spPr>
          <a:xfrm>
            <a:off x="467139" y="589724"/>
            <a:ext cx="11221278" cy="362776"/>
          </a:xfrm>
        </p:spPr>
        <p:txBody>
          <a:bodyPr/>
          <a:lstStyle/>
          <a:p>
            <a:r>
              <a:rPr lang="ja-JP" altLang="en-US" dirty="0"/>
              <a:t>課題</a:t>
            </a:r>
            <a:endParaRPr lang="en-US" dirty="0"/>
          </a:p>
        </p:txBody>
      </p:sp>
      <p:sp>
        <p:nvSpPr>
          <p:cNvPr id="3" name="Table Placeholder 2">
            <a:extLst>
              <a:ext uri="{FF2B5EF4-FFF2-40B4-BE49-F238E27FC236}">
                <a16:creationId xmlns:a16="http://schemas.microsoft.com/office/drawing/2014/main" id="{5B7A5731-C6FF-F8F1-5A8B-A58FE00D753F}"/>
              </a:ext>
            </a:extLst>
          </p:cNvPr>
          <p:cNvSpPr>
            <a:spLocks noGrp="1"/>
          </p:cNvSpPr>
          <p:nvPr>
            <p:ph type="tbl" sz="quarter" idx="10"/>
          </p:nvPr>
        </p:nvSpPr>
        <p:spPr/>
        <p:txBody>
          <a:bodyPr/>
          <a:lstStyle/>
          <a:p>
            <a:r>
              <a:rPr lang="ja-JP" altLang="en-US" dirty="0"/>
              <a:t>モデルの前提や分析範囲が結果に影響を与える</a:t>
            </a:r>
            <a:endParaRPr lang="en-US" altLang="ja-JP" dirty="0"/>
          </a:p>
          <a:p>
            <a:pPr lvl="1"/>
            <a:r>
              <a:rPr lang="ja-JP" altLang="en-US" sz="2000" dirty="0"/>
              <a:t>モデルの前提条件、スコープ、パラメータの取り方によって、結果は大きく左右され得る</a:t>
            </a:r>
            <a:endParaRPr lang="en-US" altLang="ja-JP" sz="2000" dirty="0"/>
          </a:p>
          <a:p>
            <a:pPr lvl="1"/>
            <a:r>
              <a:rPr lang="ja-JP" altLang="en-US" sz="2000" dirty="0"/>
              <a:t>個別具体の結果</a:t>
            </a:r>
            <a:r>
              <a:rPr lang="en-US" altLang="ja-JP" sz="2000" dirty="0"/>
              <a:t>―</a:t>
            </a:r>
            <a:r>
              <a:rPr lang="ja-JP" altLang="en-US" sz="2000" dirty="0"/>
              <a:t>「○○は費用対効果がある」といった結論</a:t>
            </a:r>
            <a:r>
              <a:rPr lang="en-US" altLang="ja-JP" sz="2000" dirty="0"/>
              <a:t>―</a:t>
            </a:r>
            <a:r>
              <a:rPr lang="ja-JP" altLang="en-US" sz="2000" dirty="0"/>
              <a:t>でなく、「○○が費用対効果を示すのは、△△や■■といった条件下である」といった前提や文脈に注目すべき</a:t>
            </a:r>
            <a:endParaRPr lang="en-US" altLang="ja-JP" sz="2000" dirty="0"/>
          </a:p>
          <a:p>
            <a:pPr lvl="1"/>
            <a:r>
              <a:rPr lang="ja-JP" altLang="en-US" sz="2000" dirty="0"/>
              <a:t>または、少し違う前提で実施した分析を比較し、それらの結果が類似している場合、結果の頑健性を示す手がかりとなる</a:t>
            </a:r>
            <a:endParaRPr lang="en-US" altLang="ja-JP" sz="2000" dirty="0"/>
          </a:p>
          <a:p>
            <a:pPr lvl="1"/>
            <a:endParaRPr lang="ja-JP" altLang="en-US" sz="2000" dirty="0"/>
          </a:p>
          <a:p>
            <a:r>
              <a:rPr lang="ja-JP" altLang="en-US" dirty="0"/>
              <a:t>効用は主観的かつ多様である</a:t>
            </a:r>
            <a:endParaRPr lang="en-US" altLang="ja-JP" dirty="0"/>
          </a:p>
          <a:p>
            <a:pPr lvl="1"/>
            <a:r>
              <a:rPr lang="ja-JP" altLang="en-US" sz="2000" dirty="0"/>
              <a:t>ある人にとって効用</a:t>
            </a:r>
            <a:r>
              <a:rPr lang="en-US" altLang="ja-JP" sz="2000" dirty="0"/>
              <a:t>0.8</a:t>
            </a:r>
            <a:r>
              <a:rPr lang="ja-JP" altLang="en-US" sz="2000" dirty="0"/>
              <a:t>と感じる状態は、別の人にとっては</a:t>
            </a:r>
            <a:r>
              <a:rPr lang="en-US" altLang="ja-JP" sz="2000" dirty="0"/>
              <a:t>0.4</a:t>
            </a:r>
            <a:r>
              <a:rPr lang="ja-JP" altLang="en-US" sz="2000" dirty="0"/>
              <a:t>と感じられるかもしれない</a:t>
            </a:r>
            <a:endParaRPr lang="en-US" altLang="ja-JP" sz="2000" dirty="0"/>
          </a:p>
          <a:p>
            <a:pPr lvl="1"/>
            <a:r>
              <a:rPr lang="ja-JP" altLang="en-US" sz="2000" dirty="0"/>
              <a:t>効用評価は個人の価値観や経験に依存しており、本質的に主観的である</a:t>
            </a:r>
            <a:endParaRPr lang="en-US" altLang="ja-JP" sz="2000" dirty="0"/>
          </a:p>
          <a:p>
            <a:pPr lvl="1"/>
            <a:r>
              <a:rPr lang="ja-JP" altLang="en-US" sz="2000" dirty="0"/>
              <a:t>代表値を使用して報告される学術論文は、あくまでも意思決定支援のための参考であり、　決して意思決定そのものを代替するものではない</a:t>
            </a:r>
          </a:p>
        </p:txBody>
      </p:sp>
      <p:sp>
        <p:nvSpPr>
          <p:cNvPr id="4" name="Slide Number Placeholder 3">
            <a:extLst>
              <a:ext uri="{FF2B5EF4-FFF2-40B4-BE49-F238E27FC236}">
                <a16:creationId xmlns:a16="http://schemas.microsoft.com/office/drawing/2014/main" id="{83DDD9DA-8EA6-1CA3-1D70-01C560263896}"/>
              </a:ext>
            </a:extLst>
          </p:cNvPr>
          <p:cNvSpPr>
            <a:spLocks noGrp="1"/>
          </p:cNvSpPr>
          <p:nvPr>
            <p:ph type="sldNum" sz="quarter" idx="4"/>
          </p:nvPr>
        </p:nvSpPr>
        <p:spPr/>
        <p:txBody>
          <a:bodyPr/>
          <a:lstStyle/>
          <a:p>
            <a:fld id="{B5CEABB6-07DC-46E8-9B57-56EC44A396E5}" type="slidenum">
              <a:rPr lang="en-US" smtClean="0"/>
              <a:pPr/>
              <a:t>61</a:t>
            </a:fld>
            <a:endParaRPr lang="en-US" dirty="0"/>
          </a:p>
        </p:txBody>
      </p:sp>
      <p:sp>
        <p:nvSpPr>
          <p:cNvPr id="5" name="Table Placeholder 4">
            <a:extLst>
              <a:ext uri="{FF2B5EF4-FFF2-40B4-BE49-F238E27FC236}">
                <a16:creationId xmlns:a16="http://schemas.microsoft.com/office/drawing/2014/main" id="{A60DCA37-AE30-E2FA-1E42-6E9E17B224AC}"/>
              </a:ext>
            </a:extLst>
          </p:cNvPr>
          <p:cNvSpPr>
            <a:spLocks noGrp="1"/>
          </p:cNvSpPr>
          <p:nvPr>
            <p:ph type="tbl" sz="quarter" idx="11"/>
          </p:nvPr>
        </p:nvSpPr>
        <p:spPr/>
        <p:txBody>
          <a:bodyPr/>
          <a:lstStyle/>
          <a:p>
            <a:r>
              <a:rPr lang="ja-JP" altLang="en-US" dirty="0"/>
              <a:t>意思決定科学はあくまでも意思決定を支援するツールに過ぎない</a:t>
            </a:r>
            <a:endParaRPr lang="en-US" dirty="0"/>
          </a:p>
        </p:txBody>
      </p:sp>
    </p:spTree>
    <p:extLst>
      <p:ext uri="{BB962C8B-B14F-4D97-AF65-F5344CB8AC3E}">
        <p14:creationId xmlns:p14="http://schemas.microsoft.com/office/powerpoint/2010/main" val="40322722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22490-2CF8-BD06-2288-D46AB742B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89FFA-EA5C-5A98-51E5-FAA1D1F15ECA}"/>
              </a:ext>
            </a:extLst>
          </p:cNvPr>
          <p:cNvSpPr>
            <a:spLocks noGrp="1"/>
          </p:cNvSpPr>
          <p:nvPr>
            <p:ph type="title"/>
          </p:nvPr>
        </p:nvSpPr>
        <p:spPr>
          <a:xfrm>
            <a:off x="467139" y="589724"/>
            <a:ext cx="11221278" cy="362776"/>
          </a:xfrm>
        </p:spPr>
        <p:txBody>
          <a:bodyPr/>
          <a:lstStyle/>
          <a:p>
            <a:r>
              <a:rPr lang="ja-JP" altLang="en-US" dirty="0"/>
              <a:t>課題</a:t>
            </a:r>
            <a:endParaRPr lang="en-US" dirty="0"/>
          </a:p>
        </p:txBody>
      </p:sp>
      <p:sp>
        <p:nvSpPr>
          <p:cNvPr id="3" name="Table Placeholder 2">
            <a:extLst>
              <a:ext uri="{FF2B5EF4-FFF2-40B4-BE49-F238E27FC236}">
                <a16:creationId xmlns:a16="http://schemas.microsoft.com/office/drawing/2014/main" id="{1E7D3AA1-5F32-CE05-1202-CE4300972B49}"/>
              </a:ext>
            </a:extLst>
          </p:cNvPr>
          <p:cNvSpPr>
            <a:spLocks noGrp="1"/>
          </p:cNvSpPr>
          <p:nvPr>
            <p:ph type="tbl" sz="quarter" idx="10"/>
          </p:nvPr>
        </p:nvSpPr>
        <p:spPr/>
        <p:txBody>
          <a:bodyPr/>
          <a:lstStyle/>
          <a:p>
            <a:r>
              <a:rPr lang="ja-JP" altLang="en-US" dirty="0"/>
              <a:t>効用尺度の測定には根本的な問題がある</a:t>
            </a:r>
            <a:endParaRPr lang="en-US" altLang="ja-JP" dirty="0"/>
          </a:p>
          <a:p>
            <a:pPr lvl="1"/>
            <a:r>
              <a:rPr lang="ja-JP" altLang="en-US" sz="2000" dirty="0"/>
              <a:t>効用値は通常０</a:t>
            </a:r>
            <a:r>
              <a:rPr lang="en-US" altLang="ja-JP" sz="2000" dirty="0"/>
              <a:t>〜</a:t>
            </a:r>
            <a:r>
              <a:rPr lang="ja-JP" altLang="en-US" sz="2000" dirty="0"/>
              <a:t>１の範囲で定義され、連続的に表現される</a:t>
            </a:r>
            <a:endParaRPr lang="en-US" altLang="ja-JP" sz="2000" dirty="0"/>
          </a:p>
          <a:p>
            <a:pPr lvl="1"/>
            <a:r>
              <a:rPr lang="ja-JP" altLang="en-US" sz="2000" dirty="0"/>
              <a:t>しかし一度「</a:t>
            </a:r>
            <a:r>
              <a:rPr lang="en-US" altLang="ja-JP" sz="2000" dirty="0"/>
              <a:t>0(</a:t>
            </a:r>
            <a:r>
              <a:rPr lang="ja-JP" altLang="en-US" sz="2000" dirty="0"/>
              <a:t>＝死</a:t>
            </a:r>
            <a:r>
              <a:rPr lang="en-US" altLang="ja-JP" sz="2000" dirty="0"/>
              <a:t>)</a:t>
            </a:r>
            <a:r>
              <a:rPr lang="ja-JP" altLang="en-US" sz="2000" dirty="0"/>
              <a:t>」に到達すると、そこから上昇することは現実的には不可能</a:t>
            </a:r>
            <a:endParaRPr lang="en-US" altLang="ja-JP" sz="2000" dirty="0"/>
          </a:p>
          <a:p>
            <a:pPr lvl="1"/>
            <a:r>
              <a:rPr lang="ja-JP" altLang="en-US" sz="2000" dirty="0"/>
              <a:t>効用０を経験した人は効用測定に参加できないため、効用測定には構造的な限界がある</a:t>
            </a:r>
            <a:endParaRPr lang="en-US" altLang="ja-JP" sz="2000" dirty="0"/>
          </a:p>
          <a:p>
            <a:pPr lvl="1"/>
            <a:endParaRPr lang="en-US" altLang="ja-JP" sz="2000" dirty="0"/>
          </a:p>
          <a:p>
            <a:r>
              <a:rPr lang="ja-JP" altLang="en-US" dirty="0"/>
              <a:t>費用対効果分析の適用範囲を拡大するには現状では限界がある</a:t>
            </a:r>
            <a:endParaRPr lang="en-US" altLang="ja-JP" dirty="0"/>
          </a:p>
          <a:p>
            <a:pPr marL="457200" lvl="1" indent="0">
              <a:buNone/>
            </a:pPr>
            <a:r>
              <a:rPr lang="ja-JP" altLang="en-US" dirty="0"/>
              <a:t>医療</a:t>
            </a:r>
            <a:endParaRPr lang="en-US" altLang="ja-JP" dirty="0"/>
          </a:p>
          <a:p>
            <a:pPr lvl="1"/>
            <a:r>
              <a:rPr lang="ja-JP" altLang="en-US" sz="2000" dirty="0"/>
              <a:t>現在、日本では主に薬価や医療機器の価格調整に使われているが、医療行為にまで適用範囲を広げることは、現行制度のもとでは難しいと考えられる</a:t>
            </a:r>
            <a:endParaRPr lang="en-US" altLang="ja-JP" sz="2000" dirty="0"/>
          </a:p>
          <a:p>
            <a:pPr lvl="1"/>
            <a:r>
              <a:rPr lang="ja-JP" altLang="en-US" sz="2000" dirty="0"/>
              <a:t>費用対効果分析の結果によって価格が上昇する可能性も理論上はあるものの、実際には価格抑制の方向に働く影響の方が大きいと見られる</a:t>
            </a:r>
            <a:endParaRPr lang="en-US" altLang="ja-JP" sz="2000" dirty="0"/>
          </a:p>
          <a:p>
            <a:pPr lvl="1"/>
            <a:r>
              <a:rPr lang="ja-JP" altLang="en-US" sz="2000" dirty="0"/>
              <a:t>日本の多くの病院が経営難に直面している現状において、費用対効果分析を単独で推進すると、診療報酬が収入源となっている病院経営を更に圧迫する恐れがある。病院経営の改善に向けた、別の制度的アプローチや支援策を共に進めることが不可欠</a:t>
            </a:r>
            <a:endParaRPr lang="en-US" sz="2000" dirty="0"/>
          </a:p>
        </p:txBody>
      </p:sp>
      <p:sp>
        <p:nvSpPr>
          <p:cNvPr id="4" name="Slide Number Placeholder 3">
            <a:extLst>
              <a:ext uri="{FF2B5EF4-FFF2-40B4-BE49-F238E27FC236}">
                <a16:creationId xmlns:a16="http://schemas.microsoft.com/office/drawing/2014/main" id="{5A230037-FA6F-87DB-B1F0-328C5D3D8BE2}"/>
              </a:ext>
            </a:extLst>
          </p:cNvPr>
          <p:cNvSpPr>
            <a:spLocks noGrp="1"/>
          </p:cNvSpPr>
          <p:nvPr>
            <p:ph type="sldNum" sz="quarter" idx="4"/>
          </p:nvPr>
        </p:nvSpPr>
        <p:spPr/>
        <p:txBody>
          <a:bodyPr/>
          <a:lstStyle/>
          <a:p>
            <a:fld id="{B5CEABB6-07DC-46E8-9B57-56EC44A396E5}" type="slidenum">
              <a:rPr lang="en-US" smtClean="0"/>
              <a:pPr/>
              <a:t>62</a:t>
            </a:fld>
            <a:endParaRPr lang="en-US" dirty="0"/>
          </a:p>
        </p:txBody>
      </p:sp>
      <p:sp>
        <p:nvSpPr>
          <p:cNvPr id="5" name="Table Placeholder 4">
            <a:extLst>
              <a:ext uri="{FF2B5EF4-FFF2-40B4-BE49-F238E27FC236}">
                <a16:creationId xmlns:a16="http://schemas.microsoft.com/office/drawing/2014/main" id="{0873FE21-9352-03EA-4F2E-99F4A2D1C060}"/>
              </a:ext>
            </a:extLst>
          </p:cNvPr>
          <p:cNvSpPr>
            <a:spLocks noGrp="1"/>
          </p:cNvSpPr>
          <p:nvPr>
            <p:ph type="tbl" sz="quarter" idx="11"/>
          </p:nvPr>
        </p:nvSpPr>
        <p:spPr/>
        <p:txBody>
          <a:bodyPr/>
          <a:lstStyle/>
          <a:p>
            <a:r>
              <a:rPr lang="ja-JP" altLang="en-US" dirty="0"/>
              <a:t>意思決定科学はあくまでも意思決定を支援するツールに過ぎない</a:t>
            </a:r>
            <a:endParaRPr lang="en-US" dirty="0"/>
          </a:p>
        </p:txBody>
      </p:sp>
    </p:spTree>
    <p:extLst>
      <p:ext uri="{BB962C8B-B14F-4D97-AF65-F5344CB8AC3E}">
        <p14:creationId xmlns:p14="http://schemas.microsoft.com/office/powerpoint/2010/main" val="735824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ACEC-4D24-5633-1BA2-9D6FF09F2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694FA-36B4-D36C-A719-933713AC5346}"/>
              </a:ext>
            </a:extLst>
          </p:cNvPr>
          <p:cNvSpPr>
            <a:spLocks noGrp="1"/>
          </p:cNvSpPr>
          <p:nvPr>
            <p:ph type="title"/>
          </p:nvPr>
        </p:nvSpPr>
        <p:spPr>
          <a:xfrm>
            <a:off x="467139" y="589724"/>
            <a:ext cx="11221278" cy="362776"/>
          </a:xfrm>
        </p:spPr>
        <p:txBody>
          <a:bodyPr/>
          <a:lstStyle/>
          <a:p>
            <a:r>
              <a:rPr lang="ja-JP" altLang="en-US" dirty="0"/>
              <a:t>課題</a:t>
            </a:r>
            <a:endParaRPr lang="en-US" dirty="0"/>
          </a:p>
        </p:txBody>
      </p:sp>
      <p:sp>
        <p:nvSpPr>
          <p:cNvPr id="3" name="Table Placeholder 2">
            <a:extLst>
              <a:ext uri="{FF2B5EF4-FFF2-40B4-BE49-F238E27FC236}">
                <a16:creationId xmlns:a16="http://schemas.microsoft.com/office/drawing/2014/main" id="{112B61B9-DF29-FBBC-B2B9-9CA394931A7D}"/>
              </a:ext>
            </a:extLst>
          </p:cNvPr>
          <p:cNvSpPr>
            <a:spLocks noGrp="1"/>
          </p:cNvSpPr>
          <p:nvPr>
            <p:ph type="tbl" sz="quarter" idx="10"/>
          </p:nvPr>
        </p:nvSpPr>
        <p:spPr/>
        <p:txBody>
          <a:bodyPr/>
          <a:lstStyle/>
          <a:p>
            <a:r>
              <a:rPr lang="ja-JP" altLang="en-US" dirty="0"/>
              <a:t>費用対効果分析の適用範囲を拡大するには現状では限界がある</a:t>
            </a:r>
            <a:endParaRPr lang="en-US" altLang="ja-JP" dirty="0"/>
          </a:p>
          <a:p>
            <a:pPr marL="457200" lvl="1" indent="0">
              <a:buNone/>
            </a:pPr>
            <a:r>
              <a:rPr lang="ja-JP" altLang="en-US" dirty="0"/>
              <a:t>研究</a:t>
            </a:r>
            <a:endParaRPr lang="en-US" altLang="ja-JP" dirty="0"/>
          </a:p>
          <a:p>
            <a:pPr lvl="1"/>
            <a:r>
              <a:rPr lang="ja-JP" altLang="en-US" sz="2000" dirty="0"/>
              <a:t>基礎研究や社会実装まで時間がかかる分野では情報の価値分析を適用しづらい。基礎研究や創薬初期段階などでは実装までに長いタイムラグがあり、不確実性が大きく推計精度も低下</a:t>
            </a:r>
            <a:endParaRPr lang="en-US" altLang="ja-JP" sz="2000" dirty="0"/>
          </a:p>
          <a:p>
            <a:pPr lvl="1"/>
            <a:r>
              <a:rPr lang="ja-JP" altLang="en-US" sz="2000" dirty="0"/>
              <a:t>経済的採算性だけで評価すべきではない研究もある。稀少疾患や難病など対象人口が小さい場合は情報の価値分析での評価が過小になると思われる。また、純粋な科学の発展のために行う研究も経済的合理性がなくても行うべきではないか</a:t>
            </a:r>
            <a:endParaRPr lang="en-US" altLang="ja-JP" sz="2000" dirty="0"/>
          </a:p>
        </p:txBody>
      </p:sp>
      <p:sp>
        <p:nvSpPr>
          <p:cNvPr id="4" name="Slide Number Placeholder 3">
            <a:extLst>
              <a:ext uri="{FF2B5EF4-FFF2-40B4-BE49-F238E27FC236}">
                <a16:creationId xmlns:a16="http://schemas.microsoft.com/office/drawing/2014/main" id="{9A610557-E0D1-8D18-6FC8-D6C1E3DBA205}"/>
              </a:ext>
            </a:extLst>
          </p:cNvPr>
          <p:cNvSpPr>
            <a:spLocks noGrp="1"/>
          </p:cNvSpPr>
          <p:nvPr>
            <p:ph type="sldNum" sz="quarter" idx="4"/>
          </p:nvPr>
        </p:nvSpPr>
        <p:spPr/>
        <p:txBody>
          <a:bodyPr/>
          <a:lstStyle/>
          <a:p>
            <a:fld id="{B5CEABB6-07DC-46E8-9B57-56EC44A396E5}" type="slidenum">
              <a:rPr lang="en-US" smtClean="0"/>
              <a:pPr/>
              <a:t>63</a:t>
            </a:fld>
            <a:endParaRPr lang="en-US" dirty="0"/>
          </a:p>
        </p:txBody>
      </p:sp>
      <p:sp>
        <p:nvSpPr>
          <p:cNvPr id="5" name="Table Placeholder 4">
            <a:extLst>
              <a:ext uri="{FF2B5EF4-FFF2-40B4-BE49-F238E27FC236}">
                <a16:creationId xmlns:a16="http://schemas.microsoft.com/office/drawing/2014/main" id="{21F0F69A-837B-9495-2EEA-A4B922C462AB}"/>
              </a:ext>
            </a:extLst>
          </p:cNvPr>
          <p:cNvSpPr>
            <a:spLocks noGrp="1"/>
          </p:cNvSpPr>
          <p:nvPr>
            <p:ph type="tbl" sz="quarter" idx="11"/>
          </p:nvPr>
        </p:nvSpPr>
        <p:spPr/>
        <p:txBody>
          <a:bodyPr/>
          <a:lstStyle/>
          <a:p>
            <a:r>
              <a:rPr lang="ja-JP" altLang="en-US" dirty="0"/>
              <a:t>意思決定科学はあくまでも意思決定を支援するツールに過ぎない</a:t>
            </a:r>
            <a:endParaRPr lang="en-US" dirty="0"/>
          </a:p>
        </p:txBody>
      </p:sp>
    </p:spTree>
    <p:extLst>
      <p:ext uri="{BB962C8B-B14F-4D97-AF65-F5344CB8AC3E}">
        <p14:creationId xmlns:p14="http://schemas.microsoft.com/office/powerpoint/2010/main" val="31920612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7C485-5FE7-22D6-80FE-781C5BFFE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BEB8-B371-42CE-6DE3-5BEC36BD91C9}"/>
              </a:ext>
            </a:extLst>
          </p:cNvPr>
          <p:cNvSpPr>
            <a:spLocks noGrp="1"/>
          </p:cNvSpPr>
          <p:nvPr>
            <p:ph type="title"/>
          </p:nvPr>
        </p:nvSpPr>
        <p:spPr>
          <a:xfrm>
            <a:off x="467139" y="589724"/>
            <a:ext cx="11221278" cy="362776"/>
          </a:xfrm>
        </p:spPr>
        <p:txBody>
          <a:bodyPr/>
          <a:lstStyle/>
          <a:p>
            <a:r>
              <a:rPr lang="ja-JP" altLang="en-US" dirty="0"/>
              <a:t>まとめ</a:t>
            </a:r>
            <a:endParaRPr lang="en-US" dirty="0"/>
          </a:p>
        </p:txBody>
      </p:sp>
      <p:sp>
        <p:nvSpPr>
          <p:cNvPr id="3" name="Table Placeholder 2">
            <a:extLst>
              <a:ext uri="{FF2B5EF4-FFF2-40B4-BE49-F238E27FC236}">
                <a16:creationId xmlns:a16="http://schemas.microsoft.com/office/drawing/2014/main" id="{C2953360-4C08-D056-879E-26507E0334A4}"/>
              </a:ext>
            </a:extLst>
          </p:cNvPr>
          <p:cNvSpPr>
            <a:spLocks noGrp="1"/>
          </p:cNvSpPr>
          <p:nvPr>
            <p:ph type="tbl" sz="quarter" idx="10"/>
          </p:nvPr>
        </p:nvSpPr>
        <p:spPr/>
        <p:txBody>
          <a:bodyPr/>
          <a:lstStyle/>
          <a:p>
            <a:r>
              <a:rPr lang="ja-JP" altLang="en-US" dirty="0"/>
              <a:t>意思決定科学は、効果・費用・不確実性を定量的に整理し、最適な選択肢を導くための学際的な手法</a:t>
            </a:r>
            <a:endParaRPr lang="en-US" altLang="ja-JP" dirty="0"/>
          </a:p>
          <a:p>
            <a:endParaRPr lang="en-US" altLang="ja-JP" dirty="0"/>
          </a:p>
          <a:p>
            <a:r>
              <a:rPr lang="ja-JP" altLang="en-US" dirty="0"/>
              <a:t>医療分野では、検診ガイドラインの策定や薬価の見直しなど、政策の意思決定の補助として活用されている</a:t>
            </a:r>
            <a:endParaRPr lang="en-US" altLang="ja-JP" dirty="0"/>
          </a:p>
          <a:p>
            <a:endParaRPr lang="en-US" altLang="ja-JP" dirty="0"/>
          </a:p>
          <a:p>
            <a:r>
              <a:rPr lang="ja-JP" altLang="en-US" dirty="0"/>
              <a:t>分析の結果は唯一の正解ではなく「どの条件下で、どの選択が合理的か」を整理したもの。意思決定の対話や合意形成を支援するための「道具」として使うことが重要</a:t>
            </a:r>
            <a:endParaRPr lang="en-US" altLang="ja-JP" sz="2000" dirty="0"/>
          </a:p>
        </p:txBody>
      </p:sp>
      <p:sp>
        <p:nvSpPr>
          <p:cNvPr id="4" name="Slide Number Placeholder 3">
            <a:extLst>
              <a:ext uri="{FF2B5EF4-FFF2-40B4-BE49-F238E27FC236}">
                <a16:creationId xmlns:a16="http://schemas.microsoft.com/office/drawing/2014/main" id="{AF4A928B-2F80-0F08-D960-4E5B87E17936}"/>
              </a:ext>
            </a:extLst>
          </p:cNvPr>
          <p:cNvSpPr>
            <a:spLocks noGrp="1"/>
          </p:cNvSpPr>
          <p:nvPr>
            <p:ph type="sldNum" sz="quarter" idx="4"/>
          </p:nvPr>
        </p:nvSpPr>
        <p:spPr/>
        <p:txBody>
          <a:bodyPr/>
          <a:lstStyle/>
          <a:p>
            <a:fld id="{B5CEABB6-07DC-46E8-9B57-56EC44A396E5}" type="slidenum">
              <a:rPr lang="en-US" smtClean="0"/>
              <a:pPr/>
              <a:t>64</a:t>
            </a:fld>
            <a:endParaRPr lang="en-US" dirty="0"/>
          </a:p>
        </p:txBody>
      </p:sp>
      <p:sp>
        <p:nvSpPr>
          <p:cNvPr id="5" name="Table Placeholder 4">
            <a:extLst>
              <a:ext uri="{FF2B5EF4-FFF2-40B4-BE49-F238E27FC236}">
                <a16:creationId xmlns:a16="http://schemas.microsoft.com/office/drawing/2014/main" id="{D725C768-B217-8BF5-DAE8-99C615C0E060}"/>
              </a:ext>
            </a:extLst>
          </p:cNvPr>
          <p:cNvSpPr>
            <a:spLocks noGrp="1"/>
          </p:cNvSpPr>
          <p:nvPr>
            <p:ph type="tbl" sz="quarter" idx="11"/>
          </p:nvPr>
        </p:nvSpPr>
        <p:spPr/>
        <p:txBody>
          <a:bodyPr/>
          <a:lstStyle/>
          <a:p>
            <a:endParaRPr lang="en-US" dirty="0"/>
          </a:p>
        </p:txBody>
      </p:sp>
    </p:spTree>
    <p:extLst>
      <p:ext uri="{BB962C8B-B14F-4D97-AF65-F5344CB8AC3E}">
        <p14:creationId xmlns:p14="http://schemas.microsoft.com/office/powerpoint/2010/main" val="34636536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091AF01-3EAC-1A2D-E3FC-FDD0D1EC23C6}"/>
              </a:ext>
            </a:extLst>
          </p:cNvPr>
          <p:cNvSpPr>
            <a:spLocks noGrp="1"/>
          </p:cNvSpPr>
          <p:nvPr>
            <p:ph type="title"/>
          </p:nvPr>
        </p:nvSpPr>
        <p:spPr/>
        <p:txBody>
          <a:bodyPr>
            <a:normAutofit/>
          </a:bodyPr>
          <a:lstStyle/>
          <a:p>
            <a:r>
              <a:rPr lang="ja-JP" altLang="en-US" sz="4400" dirty="0"/>
              <a:t>ご清聴ありがとう</a:t>
            </a:r>
            <a:br>
              <a:rPr lang="en-US" altLang="ja-JP" sz="4400" dirty="0"/>
            </a:br>
            <a:r>
              <a:rPr lang="ja-JP" altLang="en-US" sz="4400" dirty="0"/>
              <a:t>ございました</a:t>
            </a:r>
            <a:endParaRPr lang="en-US" sz="4400" dirty="0"/>
          </a:p>
        </p:txBody>
      </p:sp>
      <p:sp>
        <p:nvSpPr>
          <p:cNvPr id="4" name="Slide Number Placeholder 3">
            <a:extLst>
              <a:ext uri="{FF2B5EF4-FFF2-40B4-BE49-F238E27FC236}">
                <a16:creationId xmlns:a16="http://schemas.microsoft.com/office/drawing/2014/main" id="{25977C92-B112-3017-1E4D-F3693FAB2E2D}"/>
              </a:ext>
            </a:extLst>
          </p:cNvPr>
          <p:cNvSpPr>
            <a:spLocks noGrp="1"/>
          </p:cNvSpPr>
          <p:nvPr>
            <p:ph type="sldNum" sz="quarter" idx="4294967295"/>
          </p:nvPr>
        </p:nvSpPr>
        <p:spPr>
          <a:xfrm>
            <a:off x="11560175" y="6561138"/>
            <a:ext cx="631825" cy="295275"/>
          </a:xfrm>
        </p:spPr>
        <p:txBody>
          <a:bodyPr/>
          <a:lstStyle/>
          <a:p>
            <a:fld id="{B5CEABB6-07DC-46E8-9B57-56EC44A396E5}" type="slidenum">
              <a:rPr lang="en-US" smtClean="0"/>
              <a:pPr/>
              <a:t>65</a:t>
            </a:fld>
            <a:endParaRPr lang="en-US" dirty="0"/>
          </a:p>
        </p:txBody>
      </p:sp>
      <p:sp>
        <p:nvSpPr>
          <p:cNvPr id="3" name="Content Placeholder 2">
            <a:extLst>
              <a:ext uri="{FF2B5EF4-FFF2-40B4-BE49-F238E27FC236}">
                <a16:creationId xmlns:a16="http://schemas.microsoft.com/office/drawing/2014/main" id="{5CFB941B-11E6-EEE8-32BB-D87BA40B6F4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06666977"/>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tx1"/>
            </a:solidFill>
            <a:latin typeface="Meiryo UI" panose="020B0604030504040204" pitchFamily="50" charset="-128"/>
            <a:ea typeface="Meiryo UI" panose="020B0604030504040204"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006ef7e9-e438-4bc7-8ed6-04359ef1fa5d" xsi:nil="true"/>
    <_activity xmlns="006ef7e9-e438-4bc7-8ed6-04359ef1fa5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0B30E212BAFC4FA7534AFFB67A36C3" ma:contentTypeVersion="17" ma:contentTypeDescription="Create a new document." ma:contentTypeScope="" ma:versionID="1295e896256cba98299c08d19fe3ad13">
  <xsd:schema xmlns:xsd="http://www.w3.org/2001/XMLSchema" xmlns:xs="http://www.w3.org/2001/XMLSchema" xmlns:p="http://schemas.microsoft.com/office/2006/metadata/properties" xmlns:ns3="006ef7e9-e438-4bc7-8ed6-04359ef1fa5d" xmlns:ns4="0fc30df0-37aa-4ddc-82ec-f47591415e12" targetNamespace="http://schemas.microsoft.com/office/2006/metadata/properties" ma:root="true" ma:fieldsID="8e9751099d4fa8ee5db177a2b2141a23" ns3:_="" ns4:_="">
    <xsd:import namespace="006ef7e9-e438-4bc7-8ed6-04359ef1fa5d"/>
    <xsd:import namespace="0fc30df0-37aa-4ddc-82ec-f47591415e1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6ef7e9-e438-4bc7-8ed6-04359ef1fa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fc30df0-37aa-4ddc-82ec-f47591415e1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B045227-5724-4DBF-9712-031B1BFB2C3C}">
  <ds:schemaRefs>
    <ds:schemaRef ds:uri="http://schemas.microsoft.com/office/2006/documentManagement/types"/>
    <ds:schemaRef ds:uri="http://schemas.microsoft.com/office/2006/metadata/properties"/>
    <ds:schemaRef ds:uri="006ef7e9-e438-4bc7-8ed6-04359ef1fa5d"/>
    <ds:schemaRef ds:uri="http://purl.org/dc/elements/1.1/"/>
    <ds:schemaRef ds:uri="http://purl.org/dc/terms/"/>
    <ds:schemaRef ds:uri="http://schemas.openxmlformats.org/package/2006/metadata/core-properties"/>
    <ds:schemaRef ds:uri="http://purl.org/dc/dcmitype/"/>
    <ds:schemaRef ds:uri="http://schemas.microsoft.com/office/infopath/2007/PartnerControls"/>
    <ds:schemaRef ds:uri="0fc30df0-37aa-4ddc-82ec-f47591415e12"/>
    <ds:schemaRef ds:uri="http://www.w3.org/XML/1998/namespace"/>
  </ds:schemaRefs>
</ds:datastoreItem>
</file>

<file path=customXml/itemProps2.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3.xml><?xml version="1.0" encoding="utf-8"?>
<ds:datastoreItem xmlns:ds="http://schemas.openxmlformats.org/officeDocument/2006/customXml" ds:itemID="{FAEEDDBB-459B-486B-89BE-31FD106964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6ef7e9-e438-4bc7-8ed6-04359ef1fa5d"/>
    <ds:schemaRef ds:uri="0fc30df0-37aa-4ddc-82ec-f47591415e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{D9ACC382-1284-438C-B537-ACFEECFC47F0}tf22318419_win32</Template>
  <TotalTime>3340</TotalTime>
  <Words>7530</Words>
  <Application>Microsoft Office PowerPoint</Application>
  <PresentationFormat>Widescreen</PresentationFormat>
  <Paragraphs>1391</Paragraphs>
  <Slides>65</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Meiryo</vt:lpstr>
      <vt:lpstr>Meiryo UI</vt:lpstr>
      <vt:lpstr>Arial</vt:lpstr>
      <vt:lpstr>Calibri</vt:lpstr>
      <vt:lpstr>Wingdings</vt:lpstr>
      <vt:lpstr>Custom</vt:lpstr>
      <vt:lpstr>PowerPoint Presentation</vt:lpstr>
      <vt:lpstr>前置き</vt:lpstr>
      <vt:lpstr>前置き</vt:lpstr>
      <vt:lpstr>意思決定をする際に何を考慮するか</vt:lpstr>
      <vt:lpstr>本講演の目的</vt:lpstr>
      <vt:lpstr>アジェンダ</vt:lpstr>
      <vt:lpstr>アジェンダ</vt:lpstr>
      <vt:lpstr>意思決定科学とは何か</vt:lpstr>
      <vt:lpstr>分析のプロセス</vt:lpstr>
      <vt:lpstr>分析のプロセス―①問題の特定・目的の設定</vt:lpstr>
      <vt:lpstr>分析のプロセス―②アウトカムの設定</vt:lpstr>
      <vt:lpstr>分析のプロセス―③シミュレーションモデルの選択</vt:lpstr>
      <vt:lpstr>分析のプロセス―④シミュレーションモデルの設計</vt:lpstr>
      <vt:lpstr>分析のプロセス―③シミュレーションモデルの選択(例)</vt:lpstr>
      <vt:lpstr>分析のプロセス―④シミュレーションモデルの設計(例)</vt:lpstr>
      <vt:lpstr>分析のプロセス―③シミュレーションモデルの選択(例)</vt:lpstr>
      <vt:lpstr>分析のプロセス―④シミュレーションモデルの設計(例)</vt:lpstr>
      <vt:lpstr>分析のプロセス―⑤モデルのインプットの選択</vt:lpstr>
      <vt:lpstr>分析のプロセス―⑤モデルのインプットの選択(例)</vt:lpstr>
      <vt:lpstr>分析のプロセス―⑥複数の選択肢をシミュレーション(例)</vt:lpstr>
      <vt:lpstr>分析のプロセス―⑦感度分析・シナリオ分析</vt:lpstr>
      <vt:lpstr>分析のプロセス―⑦感度分析・シナリオ分析(例)</vt:lpstr>
      <vt:lpstr>分析のプロセス―⑧結果の評価</vt:lpstr>
      <vt:lpstr>分析のプロセス―⑧結果の評価</vt:lpstr>
      <vt:lpstr>アジェンダ</vt:lpstr>
      <vt:lpstr>フライトの座席クラスを決める</vt:lpstr>
      <vt:lpstr>フライトの座席クラスを決める</vt:lpstr>
      <vt:lpstr>フライトの座席クラスを決める</vt:lpstr>
      <vt:lpstr>フライトの座席クラスを決めるー目的とアウトカム</vt:lpstr>
      <vt:lpstr>フライトの座席クラスを決めるー問題の構造化</vt:lpstr>
      <vt:lpstr>フライトの座席クラスを決めるー効用を測る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残念な席の快適度を測る</vt:lpstr>
      <vt:lpstr>フライトの座席クラスを決めるーインプットをあてはめる</vt:lpstr>
      <vt:lpstr>フライトの座席クラスを決めるーシミュレーション実施</vt:lpstr>
      <vt:lpstr>フライトの座席クラスを決めるーシミュレーション実施</vt:lpstr>
      <vt:lpstr>フライトの座席クラスを決めるー結果を評価する</vt:lpstr>
      <vt:lpstr>フライトの座席クラスを決めるー感度分析①</vt:lpstr>
      <vt:lpstr>フライトの座席クラスを決めるー感度分析①</vt:lpstr>
      <vt:lpstr>アジェンダ</vt:lpstr>
      <vt:lpstr>医療におけるユースケース</vt:lpstr>
      <vt:lpstr>医療におけるユースケース</vt:lpstr>
      <vt:lpstr>医療保険制度におけるユースケース</vt:lpstr>
      <vt:lpstr>医療保険制度におけるユースケース</vt:lpstr>
      <vt:lpstr>研究におけるユースケース</vt:lpstr>
      <vt:lpstr>研究におけるユースケース</vt:lpstr>
      <vt:lpstr>研究におけるユースケース</vt:lpstr>
      <vt:lpstr>研究におけるユースケース</vt:lpstr>
      <vt:lpstr>研究におけるユースケース</vt:lpstr>
      <vt:lpstr>課題</vt:lpstr>
      <vt:lpstr>課題</vt:lpstr>
      <vt:lpstr>課題</vt:lpstr>
      <vt:lpstr>まとめ</vt:lpstr>
      <vt:lpstr>ご清聴ありがとう 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Koiso, Satoshi</dc:creator>
  <cp:lastModifiedBy>Satoshi Koiso</cp:lastModifiedBy>
  <cp:revision>42</cp:revision>
  <cp:lastPrinted>2025-04-13T10:58:46Z</cp:lastPrinted>
  <dcterms:created xsi:type="dcterms:W3CDTF">2025-03-13T23:30:58Z</dcterms:created>
  <dcterms:modified xsi:type="dcterms:W3CDTF">2026-07-21T16:23:32Z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0x010100150B30E212BAFC4FA7534AFFB67A36C3</vt:lpwstr>
  </property>
</Properties>
</file>