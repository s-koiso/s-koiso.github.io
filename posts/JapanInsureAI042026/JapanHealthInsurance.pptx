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drawings/drawing1.xml" ContentType="application/vnd.openxmlformats-officedocument.drawingml.chartshape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omments/modernComment_1AC_FF39FF9B.xml" ContentType="application/vnd.ms-powerpoint.comment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drawings/drawing2.xml" ContentType="application/vnd.openxmlformats-officedocument.drawingml.chartshape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36"/>
  </p:notesMasterIdLst>
  <p:handoutMasterIdLst>
    <p:handoutMasterId r:id="rId37"/>
  </p:handoutMasterIdLst>
  <p:sldIdLst>
    <p:sldId id="314" r:id="rId5"/>
    <p:sldId id="335" r:id="rId6"/>
    <p:sldId id="330" r:id="rId7"/>
    <p:sldId id="419" r:id="rId8"/>
    <p:sldId id="337" r:id="rId9"/>
    <p:sldId id="421" r:id="rId10"/>
    <p:sldId id="422" r:id="rId11"/>
    <p:sldId id="420" r:id="rId12"/>
    <p:sldId id="423" r:id="rId13"/>
    <p:sldId id="424" r:id="rId14"/>
    <p:sldId id="425" r:id="rId15"/>
    <p:sldId id="426" r:id="rId16"/>
    <p:sldId id="427" r:id="rId17"/>
    <p:sldId id="429" r:id="rId18"/>
    <p:sldId id="430" r:id="rId19"/>
    <p:sldId id="431" r:id="rId20"/>
    <p:sldId id="432" r:id="rId21"/>
    <p:sldId id="433" r:id="rId22"/>
    <p:sldId id="437" r:id="rId23"/>
    <p:sldId id="438" r:id="rId24"/>
    <p:sldId id="434" r:id="rId25"/>
    <p:sldId id="435" r:id="rId26"/>
    <p:sldId id="436" r:id="rId27"/>
    <p:sldId id="439" r:id="rId28"/>
    <p:sldId id="440" r:id="rId29"/>
    <p:sldId id="442" r:id="rId30"/>
    <p:sldId id="443" r:id="rId31"/>
    <p:sldId id="441" r:id="rId32"/>
    <p:sldId id="328" r:id="rId33"/>
    <p:sldId id="329" r:id="rId34"/>
    <p:sldId id="428" r:id="rId35"/>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0. Introduction" id="{1F205A6F-9E27-4CCF-8CA3-554D9C5F71A9}">
          <p14:sldIdLst>
            <p14:sldId id="314"/>
            <p14:sldId id="335"/>
            <p14:sldId id="330"/>
          </p14:sldIdLst>
        </p14:section>
        <p14:section name="1. Health Insurance System" id="{D7276128-516E-4251-B69B-7256E0D9EEEC}">
          <p14:sldIdLst>
            <p14:sldId id="419"/>
            <p14:sldId id="337"/>
            <p14:sldId id="421"/>
            <p14:sldId id="422"/>
            <p14:sldId id="420"/>
            <p14:sldId id="423"/>
            <p14:sldId id="424"/>
            <p14:sldId id="425"/>
            <p14:sldId id="426"/>
            <p14:sldId id="427"/>
          </p14:sldIdLst>
        </p14:section>
        <p14:section name="2. Regulatory Approval and Reimbursement" id="{74935C46-BFF9-4BEE-9118-ECB89B8B497D}">
          <p14:sldIdLst>
            <p14:sldId id="429"/>
            <p14:sldId id="430"/>
            <p14:sldId id="431"/>
            <p14:sldId id="432"/>
            <p14:sldId id="433"/>
            <p14:sldId id="437"/>
            <p14:sldId id="438"/>
          </p14:sldIdLst>
        </p14:section>
        <p14:section name="3. AI medical devices" id="{FDC7447B-44F5-4E13-AD31-24A4969ED1B3}">
          <p14:sldIdLst>
            <p14:sldId id="434"/>
            <p14:sldId id="435"/>
            <p14:sldId id="436"/>
            <p14:sldId id="439"/>
            <p14:sldId id="440"/>
            <p14:sldId id="442"/>
            <p14:sldId id="443"/>
            <p14:sldId id="441"/>
            <p14:sldId id="328"/>
          </p14:sldIdLst>
        </p14:section>
        <p14:section name="Appendix" id="{93A2BD1C-FDE1-4851-A234-0EDCA609209F}">
          <p14:sldIdLst>
            <p14:sldId id="329"/>
            <p14:sldId id="428"/>
          </p14:sldIdLst>
        </p14:section>
      </p14:sectionLst>
    </p:ex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3A50B07-7071-0074-F045-3BC42B92FA38}" name="Koiso, Satoshi" initials="SK" userId="S::SKOISO@mgh.harvard.edu::5aae84c5-94d6-4633-b40e-a16272bfe86e" providerId="AD"/>
  <p188:author id="{518C218B-39EF-6CC7-FB75-9FE9BE289CFC}" name="Satoshi Koiso" initials="SK" userId="68d19b4a24374f71"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006E"/>
    <a:srgbClr val="C5B4E3"/>
    <a:srgbClr val="ED7D31"/>
    <a:srgbClr val="BFBFBF"/>
    <a:srgbClr val="FFC700"/>
    <a:srgbClr val="D6DCE5"/>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8717" autoAdjust="0"/>
  </p:normalViewPr>
  <p:slideViewPr>
    <p:cSldViewPr snapToGrid="0">
      <p:cViewPr varScale="1">
        <p:scale>
          <a:sx n="82" d="100"/>
          <a:sy n="82" d="100"/>
        </p:scale>
        <p:origin x="369" y="57"/>
      </p:cViewPr>
      <p:guideLst>
        <p:guide orient="horz" pos="3360"/>
        <p:guide pos="384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p:scale>
          <a:sx n="1" d="2"/>
          <a:sy n="1" d="2"/>
        </p:scale>
        <p:origin x="4524" y="95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5" Type="http://schemas.openxmlformats.org/officeDocument/2006/relationships/chartUserShapes" Target="../drawings/drawing1.xml"/><Relationship Id="rId4" Type="http://schemas.openxmlformats.org/officeDocument/2006/relationships/oleObject" Target="Book1" TargetMode="Externa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5" Type="http://schemas.openxmlformats.org/officeDocument/2006/relationships/chartUserShapes" Target="../drawings/drawing2.xml"/><Relationship Id="rId4" Type="http://schemas.openxmlformats.org/officeDocument/2006/relationships/oleObject" Target="file:///G:\My%20Drive\Career\JobTalk\CHOICE_04292026\Figure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256372408468611"/>
          <c:y val="0.1003584229390681"/>
          <c:w val="0.84111850040867175"/>
          <c:h val="0.64017055857842808"/>
        </c:manualLayout>
      </c:layout>
      <c:barChart>
        <c:barDir val="col"/>
        <c:grouping val="stacked"/>
        <c:varyColors val="0"/>
        <c:ser>
          <c:idx val="0"/>
          <c:order val="0"/>
          <c:tx>
            <c:v>75+ yo</c:v>
          </c:tx>
          <c:spPr>
            <a:solidFill>
              <a:srgbClr val="32006E"/>
            </a:solidFill>
            <a:ln>
              <a:solidFill>
                <a:srgbClr val="32006E"/>
              </a:solidFill>
            </a:ln>
            <a:effectLst/>
          </c:spPr>
          <c:invertIfNegative val="0"/>
          <c:cat>
            <c:numRef>
              <c:f>('Table 5'!$B$23,'Table 5'!$B$28:$B$41)</c:f>
              <c:numCache>
                <c:formatCode>General</c:formatCode>
                <c:ptCount val="15"/>
                <c:pt idx="0">
                  <c:v>2005</c:v>
                </c:pt>
                <c:pt idx="1">
                  <c:v>2010</c:v>
                </c:pt>
                <c:pt idx="2">
                  <c:v>2011</c:v>
                </c:pt>
                <c:pt idx="3">
                  <c:v>2012</c:v>
                </c:pt>
                <c:pt idx="4">
                  <c:v>2013</c:v>
                </c:pt>
                <c:pt idx="5">
                  <c:v>2014</c:v>
                </c:pt>
                <c:pt idx="6">
                  <c:v>2015</c:v>
                </c:pt>
                <c:pt idx="7">
                  <c:v>2016</c:v>
                </c:pt>
                <c:pt idx="8">
                  <c:v>2017</c:v>
                </c:pt>
                <c:pt idx="9">
                  <c:v>2018</c:v>
                </c:pt>
                <c:pt idx="10">
                  <c:v>2019</c:v>
                </c:pt>
                <c:pt idx="11">
                  <c:v>2020</c:v>
                </c:pt>
                <c:pt idx="12">
                  <c:v>2021</c:v>
                </c:pt>
                <c:pt idx="13">
                  <c:v>2022</c:v>
                </c:pt>
                <c:pt idx="14">
                  <c:v>2023</c:v>
                </c:pt>
              </c:numCache>
              <c:extLst/>
            </c:numRef>
          </c:cat>
          <c:val>
            <c:numRef>
              <c:f>('Table 5'!$G$23,'Table 5'!$G$28:$G$41)</c:f>
              <c:numCache>
                <c:formatCode>0</c:formatCode>
                <c:ptCount val="15"/>
                <c:pt idx="0">
                  <c:v>116000</c:v>
                </c:pt>
                <c:pt idx="1">
                  <c:v>127000</c:v>
                </c:pt>
                <c:pt idx="2">
                  <c:v>133000</c:v>
                </c:pt>
                <c:pt idx="3">
                  <c:v>137000</c:v>
                </c:pt>
                <c:pt idx="4">
                  <c:v>142000</c:v>
                </c:pt>
                <c:pt idx="5">
                  <c:v>145000</c:v>
                </c:pt>
                <c:pt idx="6">
                  <c:v>151000</c:v>
                </c:pt>
                <c:pt idx="7">
                  <c:v>154000</c:v>
                </c:pt>
                <c:pt idx="8">
                  <c:v>160000</c:v>
                </c:pt>
                <c:pt idx="9">
                  <c:v>164000</c:v>
                </c:pt>
                <c:pt idx="10">
                  <c:v>171000</c:v>
                </c:pt>
                <c:pt idx="11">
                  <c:v>166000</c:v>
                </c:pt>
                <c:pt idx="12">
                  <c:v>171000</c:v>
                </c:pt>
                <c:pt idx="13">
                  <c:v>178000</c:v>
                </c:pt>
                <c:pt idx="14">
                  <c:v>186000</c:v>
                </c:pt>
              </c:numCache>
              <c:extLst/>
            </c:numRef>
          </c:val>
          <c:extLst>
            <c:ext xmlns:c16="http://schemas.microsoft.com/office/drawing/2014/chart" uri="{C3380CC4-5D6E-409C-BE32-E72D297353CC}">
              <c16:uniqueId val="{00000000-A977-4954-BD29-7562CF262B71}"/>
            </c:ext>
          </c:extLst>
        </c:ser>
        <c:ser>
          <c:idx val="1"/>
          <c:order val="1"/>
          <c:tx>
            <c:v>&lt;75 yo</c:v>
          </c:tx>
          <c:spPr>
            <a:solidFill>
              <a:srgbClr val="C5B4E3"/>
            </a:solidFill>
            <a:ln>
              <a:solidFill>
                <a:srgbClr val="32006E"/>
              </a:solidFill>
            </a:ln>
            <a:effectLst/>
          </c:spPr>
          <c:invertIfNegative val="0"/>
          <c:cat>
            <c:numRef>
              <c:f>('Table 5'!$B$23,'Table 5'!$B$28:$B$41)</c:f>
              <c:numCache>
                <c:formatCode>General</c:formatCode>
                <c:ptCount val="15"/>
                <c:pt idx="0">
                  <c:v>2005</c:v>
                </c:pt>
                <c:pt idx="1">
                  <c:v>2010</c:v>
                </c:pt>
                <c:pt idx="2">
                  <c:v>2011</c:v>
                </c:pt>
                <c:pt idx="3">
                  <c:v>2012</c:v>
                </c:pt>
                <c:pt idx="4">
                  <c:v>2013</c:v>
                </c:pt>
                <c:pt idx="5">
                  <c:v>2014</c:v>
                </c:pt>
                <c:pt idx="6">
                  <c:v>2015</c:v>
                </c:pt>
                <c:pt idx="7">
                  <c:v>2016</c:v>
                </c:pt>
                <c:pt idx="8">
                  <c:v>2017</c:v>
                </c:pt>
                <c:pt idx="9">
                  <c:v>2018</c:v>
                </c:pt>
                <c:pt idx="10">
                  <c:v>2019</c:v>
                </c:pt>
                <c:pt idx="11">
                  <c:v>2020</c:v>
                </c:pt>
                <c:pt idx="12">
                  <c:v>2021</c:v>
                </c:pt>
                <c:pt idx="13">
                  <c:v>2022</c:v>
                </c:pt>
                <c:pt idx="14">
                  <c:v>2023</c:v>
                </c:pt>
              </c:numCache>
              <c:extLst/>
            </c:numRef>
          </c:cat>
          <c:val>
            <c:numRef>
              <c:f>('Table 5'!$H$23,'Table 5'!$H$28:$H$41)</c:f>
              <c:numCache>
                <c:formatCode>0</c:formatCode>
                <c:ptCount val="15"/>
                <c:pt idx="0">
                  <c:v>215289</c:v>
                </c:pt>
                <c:pt idx="1">
                  <c:v>247202</c:v>
                </c:pt>
                <c:pt idx="2">
                  <c:v>252850</c:v>
                </c:pt>
                <c:pt idx="3">
                  <c:v>255117</c:v>
                </c:pt>
                <c:pt idx="4">
                  <c:v>258610</c:v>
                </c:pt>
                <c:pt idx="5">
                  <c:v>263071</c:v>
                </c:pt>
                <c:pt idx="6">
                  <c:v>272644</c:v>
                </c:pt>
                <c:pt idx="7">
                  <c:v>267381</c:v>
                </c:pt>
                <c:pt idx="8">
                  <c:v>270710</c:v>
                </c:pt>
                <c:pt idx="9">
                  <c:v>269949</c:v>
                </c:pt>
                <c:pt idx="10">
                  <c:v>272895</c:v>
                </c:pt>
                <c:pt idx="11">
                  <c:v>263665</c:v>
                </c:pt>
                <c:pt idx="12">
                  <c:v>279359</c:v>
                </c:pt>
                <c:pt idx="13">
                  <c:v>288967</c:v>
                </c:pt>
                <c:pt idx="14">
                  <c:v>294915</c:v>
                </c:pt>
              </c:numCache>
              <c:extLst/>
            </c:numRef>
          </c:val>
          <c:extLst>
            <c:ext xmlns:c16="http://schemas.microsoft.com/office/drawing/2014/chart" uri="{C3380CC4-5D6E-409C-BE32-E72D297353CC}">
              <c16:uniqueId val="{00000001-A977-4954-BD29-7562CF262B71}"/>
            </c:ext>
          </c:extLst>
        </c:ser>
        <c:dLbls>
          <c:showLegendKey val="0"/>
          <c:showVal val="0"/>
          <c:showCatName val="0"/>
          <c:showSerName val="0"/>
          <c:showPercent val="0"/>
          <c:showBubbleSize val="0"/>
        </c:dLbls>
        <c:gapWidth val="150"/>
        <c:overlap val="100"/>
        <c:axId val="1329683568"/>
        <c:axId val="1329700368"/>
      </c:barChart>
      <c:lineChart>
        <c:grouping val="standard"/>
        <c:varyColors val="0"/>
        <c:ser>
          <c:idx val="2"/>
          <c:order val="2"/>
          <c:tx>
            <c:v>% GDP</c:v>
          </c:tx>
          <c:spPr>
            <a:ln w="28575" cap="rnd">
              <a:solidFill>
                <a:schemeClr val="tx1">
                  <a:lumMod val="75000"/>
                  <a:lumOff val="25000"/>
                </a:schemeClr>
              </a:solidFill>
              <a:round/>
            </a:ln>
            <a:effectLst/>
          </c:spPr>
          <c:marker>
            <c:symbol val="none"/>
          </c:marker>
          <c:cat>
            <c:numRef>
              <c:f>('Table 5'!$B$23,'Table 5'!$B$28:$B$41)</c:f>
              <c:numCache>
                <c:formatCode>General</c:formatCode>
                <c:ptCount val="15"/>
                <c:pt idx="0">
                  <c:v>2005</c:v>
                </c:pt>
                <c:pt idx="1">
                  <c:v>2010</c:v>
                </c:pt>
                <c:pt idx="2">
                  <c:v>2011</c:v>
                </c:pt>
                <c:pt idx="3">
                  <c:v>2012</c:v>
                </c:pt>
                <c:pt idx="4">
                  <c:v>2013</c:v>
                </c:pt>
                <c:pt idx="5">
                  <c:v>2014</c:v>
                </c:pt>
                <c:pt idx="6">
                  <c:v>2015</c:v>
                </c:pt>
                <c:pt idx="7">
                  <c:v>2016</c:v>
                </c:pt>
                <c:pt idx="8">
                  <c:v>2017</c:v>
                </c:pt>
                <c:pt idx="9">
                  <c:v>2018</c:v>
                </c:pt>
                <c:pt idx="10">
                  <c:v>2019</c:v>
                </c:pt>
                <c:pt idx="11">
                  <c:v>2020</c:v>
                </c:pt>
                <c:pt idx="12">
                  <c:v>2021</c:v>
                </c:pt>
                <c:pt idx="13">
                  <c:v>2022</c:v>
                </c:pt>
                <c:pt idx="14">
                  <c:v>2023</c:v>
                </c:pt>
              </c:numCache>
              <c:extLst/>
            </c:numRef>
          </c:cat>
          <c:val>
            <c:numRef>
              <c:f>('Table 5'!$O$23,'Table 5'!$O$28:$O$41)</c:f>
              <c:numCache>
                <c:formatCode>0.00</c:formatCode>
                <c:ptCount val="15"/>
                <c:pt idx="0">
                  <c:v>6.2</c:v>
                </c:pt>
                <c:pt idx="1">
                  <c:v>7.41</c:v>
                </c:pt>
                <c:pt idx="2">
                  <c:v>7.72</c:v>
                </c:pt>
                <c:pt idx="3">
                  <c:v>7.85</c:v>
                </c:pt>
                <c:pt idx="4">
                  <c:v>7.81</c:v>
                </c:pt>
                <c:pt idx="5">
                  <c:v>7.8</c:v>
                </c:pt>
                <c:pt idx="6">
                  <c:v>7.83</c:v>
                </c:pt>
                <c:pt idx="7">
                  <c:v>7.73</c:v>
                </c:pt>
                <c:pt idx="8">
                  <c:v>7.75</c:v>
                </c:pt>
                <c:pt idx="9">
                  <c:v>7.8</c:v>
                </c:pt>
                <c:pt idx="10">
                  <c:v>7.97</c:v>
                </c:pt>
                <c:pt idx="11">
                  <c:v>7.97</c:v>
                </c:pt>
                <c:pt idx="12">
                  <c:v>8.1199999999999992</c:v>
                </c:pt>
                <c:pt idx="13">
                  <c:v>8.23</c:v>
                </c:pt>
                <c:pt idx="14">
                  <c:v>8.08</c:v>
                </c:pt>
              </c:numCache>
              <c:extLst/>
            </c:numRef>
          </c:val>
          <c:smooth val="0"/>
          <c:extLst>
            <c:ext xmlns:c16="http://schemas.microsoft.com/office/drawing/2014/chart" uri="{C3380CC4-5D6E-409C-BE32-E72D297353CC}">
              <c16:uniqueId val="{00000002-A977-4954-BD29-7562CF262B71}"/>
            </c:ext>
          </c:extLst>
        </c:ser>
        <c:dLbls>
          <c:showLegendKey val="0"/>
          <c:showVal val="0"/>
          <c:showCatName val="0"/>
          <c:showSerName val="0"/>
          <c:showPercent val="0"/>
          <c:showBubbleSize val="0"/>
        </c:dLbls>
        <c:marker val="1"/>
        <c:smooth val="0"/>
        <c:axId val="1329791088"/>
        <c:axId val="1329790128"/>
      </c:lineChart>
      <c:catAx>
        <c:axId val="1329683568"/>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20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329700368"/>
        <c:crosses val="autoZero"/>
        <c:auto val="1"/>
        <c:lblAlgn val="ctr"/>
        <c:lblOffset val="100"/>
        <c:noMultiLvlLbl val="0"/>
      </c:catAx>
      <c:valAx>
        <c:axId val="1329700368"/>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329683568"/>
        <c:crosses val="autoZero"/>
        <c:crossBetween val="between"/>
      </c:valAx>
      <c:valAx>
        <c:axId val="1329790128"/>
        <c:scaling>
          <c:orientation val="minMax"/>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crossAx val="1329791088"/>
        <c:crosses val="max"/>
        <c:crossBetween val="between"/>
      </c:valAx>
      <c:catAx>
        <c:axId val="1329791088"/>
        <c:scaling>
          <c:orientation val="minMax"/>
        </c:scaling>
        <c:delete val="1"/>
        <c:axPos val="b"/>
        <c:numFmt formatCode="General" sourceLinked="1"/>
        <c:majorTickMark val="out"/>
        <c:minorTickMark val="none"/>
        <c:tickLblPos val="nextTo"/>
        <c:crossAx val="1329790128"/>
        <c:crosses val="autoZero"/>
        <c:auto val="1"/>
        <c:lblAlgn val="ctr"/>
        <c:lblOffset val="100"/>
        <c:noMultiLvlLbl val="0"/>
      </c:catAx>
      <c:spPr>
        <a:noFill/>
        <a:ln>
          <a:noFill/>
        </a:ln>
        <a:effectLst/>
      </c:spPr>
    </c:plotArea>
    <c:legend>
      <c:legendPos val="b"/>
      <c:layout>
        <c:manualLayout>
          <c:xMode val="edge"/>
          <c:yMode val="edge"/>
          <c:x val="0.22456378475880912"/>
          <c:y val="0.93168081612288933"/>
          <c:w val="0.55263067905636598"/>
          <c:h val="6.2500730170125626E-2"/>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lumMod val="75000"/>
              <a:lumOff val="25000"/>
            </a:schemeClr>
          </a:solidFill>
          <a:latin typeface="Arial" panose="020B0604020202020204" pitchFamily="34" charset="0"/>
          <a:cs typeface="Arial" panose="020B0604020202020204" pitchFamily="34" charset="0"/>
        </a:defRPr>
      </a:pPr>
      <a:endParaRPr lang="en-US"/>
    </a:p>
  </c:txPr>
  <c:externalData r:id="rId4">
    <c:autoUpdate val="0"/>
  </c:externalData>
  <c:userShapes r:id="rId5"/>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percentStacked"/>
        <c:varyColors val="0"/>
        <c:ser>
          <c:idx val="0"/>
          <c:order val="0"/>
          <c:tx>
            <c:strRef>
              <c:f>Sheet1!$B$2</c:f>
              <c:strCache>
                <c:ptCount val="1"/>
                <c:pt idx="0">
                  <c:v>National subsidy</c:v>
                </c:pt>
              </c:strCache>
            </c:strRef>
          </c:tx>
          <c:spPr>
            <a:solidFill>
              <a:srgbClr val="BFBFBF"/>
            </a:solidFill>
            <a:ln>
              <a:solidFill>
                <a:srgbClr val="32006E"/>
              </a:solidFill>
            </a:ln>
            <a:effectLst/>
          </c:spPr>
          <c:invertIfNegative val="0"/>
          <c:val>
            <c:numRef>
              <c:f>Sheet1!$C$2</c:f>
              <c:numCache>
                <c:formatCode>General</c:formatCode>
                <c:ptCount val="1"/>
                <c:pt idx="0">
                  <c:v>0.253</c:v>
                </c:pt>
              </c:numCache>
            </c:numRef>
          </c:val>
          <c:extLst>
            <c:ext xmlns:c16="http://schemas.microsoft.com/office/drawing/2014/chart" uri="{C3380CC4-5D6E-409C-BE32-E72D297353CC}">
              <c16:uniqueId val="{00000000-5F44-4197-93A6-C94F20646D62}"/>
            </c:ext>
          </c:extLst>
        </c:ser>
        <c:ser>
          <c:idx val="1"/>
          <c:order val="1"/>
          <c:tx>
            <c:strRef>
              <c:f>Sheet1!$B$3</c:f>
              <c:strCache>
                <c:ptCount val="1"/>
                <c:pt idx="0">
                  <c:v>Municipal subsidy</c:v>
                </c:pt>
              </c:strCache>
            </c:strRef>
          </c:tx>
          <c:spPr>
            <a:solidFill>
              <a:srgbClr val="BFBFBF"/>
            </a:solidFill>
            <a:ln>
              <a:solidFill>
                <a:srgbClr val="32006E"/>
              </a:solidFill>
            </a:ln>
            <a:effectLst/>
          </c:spPr>
          <c:invertIfNegative val="0"/>
          <c:val>
            <c:numRef>
              <c:f>Sheet1!$C$3</c:f>
              <c:numCache>
                <c:formatCode>General</c:formatCode>
                <c:ptCount val="1"/>
                <c:pt idx="0">
                  <c:v>0.126</c:v>
                </c:pt>
              </c:numCache>
            </c:numRef>
          </c:val>
          <c:extLst>
            <c:ext xmlns:c16="http://schemas.microsoft.com/office/drawing/2014/chart" uri="{C3380CC4-5D6E-409C-BE32-E72D297353CC}">
              <c16:uniqueId val="{00000001-5F44-4197-93A6-C94F20646D62}"/>
            </c:ext>
          </c:extLst>
        </c:ser>
        <c:ser>
          <c:idx val="2"/>
          <c:order val="2"/>
          <c:tx>
            <c:strRef>
              <c:f>Sheet1!$B$4</c:f>
              <c:strCache>
                <c:ptCount val="1"/>
                <c:pt idx="0">
                  <c:v>Employer</c:v>
                </c:pt>
              </c:strCache>
            </c:strRef>
          </c:tx>
          <c:spPr>
            <a:solidFill>
              <a:srgbClr val="C5B4E3"/>
            </a:solidFill>
            <a:ln>
              <a:solidFill>
                <a:srgbClr val="32006E"/>
              </a:solidFill>
            </a:ln>
            <a:effectLst/>
          </c:spPr>
          <c:invertIfNegative val="0"/>
          <c:val>
            <c:numRef>
              <c:f>Sheet1!$C$4</c:f>
              <c:numCache>
                <c:formatCode>General</c:formatCode>
                <c:ptCount val="1"/>
                <c:pt idx="0">
                  <c:v>0.217</c:v>
                </c:pt>
              </c:numCache>
            </c:numRef>
          </c:val>
          <c:extLst>
            <c:ext xmlns:c16="http://schemas.microsoft.com/office/drawing/2014/chart" uri="{C3380CC4-5D6E-409C-BE32-E72D297353CC}">
              <c16:uniqueId val="{00000002-5F44-4197-93A6-C94F20646D62}"/>
            </c:ext>
          </c:extLst>
        </c:ser>
        <c:ser>
          <c:idx val="3"/>
          <c:order val="3"/>
          <c:tx>
            <c:strRef>
              <c:f>Sheet1!$B$5</c:f>
              <c:strCache>
                <c:ptCount val="1"/>
                <c:pt idx="0">
                  <c:v>Employee</c:v>
                </c:pt>
              </c:strCache>
            </c:strRef>
          </c:tx>
          <c:spPr>
            <a:solidFill>
              <a:srgbClr val="C5B4E3"/>
            </a:solidFill>
            <a:ln>
              <a:solidFill>
                <a:srgbClr val="32006E"/>
              </a:solidFill>
            </a:ln>
            <a:effectLst/>
          </c:spPr>
          <c:invertIfNegative val="0"/>
          <c:val>
            <c:numRef>
              <c:f>Sheet1!$C$5</c:f>
              <c:numCache>
                <c:formatCode>General</c:formatCode>
                <c:ptCount val="1"/>
                <c:pt idx="0">
                  <c:v>0.28299999999999997</c:v>
                </c:pt>
              </c:numCache>
            </c:numRef>
          </c:val>
          <c:extLst>
            <c:ext xmlns:c16="http://schemas.microsoft.com/office/drawing/2014/chart" uri="{C3380CC4-5D6E-409C-BE32-E72D297353CC}">
              <c16:uniqueId val="{00000003-5F44-4197-93A6-C94F20646D62}"/>
            </c:ext>
          </c:extLst>
        </c:ser>
        <c:ser>
          <c:idx val="4"/>
          <c:order val="4"/>
          <c:tx>
            <c:strRef>
              <c:f>Sheet1!$B$6</c:f>
              <c:strCache>
                <c:ptCount val="1"/>
                <c:pt idx="0">
                  <c:v>Co-payment</c:v>
                </c:pt>
              </c:strCache>
            </c:strRef>
          </c:tx>
          <c:spPr>
            <a:solidFill>
              <a:srgbClr val="32006E"/>
            </a:solidFill>
            <a:ln>
              <a:solidFill>
                <a:srgbClr val="32006E"/>
              </a:solidFill>
            </a:ln>
            <a:effectLst/>
          </c:spPr>
          <c:invertIfNegative val="0"/>
          <c:val>
            <c:numRef>
              <c:f>Sheet1!$C$6</c:f>
              <c:numCache>
                <c:formatCode>General</c:formatCode>
                <c:ptCount val="1"/>
                <c:pt idx="0">
                  <c:v>0.11600000000000001</c:v>
                </c:pt>
              </c:numCache>
            </c:numRef>
          </c:val>
          <c:extLst>
            <c:ext xmlns:c16="http://schemas.microsoft.com/office/drawing/2014/chart" uri="{C3380CC4-5D6E-409C-BE32-E72D297353CC}">
              <c16:uniqueId val="{00000004-5F44-4197-93A6-C94F20646D62}"/>
            </c:ext>
          </c:extLst>
        </c:ser>
        <c:ser>
          <c:idx val="5"/>
          <c:order val="5"/>
          <c:tx>
            <c:strRef>
              <c:f>Sheet1!$B$7</c:f>
              <c:strCache>
                <c:ptCount val="1"/>
                <c:pt idx="0">
                  <c:v>Others</c:v>
                </c:pt>
              </c:strCache>
            </c:strRef>
          </c:tx>
          <c:spPr>
            <a:solidFill>
              <a:sysClr val="window" lastClr="FFFFFF">
                <a:lumMod val="85000"/>
              </a:sysClr>
            </a:solidFill>
            <a:ln>
              <a:noFill/>
            </a:ln>
            <a:effectLst/>
          </c:spPr>
          <c:invertIfNegative val="0"/>
          <c:val>
            <c:numRef>
              <c:f>Sheet1!$C$7</c:f>
              <c:numCache>
                <c:formatCode>General</c:formatCode>
                <c:ptCount val="1"/>
                <c:pt idx="0">
                  <c:v>5.0000000000000044E-3</c:v>
                </c:pt>
              </c:numCache>
            </c:numRef>
          </c:val>
          <c:extLst>
            <c:ext xmlns:c16="http://schemas.microsoft.com/office/drawing/2014/chart" uri="{C3380CC4-5D6E-409C-BE32-E72D297353CC}">
              <c16:uniqueId val="{00000005-5F44-4197-93A6-C94F20646D62}"/>
            </c:ext>
          </c:extLst>
        </c:ser>
        <c:dLbls>
          <c:showLegendKey val="0"/>
          <c:showVal val="0"/>
          <c:showCatName val="0"/>
          <c:showSerName val="0"/>
          <c:showPercent val="0"/>
          <c:showBubbleSize val="0"/>
        </c:dLbls>
        <c:gapWidth val="150"/>
        <c:overlap val="100"/>
        <c:axId val="1151411568"/>
        <c:axId val="1151399568"/>
      </c:barChart>
      <c:catAx>
        <c:axId val="1151411568"/>
        <c:scaling>
          <c:orientation val="minMax"/>
        </c:scaling>
        <c:delete val="1"/>
        <c:axPos val="b"/>
        <c:numFmt formatCode="General" sourceLinked="1"/>
        <c:majorTickMark val="none"/>
        <c:minorTickMark val="none"/>
        <c:tickLblPos val="nextTo"/>
        <c:crossAx val="1151399568"/>
        <c:crosses val="autoZero"/>
        <c:auto val="1"/>
        <c:lblAlgn val="ctr"/>
        <c:lblOffset val="100"/>
        <c:noMultiLvlLbl val="0"/>
      </c:catAx>
      <c:valAx>
        <c:axId val="1151399568"/>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en-US"/>
          </a:p>
        </c:txPr>
        <c:crossAx val="115141156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4">
    <c:autoUpdate val="0"/>
  </c:externalData>
  <c:userShapes r:id="rId5"/>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1AC_FF39FF9B.xml><?xml version="1.0" encoding="utf-8"?>
<p188:cmLst xmlns:a="http://schemas.openxmlformats.org/drawingml/2006/main" xmlns:r="http://schemas.openxmlformats.org/officeDocument/2006/relationships" xmlns:p188="http://schemas.microsoft.com/office/powerpoint/2018/8/main">
  <p188:cm id="{931D671C-4616-4EB2-8EA4-D4B1C76DE43C}" authorId="{518C218B-39EF-6CC7-FB75-9FE9BE289CFC}" created="2026-04-13T22:00:24.569">
    <ac:deMkLst xmlns:ac="http://schemas.microsoft.com/office/drawing/2013/main/command">
      <pc:docMk xmlns:pc="http://schemas.microsoft.com/office/powerpoint/2013/main/command"/>
      <pc:sldMk xmlns:pc="http://schemas.microsoft.com/office/powerpoint/2013/main/command" cId="4281991067" sldId="428"/>
      <ac:spMk id="5" creationId="{47F8FC33-BB37-1B67-08A0-36E743511857}"/>
    </ac:deMkLst>
    <p188:txBody>
      <a:bodyPr/>
      <a:lstStyle/>
      <a:p>
        <a:r>
          <a:rPr lang="en-US"/>
          <a:t>Fill</a:t>
        </a:r>
      </a:p>
    </p188:txBody>
  </p188:cm>
</p188:cmLst>
</file>

<file path=ppt/drawings/drawing1.xml><?xml version="1.0" encoding="utf-8"?>
<c:userShapes xmlns:c="http://schemas.openxmlformats.org/drawingml/2006/chart">
  <cdr:relSizeAnchor xmlns:cdr="http://schemas.openxmlformats.org/drawingml/2006/chartDrawing">
    <cdr:from>
      <cdr:x>0.00361</cdr:x>
      <cdr:y>0.00269</cdr:y>
    </cdr:from>
    <cdr:to>
      <cdr:x>0.23465</cdr:x>
      <cdr:y>0.06111</cdr:y>
    </cdr:to>
    <cdr:sp macro="" textlink="">
      <cdr:nvSpPr>
        <cdr:cNvPr id="2" name="Rectangle 1">
          <a:extLst xmlns:a="http://schemas.openxmlformats.org/drawingml/2006/main">
            <a:ext uri="{FF2B5EF4-FFF2-40B4-BE49-F238E27FC236}">
              <a16:creationId xmlns:a16="http://schemas.microsoft.com/office/drawing/2014/main" id="{C93C26A9-6E3D-80BA-B0C1-D442161FAE50}"/>
            </a:ext>
          </a:extLst>
        </cdr:cNvPr>
        <cdr:cNvSpPr/>
      </cdr:nvSpPr>
      <cdr:spPr>
        <a:xfrm xmlns:a="http://schemas.openxmlformats.org/drawingml/2006/main">
          <a:off x="26075" y="11743"/>
          <a:ext cx="1668793" cy="255037"/>
        </a:xfrm>
        <a:prstGeom xmlns:a="http://schemas.openxmlformats.org/drawingml/2006/main" prst="rect">
          <a:avLst/>
        </a:prstGeom>
        <a:solidFill xmlns:a="http://schemas.openxmlformats.org/drawingml/2006/main">
          <a:schemeClr val="bg1"/>
        </a:solidFill>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lstStyle xmlns:a="http://schemas.openxmlformats.org/drawingml/2006/main"/>
        <a:p xmlns:a="http://schemas.openxmlformats.org/drawingml/2006/main">
          <a:r>
            <a:rPr lang="en-US" sz="1600" kern="1200" dirty="0">
              <a:solidFill>
                <a:schemeClr val="tx1"/>
              </a:solidFill>
              <a:latin typeface="Arial" panose="020B0604020202020204" pitchFamily="34" charset="0"/>
              <a:cs typeface="Arial" panose="020B0604020202020204" pitchFamily="34" charset="0"/>
            </a:rPr>
            <a:t>(100 million JPY)</a:t>
          </a:r>
        </a:p>
      </cdr:txBody>
    </cdr:sp>
  </cdr:relSizeAnchor>
  <cdr:relSizeAnchor xmlns:cdr="http://schemas.openxmlformats.org/drawingml/2006/chartDrawing">
    <cdr:from>
      <cdr:x>0.83529</cdr:x>
      <cdr:y>0.00269</cdr:y>
    </cdr:from>
    <cdr:to>
      <cdr:x>1</cdr:x>
      <cdr:y>0.05443</cdr:y>
    </cdr:to>
    <cdr:sp macro="" textlink="">
      <cdr:nvSpPr>
        <cdr:cNvPr id="3" name="Rectangle 2">
          <a:extLst xmlns:a="http://schemas.openxmlformats.org/drawingml/2006/main">
            <a:ext uri="{FF2B5EF4-FFF2-40B4-BE49-F238E27FC236}">
              <a16:creationId xmlns:a16="http://schemas.microsoft.com/office/drawing/2014/main" id="{9233D16E-AA36-ED4B-9223-6A49585407E8}"/>
            </a:ext>
          </a:extLst>
        </cdr:cNvPr>
        <cdr:cNvSpPr/>
      </cdr:nvSpPr>
      <cdr:spPr>
        <a:xfrm xmlns:a="http://schemas.openxmlformats.org/drawingml/2006/main">
          <a:off x="6033404" y="11744"/>
          <a:ext cx="1189693" cy="225854"/>
        </a:xfrm>
        <a:prstGeom xmlns:a="http://schemas.openxmlformats.org/drawingml/2006/main" prst="rect">
          <a:avLst/>
        </a:prstGeom>
        <a:solidFill xmlns:a="http://schemas.openxmlformats.org/drawingml/2006/main">
          <a:schemeClr val="bg1"/>
        </a:solidFill>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lIns="0" tIns="0" rIns="0" bIns="0"/>
        <a:lstStyle xmlns:a="http://schemas.openxmlformats.org/drawingml/2006/main"/>
        <a:p xmlns:a="http://schemas.openxmlformats.org/drawingml/2006/main">
          <a:r>
            <a:rPr lang="en-US" sz="1600" kern="1200" dirty="0">
              <a:solidFill>
                <a:schemeClr val="tx1"/>
              </a:solidFill>
              <a:latin typeface="Arial" panose="020B0604020202020204" pitchFamily="34" charset="0"/>
              <a:cs typeface="Arial" panose="020B0604020202020204" pitchFamily="34" charset="0"/>
            </a:rPr>
            <a:t>(% for GDP)</a:t>
          </a:r>
        </a:p>
      </cdr:txBody>
    </cdr:sp>
  </cdr:relSizeAnchor>
</c:userShapes>
</file>

<file path=ppt/drawings/drawing2.xml><?xml version="1.0" encoding="utf-8"?>
<c:userShapes xmlns:c="http://schemas.openxmlformats.org/drawingml/2006/chart">
  <cdr:relSizeAnchor xmlns:cdr="http://schemas.openxmlformats.org/drawingml/2006/chartDrawing">
    <cdr:from>
      <cdr:x>0.40554</cdr:x>
      <cdr:y>0.07135</cdr:y>
    </cdr:from>
    <cdr:to>
      <cdr:x>0.6842</cdr:x>
      <cdr:y>0.12194</cdr:y>
    </cdr:to>
    <cdr:sp macro="" textlink="">
      <cdr:nvSpPr>
        <cdr:cNvPr id="2" name="Rectangle 1">
          <a:extLst xmlns:a="http://schemas.openxmlformats.org/drawingml/2006/main">
            <a:ext uri="{FF2B5EF4-FFF2-40B4-BE49-F238E27FC236}">
              <a16:creationId xmlns:a16="http://schemas.microsoft.com/office/drawing/2014/main" id="{889B4BBD-2739-391C-CE69-0DDA8AC04FAE}"/>
            </a:ext>
          </a:extLst>
        </cdr:cNvPr>
        <cdr:cNvSpPr/>
      </cdr:nvSpPr>
      <cdr:spPr>
        <a:xfrm xmlns:a="http://schemas.openxmlformats.org/drawingml/2006/main">
          <a:off x="1738230" y="291760"/>
          <a:ext cx="1194439" cy="206872"/>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lIns="0" tIns="0" rIns="0" bIns="0" rtlCol="0" anchor="ctr"/>
        <a:lstStyle xmlns:a="http://schemas.openxmlformats.org/drawingml/2006/main">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xmlns:a="http://schemas.openxmlformats.org/drawingml/2006/main">
          <a:pPr algn="ctr"/>
          <a:r>
            <a:rPr lang="ja-JP" altLang="en-US" sz="1200" b="1" noProof="0" dirty="0">
              <a:solidFill>
                <a:schemeClr val="bg1"/>
              </a:solidFill>
              <a:latin typeface="Arial" panose="020B0604020202020204" pitchFamily="34" charset="0"/>
              <a:ea typeface="Meiryo UI" panose="020B0604030504040204" pitchFamily="50" charset="-128"/>
              <a:cs typeface="Arial" panose="020B0604020202020204" pitchFamily="34" charset="0"/>
            </a:rPr>
            <a:t>①</a:t>
          </a:r>
          <a:r>
            <a:rPr lang="en-US" altLang="ja-JP" sz="1200" b="1" dirty="0">
              <a:solidFill>
                <a:schemeClr val="bg1"/>
              </a:solidFill>
              <a:latin typeface="Arial" panose="020B0604020202020204" pitchFamily="34" charset="0"/>
              <a:ea typeface="Meiryo UI" panose="020B0604030504040204" pitchFamily="50" charset="-128"/>
              <a:cs typeface="Arial" panose="020B0604020202020204" pitchFamily="34" charset="0"/>
            </a:rPr>
            <a:t>OOP </a:t>
          </a:r>
          <a:r>
            <a:rPr lang="en-US" sz="1200" b="1" noProof="0" dirty="0">
              <a:solidFill>
                <a:schemeClr val="bg1"/>
              </a:solidFill>
              <a:latin typeface="Arial" panose="020B0604020202020204" pitchFamily="34" charset="0"/>
              <a:ea typeface="Meiryo UI" panose="020B0604030504040204" pitchFamily="50" charset="-128"/>
              <a:cs typeface="Arial" panose="020B0604020202020204" pitchFamily="34" charset="0"/>
            </a:rPr>
            <a:t>payment</a:t>
          </a:r>
        </a:p>
        <a:p xmlns:a="http://schemas.openxmlformats.org/drawingml/2006/main">
          <a:pPr algn="ctr"/>
          <a:r>
            <a:rPr lang="en-US" sz="1200" b="1" noProof="0" dirty="0">
              <a:solidFill>
                <a:schemeClr val="bg1"/>
              </a:solidFill>
              <a:latin typeface="Arial" panose="020B0604020202020204" pitchFamily="34" charset="0"/>
              <a:ea typeface="Meiryo UI" panose="020B0604030504040204" pitchFamily="50" charset="-128"/>
              <a:cs typeface="Arial" panose="020B0604020202020204" pitchFamily="34" charset="0"/>
            </a:rPr>
            <a:t>11.6%</a:t>
          </a:r>
        </a:p>
      </cdr:txBody>
    </cdr:sp>
  </cdr:relSizeAnchor>
  <cdr:relSizeAnchor xmlns:cdr="http://schemas.openxmlformats.org/drawingml/2006/chartDrawing">
    <cdr:from>
      <cdr:x>0.41868</cdr:x>
      <cdr:y>0.1961</cdr:y>
    </cdr:from>
    <cdr:to>
      <cdr:x>0.65778</cdr:x>
      <cdr:y>0.36541</cdr:y>
    </cdr:to>
    <cdr:sp macro="" textlink="">
      <cdr:nvSpPr>
        <cdr:cNvPr id="3" name="Rectangle 2">
          <a:extLst xmlns:a="http://schemas.openxmlformats.org/drawingml/2006/main">
            <a:ext uri="{FF2B5EF4-FFF2-40B4-BE49-F238E27FC236}">
              <a16:creationId xmlns:a16="http://schemas.microsoft.com/office/drawing/2014/main" id="{26414064-4389-766E-8168-C9A34DADFC86}"/>
            </a:ext>
          </a:extLst>
        </cdr:cNvPr>
        <cdr:cNvSpPr/>
      </cdr:nvSpPr>
      <cdr:spPr>
        <a:xfrm xmlns:a="http://schemas.openxmlformats.org/drawingml/2006/main">
          <a:off x="1794562" y="842971"/>
          <a:ext cx="1024839" cy="7278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lIns="0" tIns="0" rIns="0" bIns="0" rtlCol="0" anchor="ctr"/>
        <a:lstStyle xmlns:a="http://schemas.openxmlformats.org/drawingml/2006/main">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xmlns:a="http://schemas.openxmlformats.org/drawingml/2006/main">
          <a:pPr algn="ctr"/>
          <a:r>
            <a:rPr lang="ja-JP" altLang="en-US" sz="12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②</a:t>
          </a:r>
          <a:r>
            <a:rPr lang="en-US" sz="12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Premium</a:t>
          </a:r>
          <a:r>
            <a:rPr lang="ja-JP" altLang="en-US" sz="12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　</a:t>
          </a:r>
          <a:endParaRPr lang="en-US" altLang="ja-JP" sz="1200" b="1"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a:p xmlns:a="http://schemas.openxmlformats.org/drawingml/2006/main">
          <a:pPr algn="ctr"/>
          <a:r>
            <a:rPr lang="en-US" sz="1200" b="1" dirty="0">
              <a:solidFill>
                <a:schemeClr val="tx1"/>
              </a:solidFill>
              <a:latin typeface="Arial" panose="020B0604020202020204" pitchFamily="34" charset="0"/>
              <a:ea typeface="Meiryo UI" panose="020B0604030504040204" pitchFamily="50" charset="-128"/>
              <a:cs typeface="Arial" panose="020B0604020202020204" pitchFamily="34" charset="0"/>
            </a:rPr>
            <a:t>from employee</a:t>
          </a:r>
        </a:p>
        <a:p xmlns:a="http://schemas.openxmlformats.org/drawingml/2006/main">
          <a:pPr algn="ctr"/>
          <a:r>
            <a:rPr lang="en-US" sz="12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28.3%</a:t>
          </a:r>
        </a:p>
      </cdr:txBody>
    </cdr:sp>
  </cdr:relSizeAnchor>
  <cdr:relSizeAnchor xmlns:cdr="http://schemas.openxmlformats.org/drawingml/2006/chartDrawing">
    <cdr:from>
      <cdr:x>0.41868</cdr:x>
      <cdr:y>0.42681</cdr:y>
    </cdr:from>
    <cdr:to>
      <cdr:x>0.65778</cdr:x>
      <cdr:y>0.59612</cdr:y>
    </cdr:to>
    <cdr:sp macro="" textlink="">
      <cdr:nvSpPr>
        <cdr:cNvPr id="4" name="Rectangle 3">
          <a:extLst xmlns:a="http://schemas.openxmlformats.org/drawingml/2006/main">
            <a:ext uri="{FF2B5EF4-FFF2-40B4-BE49-F238E27FC236}">
              <a16:creationId xmlns:a16="http://schemas.microsoft.com/office/drawing/2014/main" id="{C8A1AB8E-F43B-B668-2C18-9B7928C8383B}"/>
            </a:ext>
          </a:extLst>
        </cdr:cNvPr>
        <cdr:cNvSpPr/>
      </cdr:nvSpPr>
      <cdr:spPr>
        <a:xfrm xmlns:a="http://schemas.openxmlformats.org/drawingml/2006/main">
          <a:off x="1794562" y="1834721"/>
          <a:ext cx="1024839" cy="72780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lIns="0" tIns="0" rIns="0" bIns="0" rtlCol="0" anchor="ctr"/>
        <a:lstStyle xmlns:a="http://schemas.openxmlformats.org/drawingml/2006/main">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xmlns:a="http://schemas.openxmlformats.org/drawingml/2006/main">
          <a:pPr algn="ctr"/>
          <a:r>
            <a:rPr lang="en-US" sz="12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Premium</a:t>
          </a:r>
          <a:r>
            <a:rPr lang="ja-JP" altLang="en-US" sz="12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　</a:t>
          </a:r>
          <a:endParaRPr lang="en-US" altLang="ja-JP" sz="1200" b="1"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a:p xmlns:a="http://schemas.openxmlformats.org/drawingml/2006/main">
          <a:pPr algn="ctr"/>
          <a:r>
            <a:rPr lang="en-US" sz="1200" b="1" dirty="0">
              <a:solidFill>
                <a:schemeClr val="tx1"/>
              </a:solidFill>
              <a:latin typeface="Arial" panose="020B0604020202020204" pitchFamily="34" charset="0"/>
              <a:ea typeface="Meiryo UI" panose="020B0604030504040204" pitchFamily="50" charset="-128"/>
              <a:cs typeface="Arial" panose="020B0604020202020204" pitchFamily="34" charset="0"/>
            </a:rPr>
            <a:t>from employer</a:t>
          </a:r>
        </a:p>
        <a:p xmlns:a="http://schemas.openxmlformats.org/drawingml/2006/main">
          <a:pPr algn="ctr"/>
          <a:r>
            <a:rPr lang="en-US" sz="12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21.7%</a:t>
          </a:r>
        </a:p>
      </cdr:txBody>
    </cdr:sp>
  </cdr:relSizeAnchor>
  <cdr:relSizeAnchor xmlns:cdr="http://schemas.openxmlformats.org/drawingml/2006/chartDrawing">
    <cdr:from>
      <cdr:x>0.13079</cdr:x>
      <cdr:y>0.6811</cdr:y>
    </cdr:from>
    <cdr:to>
      <cdr:x>0.35778</cdr:x>
      <cdr:y>0.88285</cdr:y>
    </cdr:to>
    <cdr:sp macro="" textlink="">
      <cdr:nvSpPr>
        <cdr:cNvPr id="5" name="Rectangle 4">
          <a:extLst xmlns:a="http://schemas.openxmlformats.org/drawingml/2006/main">
            <a:ext uri="{FF2B5EF4-FFF2-40B4-BE49-F238E27FC236}">
              <a16:creationId xmlns:a16="http://schemas.microsoft.com/office/drawing/2014/main" id="{0B3DFB2F-6AB2-FC0A-B5A3-5E57EEB7099C}"/>
            </a:ext>
          </a:extLst>
        </cdr:cNvPr>
        <cdr:cNvSpPr/>
      </cdr:nvSpPr>
      <cdr:spPr>
        <a:xfrm xmlns:a="http://schemas.openxmlformats.org/drawingml/2006/main">
          <a:off x="560606" y="2927842"/>
          <a:ext cx="972921" cy="867247"/>
        </a:xfrm>
        <a:prstGeom xmlns:a="http://schemas.openxmlformats.org/drawingml/2006/main" prst="rect">
          <a:avLst/>
        </a:prstGeom>
        <a:solidFill xmlns:a="http://schemas.openxmlformats.org/drawingml/2006/main">
          <a:schemeClr val="bg1"/>
        </a:solidFill>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lIns="0" tIns="0" rIns="0" bIns="0" rtlCol="0" anchor="ctr"/>
        <a:lstStyle xmlns:a="http://schemas.openxmlformats.org/drawingml/2006/main">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xmlns:a="http://schemas.openxmlformats.org/drawingml/2006/main">
          <a:pPr algn="ctr"/>
          <a:r>
            <a:rPr lang="ja-JP" altLang="en-US" sz="12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③</a:t>
          </a:r>
          <a:r>
            <a:rPr lang="en-US" sz="12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Budget</a:t>
          </a:r>
        </a:p>
        <a:p xmlns:a="http://schemas.openxmlformats.org/drawingml/2006/main">
          <a:pPr algn="ctr"/>
          <a:r>
            <a:rPr lang="en-US" sz="12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from governments </a:t>
          </a:r>
        </a:p>
      </cdr:txBody>
    </cdr:sp>
  </cdr:relSizeAnchor>
  <cdr:relSizeAnchor xmlns:cdr="http://schemas.openxmlformats.org/drawingml/2006/chartDrawing">
    <cdr:from>
      <cdr:x>0.38412</cdr:x>
      <cdr:y>0.62858</cdr:y>
    </cdr:from>
    <cdr:to>
      <cdr:x>0.70571</cdr:x>
      <cdr:y>0.72133</cdr:y>
    </cdr:to>
    <cdr:sp macro="" textlink="">
      <cdr:nvSpPr>
        <cdr:cNvPr id="6" name="Rectangle 5">
          <a:extLst xmlns:a="http://schemas.openxmlformats.org/drawingml/2006/main">
            <a:ext uri="{FF2B5EF4-FFF2-40B4-BE49-F238E27FC236}">
              <a16:creationId xmlns:a16="http://schemas.microsoft.com/office/drawing/2014/main" id="{CC4BA517-29B0-1495-E73D-B8C95E205DE4}"/>
            </a:ext>
          </a:extLst>
        </cdr:cNvPr>
        <cdr:cNvSpPr/>
      </cdr:nvSpPr>
      <cdr:spPr>
        <a:xfrm xmlns:a="http://schemas.openxmlformats.org/drawingml/2006/main">
          <a:off x="1646437" y="2702041"/>
          <a:ext cx="1378428" cy="398706"/>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lIns="0" tIns="0" rIns="0" bIns="0" rtlCol="0" anchor="ctr"/>
        <a:lstStyle xmlns:a="http://schemas.openxmlformats.org/drawingml/2006/main">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xmlns:a="http://schemas.openxmlformats.org/drawingml/2006/main">
          <a:pPr algn="ctr"/>
          <a:r>
            <a:rPr lang="en-US" sz="12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Municipal subsidy</a:t>
          </a:r>
          <a:endParaRPr lang="en-US" sz="1200" b="1" dirty="0">
            <a:solidFill>
              <a:schemeClr val="tx1"/>
            </a:solidFill>
            <a:latin typeface="Arial" panose="020B0604020202020204" pitchFamily="34" charset="0"/>
            <a:ea typeface="Meiryo UI" panose="020B0604030504040204" pitchFamily="50" charset="-128"/>
            <a:cs typeface="Arial" panose="020B0604020202020204" pitchFamily="34" charset="0"/>
          </a:endParaRPr>
        </a:p>
        <a:p xmlns:a="http://schemas.openxmlformats.org/drawingml/2006/main">
          <a:pPr algn="ctr"/>
          <a:r>
            <a:rPr lang="en-US" sz="1200" b="1" dirty="0">
              <a:solidFill>
                <a:schemeClr val="tx1"/>
              </a:solidFill>
              <a:latin typeface="Arial" panose="020B0604020202020204" pitchFamily="34" charset="0"/>
              <a:ea typeface="Meiryo UI" panose="020B0604030504040204" pitchFamily="50" charset="-128"/>
              <a:cs typeface="Arial" panose="020B0604020202020204" pitchFamily="34" charset="0"/>
            </a:rPr>
            <a:t>12.6</a:t>
          </a:r>
          <a:r>
            <a:rPr lang="en-US" sz="12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cdr:txBody>
    </cdr:sp>
  </cdr:relSizeAnchor>
  <cdr:relSizeAnchor xmlns:cdr="http://schemas.openxmlformats.org/drawingml/2006/chartDrawing">
    <cdr:from>
      <cdr:x>0.38412</cdr:x>
      <cdr:y>0.80312</cdr:y>
    </cdr:from>
    <cdr:to>
      <cdr:x>0.70571</cdr:x>
      <cdr:y>0.89587</cdr:y>
    </cdr:to>
    <cdr:sp macro="" textlink="">
      <cdr:nvSpPr>
        <cdr:cNvPr id="7" name="Rectangle 6">
          <a:extLst xmlns:a="http://schemas.openxmlformats.org/drawingml/2006/main">
            <a:ext uri="{FF2B5EF4-FFF2-40B4-BE49-F238E27FC236}">
              <a16:creationId xmlns:a16="http://schemas.microsoft.com/office/drawing/2014/main" id="{A3FC2960-34DA-EF6D-A209-5A557114C235}"/>
            </a:ext>
          </a:extLst>
        </cdr:cNvPr>
        <cdr:cNvSpPr/>
      </cdr:nvSpPr>
      <cdr:spPr>
        <a:xfrm xmlns:a="http://schemas.openxmlformats.org/drawingml/2006/main">
          <a:off x="1646437" y="3452362"/>
          <a:ext cx="1378428" cy="398706"/>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lIns="0" tIns="0" rIns="0" bIns="0" rtlCol="0" anchor="ctr"/>
        <a:lstStyle xmlns:a="http://schemas.openxmlformats.org/drawingml/2006/main">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xmlns:a="http://schemas.openxmlformats.org/drawingml/2006/main">
          <a:pPr algn="ctr"/>
          <a:r>
            <a:rPr lang="en-US" sz="12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National subsidy</a:t>
          </a:r>
          <a:endParaRPr lang="en-US" sz="1200" b="1" dirty="0">
            <a:solidFill>
              <a:schemeClr val="tx1"/>
            </a:solidFill>
            <a:latin typeface="Arial" panose="020B0604020202020204" pitchFamily="34" charset="0"/>
            <a:ea typeface="Meiryo UI" panose="020B0604030504040204" pitchFamily="50" charset="-128"/>
            <a:cs typeface="Arial" panose="020B0604020202020204" pitchFamily="34" charset="0"/>
          </a:endParaRPr>
        </a:p>
        <a:p xmlns:a="http://schemas.openxmlformats.org/drawingml/2006/main">
          <a:pPr algn="ctr"/>
          <a:r>
            <a:rPr lang="en-US" sz="12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25.3%</a:t>
          </a:r>
        </a:p>
      </cdr:txBody>
    </cdr:sp>
  </cdr:relSizeAnchor>
  <cdr:relSizeAnchor xmlns:cdr="http://schemas.openxmlformats.org/drawingml/2006/chartDrawing">
    <cdr:from>
      <cdr:x>0.35111</cdr:x>
      <cdr:y>0.61315</cdr:y>
    </cdr:from>
    <cdr:to>
      <cdr:x>0.36889</cdr:x>
      <cdr:y>0.96879</cdr:y>
    </cdr:to>
    <cdr:sp macro="" textlink="">
      <cdr:nvSpPr>
        <cdr:cNvPr id="8" name="Left Brace 7">
          <a:extLst xmlns:a="http://schemas.openxmlformats.org/drawingml/2006/main">
            <a:ext uri="{FF2B5EF4-FFF2-40B4-BE49-F238E27FC236}">
              <a16:creationId xmlns:a16="http://schemas.microsoft.com/office/drawing/2014/main" id="{D5C90E7E-EB23-4558-301C-00F6AC5330DD}"/>
            </a:ext>
          </a:extLst>
        </cdr:cNvPr>
        <cdr:cNvSpPr/>
      </cdr:nvSpPr>
      <cdr:spPr>
        <a:xfrm xmlns:a="http://schemas.openxmlformats.org/drawingml/2006/main">
          <a:off x="1504952" y="2635732"/>
          <a:ext cx="76200" cy="1528762"/>
        </a:xfrm>
        <a:prstGeom xmlns:a="http://schemas.openxmlformats.org/drawingml/2006/main" prst="leftBrace">
          <a:avLst/>
        </a:prstGeom>
        <a:ln xmlns:a="http://schemas.openxmlformats.org/drawingml/2006/main" w="12700">
          <a:solidFill>
            <a:srgbClr val="32006E"/>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vertOverflow="clip" rtlCol="0" anchor="ctr"/>
        <a:lstStyle xmlns:a="http://schemas.openxmlformats.org/drawingml/2006/main"/>
        <a:p xmlns:a="http://schemas.openxmlformats.org/drawingml/2006/main">
          <a:endParaRPr lang="en-US" kern="120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3037840" cy="466434"/>
          </a:xfrm>
          <a:prstGeom prst="rect">
            <a:avLst/>
          </a:prstGeom>
        </p:spPr>
        <p:txBody>
          <a:bodyPr vert="horz" lIns="93170" tIns="46586" rIns="93170" bIns="46586"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970938" y="0"/>
            <a:ext cx="3037840" cy="466434"/>
          </a:xfrm>
          <a:prstGeom prst="rect">
            <a:avLst/>
          </a:prstGeom>
        </p:spPr>
        <p:txBody>
          <a:bodyPr vert="horz" lIns="93170" tIns="46586" rIns="93170" bIns="46586" rtlCol="0"/>
          <a:lstStyle>
            <a:lvl1pPr algn="r">
              <a:defRPr sz="1200"/>
            </a:lvl1pPr>
          </a:lstStyle>
          <a:p>
            <a:fld id="{F352A77B-D33C-49B3-A83C-450AA2ED72B3}" type="datetimeFigureOut">
              <a:rPr lang="en-US" smtClean="0"/>
              <a:t>6/19/2026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829968"/>
            <a:ext cx="3037840" cy="466434"/>
          </a:xfrm>
          <a:prstGeom prst="rect">
            <a:avLst/>
          </a:prstGeom>
        </p:spPr>
        <p:txBody>
          <a:bodyPr vert="horz" lIns="93170" tIns="46586" rIns="93170" bIns="46586"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970938" y="8829968"/>
            <a:ext cx="3037840" cy="466434"/>
          </a:xfrm>
          <a:prstGeom prst="rect">
            <a:avLst/>
          </a:prstGeom>
        </p:spPr>
        <p:txBody>
          <a:bodyPr vert="horz" lIns="93170" tIns="46586" rIns="93170" bIns="46586"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0" tIns="46586" rIns="93170" bIns="46586" rtlCol="0"/>
          <a:lstStyle>
            <a:lvl1pPr algn="l">
              <a:defRPr sz="1200"/>
            </a:lvl1pPr>
          </a:lstStyle>
          <a:p>
            <a:endParaRPr lang="en-US" dirty="0"/>
          </a:p>
        </p:txBody>
      </p:sp>
      <p:sp>
        <p:nvSpPr>
          <p:cNvPr id="3" name="Date Placeholder 2"/>
          <p:cNvSpPr>
            <a:spLocks noGrp="1"/>
          </p:cNvSpPr>
          <p:nvPr>
            <p:ph type="dt" idx="1"/>
          </p:nvPr>
        </p:nvSpPr>
        <p:spPr>
          <a:xfrm>
            <a:off x="3970938" y="0"/>
            <a:ext cx="3037840" cy="466434"/>
          </a:xfrm>
          <a:prstGeom prst="rect">
            <a:avLst/>
          </a:prstGeom>
        </p:spPr>
        <p:txBody>
          <a:bodyPr vert="horz" lIns="93170" tIns="46586" rIns="93170" bIns="46586" rtlCol="0"/>
          <a:lstStyle>
            <a:lvl1pPr algn="r">
              <a:defRPr sz="1200"/>
            </a:lvl1pPr>
          </a:lstStyle>
          <a:p>
            <a:fld id="{E38D8F9A-F5CB-4EF8-A859-ED5E107B9763}" type="datetimeFigureOut">
              <a:rPr lang="en-US" smtClean="0"/>
              <a:t>6/19/2026</a:t>
            </a:fld>
            <a:endParaRPr lang="en-US" dirty="0"/>
          </a:p>
        </p:txBody>
      </p:sp>
      <p:sp>
        <p:nvSpPr>
          <p:cNvPr id="4" name="Slide Image Placeholder 3"/>
          <p:cNvSpPr>
            <a:spLocks noGrp="1" noRot="1" noChangeAspect="1"/>
          </p:cNvSpPr>
          <p:nvPr>
            <p:ph type="sldImg" idx="2"/>
          </p:nvPr>
        </p:nvSpPr>
        <p:spPr>
          <a:xfrm>
            <a:off x="715963" y="1162050"/>
            <a:ext cx="5580062" cy="3138488"/>
          </a:xfrm>
          <a:prstGeom prst="rect">
            <a:avLst/>
          </a:prstGeom>
          <a:noFill/>
          <a:ln w="12700">
            <a:solidFill>
              <a:prstClr val="black"/>
            </a:solidFill>
          </a:ln>
        </p:spPr>
        <p:txBody>
          <a:bodyPr vert="horz" lIns="93170" tIns="46586" rIns="93170" bIns="46586" rtlCol="0" anchor="ctr"/>
          <a:lstStyle/>
          <a:p>
            <a:endParaRPr lang="en-US" dirty="0"/>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0" tIns="46586" rIns="93170" bIns="4658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8"/>
            <a:ext cx="3037840" cy="466434"/>
          </a:xfrm>
          <a:prstGeom prst="rect">
            <a:avLst/>
          </a:prstGeom>
        </p:spPr>
        <p:txBody>
          <a:bodyPr vert="horz" lIns="93170" tIns="46586" rIns="93170" bIns="46586"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8"/>
            <a:ext cx="3037840" cy="466434"/>
          </a:xfrm>
          <a:prstGeom prst="rect">
            <a:avLst/>
          </a:prstGeom>
        </p:spPr>
        <p:txBody>
          <a:bodyPr vert="horz" lIns="93170" tIns="46586" rIns="93170" bIns="46586"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a:t>
            </a:fld>
            <a:endParaRPr lang="en-US" dirty="0"/>
          </a:p>
        </p:txBody>
      </p:sp>
    </p:spTree>
    <p:extLst>
      <p:ext uri="{BB962C8B-B14F-4D97-AF65-F5344CB8AC3E}">
        <p14:creationId xmlns:p14="http://schemas.microsoft.com/office/powerpoint/2010/main" val="2569137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 should note that this is not a research talk.</a:t>
            </a:r>
          </a:p>
          <a:p>
            <a:r>
              <a:rPr lang="en-US" sz="1200" kern="1200" dirty="0">
                <a:solidFill>
                  <a:schemeClr val="tx1"/>
                </a:solidFill>
                <a:effectLst/>
                <a:latin typeface="+mn-lt"/>
                <a:ea typeface="+mn-ea"/>
                <a:cs typeface="+mn-cs"/>
              </a:rPr>
              <a:t>Instead, my goal today is to pose three critical questions that I believe we must address to navigate the future of Japan's healthcare system.</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First, Is Japan's current cost-sharing model reaching its limit? We have universal health coverage, but as I will show, there are significant structural challenges beneath the surface.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Second, Can the current pricing scheme truly capture the value of innovation? Reimbursement listing evaluates medical technologies through a limited set of methods, which creates problems in practice.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Third, Can the current regulatory and pricing evolution balance technological innovation with the long-term sustainability of the healthcare system? The government is developing new frameworks to facilitate innovation — but are they sufficient? I will explore this through a few examples.</a:t>
            </a:r>
          </a:p>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2</a:t>
            </a:fld>
            <a:endParaRPr lang="en-US" dirty="0"/>
          </a:p>
        </p:txBody>
      </p:sp>
    </p:spTree>
    <p:extLst>
      <p:ext uri="{BB962C8B-B14F-4D97-AF65-F5344CB8AC3E}">
        <p14:creationId xmlns:p14="http://schemas.microsoft.com/office/powerpoint/2010/main" val="19377711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First, I will introduce the public health insurance system and the mechanism that supports the whole population in Japan, with Japan's unique societal challenges.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Then I will </a:t>
            </a:r>
            <a:r>
              <a:rPr lang="en-US" sz="1200" b="1" kern="1200" dirty="0">
                <a:solidFill>
                  <a:schemeClr val="tx1"/>
                </a:solidFill>
                <a:effectLst/>
                <a:latin typeface="+mn-lt"/>
                <a:ea typeface="+mn-ea"/>
                <a:cs typeface="+mn-cs"/>
              </a:rPr>
              <a:t>dive into</a:t>
            </a:r>
            <a:r>
              <a:rPr lang="en-US" sz="1200" kern="1200" dirty="0">
                <a:solidFill>
                  <a:schemeClr val="tx1"/>
                </a:solidFill>
                <a:effectLst/>
                <a:latin typeface="+mn-lt"/>
                <a:ea typeface="+mn-ea"/>
                <a:cs typeface="+mn-cs"/>
              </a:rPr>
              <a:t> the </a:t>
            </a:r>
            <a:r>
              <a:rPr lang="en-US" sz="1200" b="1" kern="1200" dirty="0">
                <a:solidFill>
                  <a:schemeClr val="tx1"/>
                </a:solidFill>
                <a:effectLst/>
                <a:latin typeface="+mn-lt"/>
                <a:ea typeface="+mn-ea"/>
                <a:cs typeface="+mn-cs"/>
              </a:rPr>
              <a:t>regulatory approval and reimbursement</a:t>
            </a:r>
            <a:r>
              <a:rPr lang="en-US" sz="1200" kern="1200" dirty="0">
                <a:solidFill>
                  <a:schemeClr val="tx1"/>
                </a:solidFill>
                <a:effectLst/>
                <a:latin typeface="+mn-lt"/>
                <a:ea typeface="+mn-ea"/>
                <a:cs typeface="+mn-cs"/>
              </a:rPr>
              <a:t> process in Japan.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And finally, I will explain how AI medical devices fit into — and are changing — the existing approval and </a:t>
            </a:r>
            <a:r>
              <a:rPr lang="en-US" sz="1200" b="1" kern="1200" dirty="0">
                <a:solidFill>
                  <a:schemeClr val="tx1"/>
                </a:solidFill>
                <a:effectLst/>
                <a:latin typeface="+mn-lt"/>
                <a:ea typeface="+mn-ea"/>
                <a:cs typeface="+mn-cs"/>
              </a:rPr>
              <a:t>reimbursement</a:t>
            </a:r>
            <a:r>
              <a:rPr lang="en-US" sz="1200" kern="1200" dirty="0">
                <a:solidFill>
                  <a:schemeClr val="tx1"/>
                </a:solidFill>
                <a:effectLst/>
                <a:latin typeface="+mn-lt"/>
                <a:ea typeface="+mn-ea"/>
                <a:cs typeface="+mn-cs"/>
              </a:rPr>
              <a:t> scheme.</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3</a:t>
            </a:fld>
            <a:endParaRPr lang="en-US" dirty="0"/>
          </a:p>
        </p:txBody>
      </p:sp>
    </p:spTree>
    <p:extLst>
      <p:ext uri="{BB962C8B-B14F-4D97-AF65-F5344CB8AC3E}">
        <p14:creationId xmlns:p14="http://schemas.microsoft.com/office/powerpoint/2010/main" val="17159656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A55E1-897B-C7AA-B586-5E52CCB158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CB468-B490-CE8A-BE2C-028A46BAFC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6BA05B-BEC2-178F-6E5F-F806498E00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F8EA72-0B5F-C183-E2D9-46D579F61076}"/>
              </a:ext>
            </a:extLst>
          </p:cNvPr>
          <p:cNvSpPr>
            <a:spLocks noGrp="1"/>
          </p:cNvSpPr>
          <p:nvPr>
            <p:ph type="sldNum" sz="quarter" idx="5"/>
          </p:nvPr>
        </p:nvSpPr>
        <p:spPr/>
        <p:txBody>
          <a:bodyPr/>
          <a:lstStyle/>
          <a:p>
            <a:fld id="{D4B9A9E5-4F7F-4A7D-9DE1-899232329269}" type="slidenum">
              <a:rPr lang="en-US" smtClean="0"/>
              <a:t>4</a:t>
            </a:fld>
            <a:endParaRPr lang="en-US" dirty="0"/>
          </a:p>
        </p:txBody>
      </p:sp>
    </p:spTree>
    <p:extLst>
      <p:ext uri="{BB962C8B-B14F-4D97-AF65-F5344CB8AC3E}">
        <p14:creationId xmlns:p14="http://schemas.microsoft.com/office/powerpoint/2010/main" val="37020527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Japan, nearly 100% of the population is covered by public health insurance — people are protected and supported.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However, demographic changes are posing big concerns about its sustainability.</a:t>
            </a:r>
          </a:p>
          <a:p>
            <a:r>
              <a:rPr lang="en-US" sz="1200" kern="1200" dirty="0">
                <a:solidFill>
                  <a:schemeClr val="tx1"/>
                </a:solidFill>
                <a:effectLst/>
                <a:latin typeface="+mn-lt"/>
                <a:ea typeface="+mn-ea"/>
                <a:cs typeface="+mn-cs"/>
              </a:rPr>
              <a:t>The first issue is aging — approximately 30% of the population is over 65 years old. </a:t>
            </a:r>
          </a:p>
          <a:p>
            <a:r>
              <a:rPr lang="en-US" sz="1200" kern="1200" dirty="0">
                <a:solidFill>
                  <a:schemeClr val="tx1"/>
                </a:solidFill>
                <a:effectLst/>
                <a:latin typeface="+mn-lt"/>
                <a:ea typeface="+mn-ea"/>
                <a:cs typeface="+mn-cs"/>
              </a:rPr>
              <a:t>We also have a declining birth rate: on average, one woman gives birth to about 1.2 children in their lifetime. </a:t>
            </a:r>
          </a:p>
          <a:p>
            <a:r>
              <a:rPr lang="en-US" sz="1200" kern="1200" dirty="0">
                <a:solidFill>
                  <a:schemeClr val="tx1"/>
                </a:solidFill>
                <a:effectLst/>
                <a:latin typeface="+mn-lt"/>
                <a:ea typeface="+mn-ea"/>
                <a:cs typeface="+mn-cs"/>
              </a:rPr>
              <a:t>I should note that 2.1 is needed to maintain a stable population. </a:t>
            </a:r>
          </a:p>
          <a:p>
            <a:r>
              <a:rPr lang="en-US" sz="1200" kern="1200" dirty="0">
                <a:solidFill>
                  <a:schemeClr val="tx1"/>
                </a:solidFill>
                <a:effectLst/>
                <a:latin typeface="+mn-lt"/>
                <a:ea typeface="+mn-ea"/>
                <a:cs typeface="+mn-cs"/>
              </a:rPr>
              <a:t>Finally, there are regional disparities in health care providers and age distribution across the country.</a:t>
            </a:r>
          </a:p>
        </p:txBody>
      </p:sp>
      <p:sp>
        <p:nvSpPr>
          <p:cNvPr id="4" name="Slide Number Placeholder 3"/>
          <p:cNvSpPr>
            <a:spLocks noGrp="1"/>
          </p:cNvSpPr>
          <p:nvPr>
            <p:ph type="sldNum" sz="quarter" idx="5"/>
          </p:nvPr>
        </p:nvSpPr>
        <p:spPr/>
        <p:txBody>
          <a:bodyPr/>
          <a:lstStyle/>
          <a:p>
            <a:fld id="{D4B9A9E5-4F7F-4A7D-9DE1-899232329269}" type="slidenum">
              <a:rPr lang="en-US" smtClean="0"/>
              <a:t>5</a:t>
            </a:fld>
            <a:endParaRPr lang="en-US" dirty="0"/>
          </a:p>
        </p:txBody>
      </p:sp>
    </p:spTree>
    <p:extLst>
      <p:ext uri="{BB962C8B-B14F-4D97-AF65-F5344CB8AC3E}">
        <p14:creationId xmlns:p14="http://schemas.microsoft.com/office/powerpoint/2010/main" val="7541988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explains the structure of Japan's healthcare system.</a:t>
            </a:r>
          </a:p>
          <a:p>
            <a:endParaRPr lang="en-US" dirty="0"/>
          </a:p>
          <a:p>
            <a:r>
              <a:rPr lang="en-US" dirty="0"/>
              <a:t>Patients pay </a:t>
            </a:r>
            <a:r>
              <a:rPr lang="en-US" b="1" dirty="0"/>
              <a:t>premiums</a:t>
            </a:r>
            <a:r>
              <a:rPr lang="en-US" dirty="0"/>
              <a:t> to their </a:t>
            </a:r>
            <a:r>
              <a:rPr lang="en-US" b="1" dirty="0"/>
              <a:t>insurer</a:t>
            </a:r>
            <a:r>
              <a:rPr lang="en-US" dirty="0"/>
              <a:t>. </a:t>
            </a:r>
          </a:p>
          <a:p>
            <a:r>
              <a:rPr lang="en-US" dirty="0"/>
              <a:t>When they need care, they visit a healthcare provider. The healthcare provider delivers medical treatment and charges the patient, who pays an </a:t>
            </a:r>
            <a:r>
              <a:rPr lang="en-US" b="1" dirty="0"/>
              <a:t>out-of-pocket</a:t>
            </a:r>
            <a:r>
              <a:rPr lang="en-US" dirty="0"/>
              <a:t> fee. </a:t>
            </a:r>
          </a:p>
          <a:p>
            <a:endParaRPr lang="en-US" dirty="0"/>
          </a:p>
          <a:p>
            <a:r>
              <a:rPr lang="en-US" dirty="0"/>
              <a:t>The healthcare provider then submits a </a:t>
            </a:r>
            <a:r>
              <a:rPr lang="en-US" b="1" dirty="0"/>
              <a:t>claim</a:t>
            </a:r>
            <a:r>
              <a:rPr lang="en-US" dirty="0"/>
              <a:t> to the insurer, and the insurer makes a </a:t>
            </a:r>
            <a:r>
              <a:rPr lang="en-US" b="1" dirty="0"/>
              <a:t>claim payment</a:t>
            </a:r>
            <a:r>
              <a:rPr lang="en-US" dirty="0"/>
              <a:t> back to the provider. </a:t>
            </a:r>
          </a:p>
          <a:p>
            <a:endParaRPr lang="en-US" dirty="0"/>
          </a:p>
          <a:p>
            <a:r>
              <a:rPr lang="en-US" dirty="0"/>
              <a:t>The insurer is also supported by a government </a:t>
            </a:r>
            <a:r>
              <a:rPr lang="en-US" b="1" dirty="0"/>
              <a:t>budget</a:t>
            </a:r>
            <a:r>
              <a:rPr lang="en-US" dirty="0"/>
              <a:t>.</a:t>
            </a:r>
          </a:p>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6</a:t>
            </a:fld>
            <a:endParaRPr lang="en-US" dirty="0"/>
          </a:p>
        </p:txBody>
      </p:sp>
    </p:spTree>
    <p:extLst>
      <p:ext uri="{BB962C8B-B14F-4D97-AF65-F5344CB8AC3E}">
        <p14:creationId xmlns:p14="http://schemas.microsoft.com/office/powerpoint/2010/main" val="20752220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 expenditure</a:t>
            </a:r>
          </a:p>
        </p:txBody>
      </p:sp>
      <p:sp>
        <p:nvSpPr>
          <p:cNvPr id="4" name="Slide Number Placeholder 3"/>
          <p:cNvSpPr>
            <a:spLocks noGrp="1"/>
          </p:cNvSpPr>
          <p:nvPr>
            <p:ph type="sldNum" sz="quarter" idx="5"/>
          </p:nvPr>
        </p:nvSpPr>
        <p:spPr/>
        <p:txBody>
          <a:bodyPr/>
          <a:lstStyle/>
          <a:p>
            <a:fld id="{D4B9A9E5-4F7F-4A7D-9DE1-899232329269}" type="slidenum">
              <a:rPr lang="en-US" smtClean="0"/>
              <a:t>7</a:t>
            </a:fld>
            <a:endParaRPr lang="en-US" dirty="0"/>
          </a:p>
        </p:txBody>
      </p:sp>
    </p:spTree>
    <p:extLst>
      <p:ext uri="{BB962C8B-B14F-4D97-AF65-F5344CB8AC3E}">
        <p14:creationId xmlns:p14="http://schemas.microsoft.com/office/powerpoint/2010/main" val="13073132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you can see from this chart, national health expenditure has been rising by 2 to 3% every year. </a:t>
            </a:r>
          </a:p>
          <a:p>
            <a:r>
              <a:rPr lang="en-US" dirty="0"/>
              <a:t>The growth rate for those aged 75 and over — shown in dark purple — is larger than the overall growth rate.</a:t>
            </a:r>
          </a:p>
          <a:p>
            <a:endParaRPr lang="en-US" dirty="0"/>
          </a:p>
          <a:p>
            <a:r>
              <a:rPr lang="en-US" dirty="0"/>
              <a:t>In 2023, Japan spent 48 trillion yen in total for health expenditure, which is 300 billion US dollars. </a:t>
            </a:r>
          </a:p>
          <a:p>
            <a:r>
              <a:rPr lang="en-US" dirty="0"/>
              <a:t>Of that, 18.6 trillion yen — or about 117 billion dollars — was spent on people aged 75 and over, accounting for 40% of the total. </a:t>
            </a:r>
          </a:p>
          <a:p>
            <a:r>
              <a:rPr lang="en-US" dirty="0"/>
              <a:t>Overall, health expenditure represents 8.1% of Japan's GDP.</a:t>
            </a:r>
          </a:p>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8</a:t>
            </a:fld>
            <a:endParaRPr lang="en-US" dirty="0"/>
          </a:p>
        </p:txBody>
      </p:sp>
    </p:spTree>
    <p:extLst>
      <p:ext uri="{BB962C8B-B14F-4D97-AF65-F5344CB8AC3E}">
        <p14:creationId xmlns:p14="http://schemas.microsoft.com/office/powerpoint/2010/main" val="18678445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9</a:t>
            </a:fld>
            <a:endParaRPr lang="en-US" dirty="0"/>
          </a:p>
        </p:txBody>
      </p:sp>
    </p:spTree>
    <p:extLst>
      <p:ext uri="{BB962C8B-B14F-4D97-AF65-F5344CB8AC3E}">
        <p14:creationId xmlns:p14="http://schemas.microsoft.com/office/powerpoint/2010/main" val="37620557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support vulnerable populations with lower income and higher healthcare needs, the </a:t>
            </a:r>
            <a:r>
              <a:rPr lang="en-US" b="1" dirty="0"/>
              <a:t>coinsurance</a:t>
            </a:r>
            <a:r>
              <a:rPr lang="en-US" dirty="0"/>
              <a:t> — that is, the share patients pay out of pocket — differs by age and income.</a:t>
            </a:r>
          </a:p>
          <a:p>
            <a:endParaRPr lang="en-US" dirty="0"/>
          </a:p>
          <a:p>
            <a:r>
              <a:rPr lang="en-US" dirty="0"/>
              <a:t>For children up to age 6, the share is 20%. </a:t>
            </a:r>
          </a:p>
          <a:p>
            <a:r>
              <a:rPr lang="en-US" dirty="0"/>
              <a:t>From age 6 through 70, people pay 30%.</a:t>
            </a:r>
          </a:p>
          <a:p>
            <a:r>
              <a:rPr lang="en-US" dirty="0"/>
              <a:t>Retirement is typically between 60 and 70. This can be a burden, since many people in their 60s no longer have a stable income.</a:t>
            </a:r>
          </a:p>
          <a:p>
            <a:endParaRPr lang="en-US" dirty="0"/>
          </a:p>
          <a:p>
            <a:r>
              <a:rPr lang="en-US" dirty="0"/>
              <a:t>After age 70, the share drops to 20%,</a:t>
            </a:r>
          </a:p>
          <a:p>
            <a:r>
              <a:rPr lang="en-US" dirty="0"/>
              <a:t>For those 75 and older with lower incomes, it drops further to 10%. </a:t>
            </a:r>
          </a:p>
          <a:p>
            <a:endParaRPr lang="en-US" dirty="0"/>
          </a:p>
          <a:p>
            <a:r>
              <a:rPr lang="en-US" dirty="0"/>
              <a:t>However, for those who earn certain amount — those making 2 million yen or more per year — pay 20%, and those earning 3.8 million yen or more pay 30% regardless of age.</a:t>
            </a:r>
          </a:p>
        </p:txBody>
      </p:sp>
      <p:sp>
        <p:nvSpPr>
          <p:cNvPr id="4" name="Slide Number Placeholder 3"/>
          <p:cNvSpPr>
            <a:spLocks noGrp="1"/>
          </p:cNvSpPr>
          <p:nvPr>
            <p:ph type="sldNum" sz="quarter" idx="5"/>
          </p:nvPr>
        </p:nvSpPr>
        <p:spPr/>
        <p:txBody>
          <a:bodyPr/>
          <a:lstStyle/>
          <a:p>
            <a:fld id="{D4B9A9E5-4F7F-4A7D-9DE1-899232329269}" type="slidenum">
              <a:rPr lang="en-US" smtClean="0"/>
              <a:t>10</a:t>
            </a:fld>
            <a:endParaRPr lang="en-US" dirty="0"/>
          </a:p>
        </p:txBody>
      </p:sp>
    </p:spTree>
    <p:extLst>
      <p:ext uri="{BB962C8B-B14F-4D97-AF65-F5344CB8AC3E}">
        <p14:creationId xmlns:p14="http://schemas.microsoft.com/office/powerpoint/2010/main" val="11418641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much do people actually pay in premiums?</a:t>
            </a:r>
          </a:p>
        </p:txBody>
      </p:sp>
      <p:sp>
        <p:nvSpPr>
          <p:cNvPr id="4" name="Slide Number Placeholder 3"/>
          <p:cNvSpPr>
            <a:spLocks noGrp="1"/>
          </p:cNvSpPr>
          <p:nvPr>
            <p:ph type="sldNum" sz="quarter" idx="5"/>
          </p:nvPr>
        </p:nvSpPr>
        <p:spPr/>
        <p:txBody>
          <a:bodyPr/>
          <a:lstStyle/>
          <a:p>
            <a:fld id="{D4B9A9E5-4F7F-4A7D-9DE1-899232329269}" type="slidenum">
              <a:rPr lang="en-US" smtClean="0"/>
              <a:t>11</a:t>
            </a:fld>
            <a:endParaRPr lang="en-US" dirty="0"/>
          </a:p>
        </p:txBody>
      </p:sp>
    </p:spTree>
    <p:extLst>
      <p:ext uri="{BB962C8B-B14F-4D97-AF65-F5344CB8AC3E}">
        <p14:creationId xmlns:p14="http://schemas.microsoft.com/office/powerpoint/2010/main" val="1270890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 it depends, because there are different insurance providers by age and occupation. </a:t>
            </a:r>
          </a:p>
          <a:p>
            <a:r>
              <a:rPr lang="en-US" dirty="0"/>
              <a:t>To accommodate different work styles and health risks, there are in fact over 3,000 health insurers, organized under five sub-systems.</a:t>
            </a:r>
          </a:p>
          <a:p>
            <a:endParaRPr lang="en-US" dirty="0"/>
          </a:p>
          <a:p>
            <a:r>
              <a:rPr lang="en-US" dirty="0"/>
              <a:t>To be honest — this is very complex, due to confusing nomenclature, even for me. But let me walk you through it.</a:t>
            </a:r>
          </a:p>
          <a:p>
            <a:endParaRPr lang="en-US" dirty="0"/>
          </a:p>
          <a:p>
            <a:r>
              <a:rPr lang="en-US" dirty="0"/>
              <a:t>Those aged 75 and over are covered by a dedicated system called the Healthcare System for 75 and older. </a:t>
            </a:r>
          </a:p>
          <a:p>
            <a:endParaRPr lang="en-US" dirty="0"/>
          </a:p>
          <a:p>
            <a:r>
              <a:rPr lang="en-US" dirty="0"/>
              <a:t>For those under 75, there are four sub-systems. </a:t>
            </a:r>
          </a:p>
          <a:p>
            <a:r>
              <a:rPr lang="en-US" dirty="0"/>
              <a:t>The first is National Health Insurance — despite the name, this covers only farmers, the self-employed, and the unemployed. It is run by municipal governments, and premium rates depend on income. This is also why, after retirement, more and more people gradually move into this category.</a:t>
            </a:r>
          </a:p>
          <a:p>
            <a:endParaRPr lang="en-US" dirty="0"/>
          </a:p>
          <a:p>
            <a:r>
              <a:rPr lang="en-US" dirty="0"/>
              <a:t>For those who are employed, there are three further sub-systems. </a:t>
            </a:r>
          </a:p>
          <a:p>
            <a:r>
              <a:rPr lang="en-US" dirty="0"/>
              <a:t>Large enterprise employees are covered by a Health Insurance Society, with premiums typically set at 10% of income, half of which is covered by the employer. </a:t>
            </a:r>
          </a:p>
          <a:p>
            <a:r>
              <a:rPr lang="en-US" dirty="0"/>
              <a:t>Employees of small and medium enterprises are covered by the Japan Health Insurance Association, with different rates — again, half covered by the employer. </a:t>
            </a:r>
          </a:p>
          <a:p>
            <a:r>
              <a:rPr lang="en-US" dirty="0"/>
              <a:t>Finally, government employees and teachers are covered by the Mutual Aid Association, at a much lower rate of just 1.6% of income.</a:t>
            </a:r>
          </a:p>
          <a:p>
            <a:endParaRPr lang="en-US" dirty="0"/>
          </a:p>
          <a:p>
            <a:r>
              <a:rPr lang="en-US" dirty="0"/>
              <a:t>As you can see, this system is highly fragmented, with similar hard-to-differentiate system names.</a:t>
            </a:r>
          </a:p>
          <a:p>
            <a:endParaRPr lang="en-US" dirty="0"/>
          </a:p>
          <a:p>
            <a:r>
              <a:rPr lang="en-US" dirty="0"/>
              <a:t>This structure raises a question: </a:t>
            </a:r>
          </a:p>
          <a:p>
            <a:r>
              <a:rPr lang="en-US" dirty="0"/>
              <a:t>how can we adequately support the elderly? The National Health Insurance and the Healthcare System for 75 and older are both run by governments, without employer contributions. And some municipal governments — particularly in rural areas with large elderly populations — do not collect sufficient tax revenue to fund the system.</a:t>
            </a:r>
          </a:p>
        </p:txBody>
      </p:sp>
      <p:sp>
        <p:nvSpPr>
          <p:cNvPr id="4" name="Slide Number Placeholder 3"/>
          <p:cNvSpPr>
            <a:spLocks noGrp="1"/>
          </p:cNvSpPr>
          <p:nvPr>
            <p:ph type="sldNum" sz="quarter" idx="5"/>
          </p:nvPr>
        </p:nvSpPr>
        <p:spPr/>
        <p:txBody>
          <a:bodyPr/>
          <a:lstStyle/>
          <a:p>
            <a:fld id="{D4B9A9E5-4F7F-4A7D-9DE1-899232329269}" type="slidenum">
              <a:rPr lang="en-US" smtClean="0"/>
              <a:t>12</a:t>
            </a:fld>
            <a:endParaRPr lang="en-US" dirty="0"/>
          </a:p>
        </p:txBody>
      </p:sp>
    </p:spTree>
    <p:extLst>
      <p:ext uri="{BB962C8B-B14F-4D97-AF65-F5344CB8AC3E}">
        <p14:creationId xmlns:p14="http://schemas.microsoft.com/office/powerpoint/2010/main" val="19541610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fill the gap between budget and expenditure for vulnerable populations, budgets are </a:t>
            </a:r>
            <a:r>
              <a:rPr lang="en-US" b="1" dirty="0"/>
              <a:t>reallocated</a:t>
            </a:r>
            <a:r>
              <a:rPr lang="en-US" dirty="0"/>
              <a:t> from employment-based insurance to the other two sub-systems.</a:t>
            </a:r>
          </a:p>
          <a:p>
            <a:endParaRPr lang="en-US" dirty="0"/>
          </a:p>
          <a:p>
            <a:r>
              <a:rPr lang="en-US" dirty="0"/>
              <a:t>As I explained, Healthcare System for those 75 and older requires 40% of the national health budgets.</a:t>
            </a:r>
          </a:p>
          <a:p>
            <a:r>
              <a:rPr lang="en-US" dirty="0"/>
              <a:t>To cover this, 1.5 trillion yen flows in from National Health Insurance, and 5.8 trillion yen is from the employment-based systems.</a:t>
            </a:r>
          </a:p>
          <a:p>
            <a:endParaRPr lang="en-US" dirty="0"/>
          </a:p>
          <a:p>
            <a:r>
              <a:rPr lang="en-US" dirty="0"/>
              <a:t>Similarly, National Health Insurance receives 2.7 trillion yen.</a:t>
            </a:r>
          </a:p>
          <a:p>
            <a:endParaRPr lang="en-US" dirty="0"/>
          </a:p>
          <a:p>
            <a:r>
              <a:rPr lang="en-US" dirty="0"/>
              <a:t>Personally, I find this fragmented system quite inefficient. Every budget transfer requires coordination and administrative resources across multiple organizations. I suspect the legacy structure is simply too entrenched to consolidate into a single unified system.</a:t>
            </a:r>
          </a:p>
          <a:p>
            <a:endParaRPr lang="en-US" dirty="0"/>
          </a:p>
          <a:p>
            <a:r>
              <a:rPr lang="en-US" dirty="0"/>
              <a:t>At the same time, health expenditure is also </a:t>
            </a:r>
            <a:r>
              <a:rPr lang="en-US" b="1" dirty="0"/>
              <a:t>influenced</a:t>
            </a:r>
            <a:r>
              <a:rPr lang="en-US" dirty="0"/>
              <a:t> by the unit cost of healthcare — and that brings us to our next topic.</a:t>
            </a:r>
          </a:p>
        </p:txBody>
      </p:sp>
      <p:sp>
        <p:nvSpPr>
          <p:cNvPr id="4" name="Slide Number Placeholder 3"/>
          <p:cNvSpPr>
            <a:spLocks noGrp="1"/>
          </p:cNvSpPr>
          <p:nvPr>
            <p:ph type="sldNum" sz="quarter" idx="5"/>
          </p:nvPr>
        </p:nvSpPr>
        <p:spPr/>
        <p:txBody>
          <a:bodyPr/>
          <a:lstStyle/>
          <a:p>
            <a:fld id="{D4B9A9E5-4F7F-4A7D-9DE1-899232329269}" type="slidenum">
              <a:rPr lang="en-US" smtClean="0"/>
              <a:t>13</a:t>
            </a:fld>
            <a:endParaRPr lang="en-US" dirty="0"/>
          </a:p>
        </p:txBody>
      </p:sp>
    </p:spTree>
    <p:extLst>
      <p:ext uri="{BB962C8B-B14F-4D97-AF65-F5344CB8AC3E}">
        <p14:creationId xmlns:p14="http://schemas.microsoft.com/office/powerpoint/2010/main" val="33174995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04285-E034-E51B-FE66-FF5EC27DB5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421006-A7DC-8C75-63B8-6FA511B6D3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3DE79E-698B-42AD-D5BD-17C7122B44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D07AB3-30F0-F5C6-B10D-084A1579186C}"/>
              </a:ext>
            </a:extLst>
          </p:cNvPr>
          <p:cNvSpPr>
            <a:spLocks noGrp="1"/>
          </p:cNvSpPr>
          <p:nvPr>
            <p:ph type="sldNum" sz="quarter" idx="5"/>
          </p:nvPr>
        </p:nvSpPr>
        <p:spPr/>
        <p:txBody>
          <a:bodyPr/>
          <a:lstStyle/>
          <a:p>
            <a:fld id="{D4B9A9E5-4F7F-4A7D-9DE1-899232329269}" type="slidenum">
              <a:rPr lang="en-US" smtClean="0"/>
              <a:t>14</a:t>
            </a:fld>
            <a:endParaRPr lang="en-US" dirty="0"/>
          </a:p>
        </p:txBody>
      </p:sp>
    </p:spTree>
    <p:extLst>
      <p:ext uri="{BB962C8B-B14F-4D97-AF65-F5344CB8AC3E}">
        <p14:creationId xmlns:p14="http://schemas.microsoft.com/office/powerpoint/2010/main" val="38466091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is treatment actually charged? </a:t>
            </a:r>
          </a:p>
          <a:p>
            <a:r>
              <a:rPr lang="en-US" dirty="0"/>
              <a:t>Medical services covered by public health insurance are charged by points, determined by fee schedules. </a:t>
            </a:r>
          </a:p>
          <a:p>
            <a:endParaRPr lang="en-US" dirty="0"/>
          </a:p>
          <a:p>
            <a:r>
              <a:rPr lang="en-US" dirty="0"/>
              <a:t>When you visit a doctor, you receive a medical bill statement like this one. </a:t>
            </a:r>
          </a:p>
          <a:p>
            <a:r>
              <a:rPr lang="en-US" dirty="0"/>
              <a:t>For each medical service used during your visit, points are assigned. </a:t>
            </a:r>
          </a:p>
          <a:p>
            <a:r>
              <a:rPr lang="en-US" dirty="0"/>
              <a:t>These points are standardized nationwide — so you pay the same amount no matter where you seek care.</a:t>
            </a:r>
          </a:p>
          <a:p>
            <a:endParaRPr lang="en-US" dirty="0"/>
          </a:p>
          <a:p>
            <a:r>
              <a:rPr lang="en-US" dirty="0"/>
              <a:t>The amount a patient pays is calculated as: </a:t>
            </a:r>
          </a:p>
          <a:p>
            <a:r>
              <a:rPr lang="en-US" dirty="0"/>
              <a:t>points, multiplied by the number of times the service was used, multiplied by 10, multiplied by their coinsurance share.</a:t>
            </a:r>
          </a:p>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15</a:t>
            </a:fld>
            <a:endParaRPr lang="en-US" dirty="0"/>
          </a:p>
        </p:txBody>
      </p:sp>
    </p:spTree>
    <p:extLst>
      <p:ext uri="{BB962C8B-B14F-4D97-AF65-F5344CB8AC3E}">
        <p14:creationId xmlns:p14="http://schemas.microsoft.com/office/powerpoint/2010/main" val="40735149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obtain points, medical services, pharmaceuticals, and medical technologies must first be approved and then listed in the fee schedule to be covered by health insurance.</a:t>
            </a:r>
          </a:p>
          <a:p>
            <a:endParaRPr lang="en-US" dirty="0"/>
          </a:p>
          <a:p>
            <a:r>
              <a:rPr lang="en-US" dirty="0"/>
              <a:t>On the left, you can see the regulatory approval process — similar to the FDA process in the United States. </a:t>
            </a:r>
          </a:p>
          <a:p>
            <a:r>
              <a:rPr lang="en-US" dirty="0"/>
              <a:t>It starts with discovery research, moves through preclinical and clinical trials across three phases, then involves filing to the PMDA — Japan's equivalent of the FDA — followed by regulatory review, and finally approval by the Ministry of Health — similar to HHS in the US.</a:t>
            </a:r>
          </a:p>
          <a:p>
            <a:endParaRPr lang="en-US" dirty="0"/>
          </a:p>
          <a:p>
            <a:r>
              <a:rPr lang="en-US" dirty="0"/>
              <a:t>After approval, the product enters the reimbursement listing process, overseen by the Central Social Insurance Medical Council, or CSIMC. </a:t>
            </a:r>
          </a:p>
          <a:p>
            <a:r>
              <a:rPr lang="en-US" dirty="0"/>
              <a:t>If a similar drug or device already exists on the market, CSIMC determines whether the new product has </a:t>
            </a:r>
            <a:r>
              <a:rPr lang="en-US" b="1" dirty="0"/>
              <a:t>novelty</a:t>
            </a:r>
            <a:r>
              <a:rPr lang="en-US" dirty="0"/>
              <a:t> or innovation. </a:t>
            </a:r>
          </a:p>
          <a:p>
            <a:r>
              <a:rPr lang="en-US" dirty="0"/>
              <a:t>If it does, the Efficacy Comparison Method I is applied — matching the daily price of the most similar existing product and adding a premium based on innovation and marketability. </a:t>
            </a:r>
          </a:p>
          <a:p>
            <a:r>
              <a:rPr lang="en-US" dirty="0"/>
              <a:t>If there is no novelty, Efficacy Comparison Method II is used — matching the </a:t>
            </a:r>
            <a:r>
              <a:rPr lang="en-US" b="1" dirty="0"/>
              <a:t>lowest</a:t>
            </a:r>
            <a:r>
              <a:rPr lang="en-US" dirty="0"/>
              <a:t> price among similar existing products. </a:t>
            </a:r>
          </a:p>
          <a:p>
            <a:endParaRPr lang="en-US" dirty="0"/>
          </a:p>
          <a:p>
            <a:r>
              <a:rPr lang="en-US" dirty="0"/>
              <a:t>If no similar product exists at all, a cost-based method is applied, summing manufacturing costs, operational profit, and similar factors, again with an add-on for innovation. </a:t>
            </a:r>
          </a:p>
          <a:p>
            <a:r>
              <a:rPr lang="en-US" dirty="0"/>
              <a:t>Finally, prices are adjusted by reference to prices in other countries, including the US, France, and the UK.</a:t>
            </a:r>
          </a:p>
          <a:p>
            <a:br>
              <a:rPr lang="en-US" dirty="0"/>
            </a:br>
            <a:r>
              <a:rPr lang="en-US" dirty="0"/>
              <a:t>Personally, I have some reservations about the efficacy comparison method. </a:t>
            </a:r>
          </a:p>
          <a:p>
            <a:r>
              <a:rPr lang="en-US" dirty="0"/>
              <a:t>It assumes that the price of the comparator product is itself appropriate.</a:t>
            </a:r>
          </a:p>
          <a:p>
            <a:r>
              <a:rPr lang="en-US" dirty="0"/>
              <a:t>But that raises a question: how was the comparator's value determined in the first place? </a:t>
            </a:r>
          </a:p>
          <a:p>
            <a:r>
              <a:rPr lang="en-US" dirty="0"/>
              <a:t>The reimbursement price of a new product may be heavily dependent on whether the baseline comparator was fairly priced to begin with.</a:t>
            </a:r>
          </a:p>
        </p:txBody>
      </p:sp>
      <p:sp>
        <p:nvSpPr>
          <p:cNvPr id="4" name="Slide Number Placeholder 3"/>
          <p:cNvSpPr>
            <a:spLocks noGrp="1"/>
          </p:cNvSpPr>
          <p:nvPr>
            <p:ph type="sldNum" sz="quarter" idx="5"/>
          </p:nvPr>
        </p:nvSpPr>
        <p:spPr/>
        <p:txBody>
          <a:bodyPr/>
          <a:lstStyle/>
          <a:p>
            <a:fld id="{D4B9A9E5-4F7F-4A7D-9DE1-899232329269}" type="slidenum">
              <a:rPr lang="en-US" smtClean="0"/>
              <a:t>16</a:t>
            </a:fld>
            <a:endParaRPr lang="en-US" dirty="0"/>
          </a:p>
        </p:txBody>
      </p:sp>
    </p:spTree>
    <p:extLst>
      <p:ext uri="{BB962C8B-B14F-4D97-AF65-F5344CB8AC3E}">
        <p14:creationId xmlns:p14="http://schemas.microsoft.com/office/powerpoint/2010/main" val="27462079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medical fee schedule is </a:t>
            </a:r>
            <a:r>
              <a:rPr lang="en-US" b="1" dirty="0"/>
              <a:t>revised</a:t>
            </a:r>
            <a:r>
              <a:rPr lang="en-US" dirty="0"/>
              <a:t> every other year, taking into account the overall national budget and basic policy.</a:t>
            </a:r>
          </a:p>
          <a:p>
            <a:endParaRPr lang="en-US" dirty="0"/>
          </a:p>
          <a:p>
            <a:r>
              <a:rPr lang="en-US" dirty="0"/>
              <a:t>The process works as follows: </a:t>
            </a:r>
          </a:p>
          <a:p>
            <a:r>
              <a:rPr lang="en-US" dirty="0"/>
              <a:t>the Cabinet Office decides the revision rate based on the healthcare budget. </a:t>
            </a:r>
          </a:p>
          <a:p>
            <a:r>
              <a:rPr lang="en-US" dirty="0"/>
              <a:t>Simultaneously, the Social Security Council within MHLW decides the fundamental policy for revision — for example, whether to increase points for innovative technologies. </a:t>
            </a:r>
          </a:p>
          <a:p>
            <a:r>
              <a:rPr lang="en-US" dirty="0"/>
              <a:t>Then CSIMC decides the updated points for each individual medical fee item.</a:t>
            </a:r>
          </a:p>
          <a:p>
            <a:endParaRPr lang="en-US" dirty="0"/>
          </a:p>
          <a:p>
            <a:r>
              <a:rPr lang="en-US" dirty="0"/>
              <a:t>In fact, this fiscal year — FY2026 — we just had a revision this month. </a:t>
            </a:r>
          </a:p>
          <a:p>
            <a:r>
              <a:rPr lang="en-US" dirty="0"/>
              <a:t>The service fee was increased by 3.3%, driven by rising wage pressures. </a:t>
            </a:r>
          </a:p>
          <a:p>
            <a:r>
              <a:rPr lang="en-US" dirty="0"/>
              <a:t>However, pharmaceutical and medical device points were reduced — by 0.86% and 0.01% respectively. </a:t>
            </a:r>
          </a:p>
          <a:p>
            <a:r>
              <a:rPr lang="en-US" dirty="0"/>
              <a:t>This is a typical trend: the overall pharmaceutical and medical device reimbursement points have been gradually declining over time.</a:t>
            </a:r>
          </a:p>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17</a:t>
            </a:fld>
            <a:endParaRPr lang="en-US" dirty="0"/>
          </a:p>
        </p:txBody>
      </p:sp>
    </p:spTree>
    <p:extLst>
      <p:ext uri="{BB962C8B-B14F-4D97-AF65-F5344CB8AC3E}">
        <p14:creationId xmlns:p14="http://schemas.microsoft.com/office/powerpoint/2010/main" val="17520823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Health Technology Assessment and cost-effectiveness analysis fit in? </a:t>
            </a:r>
          </a:p>
          <a:p>
            <a:r>
              <a:rPr lang="en-US" dirty="0"/>
              <a:t>CEA was just recently introduced in 2019 — not at the initial reimbursement listing stage, but only for the fee schedule </a:t>
            </a:r>
            <a:r>
              <a:rPr lang="en-US" b="1" dirty="0"/>
              <a:t>revision</a:t>
            </a:r>
            <a:r>
              <a:rPr lang="en-US" dirty="0"/>
              <a:t> of drugs and devices with large market sizes or very high unit prices.</a:t>
            </a:r>
          </a:p>
          <a:p>
            <a:endParaRPr lang="en-US" dirty="0"/>
          </a:p>
          <a:p>
            <a:r>
              <a:rPr lang="en-US" dirty="0"/>
              <a:t>The process works as follows: </a:t>
            </a:r>
          </a:p>
          <a:p>
            <a:r>
              <a:rPr lang="en-US" dirty="0"/>
              <a:t>after reimbursement listing, CSIMC selects products for CEA. </a:t>
            </a:r>
          </a:p>
          <a:p>
            <a:r>
              <a:rPr lang="en-US" dirty="0"/>
              <a:t>Manufacturers then conduct their own analysis, which is reviewed and </a:t>
            </a:r>
            <a:r>
              <a:rPr lang="en-US" b="1" dirty="0"/>
              <a:t>re-analyzed</a:t>
            </a:r>
            <a:r>
              <a:rPr lang="en-US" dirty="0"/>
              <a:t> by C2H — the Center for Outcomes Research and Economic Evaluation for Health — together with domain experts such as health economists and clinical specialists. </a:t>
            </a:r>
          </a:p>
          <a:p>
            <a:r>
              <a:rPr lang="en-US" dirty="0"/>
              <a:t>After comprehensive assessment, products with poor cost-effectiveness — defined as above 5 million yen per QALY, roughly equivalent to 32,000 US dollars, which is approximately Japan's GDP per capita — may face price cuts. Conversely, products that contribute to cost savings may receive price increases.</a:t>
            </a:r>
          </a:p>
          <a:p>
            <a:endParaRPr lang="en-US" dirty="0"/>
          </a:p>
          <a:p>
            <a:r>
              <a:rPr lang="en-US" dirty="0"/>
              <a:t>However, a key challenge is limited evaluation capacity. Currently, only around 10 products are assessed through this process per year, so </a:t>
            </a:r>
            <a:r>
              <a:rPr lang="en-US" b="1" dirty="0"/>
              <a:t>workforce development</a:t>
            </a:r>
            <a:r>
              <a:rPr lang="en-US" dirty="0"/>
              <a:t> is urgently needed. I know that two or three universities are already running workshops for manufacturers and academics to build this capacity.</a:t>
            </a:r>
          </a:p>
        </p:txBody>
      </p:sp>
      <p:sp>
        <p:nvSpPr>
          <p:cNvPr id="4" name="Slide Number Placeholder 3"/>
          <p:cNvSpPr>
            <a:spLocks noGrp="1"/>
          </p:cNvSpPr>
          <p:nvPr>
            <p:ph type="sldNum" sz="quarter" idx="5"/>
          </p:nvPr>
        </p:nvSpPr>
        <p:spPr/>
        <p:txBody>
          <a:bodyPr/>
          <a:lstStyle/>
          <a:p>
            <a:fld id="{D4B9A9E5-4F7F-4A7D-9DE1-899232329269}" type="slidenum">
              <a:rPr lang="en-US" smtClean="0"/>
              <a:t>18</a:t>
            </a:fld>
            <a:endParaRPr lang="en-US" dirty="0"/>
          </a:p>
        </p:txBody>
      </p:sp>
    </p:spTree>
    <p:extLst>
      <p:ext uri="{BB962C8B-B14F-4D97-AF65-F5344CB8AC3E}">
        <p14:creationId xmlns:p14="http://schemas.microsoft.com/office/powerpoint/2010/main" val="31616473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move into the topic of AI medical devices, I should first highlight the regulatory approval process specific to medical devices.</a:t>
            </a:r>
          </a:p>
          <a:p>
            <a:r>
              <a:rPr lang="en-US" dirty="0"/>
              <a:t>Medical devices are categorized into four classes depending on the </a:t>
            </a:r>
            <a:r>
              <a:rPr lang="en-US" b="1" dirty="0"/>
              <a:t>risk to the human body in the event of a malfunction</a:t>
            </a:r>
            <a:r>
              <a:rPr lang="en-US" dirty="0"/>
              <a:t>. The class determines both the approval process and the speed.</a:t>
            </a:r>
          </a:p>
          <a:p>
            <a:endParaRPr lang="en-US" dirty="0"/>
          </a:p>
          <a:p>
            <a:r>
              <a:rPr lang="en-US" dirty="0"/>
              <a:t>Class I poses very low risk — examples include X-ray film and scalpels. These only require a self-declaration, meaning submission only — no detailed review process is needed.</a:t>
            </a:r>
          </a:p>
          <a:p>
            <a:r>
              <a:rPr lang="en-US" dirty="0"/>
              <a:t>Class II poses relatively low risk — examples include MRI machines and ultrasound machines. These require </a:t>
            </a:r>
            <a:r>
              <a:rPr lang="en-US" b="1" dirty="0"/>
              <a:t>third-party certification</a:t>
            </a:r>
            <a:r>
              <a:rPr lang="en-US" dirty="0"/>
              <a:t>.</a:t>
            </a:r>
          </a:p>
          <a:p>
            <a:r>
              <a:rPr lang="en-US" dirty="0"/>
              <a:t>Class III poses relatively high risk — examples include ventilators and dialysis machines. These require third-party certification </a:t>
            </a:r>
            <a:r>
              <a:rPr lang="en-US" b="1" dirty="0"/>
              <a:t>or PMDA approval</a:t>
            </a:r>
            <a:r>
              <a:rPr lang="en-US" dirty="0"/>
              <a:t>.</a:t>
            </a:r>
          </a:p>
          <a:p>
            <a:r>
              <a:rPr lang="en-US" dirty="0"/>
              <a:t>Class IV poses life-threatening risk — an example is a </a:t>
            </a:r>
            <a:r>
              <a:rPr lang="en-US" b="1" dirty="0"/>
              <a:t>pacemaker</a:t>
            </a:r>
            <a:r>
              <a:rPr lang="en-US" dirty="0"/>
              <a:t>. These require </a:t>
            </a:r>
            <a:r>
              <a:rPr lang="en-US" b="1" dirty="0"/>
              <a:t>PMDA approval</a:t>
            </a:r>
            <a:r>
              <a:rPr lang="en-US" dirty="0"/>
              <a:t>.</a:t>
            </a:r>
          </a:p>
        </p:txBody>
      </p:sp>
      <p:sp>
        <p:nvSpPr>
          <p:cNvPr id="4" name="Slide Number Placeholder 3"/>
          <p:cNvSpPr>
            <a:spLocks noGrp="1"/>
          </p:cNvSpPr>
          <p:nvPr>
            <p:ph type="sldNum" sz="quarter" idx="5"/>
          </p:nvPr>
        </p:nvSpPr>
        <p:spPr/>
        <p:txBody>
          <a:bodyPr/>
          <a:lstStyle/>
          <a:p>
            <a:fld id="{D4B9A9E5-4F7F-4A7D-9DE1-899232329269}" type="slidenum">
              <a:rPr lang="en-US" smtClean="0"/>
              <a:t>19</a:t>
            </a:fld>
            <a:endParaRPr lang="en-US" dirty="0"/>
          </a:p>
        </p:txBody>
      </p:sp>
    </p:spTree>
    <p:extLst>
      <p:ext uri="{BB962C8B-B14F-4D97-AF65-F5344CB8AC3E}">
        <p14:creationId xmlns:p14="http://schemas.microsoft.com/office/powerpoint/2010/main" val="14883660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also a </a:t>
            </a:r>
            <a:r>
              <a:rPr lang="en-US" b="1" dirty="0"/>
              <a:t>reimbursement listing</a:t>
            </a:r>
            <a:r>
              <a:rPr lang="en-US" dirty="0"/>
              <a:t> process specific to medical devices. For some devices, the value of the technology is included in the service fee. For others, it can be charged as functional category fee, separated from service fee.</a:t>
            </a:r>
          </a:p>
          <a:p>
            <a:endParaRPr lang="en-US" dirty="0"/>
          </a:p>
          <a:p>
            <a:r>
              <a:rPr lang="en-US" dirty="0"/>
              <a:t>When a manufacturer applies for reimbursement listing, they must choose an application category.</a:t>
            </a:r>
          </a:p>
          <a:p>
            <a:r>
              <a:rPr lang="en-US" dirty="0"/>
              <a:t>Category A covers devices like needles and ultrasound machines, which are used in procedures such as blood collection or ultrasound examination. The existing service fee points for those procedures already include the value of the device.</a:t>
            </a:r>
          </a:p>
          <a:p>
            <a:r>
              <a:rPr lang="en-US" dirty="0"/>
              <a:t>Category B is for devices like pacemakers. In this case, the hospital can charge separately — both for the service fee for the act of implantation, and for a so-called </a:t>
            </a:r>
            <a:r>
              <a:rPr lang="en-US" b="1" dirty="0"/>
              <a:t>functional category</a:t>
            </a:r>
            <a:r>
              <a:rPr lang="en-US" dirty="0"/>
              <a:t> fee for the device as a technology. So the value of the device is </a:t>
            </a:r>
            <a:r>
              <a:rPr lang="en-US" b="1" dirty="0"/>
              <a:t>separated</a:t>
            </a:r>
            <a:r>
              <a:rPr lang="en-US" dirty="0"/>
              <a:t> from the service fee.</a:t>
            </a:r>
          </a:p>
          <a:p>
            <a:r>
              <a:rPr lang="en-US" dirty="0"/>
              <a:t>Category C applies when no existing service fee or functional category is applicable to the new device. In this case, a brand-new functional category must be created during the reimbursement listing process.</a:t>
            </a:r>
          </a:p>
          <a:p>
            <a:endParaRPr lang="en-US" dirty="0"/>
          </a:p>
          <a:p>
            <a:r>
              <a:rPr lang="en-US" dirty="0"/>
              <a:t>The application category affects the speed of reimbursement listing and incentive for healthcare providers to adopt the device, so manufacturers need to carefully consider which category best fits their new device.</a:t>
            </a:r>
          </a:p>
        </p:txBody>
      </p:sp>
      <p:sp>
        <p:nvSpPr>
          <p:cNvPr id="4" name="Slide Number Placeholder 3"/>
          <p:cNvSpPr>
            <a:spLocks noGrp="1"/>
          </p:cNvSpPr>
          <p:nvPr>
            <p:ph type="sldNum" sz="quarter" idx="5"/>
          </p:nvPr>
        </p:nvSpPr>
        <p:spPr/>
        <p:txBody>
          <a:bodyPr/>
          <a:lstStyle/>
          <a:p>
            <a:fld id="{D4B9A9E5-4F7F-4A7D-9DE1-899232329269}" type="slidenum">
              <a:rPr lang="en-US" smtClean="0"/>
              <a:t>20</a:t>
            </a:fld>
            <a:endParaRPr lang="en-US" dirty="0"/>
          </a:p>
        </p:txBody>
      </p:sp>
    </p:spTree>
    <p:extLst>
      <p:ext uri="{BB962C8B-B14F-4D97-AF65-F5344CB8AC3E}">
        <p14:creationId xmlns:p14="http://schemas.microsoft.com/office/powerpoint/2010/main" val="19040890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9DA3F-01E1-9A6E-8FD9-4E32B7E546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AA02CA-1601-86E4-8F60-5BCC0CE1F7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2A87E3-AC15-E881-A677-3B4577F8EF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7C9005-C0BA-143C-C37D-E2B2851B0066}"/>
              </a:ext>
            </a:extLst>
          </p:cNvPr>
          <p:cNvSpPr>
            <a:spLocks noGrp="1"/>
          </p:cNvSpPr>
          <p:nvPr>
            <p:ph type="sldNum" sz="quarter" idx="5"/>
          </p:nvPr>
        </p:nvSpPr>
        <p:spPr/>
        <p:txBody>
          <a:bodyPr/>
          <a:lstStyle/>
          <a:p>
            <a:fld id="{D4B9A9E5-4F7F-4A7D-9DE1-899232329269}" type="slidenum">
              <a:rPr lang="en-US" smtClean="0"/>
              <a:t>21</a:t>
            </a:fld>
            <a:endParaRPr lang="en-US" dirty="0"/>
          </a:p>
        </p:txBody>
      </p:sp>
    </p:spTree>
    <p:extLst>
      <p:ext uri="{BB962C8B-B14F-4D97-AF65-F5344CB8AC3E}">
        <p14:creationId xmlns:p14="http://schemas.microsoft.com/office/powerpoint/2010/main" val="39866288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I explained earlier, Japan faces financial difficulties at the macro and micro level.</a:t>
            </a:r>
          </a:p>
          <a:p>
            <a:r>
              <a:rPr lang="en-US" dirty="0"/>
              <a:t>From the national perspective, there is significant </a:t>
            </a:r>
            <a:r>
              <a:rPr lang="en-US" b="1" dirty="0"/>
              <a:t>downward pressure</a:t>
            </a:r>
            <a:r>
              <a:rPr lang="en-US" dirty="0"/>
              <a:t> to restrict healthcare expenditure. </a:t>
            </a:r>
          </a:p>
          <a:p>
            <a:r>
              <a:rPr lang="en-US" dirty="0"/>
              <a:t>But there are also challenges at the hospital level. Healthcare providers face financial difficulties and labor shortages, including an </a:t>
            </a:r>
            <a:r>
              <a:rPr lang="en-US" b="1" dirty="0"/>
              <a:t>uneven distribution</a:t>
            </a:r>
            <a:r>
              <a:rPr lang="en-US" dirty="0"/>
              <a:t> of healthcare professionals by region and specialty. </a:t>
            </a:r>
          </a:p>
          <a:p>
            <a:r>
              <a:rPr lang="en-US" dirty="0"/>
              <a:t>For example, in rural areas without a medical school, hospitals struggle to recruit doctors. And in terms of specialty, many young doctors are increasingly choosing cosmetic medicine after graduation — because other essential specialties are very demanding, requiring overnight surgeries, and the reimbursement rates under the public insurance system are relatively low. Cosmetic medicine, which operates mainly outside the public insurance system, is simply better paying.</a:t>
            </a:r>
          </a:p>
          <a:p>
            <a:r>
              <a:rPr lang="en-US" dirty="0"/>
              <a:t>On top of this, inflation is increasing personnel and utility costs. Last year, we saw a </a:t>
            </a:r>
            <a:r>
              <a:rPr lang="en-US" b="1" dirty="0"/>
              <a:t>record high</a:t>
            </a:r>
            <a:r>
              <a:rPr lang="en-US" dirty="0"/>
              <a:t> of over 700 hospital bankruptcies and closures, and 80% of university hospitals are </a:t>
            </a:r>
            <a:r>
              <a:rPr lang="en-US" b="1" dirty="0"/>
              <a:t>in the red</a:t>
            </a:r>
            <a:r>
              <a:rPr lang="en-US" dirty="0"/>
              <a:t>.</a:t>
            </a:r>
          </a:p>
          <a:p>
            <a:endParaRPr lang="en-US" dirty="0"/>
          </a:p>
          <a:p>
            <a:r>
              <a:rPr lang="en-US" dirty="0"/>
              <a:t>This is the background against why AI medical technologies are gaining popularity in Japan. Interestingly, many physicians are founding startups to develop AI medical devices themselves, which is an interesting trend to add to their income.</a:t>
            </a:r>
          </a:p>
          <a:p>
            <a:r>
              <a:rPr lang="en-US" dirty="0"/>
              <a:t>Improving productivity through AI may help address labor shortages and improve hospital finances. But whether these devices receive </a:t>
            </a:r>
            <a:r>
              <a:rPr lang="en-US" b="1" dirty="0"/>
              <a:t>insurance coverage</a:t>
            </a:r>
            <a:r>
              <a:rPr lang="en-US" dirty="0"/>
              <a:t> and how points are allocated will be the key to their </a:t>
            </a:r>
            <a:r>
              <a:rPr lang="en-US" b="1" dirty="0"/>
              <a:t>widespread adoption</a:t>
            </a:r>
            <a:r>
              <a:rPr lang="en-US" dirty="0"/>
              <a:t>.</a:t>
            </a:r>
          </a:p>
        </p:txBody>
      </p:sp>
      <p:sp>
        <p:nvSpPr>
          <p:cNvPr id="4" name="Slide Number Placeholder 3"/>
          <p:cNvSpPr>
            <a:spLocks noGrp="1"/>
          </p:cNvSpPr>
          <p:nvPr>
            <p:ph type="sldNum" sz="quarter" idx="5"/>
          </p:nvPr>
        </p:nvSpPr>
        <p:spPr/>
        <p:txBody>
          <a:bodyPr/>
          <a:lstStyle/>
          <a:p>
            <a:fld id="{D4B9A9E5-4F7F-4A7D-9DE1-899232329269}" type="slidenum">
              <a:rPr lang="en-US" smtClean="0"/>
              <a:t>22</a:t>
            </a:fld>
            <a:endParaRPr lang="en-US" dirty="0"/>
          </a:p>
        </p:txBody>
      </p:sp>
    </p:spTree>
    <p:extLst>
      <p:ext uri="{BB962C8B-B14F-4D97-AF65-F5344CB8AC3E}">
        <p14:creationId xmlns:p14="http://schemas.microsoft.com/office/powerpoint/2010/main" val="16622631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However, there are practical difficulties in evaluating AI medical devices. </a:t>
            </a:r>
          </a:p>
          <a:p>
            <a:r>
              <a:rPr lang="en-US" dirty="0"/>
              <a:t>AI is </a:t>
            </a:r>
            <a:r>
              <a:rPr lang="en-US" b="1" dirty="0"/>
              <a:t>intangible</a:t>
            </a:r>
            <a:r>
              <a:rPr lang="en-US" dirty="0"/>
              <a:t>, and its effectiveness and function can vary over time — which causes difficulty in categorizing AI medical devices within the existing regulatory and reimbursement framework.</a:t>
            </a:r>
          </a:p>
          <a:p>
            <a:endParaRPr lang="en-US" dirty="0"/>
          </a:p>
          <a:p>
            <a:r>
              <a:rPr lang="en-US" dirty="0"/>
              <a:t>For </a:t>
            </a:r>
            <a:r>
              <a:rPr lang="en-US" b="1" dirty="0"/>
              <a:t>regulatory approval</a:t>
            </a:r>
            <a:r>
              <a:rPr lang="en-US" dirty="0"/>
              <a:t>, we need to determine: is this actually a medical device or not? If so, which class — from I to IV — does it fall under? And is it possible to do </a:t>
            </a:r>
            <a:r>
              <a:rPr lang="en-US" b="1" dirty="0"/>
              <a:t>test marketing</a:t>
            </a:r>
            <a:r>
              <a:rPr lang="en-US" dirty="0"/>
              <a:t> before the device is fully launched?</a:t>
            </a:r>
          </a:p>
          <a:p>
            <a:endParaRPr lang="en-US" dirty="0"/>
          </a:p>
          <a:p>
            <a:r>
              <a:rPr lang="en-US" dirty="0"/>
              <a:t>For </a:t>
            </a:r>
            <a:r>
              <a:rPr lang="en-US" b="1" dirty="0"/>
              <a:t>reimbursement listing</a:t>
            </a:r>
            <a:r>
              <a:rPr lang="en-US" dirty="0"/>
              <a:t>, the question is: which application category — A1 through C2 — applies? And given the sophistication of AI, is there any add-on evaluation beyond what we would apply to a typical tangible medical device?</a:t>
            </a:r>
          </a:p>
          <a:p>
            <a:endParaRPr lang="en-US" dirty="0"/>
          </a:p>
          <a:p>
            <a:r>
              <a:rPr lang="en-US" dirty="0"/>
              <a:t>And for </a:t>
            </a:r>
            <a:r>
              <a:rPr lang="en-US" b="1" dirty="0"/>
              <a:t>fee schedule revision</a:t>
            </a:r>
            <a:r>
              <a:rPr lang="en-US" dirty="0"/>
              <a:t>, if the AI medical device is upgraded after launch, is there any add-on re-evaluation mechanism for </a:t>
            </a:r>
            <a:r>
              <a:rPr lang="en-US" b="1" dirty="0"/>
              <a:t>post-marketing improvement</a:t>
            </a:r>
            <a:r>
              <a:rPr lang="en-US" dirty="0"/>
              <a:t>?</a:t>
            </a:r>
          </a:p>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23</a:t>
            </a:fld>
            <a:endParaRPr lang="en-US" dirty="0"/>
          </a:p>
        </p:txBody>
      </p:sp>
    </p:spTree>
    <p:extLst>
      <p:ext uri="{BB962C8B-B14F-4D97-AF65-F5344CB8AC3E}">
        <p14:creationId xmlns:p14="http://schemas.microsoft.com/office/powerpoint/2010/main" val="33254825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for the regulatory approval process for AI medical devices, as of September 2025, 51 AI medical devices had been approved. Many use image recognition, while more recent approvals have been granted to a wider variety of applications.</a:t>
            </a:r>
          </a:p>
          <a:p>
            <a:endParaRPr lang="en-US" dirty="0"/>
          </a:p>
          <a:p>
            <a:r>
              <a:rPr lang="en-US" dirty="0"/>
              <a:t>In the classification table: medical record creation via voice recognition and fitness apps are </a:t>
            </a:r>
            <a:r>
              <a:rPr lang="en-US" b="1" dirty="0"/>
              <a:t>not</a:t>
            </a:r>
            <a:r>
              <a:rPr lang="en-US" dirty="0"/>
              <a:t> considered medical devices, as there is no risk to the human body in the event of a malfunction.</a:t>
            </a:r>
          </a:p>
          <a:p>
            <a:endParaRPr lang="en-US" dirty="0"/>
          </a:p>
          <a:p>
            <a:r>
              <a:rPr lang="en-US" dirty="0"/>
              <a:t>AI medical devices typically fall into Class II or III. </a:t>
            </a:r>
          </a:p>
          <a:p>
            <a:r>
              <a:rPr lang="en-US" dirty="0"/>
              <a:t>Class II — relatively low risk — includes behavioral change apps and smartwatch irregular rhythm notifications, such as the Apple Watch arrhythmia alert. </a:t>
            </a:r>
          </a:p>
          <a:p>
            <a:r>
              <a:rPr lang="en-US" dirty="0"/>
              <a:t>Class III — relatively high risk — includes genetic mutation analysis, treatment planning support, surgery support, and device control programs. </a:t>
            </a:r>
          </a:p>
          <a:p>
            <a:r>
              <a:rPr lang="en-US" dirty="0"/>
              <a:t>Image diagnosis spans both Class II and III depending on the application. Class I and IV currently have no applicable AI medical devices.</a:t>
            </a:r>
          </a:p>
          <a:p>
            <a:endParaRPr lang="en-US" dirty="0"/>
          </a:p>
          <a:p>
            <a:r>
              <a:rPr lang="en-US" dirty="0"/>
              <a:t>Japan has also introduced a </a:t>
            </a:r>
            <a:r>
              <a:rPr lang="en-US" b="1" dirty="0"/>
              <a:t>two-stage approval system</a:t>
            </a:r>
            <a:r>
              <a:rPr lang="en-US" dirty="0"/>
              <a:t>. </a:t>
            </a:r>
          </a:p>
          <a:p>
            <a:r>
              <a:rPr lang="en-US" dirty="0"/>
              <a:t>In the first stage, manufacturers can launch in the market with a </a:t>
            </a:r>
            <a:r>
              <a:rPr lang="en-US" b="1" dirty="0"/>
              <a:t>limited intended use</a:t>
            </a:r>
            <a:r>
              <a:rPr lang="en-US" dirty="0"/>
              <a:t> in clinical settings. </a:t>
            </a:r>
          </a:p>
          <a:p>
            <a:r>
              <a:rPr lang="en-US" dirty="0"/>
              <a:t>Based on </a:t>
            </a:r>
            <a:r>
              <a:rPr lang="en-US" b="1" dirty="0"/>
              <a:t>real-world data</a:t>
            </a:r>
            <a:r>
              <a:rPr lang="en-US" dirty="0"/>
              <a:t> during this limited launch, manufacturers can then obtain second-stage approval for full market release. </a:t>
            </a:r>
          </a:p>
          <a:p>
            <a:r>
              <a:rPr lang="en-US" dirty="0"/>
              <a:t>This system can </a:t>
            </a:r>
            <a:r>
              <a:rPr lang="en-US" b="1" dirty="0"/>
              <a:t>shorten</a:t>
            </a:r>
            <a:r>
              <a:rPr lang="en-US" dirty="0"/>
              <a:t> the regulatory approval period — from over four years down to approximately one year.</a:t>
            </a:r>
          </a:p>
        </p:txBody>
      </p:sp>
      <p:sp>
        <p:nvSpPr>
          <p:cNvPr id="4" name="Slide Number Placeholder 3"/>
          <p:cNvSpPr>
            <a:spLocks noGrp="1"/>
          </p:cNvSpPr>
          <p:nvPr>
            <p:ph type="sldNum" sz="quarter" idx="5"/>
          </p:nvPr>
        </p:nvSpPr>
        <p:spPr/>
        <p:txBody>
          <a:bodyPr/>
          <a:lstStyle/>
          <a:p>
            <a:fld id="{D4B9A9E5-4F7F-4A7D-9DE1-899232329269}" type="slidenum">
              <a:rPr lang="en-US" smtClean="0"/>
              <a:t>24</a:t>
            </a:fld>
            <a:endParaRPr lang="en-US" dirty="0"/>
          </a:p>
        </p:txBody>
      </p:sp>
    </p:spTree>
    <p:extLst>
      <p:ext uri="{BB962C8B-B14F-4D97-AF65-F5344CB8AC3E}">
        <p14:creationId xmlns:p14="http://schemas.microsoft.com/office/powerpoint/2010/main" val="23242339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Reimbursement listing for AI medical devices is more complex than for conventional devices. The appropriate price remains unclear and is evaluated on a </a:t>
            </a:r>
            <a:r>
              <a:rPr lang="en-US" b="1" dirty="0"/>
              <a:t>case-by-case basis</a:t>
            </a:r>
            <a:r>
              <a:rPr lang="en-US" dirty="0"/>
              <a:t>.</a:t>
            </a:r>
          </a:p>
          <a:p>
            <a:endParaRPr lang="en-US" dirty="0"/>
          </a:p>
          <a:p>
            <a:r>
              <a:rPr lang="en-US" dirty="0"/>
              <a:t>For reimbursement listing, many AI medical devices are filed under Category C — requiring creating new </a:t>
            </a:r>
            <a:r>
              <a:rPr lang="en-US" b="1" dirty="0"/>
              <a:t>functional categories</a:t>
            </a:r>
            <a:r>
              <a:rPr lang="en-US" dirty="0"/>
              <a:t> in fee schedule — since there is no comparable existing technology. </a:t>
            </a:r>
          </a:p>
          <a:p>
            <a:r>
              <a:rPr lang="en-US" dirty="0"/>
              <a:t>While the </a:t>
            </a:r>
            <a:r>
              <a:rPr lang="en-US" b="1" dirty="0"/>
              <a:t>cost-based method</a:t>
            </a:r>
            <a:r>
              <a:rPr lang="en-US" dirty="0"/>
              <a:t> is the principle for devices with no comparators, the definition of 'costs' remains ambiguous. Industries are advocating for the inclusion of server management fees and cybersecurity costs, but evaluations remain on a case-by-case basis.</a:t>
            </a:r>
          </a:p>
          <a:p>
            <a:r>
              <a:rPr lang="en-US" dirty="0"/>
              <a:t>In practice, most devices currently secure reimbursement via the </a:t>
            </a:r>
            <a:r>
              <a:rPr lang="en-US" b="1" dirty="0"/>
              <a:t>Comparison Method plus add-on premiums</a:t>
            </a:r>
            <a:r>
              <a:rPr lang="en-US" dirty="0"/>
              <a:t>, even when no truly similar product exists. It is also now possible for healthcare providers to claim specialized fees such as 'Program Management Fees' or 'Program Guidance Fees' as add-ons — and here, 'program’ means the software as a medical device.</a:t>
            </a:r>
          </a:p>
          <a:p>
            <a:endParaRPr lang="en-US" dirty="0"/>
          </a:p>
          <a:p>
            <a:r>
              <a:rPr lang="en-US" dirty="0"/>
              <a:t>There is also a so-called </a:t>
            </a:r>
            <a:r>
              <a:rPr lang="en-US" b="1" dirty="0"/>
              <a:t>Challenge Application System</a:t>
            </a:r>
            <a:r>
              <a:rPr lang="en-US" dirty="0"/>
              <a:t> — a mechanism to re-evaluate points after listing, based on real-world clinical performance. However, this system requires high-level clinical evidence, such as </a:t>
            </a:r>
            <a:r>
              <a:rPr lang="en-US" b="1" dirty="0"/>
              <a:t>peer-reviewed publications</a:t>
            </a:r>
            <a:r>
              <a:rPr lang="en-US" dirty="0"/>
              <a:t>. Due to this rigor, some manufacturers end up </a:t>
            </a:r>
            <a:r>
              <a:rPr lang="en-US" b="1" dirty="0"/>
              <a:t>withdrawing</a:t>
            </a:r>
            <a:r>
              <a:rPr lang="en-US" dirty="0"/>
              <a:t> their applications.</a:t>
            </a:r>
          </a:p>
          <a:p>
            <a:endParaRPr lang="en-US" altLang="ja-JP" dirty="0"/>
          </a:p>
          <a:p>
            <a:endParaRPr lang="en-US" altLang="ja-JP" dirty="0"/>
          </a:p>
          <a:p>
            <a:r>
              <a:rPr lang="en-US" altLang="ja-JP" dirty="0"/>
              <a:t>https://gemmed.ghc-j.com/?p=69724</a:t>
            </a:r>
          </a:p>
        </p:txBody>
      </p:sp>
      <p:sp>
        <p:nvSpPr>
          <p:cNvPr id="4" name="Slide Number Placeholder 3"/>
          <p:cNvSpPr>
            <a:spLocks noGrp="1"/>
          </p:cNvSpPr>
          <p:nvPr>
            <p:ph type="sldNum" sz="quarter" idx="5"/>
          </p:nvPr>
        </p:nvSpPr>
        <p:spPr/>
        <p:txBody>
          <a:bodyPr/>
          <a:lstStyle/>
          <a:p>
            <a:fld id="{D4B9A9E5-4F7F-4A7D-9DE1-899232329269}" type="slidenum">
              <a:rPr lang="en-US" smtClean="0"/>
              <a:t>25</a:t>
            </a:fld>
            <a:endParaRPr lang="en-US" dirty="0"/>
          </a:p>
        </p:txBody>
      </p:sp>
    </p:spTree>
    <p:extLst>
      <p:ext uri="{BB962C8B-B14F-4D97-AF65-F5344CB8AC3E}">
        <p14:creationId xmlns:p14="http://schemas.microsoft.com/office/powerpoint/2010/main" val="4445157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AAB84-3724-DDEC-C657-781FB09358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5AAFCF-2C4A-D7C2-5345-73C5D03EEA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57E88E-5008-223A-C5D0-EA374DC64903}"/>
              </a:ext>
            </a:extLst>
          </p:cNvPr>
          <p:cNvSpPr>
            <a:spLocks noGrp="1"/>
          </p:cNvSpPr>
          <p:nvPr>
            <p:ph type="body" idx="1"/>
          </p:nvPr>
        </p:nvSpPr>
        <p:spPr/>
        <p:txBody>
          <a:bodyPr/>
          <a:lstStyle/>
          <a:p>
            <a:r>
              <a:rPr lang="en-US" dirty="0"/>
              <a:t>Let me give you two examples. </a:t>
            </a:r>
          </a:p>
          <a:p>
            <a:r>
              <a:rPr lang="en-US" dirty="0"/>
              <a:t>The first is </a:t>
            </a:r>
            <a:r>
              <a:rPr lang="en-US" dirty="0" err="1"/>
              <a:t>EndoBRAIN</a:t>
            </a:r>
            <a:r>
              <a:rPr lang="en-US" dirty="0"/>
              <a:t>-EYE, an AI-based endoscopic image recognition system. </a:t>
            </a:r>
          </a:p>
          <a:p>
            <a:r>
              <a:rPr lang="en-US" dirty="0"/>
              <a:t>The AI analyzes endoscopic images in real time during a colonoscopy. When the system detects a potential lesion — a </a:t>
            </a:r>
            <a:r>
              <a:rPr lang="en-US" b="1" dirty="0"/>
              <a:t>polyp</a:t>
            </a:r>
            <a:r>
              <a:rPr lang="en-US" dirty="0"/>
              <a:t> — it triggers an alert to assist the physician in identifying abnormalities.</a:t>
            </a:r>
          </a:p>
          <a:p>
            <a:endParaRPr lang="en-US" dirty="0"/>
          </a:p>
          <a:p>
            <a:r>
              <a:rPr lang="en-US" dirty="0"/>
              <a:t>This product received initial approval as a Class II. At that stage, it provided alerts for polyp detection without </a:t>
            </a:r>
            <a:r>
              <a:rPr lang="en-US" b="1" dirty="0"/>
              <a:t>pinpointing</a:t>
            </a:r>
            <a:r>
              <a:rPr lang="en-US" dirty="0"/>
              <a:t> the location — so the physician knew a lesion might be present, but not exactly where. </a:t>
            </a:r>
          </a:p>
          <a:p>
            <a:r>
              <a:rPr lang="en-US" dirty="0"/>
              <a:t>One year later, it received a </a:t>
            </a:r>
            <a:r>
              <a:rPr lang="en-US" b="1" dirty="0"/>
              <a:t>partial revision</a:t>
            </a:r>
            <a:r>
              <a:rPr lang="en-US" dirty="0"/>
              <a:t> approval, adding a rectangular box displaying the lesion </a:t>
            </a:r>
            <a:r>
              <a:rPr lang="en-US" b="0" dirty="0"/>
              <a:t>location</a:t>
            </a:r>
            <a:r>
              <a:rPr lang="en-US" dirty="0"/>
              <a:t> and a speedometer to encourage optimal endoscope movement.</a:t>
            </a:r>
          </a:p>
          <a:p>
            <a:endParaRPr lang="en-US" dirty="0"/>
          </a:p>
          <a:p>
            <a:r>
              <a:rPr lang="en-US" dirty="0"/>
              <a:t>For reimbursement, it was initially listed under Category A1, meaning the existing service fee points, around 1,550 points around 100 dollars, already covered the product. In other words, the hospital received the same points whether or not the AI was used — so there was essentially no financial incentive for hospitals to adopt it, despite a software cost of approximately 1.5 million yen, around 9.5 thousand dollars.</a:t>
            </a:r>
          </a:p>
          <a:p>
            <a:endParaRPr lang="en-US" dirty="0"/>
          </a:p>
          <a:p>
            <a:r>
              <a:rPr lang="en-US" dirty="0"/>
              <a:t>The manufacturer then submitted a Challenge Application, providing </a:t>
            </a:r>
            <a:r>
              <a:rPr lang="en-US" b="1" dirty="0"/>
              <a:t>peer-reviewed</a:t>
            </a:r>
            <a:r>
              <a:rPr lang="en-US" dirty="0"/>
              <a:t> data showing an improved </a:t>
            </a:r>
            <a:r>
              <a:rPr lang="en-US" b="1" dirty="0"/>
              <a:t>adenoma detection rate</a:t>
            </a:r>
            <a:r>
              <a:rPr lang="en-US" dirty="0"/>
              <a:t>. This time, the device was evaluated as C2 — a new functional category — and an add-on of 60 points, roughly 4 US dollars, can now be charged when the AI assists in detection and </a:t>
            </a:r>
            <a:r>
              <a:rPr lang="en-US" b="1" dirty="0"/>
              <a:t>subsequent surgery</a:t>
            </a:r>
            <a:r>
              <a:rPr lang="en-US" dirty="0"/>
              <a:t>.</a:t>
            </a:r>
          </a:p>
          <a:p>
            <a:br>
              <a:rPr lang="en-US" dirty="0"/>
            </a:br>
            <a:r>
              <a:rPr lang="en-US" dirty="0"/>
              <a:t>But is this actually a good outcome? </a:t>
            </a:r>
          </a:p>
          <a:p>
            <a:r>
              <a:rPr lang="en-US" dirty="0"/>
              <a:t>AI increases polyp detection — but polyps are very common, particularly in people over 50, where prevalence can be around 40%. Not all polyps develop into cancer. And without surgery, the hospital cannot charge the add-on fee at all. This creates an incentive for </a:t>
            </a:r>
            <a:r>
              <a:rPr lang="en-US" b="1" dirty="0"/>
              <a:t>overtreatment.</a:t>
            </a:r>
            <a:r>
              <a:rPr lang="en-US" dirty="0"/>
              <a:t> And it could ultimately drive up overall healthcare spending.</a:t>
            </a:r>
          </a:p>
          <a:p>
            <a:endParaRPr lang="en-US" altLang="ja-JP" dirty="0"/>
          </a:p>
          <a:p>
            <a:endParaRPr lang="en-US" altLang="ja-JP" dirty="0"/>
          </a:p>
          <a:p>
            <a:endParaRPr lang="en-US" altLang="ja-JP" dirty="0"/>
          </a:p>
          <a:p>
            <a:endParaRPr lang="en-US" altLang="ja-JP" dirty="0"/>
          </a:p>
          <a:p>
            <a:r>
              <a:rPr lang="ja-JP" altLang="en-US" dirty="0"/>
              <a:t>検出した病変の位置まで特定することはせずに、音と画面上の色によって医師に警告を発するにとどめた。</a:t>
            </a:r>
          </a:p>
          <a:p>
            <a:r>
              <a:rPr lang="en-US" altLang="ja-JP" dirty="0"/>
              <a:t>https://www.amed.go.jp/news/release_20200129.html</a:t>
            </a:r>
          </a:p>
          <a:p>
            <a:r>
              <a:rPr lang="ja-JP" altLang="en-US" dirty="0"/>
              <a:t>病変位置を矩形表示することで位置特定を容易にすると共に、ソフトウェアに適した速度での内視鏡画像の移動を促すスピードメーターも追加</a:t>
            </a:r>
          </a:p>
          <a:p>
            <a:r>
              <a:rPr lang="en-US" altLang="ja-JP" dirty="0"/>
              <a:t>https://www.cybernet.co.jp/company/about/news/press/2021/20210420.html</a:t>
            </a:r>
          </a:p>
          <a:p>
            <a:endParaRPr lang="en-US" altLang="ja-JP" dirty="0"/>
          </a:p>
          <a:p>
            <a:r>
              <a:rPr lang="ja-JP" altLang="en-US" dirty="0"/>
              <a:t>当時は</a:t>
            </a:r>
            <a:r>
              <a:rPr lang="en-US" altLang="ja-JP" dirty="0"/>
              <a:t>A1</a:t>
            </a:r>
            <a:r>
              <a:rPr lang="ja-JP" altLang="en-US" dirty="0"/>
              <a:t>として包括で評価</a:t>
            </a:r>
          </a:p>
          <a:p>
            <a:r>
              <a:rPr lang="ja-JP" altLang="en-US" dirty="0"/>
              <a:t>医師はこの機器を使っても使わなくても同じ点数しか請求できない</a:t>
            </a:r>
          </a:p>
          <a:p>
            <a:r>
              <a:rPr lang="ja-JP" altLang="en-US" dirty="0"/>
              <a:t>＜参考＞</a:t>
            </a:r>
          </a:p>
          <a:p>
            <a:r>
              <a:rPr lang="ja-JP" altLang="en-US" dirty="0"/>
              <a:t>Ｄ３１３ 大腸内視鏡検査</a:t>
            </a:r>
          </a:p>
          <a:p>
            <a:r>
              <a:rPr lang="ja-JP" altLang="en-US" dirty="0"/>
              <a:t>１ ファイバースコピーによるもの </a:t>
            </a:r>
          </a:p>
          <a:p>
            <a:r>
              <a:rPr lang="ja-JP" altLang="en-US" dirty="0"/>
              <a:t>イ Ｓ状結腸 </a:t>
            </a:r>
            <a:r>
              <a:rPr lang="en-US" altLang="ja-JP" dirty="0"/>
              <a:t>900</a:t>
            </a:r>
            <a:r>
              <a:rPr lang="ja-JP" altLang="en-US" dirty="0"/>
              <a:t>点 </a:t>
            </a:r>
          </a:p>
          <a:p>
            <a:r>
              <a:rPr lang="ja-JP" altLang="en-US" dirty="0"/>
              <a:t>ロ 下行結腸及び横行結腸 </a:t>
            </a:r>
            <a:r>
              <a:rPr lang="en-US" altLang="ja-JP" dirty="0"/>
              <a:t>1350</a:t>
            </a:r>
            <a:r>
              <a:rPr lang="ja-JP" altLang="en-US" dirty="0"/>
              <a:t>点 </a:t>
            </a:r>
          </a:p>
          <a:p>
            <a:r>
              <a:rPr lang="ja-JP" altLang="en-US" dirty="0"/>
              <a:t>ハ 上行結腸及び盲腸 </a:t>
            </a:r>
            <a:r>
              <a:rPr lang="en-US" altLang="ja-JP" dirty="0"/>
              <a:t>1550</a:t>
            </a:r>
            <a:r>
              <a:rPr lang="ja-JP" altLang="en-US" dirty="0"/>
              <a:t>点 </a:t>
            </a:r>
          </a:p>
          <a:p>
            <a:r>
              <a:rPr lang="ja-JP" altLang="en-US" dirty="0"/>
              <a:t>２ カプセル型内視鏡によるもの </a:t>
            </a:r>
            <a:r>
              <a:rPr lang="en-US" altLang="ja-JP" dirty="0"/>
              <a:t>1550</a:t>
            </a:r>
            <a:r>
              <a:rPr lang="ja-JP" altLang="en-US" dirty="0"/>
              <a:t>点</a:t>
            </a:r>
          </a:p>
          <a:p>
            <a:r>
              <a:rPr lang="en-US" altLang="ja-JP" dirty="0"/>
              <a:t>https://shirobon.net/medicalfee/latest/ika/r06_ika/r06i_ch2/r06i2_pa3/r06i23_sec3/r06i233_cls12/r06i233c_D313.html</a:t>
            </a:r>
          </a:p>
          <a:p>
            <a:endParaRPr lang="en-US" altLang="ja-JP" dirty="0"/>
          </a:p>
          <a:p>
            <a:endParaRPr lang="en-US" altLang="ja-JP" dirty="0"/>
          </a:p>
          <a:p>
            <a:r>
              <a:rPr lang="ja-JP" altLang="en-US" dirty="0"/>
              <a:t>チャレンジ申請</a:t>
            </a:r>
          </a:p>
          <a:p>
            <a:r>
              <a:rPr lang="ja-JP" altLang="en-US" dirty="0"/>
              <a:t>論文を提出</a:t>
            </a:r>
            <a:r>
              <a:rPr lang="en-US" altLang="ja-JP" dirty="0"/>
              <a:t>Ishiyama M, Kudo S, et al. </a:t>
            </a:r>
            <a:r>
              <a:rPr lang="en-US" altLang="ja-JP" dirty="0" err="1"/>
              <a:t>Gastrointest</a:t>
            </a:r>
            <a:r>
              <a:rPr lang="en-US" altLang="ja-JP" dirty="0"/>
              <a:t> </a:t>
            </a:r>
            <a:r>
              <a:rPr lang="en-US" altLang="ja-JP" dirty="0" err="1"/>
              <a:t>Endosc</a:t>
            </a:r>
            <a:r>
              <a:rPr lang="en-US" altLang="ja-JP" dirty="0"/>
              <a:t> 2022;95:155-63</a:t>
            </a:r>
          </a:p>
          <a:p>
            <a:r>
              <a:rPr lang="ja-JP" altLang="en-US" dirty="0"/>
              <a:t>有用性</a:t>
            </a:r>
          </a:p>
          <a:p>
            <a:r>
              <a:rPr lang="ja-JP" altLang="en-US" dirty="0"/>
              <a:t>大腸内視鏡検査あたりの腫瘍検出率（</a:t>
            </a:r>
            <a:r>
              <a:rPr lang="en-US" altLang="ja-JP" dirty="0"/>
              <a:t>ADR</a:t>
            </a:r>
            <a:r>
              <a:rPr lang="ja-JP" altLang="en-US" dirty="0"/>
              <a:t>）が有意に向上し、前癌病変の早期切除が可能となる。</a:t>
            </a:r>
          </a:p>
          <a:p>
            <a:r>
              <a:rPr lang="en-US" altLang="ja-JP" dirty="0"/>
              <a:t>2024</a:t>
            </a:r>
            <a:r>
              <a:rPr lang="ja-JP" altLang="en-US" dirty="0"/>
              <a:t>年</a:t>
            </a:r>
            <a:r>
              <a:rPr lang="en-US" altLang="ja-JP" dirty="0"/>
              <a:t>2</a:t>
            </a:r>
            <a:r>
              <a:rPr lang="ja-JP" altLang="en-US" dirty="0"/>
              <a:t>月チャレンジ申請で「区分</a:t>
            </a:r>
            <a:r>
              <a:rPr lang="en-US" altLang="ja-JP" dirty="0"/>
              <a:t>C2</a:t>
            </a:r>
            <a:r>
              <a:rPr lang="ja-JP" altLang="en-US" dirty="0"/>
              <a:t>（新機能・新技術）」</a:t>
            </a:r>
          </a:p>
          <a:p>
            <a:r>
              <a:rPr lang="ja-JP" altLang="en-US" dirty="0"/>
              <a:t>本製品を用いて大腸癌・ポリープ等の病変を検出し内視鏡手術を行った場合、技術料として保険点数が</a:t>
            </a:r>
            <a:r>
              <a:rPr lang="en-US" altLang="ja-JP" dirty="0"/>
              <a:t>60</a:t>
            </a:r>
            <a:r>
              <a:rPr lang="ja-JP" altLang="en-US" dirty="0"/>
              <a:t>点加算</a:t>
            </a:r>
          </a:p>
          <a:p>
            <a:r>
              <a:rPr lang="ja-JP" altLang="en-US" dirty="0"/>
              <a:t>Ｋ７２１ 内視鏡的大腸ポリープ・粘膜切除術　</a:t>
            </a:r>
            <a:r>
              <a:rPr lang="en-US" altLang="ja-JP" dirty="0"/>
              <a:t>60</a:t>
            </a:r>
            <a:r>
              <a:rPr lang="ja-JP" altLang="en-US" dirty="0"/>
              <a:t>点</a:t>
            </a:r>
          </a:p>
          <a:p>
            <a:endParaRPr lang="ja-JP" altLang="en-US" dirty="0"/>
          </a:p>
          <a:p>
            <a:r>
              <a:rPr lang="ja-JP" altLang="en-US" dirty="0"/>
              <a:t>ソフトウェアの販売価格は約</a:t>
            </a:r>
            <a:r>
              <a:rPr lang="en-US" altLang="ja-JP" dirty="0"/>
              <a:t>150</a:t>
            </a:r>
            <a:r>
              <a:rPr lang="ja-JP" altLang="en-US" dirty="0"/>
              <a:t>万円</a:t>
            </a:r>
          </a:p>
          <a:p>
            <a:r>
              <a:rPr lang="en-US" altLang="ja-JP" dirty="0"/>
              <a:t>https://www.data-max.co.jp/article/39367</a:t>
            </a:r>
          </a:p>
          <a:p>
            <a:endParaRPr lang="en-US" altLang="ja-JP" dirty="0"/>
          </a:p>
          <a:p>
            <a:r>
              <a:rPr lang="en-US" altLang="ja-JP" dirty="0"/>
              <a:t>Colon polyps are common, especially as you get older. They affect about 20% of adults overall and about 40% over the age of 50</a:t>
            </a:r>
          </a:p>
          <a:p>
            <a:r>
              <a:rPr lang="en-US" altLang="ja-JP" dirty="0"/>
              <a:t>https://my.clevelandclinic.org/health/diseases/15370-colon-polyps</a:t>
            </a:r>
          </a:p>
        </p:txBody>
      </p:sp>
      <p:sp>
        <p:nvSpPr>
          <p:cNvPr id="4" name="Slide Number Placeholder 3">
            <a:extLst>
              <a:ext uri="{FF2B5EF4-FFF2-40B4-BE49-F238E27FC236}">
                <a16:creationId xmlns:a16="http://schemas.microsoft.com/office/drawing/2014/main" id="{121B912A-BFF6-7852-B62F-8447A35AFACF}"/>
              </a:ext>
            </a:extLst>
          </p:cNvPr>
          <p:cNvSpPr>
            <a:spLocks noGrp="1"/>
          </p:cNvSpPr>
          <p:nvPr>
            <p:ph type="sldNum" sz="quarter" idx="5"/>
          </p:nvPr>
        </p:nvSpPr>
        <p:spPr/>
        <p:txBody>
          <a:bodyPr/>
          <a:lstStyle/>
          <a:p>
            <a:fld id="{D4B9A9E5-4F7F-4A7D-9DE1-899232329269}" type="slidenum">
              <a:rPr lang="en-US" smtClean="0"/>
              <a:t>26</a:t>
            </a:fld>
            <a:endParaRPr lang="en-US" dirty="0"/>
          </a:p>
        </p:txBody>
      </p:sp>
    </p:spTree>
    <p:extLst>
      <p:ext uri="{BB962C8B-B14F-4D97-AF65-F5344CB8AC3E}">
        <p14:creationId xmlns:p14="http://schemas.microsoft.com/office/powerpoint/2010/main" val="26871734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59A38-10F6-63B4-51DC-054A365FC4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7DE6DD-DF3E-59BC-7EBC-9C9B73285E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85B826-2694-5645-28AF-5E3A3458BCAC}"/>
              </a:ext>
            </a:extLst>
          </p:cNvPr>
          <p:cNvSpPr>
            <a:spLocks noGrp="1"/>
          </p:cNvSpPr>
          <p:nvPr>
            <p:ph type="body" idx="1"/>
          </p:nvPr>
        </p:nvSpPr>
        <p:spPr/>
        <p:txBody>
          <a:bodyPr/>
          <a:lstStyle/>
          <a:p>
            <a:r>
              <a:rPr lang="en-US" dirty="0"/>
              <a:t>The second example is </a:t>
            </a:r>
            <a:r>
              <a:rPr lang="en-US" b="1" dirty="0" err="1"/>
              <a:t>CureApp</a:t>
            </a:r>
            <a:r>
              <a:rPr lang="en-US" b="1" dirty="0"/>
              <a:t> SC</a:t>
            </a:r>
            <a:r>
              <a:rPr lang="en-US" dirty="0"/>
              <a:t>, an app-based treatment for smoking cessation. </a:t>
            </a:r>
          </a:p>
          <a:p>
            <a:r>
              <a:rPr lang="en-US" dirty="0"/>
              <a:t>It addresses psychological dependence on nicotine through AI-driven personalized messages and videos. </a:t>
            </a:r>
          </a:p>
          <a:p>
            <a:r>
              <a:rPr lang="en-US" dirty="0"/>
              <a:t>The system consists of a patient app, a portable </a:t>
            </a:r>
            <a:r>
              <a:rPr lang="en-US" b="1" dirty="0"/>
              <a:t>CO checker</a:t>
            </a:r>
            <a:r>
              <a:rPr lang="en-US" dirty="0"/>
              <a:t> — which measures carbon monoxide in the breath in real time — and a physician monitoring app.</a:t>
            </a:r>
          </a:p>
          <a:p>
            <a:endParaRPr lang="en-US" dirty="0"/>
          </a:p>
          <a:p>
            <a:r>
              <a:rPr lang="en-US" dirty="0"/>
              <a:t>It received Class II approval, </a:t>
            </a:r>
          </a:p>
          <a:p>
            <a:endParaRPr lang="en-US" dirty="0"/>
          </a:p>
          <a:p>
            <a:r>
              <a:rPr lang="en-US" dirty="0"/>
              <a:t>and </a:t>
            </a:r>
            <a:r>
              <a:rPr lang="en-US" b="1" dirty="0"/>
              <a:t>reimbursement listing</a:t>
            </a:r>
            <a:r>
              <a:rPr lang="en-US" dirty="0"/>
              <a:t>, under Category C2.</a:t>
            </a:r>
          </a:p>
          <a:p>
            <a:r>
              <a:rPr lang="en-US" dirty="0"/>
              <a:t>The fee structure includes an add-on for </a:t>
            </a:r>
            <a:r>
              <a:rPr lang="en-US" b="1" dirty="0"/>
              <a:t>Program Guidance Fees</a:t>
            </a:r>
            <a:r>
              <a:rPr lang="en-US" dirty="0"/>
              <a:t> of 140 points, roughly 9 dollars, for instruction on system use to patients, plus a system add-on fee of 2,400 points — approximately 151 dollars — to cover the cost of the software and device.</a:t>
            </a:r>
          </a:p>
          <a:p>
            <a:endParaRPr lang="en-US" dirty="0"/>
          </a:p>
          <a:p>
            <a:r>
              <a:rPr lang="en-US" dirty="0"/>
              <a:t>Here is where it gets interesting. The </a:t>
            </a:r>
            <a:r>
              <a:rPr lang="en-US" b="1" dirty="0"/>
              <a:t>reference device</a:t>
            </a:r>
            <a:r>
              <a:rPr lang="en-US" dirty="0"/>
              <a:t> used for pricing was an implantable neurostimulator — a device used for patients with implanted neurostimulation systems in the brain, spinal cord, or </a:t>
            </a:r>
            <a:r>
              <a:rPr lang="en-US" dirty="0" err="1"/>
              <a:t>vagus</a:t>
            </a:r>
            <a:r>
              <a:rPr lang="en-US" dirty="0"/>
              <a:t> nerve, for home-based management of chronic pain, tremors, or epilepsy.</a:t>
            </a:r>
          </a:p>
          <a:p>
            <a:br>
              <a:rPr lang="en-US" dirty="0"/>
            </a:br>
            <a:r>
              <a:rPr lang="en-US" dirty="0"/>
              <a:t>This raises a question: does a smartphone app and a CO breath checker truly hold the same value as an implantable neurostimulator? The comparator here is a highly invasive, surgically implanted device. Is it appropriate to use that as the pricing reference for a mobile app? </a:t>
            </a:r>
          </a:p>
          <a:p>
            <a:r>
              <a:rPr lang="en-US" dirty="0"/>
              <a:t>I think this is a concern about how the current comparison methods are being applied to novel digital therapeutics.</a:t>
            </a:r>
          </a:p>
          <a:p>
            <a:endParaRPr lang="en-US" altLang="ja-JP" dirty="0"/>
          </a:p>
          <a:p>
            <a:endParaRPr lang="en-US" altLang="ja-JP" dirty="0"/>
          </a:p>
          <a:p>
            <a:endParaRPr lang="ja-JP" altLang="en-US" dirty="0"/>
          </a:p>
          <a:p>
            <a:r>
              <a:rPr lang="ja-JP" altLang="en-US" dirty="0"/>
              <a:t>クラス</a:t>
            </a:r>
            <a:r>
              <a:rPr lang="en-US" altLang="ja-JP" dirty="0"/>
              <a:t>II</a:t>
            </a:r>
            <a:r>
              <a:rPr lang="ja-JP" altLang="en-US" dirty="0"/>
              <a:t>・管理医療機器として</a:t>
            </a:r>
            <a:r>
              <a:rPr lang="en-US" altLang="ja-JP" dirty="0"/>
              <a:t>2020</a:t>
            </a:r>
            <a:r>
              <a:rPr lang="ja-JP" altLang="en-US" dirty="0"/>
              <a:t>年</a:t>
            </a:r>
            <a:r>
              <a:rPr lang="en-US" altLang="ja-JP" dirty="0"/>
              <a:t>8</a:t>
            </a:r>
            <a:r>
              <a:rPr lang="ja-JP" altLang="en-US" dirty="0"/>
              <a:t>月に承認を取得</a:t>
            </a:r>
          </a:p>
          <a:p>
            <a:r>
              <a:rPr lang="en-US" altLang="ja-JP" dirty="0"/>
              <a:t>https://www.pmda.go.jp/medical_devices/2020/M20200911001/230909000_30200BZX00271000_C100_1.pdf</a:t>
            </a:r>
          </a:p>
          <a:p>
            <a:r>
              <a:rPr lang="en-US" altLang="ja-JP" dirty="0"/>
              <a:t>2020</a:t>
            </a:r>
            <a:r>
              <a:rPr lang="ja-JP" altLang="en-US" dirty="0"/>
              <a:t>年</a:t>
            </a:r>
            <a:r>
              <a:rPr lang="en-US" altLang="ja-JP" dirty="0"/>
              <a:t>12</a:t>
            </a:r>
            <a:r>
              <a:rPr lang="ja-JP" altLang="en-US" dirty="0"/>
              <a:t>月「区分</a:t>
            </a:r>
            <a:r>
              <a:rPr lang="en-US" altLang="ja-JP" dirty="0"/>
              <a:t>C2</a:t>
            </a:r>
            <a:r>
              <a:rPr lang="ja-JP" altLang="en-US" dirty="0"/>
              <a:t>（新機能・新技術）」で保険適用</a:t>
            </a:r>
            <a:endParaRPr lang="en-US" altLang="ja-JP" dirty="0"/>
          </a:p>
          <a:p>
            <a:r>
              <a:rPr lang="en-US" altLang="ja-JP" dirty="0"/>
              <a:t>B001-3-2 </a:t>
            </a:r>
            <a:r>
              <a:rPr lang="ja-JP" altLang="en-US" dirty="0"/>
              <a:t>ニコチン依存症管理料</a:t>
            </a:r>
          </a:p>
          <a:p>
            <a:r>
              <a:rPr lang="ja-JP" altLang="en-US" dirty="0"/>
              <a:t>１ ニコチン依存症管理料１</a:t>
            </a:r>
          </a:p>
          <a:p>
            <a:r>
              <a:rPr lang="ja-JP" altLang="en-US" dirty="0"/>
              <a:t>イ 初回 </a:t>
            </a:r>
            <a:r>
              <a:rPr lang="en-US" altLang="ja-JP" dirty="0"/>
              <a:t>230 </a:t>
            </a:r>
            <a:r>
              <a:rPr lang="ja-JP" altLang="en-US" dirty="0"/>
              <a:t>点</a:t>
            </a:r>
          </a:p>
          <a:p>
            <a:r>
              <a:rPr lang="ja-JP" altLang="en-US" dirty="0"/>
              <a:t>ロ ２回目から４回目まで</a:t>
            </a:r>
          </a:p>
          <a:p>
            <a:r>
              <a:rPr lang="ja-JP" altLang="en-US" dirty="0"/>
              <a:t>（１）対面で行った場合 </a:t>
            </a:r>
            <a:r>
              <a:rPr lang="en-US" altLang="ja-JP" dirty="0"/>
              <a:t>184 </a:t>
            </a:r>
            <a:r>
              <a:rPr lang="ja-JP" altLang="en-US" dirty="0"/>
              <a:t>点</a:t>
            </a:r>
          </a:p>
          <a:p>
            <a:r>
              <a:rPr lang="ja-JP" altLang="en-US" dirty="0"/>
              <a:t>（２）情報通信機器を用いた場合 </a:t>
            </a:r>
            <a:r>
              <a:rPr lang="en-US" altLang="ja-JP" dirty="0"/>
              <a:t>155 </a:t>
            </a:r>
            <a:r>
              <a:rPr lang="ja-JP" altLang="en-US" dirty="0"/>
              <a:t>点</a:t>
            </a:r>
          </a:p>
          <a:p>
            <a:r>
              <a:rPr lang="ja-JP" altLang="en-US" dirty="0"/>
              <a:t>ハ ５回目 </a:t>
            </a:r>
            <a:r>
              <a:rPr lang="en-US" altLang="ja-JP" dirty="0"/>
              <a:t>180 </a:t>
            </a:r>
            <a:r>
              <a:rPr lang="ja-JP" altLang="en-US" dirty="0"/>
              <a:t>点</a:t>
            </a:r>
          </a:p>
          <a:p>
            <a:r>
              <a:rPr lang="ja-JP" altLang="en-US" dirty="0"/>
              <a:t>２ ニコチン依存症管理料２（一連につき） </a:t>
            </a:r>
            <a:r>
              <a:rPr lang="en-US" altLang="ja-JP" dirty="0"/>
              <a:t>800 </a:t>
            </a:r>
            <a:r>
              <a:rPr lang="ja-JP" altLang="en-US" dirty="0"/>
              <a:t>点</a:t>
            </a:r>
            <a:endParaRPr lang="en-US" altLang="ja-JP" dirty="0"/>
          </a:p>
          <a:p>
            <a:endParaRPr lang="en-US" altLang="ja-JP" dirty="0"/>
          </a:p>
          <a:p>
            <a:r>
              <a:rPr lang="ja-JP" altLang="en-US" dirty="0"/>
              <a:t>患者が自分で使う機器に対しては指導料と機器の価格を請求できる</a:t>
            </a:r>
            <a:endParaRPr lang="en-US" altLang="ja-JP" dirty="0"/>
          </a:p>
          <a:p>
            <a:r>
              <a:rPr lang="en-US" altLang="ja-JP" dirty="0"/>
              <a:t>https://www.mhlw.go.jp/content/12404000/001168428.pdf</a:t>
            </a:r>
          </a:p>
          <a:p>
            <a:r>
              <a:rPr lang="en-US" altLang="ja-JP" dirty="0"/>
              <a:t>B100</a:t>
            </a:r>
          </a:p>
          <a:p>
            <a:r>
              <a:rPr lang="ja-JP" altLang="en-US" dirty="0"/>
              <a:t>禁煙治療補助システム指導管理加算 </a:t>
            </a:r>
            <a:r>
              <a:rPr lang="en-US" altLang="ja-JP" dirty="0"/>
              <a:t>140</a:t>
            </a:r>
            <a:r>
              <a:rPr lang="ja-JP" altLang="en-US" dirty="0"/>
              <a:t>点</a:t>
            </a:r>
          </a:p>
          <a:p>
            <a:r>
              <a:rPr lang="ja-JP" altLang="en-US" dirty="0"/>
              <a:t>禁煙治療補助システム加算 </a:t>
            </a:r>
            <a:r>
              <a:rPr lang="en-US" altLang="ja-JP" dirty="0"/>
              <a:t>2,400</a:t>
            </a:r>
            <a:r>
              <a:rPr lang="ja-JP" altLang="en-US" dirty="0"/>
              <a:t>点</a:t>
            </a:r>
            <a:endParaRPr lang="en-US" altLang="ja-JP" dirty="0"/>
          </a:p>
          <a:p>
            <a:endParaRPr lang="en-US" altLang="ja-JP" dirty="0"/>
          </a:p>
          <a:p>
            <a:r>
              <a:rPr lang="ja-JP" altLang="en-US" dirty="0"/>
              <a:t>これを参考にして価格が設定された</a:t>
            </a:r>
            <a:endParaRPr lang="en-US" altLang="ja-JP" dirty="0"/>
          </a:p>
          <a:p>
            <a:r>
              <a:rPr lang="en-US" altLang="ja-JP" dirty="0"/>
              <a:t>https://www.mhlw.go.jp/content/12404000/000693018.pdf</a:t>
            </a:r>
          </a:p>
          <a:p>
            <a:r>
              <a:rPr lang="en-US" altLang="ja-JP" dirty="0"/>
              <a:t>C110-2 </a:t>
            </a:r>
            <a:r>
              <a:rPr lang="ja-JP" altLang="en-US" dirty="0"/>
              <a:t>在宅振戦等刺激装置治療指導管理料</a:t>
            </a:r>
          </a:p>
          <a:p>
            <a:r>
              <a:rPr lang="ja-JP" altLang="en-US" dirty="0"/>
              <a:t>注２ 導入期加算 </a:t>
            </a:r>
            <a:r>
              <a:rPr lang="en-US" altLang="ja-JP" dirty="0"/>
              <a:t>140 </a:t>
            </a:r>
            <a:r>
              <a:rPr lang="ja-JP" altLang="en-US" dirty="0"/>
              <a:t>点</a:t>
            </a:r>
          </a:p>
          <a:p>
            <a:r>
              <a:rPr lang="en-US" altLang="ja-JP" dirty="0"/>
              <a:t>C167 </a:t>
            </a:r>
            <a:r>
              <a:rPr lang="ja-JP" altLang="en-US" dirty="0"/>
              <a:t>疼痛等管理用送信器加算 </a:t>
            </a:r>
            <a:r>
              <a:rPr lang="en-US" altLang="ja-JP" dirty="0"/>
              <a:t>600 </a:t>
            </a:r>
            <a:r>
              <a:rPr lang="ja-JP" altLang="en-US" dirty="0"/>
              <a:t>点 ４回分</a:t>
            </a:r>
            <a:endParaRPr lang="en-US" altLang="ja-JP" dirty="0"/>
          </a:p>
          <a:p>
            <a:r>
              <a:rPr lang="ja-JP" altLang="en-US" dirty="0"/>
              <a:t>植込型脳・脊髄・迷走神経刺激装置を装着し、在宅で疼痛・振戦・てんかん管理を行う患者に対し、患者自身が操作する送信器の使い方の説明と機器費用として請求するもの</a:t>
            </a:r>
            <a:endParaRPr lang="en-US" altLang="ja-JP" dirty="0"/>
          </a:p>
          <a:p>
            <a:endParaRPr lang="en-US" altLang="ja-JP" dirty="0"/>
          </a:p>
          <a:p>
            <a:endParaRPr lang="en-US" altLang="ja-JP" dirty="0"/>
          </a:p>
          <a:p>
            <a:r>
              <a:rPr lang="ja-JP" altLang="en-US" dirty="0"/>
              <a:t>植込型脳・脊髄・迷走神経刺激装置とこの</a:t>
            </a:r>
            <a:r>
              <a:rPr lang="en-US" altLang="ja-JP" dirty="0"/>
              <a:t>CO</a:t>
            </a:r>
            <a:r>
              <a:rPr lang="ja-JP" altLang="en-US" dirty="0"/>
              <a:t>測定器とアプリは同等の価値を持つのだろうか？</a:t>
            </a:r>
            <a:endParaRPr lang="en-US" altLang="ja-JP" dirty="0"/>
          </a:p>
        </p:txBody>
      </p:sp>
      <p:sp>
        <p:nvSpPr>
          <p:cNvPr id="4" name="Slide Number Placeholder 3">
            <a:extLst>
              <a:ext uri="{FF2B5EF4-FFF2-40B4-BE49-F238E27FC236}">
                <a16:creationId xmlns:a16="http://schemas.microsoft.com/office/drawing/2014/main" id="{EC9FEB82-F501-017B-8F1F-749C65C29887}"/>
              </a:ext>
            </a:extLst>
          </p:cNvPr>
          <p:cNvSpPr>
            <a:spLocks noGrp="1"/>
          </p:cNvSpPr>
          <p:nvPr>
            <p:ph type="sldNum" sz="quarter" idx="5"/>
          </p:nvPr>
        </p:nvSpPr>
        <p:spPr/>
        <p:txBody>
          <a:bodyPr/>
          <a:lstStyle/>
          <a:p>
            <a:fld id="{D4B9A9E5-4F7F-4A7D-9DE1-899232329269}" type="slidenum">
              <a:rPr lang="en-US" smtClean="0"/>
              <a:t>27</a:t>
            </a:fld>
            <a:endParaRPr lang="en-US" dirty="0"/>
          </a:p>
        </p:txBody>
      </p:sp>
    </p:spTree>
    <p:extLst>
      <p:ext uri="{BB962C8B-B14F-4D97-AF65-F5344CB8AC3E}">
        <p14:creationId xmlns:p14="http://schemas.microsoft.com/office/powerpoint/2010/main" val="4385799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final slide summarizes the key takeaways from today's presentation.</a:t>
            </a:r>
          </a:p>
          <a:p>
            <a:endParaRPr lang="en-US" dirty="0"/>
          </a:p>
          <a:p>
            <a:r>
              <a:rPr lang="en-US" dirty="0"/>
              <a:t>First, </a:t>
            </a:r>
            <a:r>
              <a:rPr lang="en-US" b="1" dirty="0"/>
              <a:t>structural fiscal pressure</a:t>
            </a:r>
            <a:r>
              <a:rPr lang="en-US" dirty="0"/>
              <a:t>. </a:t>
            </a:r>
          </a:p>
          <a:p>
            <a:r>
              <a:rPr lang="en-US" dirty="0"/>
              <a:t>Japan faces rising healthcare expenditures driven by aging, sustained by premiums from the working class, taxes, and national bond issuance. There are also operational inefficiencies due to a historically fragmented insurance system — one the government is attempting to harmonize.</a:t>
            </a:r>
          </a:p>
          <a:p>
            <a:endParaRPr lang="en-US" dirty="0"/>
          </a:p>
          <a:p>
            <a:r>
              <a:rPr lang="en-US" dirty="0"/>
              <a:t>Second, the </a:t>
            </a:r>
            <a:r>
              <a:rPr lang="en-US" b="1" dirty="0"/>
              <a:t>dilemma of price setting</a:t>
            </a:r>
            <a:r>
              <a:rPr lang="en-US" dirty="0"/>
              <a:t>. </a:t>
            </a:r>
          </a:p>
          <a:p>
            <a:r>
              <a:rPr lang="en-US" dirty="0"/>
              <a:t>While medical services, drugs, and devices are priced via the fee schedule, the system is caught in a </a:t>
            </a:r>
            <a:r>
              <a:rPr lang="en-US" b="1" dirty="0"/>
              <a:t>pincer movement</a:t>
            </a:r>
            <a:r>
              <a:rPr lang="en-US" dirty="0"/>
              <a:t> between two opposing forces: </a:t>
            </a:r>
          </a:p>
          <a:p>
            <a:r>
              <a:rPr lang="en-US" dirty="0"/>
              <a:t>at the macro level, there is national pressure to restrict healthcare spending; at the micro level, healthcare providers and manufacturers are demanding higher points due to inflation, rising wages, and material costs. Whether the current pricing scheme is truly </a:t>
            </a:r>
            <a:r>
              <a:rPr lang="en-US" b="1" dirty="0"/>
              <a:t>appropriate</a:t>
            </a:r>
            <a:r>
              <a:rPr lang="en-US" dirty="0"/>
              <a:t> remains a subject of debate.</a:t>
            </a:r>
          </a:p>
          <a:p>
            <a:endParaRPr lang="en-US" dirty="0"/>
          </a:p>
          <a:p>
            <a:r>
              <a:rPr lang="en-US" dirty="0"/>
              <a:t>Third, the </a:t>
            </a:r>
            <a:r>
              <a:rPr lang="en-US" b="1" dirty="0"/>
              <a:t>role and reality of AI medical devices</a:t>
            </a:r>
            <a:r>
              <a:rPr lang="en-US" dirty="0"/>
              <a:t>. </a:t>
            </a:r>
          </a:p>
          <a:p>
            <a:r>
              <a:rPr lang="en-US" dirty="0"/>
              <a:t>AI holds real potential to address regional labor shortages and contribute to cost containment. </a:t>
            </a:r>
          </a:p>
          <a:p>
            <a:r>
              <a:rPr lang="en-US" dirty="0"/>
              <a:t>However, many cases are difficult to fit into existing regulatory and value-assessment frameworks. </a:t>
            </a:r>
          </a:p>
          <a:p>
            <a:r>
              <a:rPr lang="en-US" dirty="0"/>
              <a:t>Currently, decisions are being made on a case-by-case basis, as regulatory updates and infrastructure developments remain very much a </a:t>
            </a:r>
            <a:r>
              <a:rPr lang="en-US" b="1" dirty="0"/>
              <a:t>work in progress</a:t>
            </a:r>
            <a:r>
              <a:rPr lang="en-US" dirty="0"/>
              <a:t>.</a:t>
            </a:r>
          </a:p>
          <a:p>
            <a:endParaRPr lang="en-US" altLang="ja-JP" dirty="0"/>
          </a:p>
        </p:txBody>
      </p:sp>
      <p:sp>
        <p:nvSpPr>
          <p:cNvPr id="4" name="Slide Number Placeholder 3"/>
          <p:cNvSpPr>
            <a:spLocks noGrp="1"/>
          </p:cNvSpPr>
          <p:nvPr>
            <p:ph type="sldNum" sz="quarter" idx="5"/>
          </p:nvPr>
        </p:nvSpPr>
        <p:spPr/>
        <p:txBody>
          <a:bodyPr/>
          <a:lstStyle/>
          <a:p>
            <a:fld id="{D4B9A9E5-4F7F-4A7D-9DE1-899232329269}" type="slidenum">
              <a:rPr lang="en-US" smtClean="0"/>
              <a:t>28</a:t>
            </a:fld>
            <a:endParaRPr lang="en-US" dirty="0"/>
          </a:p>
        </p:txBody>
      </p:sp>
    </p:spTree>
    <p:extLst>
      <p:ext uri="{BB962C8B-B14F-4D97-AF65-F5344CB8AC3E}">
        <p14:creationId xmlns:p14="http://schemas.microsoft.com/office/powerpoint/2010/main" val="11827100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29</a:t>
            </a:fld>
            <a:endParaRPr lang="en-US" dirty="0"/>
          </a:p>
        </p:txBody>
      </p:sp>
    </p:spTree>
    <p:extLst>
      <p:ext uri="{BB962C8B-B14F-4D97-AF65-F5344CB8AC3E}">
        <p14:creationId xmlns:p14="http://schemas.microsoft.com/office/powerpoint/2010/main" val="25390071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4B9A9E5-4F7F-4A7D-9DE1-899232329269}" type="slidenum">
              <a:rPr lang="en-US" smtClean="0"/>
              <a:t>31</a:t>
            </a:fld>
            <a:endParaRPr lang="en-US" dirty="0"/>
          </a:p>
        </p:txBody>
      </p:sp>
    </p:spTree>
    <p:extLst>
      <p:ext uri="{BB962C8B-B14F-4D97-AF65-F5344CB8AC3E}">
        <p14:creationId xmlns:p14="http://schemas.microsoft.com/office/powerpoint/2010/main" val="40516137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rgbClr val="32006E"/>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6B97173-A601-1D66-1651-4FE0D76A0BC7}"/>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8454" t="1728"/>
          <a:stretch/>
        </p:blipFill>
        <p:spPr>
          <a:xfrm>
            <a:off x="-1" y="0"/>
            <a:ext cx="8264995" cy="5320146"/>
          </a:xfrm>
          <a:prstGeom prst="rect">
            <a:avLst/>
          </a:prstGeom>
        </p:spPr>
      </p:pic>
      <p:sp>
        <p:nvSpPr>
          <p:cNvPr id="2" name="Rectangle 1">
            <a:extLst>
              <a:ext uri="{FF2B5EF4-FFF2-40B4-BE49-F238E27FC236}">
                <a16:creationId xmlns:a16="http://schemas.microsoft.com/office/drawing/2014/main" id="{D8A73C3B-6575-90FE-BFBB-756A111AF003}"/>
              </a:ext>
            </a:extLst>
          </p:cNvPr>
          <p:cNvSpPr/>
          <p:nvPr userDrawn="1"/>
        </p:nvSpPr>
        <p:spPr>
          <a:xfrm>
            <a:off x="0" y="6581775"/>
            <a:ext cx="3028950" cy="276225"/>
          </a:xfrm>
          <a:prstGeom prst="rect">
            <a:avLst/>
          </a:prstGeom>
          <a:solidFill>
            <a:srgbClr val="3200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200" dirty="0">
                <a:solidFill>
                  <a:schemeClr val="bg1">
                    <a:lumMod val="85000"/>
                  </a:schemeClr>
                </a:solidFill>
                <a:latin typeface="Arial" panose="020B0604020202020204" pitchFamily="34" charset="0"/>
                <a:ea typeface="Meiryo UI" panose="020B0604030504040204" pitchFamily="50" charset="-128"/>
                <a:cs typeface="Arial" panose="020B0604020202020204" pitchFamily="34" charset="0"/>
              </a:rPr>
              <a:t>© Satoshi Koiso</a:t>
            </a:r>
          </a:p>
        </p:txBody>
      </p:sp>
    </p:spTree>
    <p:extLst>
      <p:ext uri="{BB962C8B-B14F-4D97-AF65-F5344CB8AC3E}">
        <p14:creationId xmlns:p14="http://schemas.microsoft.com/office/powerpoint/2010/main" val="381084734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abl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5CC9A46-E0E7-B31D-3E27-6F4303A45A9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8883" t="18052" r="46636"/>
          <a:stretch/>
        </p:blipFill>
        <p:spPr>
          <a:xfrm rot="16200000" flipH="1" flipV="1">
            <a:off x="10211071" y="-715403"/>
            <a:ext cx="1266663" cy="2697632"/>
          </a:xfrm>
          <a:prstGeom prst="rect">
            <a:avLst/>
          </a:prstGeom>
        </p:spPr>
      </p:pic>
      <p:sp>
        <p:nvSpPr>
          <p:cNvPr id="7" name="Title 6">
            <a:extLst>
              <a:ext uri="{FF2B5EF4-FFF2-40B4-BE49-F238E27FC236}">
                <a16:creationId xmlns:a16="http://schemas.microsoft.com/office/drawing/2014/main" id="{767669DC-4C7F-9B50-FCC0-F2AF5B2A9509}"/>
              </a:ext>
            </a:extLst>
          </p:cNvPr>
          <p:cNvSpPr>
            <a:spLocks noGrp="1"/>
          </p:cNvSpPr>
          <p:nvPr>
            <p:ph type="title" hasCustomPrompt="1"/>
          </p:nvPr>
        </p:nvSpPr>
        <p:spPr>
          <a:xfrm>
            <a:off x="467139" y="589724"/>
            <a:ext cx="11221278" cy="362776"/>
          </a:xfrm>
          <a:prstGeom prst="rect">
            <a:avLst/>
          </a:prstGeom>
        </p:spPr>
        <p:txBody>
          <a:bodyPr lIns="0" tIns="0" rIns="0" bIns="0" anchor="ctr">
            <a:noAutofit/>
          </a:bodyPr>
          <a:lstStyle>
            <a:lvl1pPr>
              <a:lnSpc>
                <a:spcPct val="100000"/>
              </a:lnSpc>
              <a:spcAft>
                <a:spcPts val="0"/>
              </a:spcAft>
              <a:defRPr sz="2800" b="1">
                <a:solidFill>
                  <a:srgbClr val="32006E"/>
                </a:solidFill>
              </a:defRPr>
            </a:lvl1pPr>
          </a:lstStyle>
          <a:p>
            <a:r>
              <a:rPr lang="en-US" dirty="0"/>
              <a:t>Click to add title</a:t>
            </a:r>
          </a:p>
        </p:txBody>
      </p:sp>
      <p:sp>
        <p:nvSpPr>
          <p:cNvPr id="9" name="Table Placeholder 8">
            <a:extLst>
              <a:ext uri="{FF2B5EF4-FFF2-40B4-BE49-F238E27FC236}">
                <a16:creationId xmlns:a16="http://schemas.microsoft.com/office/drawing/2014/main" id="{BEF581C2-7562-2E21-E6DD-20AEFC43AABC}"/>
              </a:ext>
            </a:extLst>
          </p:cNvPr>
          <p:cNvSpPr>
            <a:spLocks noGrp="1"/>
          </p:cNvSpPr>
          <p:nvPr>
            <p:ph type="tbl" sz="quarter" idx="10"/>
          </p:nvPr>
        </p:nvSpPr>
        <p:spPr>
          <a:xfrm>
            <a:off x="467139" y="1938131"/>
            <a:ext cx="11221278" cy="4622672"/>
          </a:xfrm>
        </p:spPr>
        <p:txBody>
          <a:bodyPr lIns="0" tIns="0" rIns="0" bIns="0">
            <a:noAutofit/>
          </a:bodyPr>
          <a:lstStyle>
            <a:lvl1pPr>
              <a:lnSpc>
                <a:spcPct val="100000"/>
              </a:lnSpc>
              <a:defRPr sz="2400"/>
            </a:lvl1pPr>
          </a:lstStyle>
          <a:p>
            <a:r>
              <a:rPr lang="en-US" dirty="0"/>
              <a:t>Click icon to add table</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11554312" y="6560803"/>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cxnSp>
        <p:nvCxnSpPr>
          <p:cNvPr id="4" name="Straight Connector 3">
            <a:extLst>
              <a:ext uri="{FF2B5EF4-FFF2-40B4-BE49-F238E27FC236}">
                <a16:creationId xmlns:a16="http://schemas.microsoft.com/office/drawing/2014/main" id="{76AA6E50-66C3-6BC1-F8C9-4A376131E4DA}"/>
              </a:ext>
            </a:extLst>
          </p:cNvPr>
          <p:cNvCxnSpPr/>
          <p:nvPr userDrawn="1"/>
        </p:nvCxnSpPr>
        <p:spPr>
          <a:xfrm>
            <a:off x="0" y="983974"/>
            <a:ext cx="9412357" cy="0"/>
          </a:xfrm>
          <a:prstGeom prst="line">
            <a:avLst/>
          </a:prstGeom>
          <a:ln w="19050">
            <a:solidFill>
              <a:srgbClr val="32006E"/>
            </a:solidFill>
          </a:ln>
        </p:spPr>
        <p:style>
          <a:lnRef idx="1">
            <a:schemeClr val="accent1"/>
          </a:lnRef>
          <a:fillRef idx="0">
            <a:schemeClr val="accent1"/>
          </a:fillRef>
          <a:effectRef idx="0">
            <a:schemeClr val="accent1"/>
          </a:effectRef>
          <a:fontRef idx="minor">
            <a:schemeClr val="tx1"/>
          </a:fontRef>
        </p:style>
      </p:cxnSp>
      <p:sp>
        <p:nvSpPr>
          <p:cNvPr id="6" name="Table Placeholder 8">
            <a:extLst>
              <a:ext uri="{FF2B5EF4-FFF2-40B4-BE49-F238E27FC236}">
                <a16:creationId xmlns:a16="http://schemas.microsoft.com/office/drawing/2014/main" id="{98987AD4-4C38-3E07-9A18-6847AC4C7450}"/>
              </a:ext>
            </a:extLst>
          </p:cNvPr>
          <p:cNvSpPr>
            <a:spLocks noGrp="1"/>
          </p:cNvSpPr>
          <p:nvPr>
            <p:ph type="tbl" sz="quarter" idx="11"/>
          </p:nvPr>
        </p:nvSpPr>
        <p:spPr>
          <a:xfrm>
            <a:off x="467139" y="1093305"/>
            <a:ext cx="11221278" cy="735496"/>
          </a:xfrm>
          <a:prstGeom prst="rect">
            <a:avLst/>
          </a:prstGeom>
        </p:spPr>
        <p:txBody>
          <a:bodyPr lIns="0" tIns="0" rIns="0" bIns="0">
            <a:noAutofit/>
          </a:bodyPr>
          <a:lstStyle>
            <a:lvl1pPr marL="0" indent="0">
              <a:buNone/>
              <a:defRPr sz="2400" b="1">
                <a:solidFill>
                  <a:srgbClr val="32006E"/>
                </a:solidFill>
              </a:defRPr>
            </a:lvl1pPr>
          </a:lstStyle>
          <a:p>
            <a:r>
              <a:rPr lang="en-US" dirty="0"/>
              <a:t>Click icon to add table</a:t>
            </a:r>
          </a:p>
        </p:txBody>
      </p:sp>
      <p:sp>
        <p:nvSpPr>
          <p:cNvPr id="2" name="Rectangle 1">
            <a:extLst>
              <a:ext uri="{FF2B5EF4-FFF2-40B4-BE49-F238E27FC236}">
                <a16:creationId xmlns:a16="http://schemas.microsoft.com/office/drawing/2014/main" id="{0370BBD7-411C-DEB1-E248-62BF3C0133A1}"/>
              </a:ext>
            </a:extLst>
          </p:cNvPr>
          <p:cNvSpPr/>
          <p:nvPr userDrawn="1"/>
        </p:nvSpPr>
        <p:spPr>
          <a:xfrm>
            <a:off x="0" y="6581775"/>
            <a:ext cx="3028950" cy="2762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200" dirty="0">
                <a:solidFill>
                  <a:schemeClr val="bg1">
                    <a:lumMod val="50000"/>
                  </a:schemeClr>
                </a:solidFill>
                <a:latin typeface="Arial" panose="020B0604020202020204" pitchFamily="34" charset="0"/>
                <a:ea typeface="Meiryo UI" panose="020B0604030504040204" pitchFamily="50" charset="-128"/>
                <a:cs typeface="Arial" panose="020B0604020202020204" pitchFamily="34" charset="0"/>
              </a:rPr>
              <a:t>© Satoshi Koiso</a:t>
            </a:r>
          </a:p>
        </p:txBody>
      </p:sp>
    </p:spTree>
    <p:extLst>
      <p:ext uri="{BB962C8B-B14F-4D97-AF65-F5344CB8AC3E}">
        <p14:creationId xmlns:p14="http://schemas.microsoft.com/office/powerpoint/2010/main" val="277078048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Content and Table 1">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E5D17C7-3503-7305-8191-20863B738898}"/>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r="55824" b="26760"/>
          <a:stretch/>
        </p:blipFill>
        <p:spPr>
          <a:xfrm>
            <a:off x="9229725" y="1835240"/>
            <a:ext cx="2962275" cy="5022760"/>
          </a:xfrm>
          <a:prstGeom prst="rect">
            <a:avLst/>
          </a:prstGeom>
        </p:spPr>
      </p:pic>
      <p:sp>
        <p:nvSpPr>
          <p:cNvPr id="14" name="Rectangle 13">
            <a:extLst>
              <a:ext uri="{FF2B5EF4-FFF2-40B4-BE49-F238E27FC236}">
                <a16:creationId xmlns:a16="http://schemas.microsoft.com/office/drawing/2014/main" id="{C76E1AE6-3E01-1CBD-CAEC-11056D00ADE5}"/>
              </a:ext>
              <a:ext uri="{C183D7F6-B498-43B3-948B-1728B52AA6E4}">
                <adec:decorative xmlns:adec="http://schemas.microsoft.com/office/drawing/2017/decorative" val="1"/>
              </a:ext>
            </a:extLst>
          </p:cNvPr>
          <p:cNvSpPr/>
          <p:nvPr userDrawn="1"/>
        </p:nvSpPr>
        <p:spPr>
          <a:xfrm>
            <a:off x="4443413" y="1835240"/>
            <a:ext cx="7000875" cy="42798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90E28F03-2149-7C50-779B-6A2D8D789AF5}"/>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60903" r="75060" b="10347"/>
          <a:stretch/>
        </p:blipFill>
        <p:spPr>
          <a:xfrm rot="16200000">
            <a:off x="149650" y="-149653"/>
            <a:ext cx="1672375" cy="1971675"/>
          </a:xfrm>
          <a:prstGeom prst="rect">
            <a:avLst/>
          </a:prstGeom>
        </p:spPr>
      </p:pic>
      <p:sp>
        <p:nvSpPr>
          <p:cNvPr id="10" name="Title 9">
            <a:extLst>
              <a:ext uri="{FF2B5EF4-FFF2-40B4-BE49-F238E27FC236}">
                <a16:creationId xmlns:a16="http://schemas.microsoft.com/office/drawing/2014/main" id="{CA4CAE4E-4252-8471-C50B-1DD5AFBFECCA}"/>
              </a:ext>
            </a:extLst>
          </p:cNvPr>
          <p:cNvSpPr>
            <a:spLocks noGrp="1"/>
          </p:cNvSpPr>
          <p:nvPr>
            <p:ph type="title" hasCustomPrompt="1"/>
          </p:nvPr>
        </p:nvSpPr>
        <p:spPr>
          <a:xfrm>
            <a:off x="914399" y="365125"/>
            <a:ext cx="10363202" cy="1603462"/>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E493CE42-5465-91AC-A1F4-A4821AE37A9C}"/>
              </a:ext>
            </a:extLst>
          </p:cNvPr>
          <p:cNvSpPr>
            <a:spLocks noGrp="1"/>
          </p:cNvSpPr>
          <p:nvPr>
            <p:ph sz="quarter" idx="10" hasCustomPrompt="1"/>
          </p:nvPr>
        </p:nvSpPr>
        <p:spPr>
          <a:xfrm>
            <a:off x="914399" y="2022250"/>
            <a:ext cx="3299013" cy="3914910"/>
          </a:xfrm>
        </p:spPr>
        <p:txBody>
          <a:bodyPr>
            <a:normAutofit/>
          </a:bodyPr>
          <a:lstStyle>
            <a:lvl1pPr>
              <a:spcBef>
                <a:spcPts val="0"/>
              </a:spcBef>
              <a:spcAft>
                <a:spcPts val="1200"/>
              </a:spcAft>
              <a:defRPr sz="2000" b="0"/>
            </a:lvl1pPr>
            <a:lvl2pPr>
              <a:spcBef>
                <a:spcPts val="0"/>
              </a:spcBef>
              <a:spcAft>
                <a:spcPts val="1200"/>
              </a:spcAft>
              <a:defRPr sz="1800" b="0"/>
            </a:lvl2pPr>
            <a:lvl3pPr>
              <a:spcBef>
                <a:spcPts val="0"/>
              </a:spcBef>
              <a:spcAft>
                <a:spcPts val="1200"/>
              </a:spcAft>
              <a:defRPr sz="1600" b="0"/>
            </a:lvl3pPr>
            <a:lvl4pPr>
              <a:spcBef>
                <a:spcPts val="0"/>
              </a:spcBef>
              <a:spcAft>
                <a:spcPts val="1200"/>
              </a:spcAft>
              <a:defRPr sz="1400" b="0"/>
            </a:lvl4pPr>
            <a:lvl5pPr>
              <a:spcBef>
                <a:spcPts val="0"/>
              </a:spcBef>
              <a:spcAft>
                <a:spcPts val="1200"/>
              </a:spcAft>
              <a:defRPr sz="14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able Placeholder 12">
            <a:extLst>
              <a:ext uri="{FF2B5EF4-FFF2-40B4-BE49-F238E27FC236}">
                <a16:creationId xmlns:a16="http://schemas.microsoft.com/office/drawing/2014/main" id="{156A00B1-F3E3-B7FF-58F4-61DE3EF07C07}"/>
              </a:ext>
            </a:extLst>
          </p:cNvPr>
          <p:cNvSpPr>
            <a:spLocks noGrp="1"/>
          </p:cNvSpPr>
          <p:nvPr>
            <p:ph type="tbl" sz="quarter" idx="11" hasCustomPrompt="1"/>
          </p:nvPr>
        </p:nvSpPr>
        <p:spPr>
          <a:xfrm>
            <a:off x="4602163" y="2017713"/>
            <a:ext cx="6675437" cy="3932237"/>
          </a:xfrm>
        </p:spPr>
        <p:txBody>
          <a:bodyPr>
            <a:normAutofit/>
          </a:bodyPr>
          <a:lstStyle>
            <a:lvl1pPr>
              <a:defRPr sz="2000"/>
            </a:lvl1pPr>
          </a:lstStyle>
          <a:p>
            <a:r>
              <a:rPr lang="en-US" dirty="0"/>
              <a:t>Click icon to insert table</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05621495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5CC9A46-E0E7-B31D-3E27-6F4303A45A9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8883" t="18052" r="46636"/>
          <a:stretch/>
        </p:blipFill>
        <p:spPr>
          <a:xfrm rot="16200000" flipH="1" flipV="1">
            <a:off x="9553763" y="-952310"/>
            <a:ext cx="1685928" cy="3590547"/>
          </a:xfrm>
          <a:prstGeom prst="rect">
            <a:avLst/>
          </a:prstGeom>
        </p:spPr>
      </p:pic>
      <p:sp>
        <p:nvSpPr>
          <p:cNvPr id="7" name="Title 6">
            <a:extLst>
              <a:ext uri="{FF2B5EF4-FFF2-40B4-BE49-F238E27FC236}">
                <a16:creationId xmlns:a16="http://schemas.microsoft.com/office/drawing/2014/main" id="{767669DC-4C7F-9B50-FCC0-F2AF5B2A9509}"/>
              </a:ext>
            </a:extLst>
          </p:cNvPr>
          <p:cNvSpPr>
            <a:spLocks noGrp="1"/>
          </p:cNvSpPr>
          <p:nvPr>
            <p:ph type="title" hasCustomPrompt="1"/>
          </p:nvPr>
        </p:nvSpPr>
        <p:spPr>
          <a:xfrm>
            <a:off x="923545" y="584477"/>
            <a:ext cx="10354052" cy="1209765"/>
          </a:xfrm>
        </p:spPr>
        <p:txBody>
          <a:bodyPr>
            <a:normAutofit/>
          </a:bodyPr>
          <a:lstStyle>
            <a:lvl1pPr>
              <a:defRPr sz="3200"/>
            </a:lvl1pPr>
          </a:lstStyle>
          <a:p>
            <a:r>
              <a:rPr lang="en-US" dirty="0"/>
              <a:t>Click to add title</a:t>
            </a:r>
          </a:p>
        </p:txBody>
      </p:sp>
      <p:sp>
        <p:nvSpPr>
          <p:cNvPr id="9" name="Table Placeholder 8">
            <a:extLst>
              <a:ext uri="{FF2B5EF4-FFF2-40B4-BE49-F238E27FC236}">
                <a16:creationId xmlns:a16="http://schemas.microsoft.com/office/drawing/2014/main" id="{BEF581C2-7562-2E21-E6DD-20AEFC43AABC}"/>
              </a:ext>
            </a:extLst>
          </p:cNvPr>
          <p:cNvSpPr>
            <a:spLocks noGrp="1"/>
          </p:cNvSpPr>
          <p:nvPr>
            <p:ph type="tbl" sz="quarter" idx="10"/>
          </p:nvPr>
        </p:nvSpPr>
        <p:spPr>
          <a:xfrm>
            <a:off x="923545" y="2009775"/>
            <a:ext cx="10354052" cy="3931920"/>
          </a:xfrm>
        </p:spPr>
        <p:txBody>
          <a:bodyPr>
            <a:normAutofit/>
          </a:bodyPr>
          <a:lstStyle>
            <a:lvl1pPr>
              <a:defRPr sz="2400"/>
            </a:lvl1pPr>
          </a:lstStyle>
          <a:p>
            <a:r>
              <a:rPr lang="en-US"/>
              <a:t>Click icon to add table</a:t>
            </a:r>
            <a:endParaRPr lang="en-US" dirty="0"/>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16384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abl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5CC9A46-E0E7-B31D-3E27-6F4303A45A9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8883" t="18052" r="46636"/>
          <a:stretch/>
        </p:blipFill>
        <p:spPr>
          <a:xfrm rot="16200000" flipH="1" flipV="1">
            <a:off x="10211071" y="-715403"/>
            <a:ext cx="1266663" cy="2697632"/>
          </a:xfrm>
          <a:prstGeom prst="rect">
            <a:avLst/>
          </a:prstGeom>
        </p:spPr>
      </p:pic>
      <p:sp>
        <p:nvSpPr>
          <p:cNvPr id="7" name="Title 6">
            <a:extLst>
              <a:ext uri="{FF2B5EF4-FFF2-40B4-BE49-F238E27FC236}">
                <a16:creationId xmlns:a16="http://schemas.microsoft.com/office/drawing/2014/main" id="{767669DC-4C7F-9B50-FCC0-F2AF5B2A9509}"/>
              </a:ext>
            </a:extLst>
          </p:cNvPr>
          <p:cNvSpPr>
            <a:spLocks noGrp="1"/>
          </p:cNvSpPr>
          <p:nvPr>
            <p:ph type="title" hasCustomPrompt="1"/>
          </p:nvPr>
        </p:nvSpPr>
        <p:spPr>
          <a:xfrm>
            <a:off x="467139" y="223963"/>
            <a:ext cx="11221278" cy="362776"/>
          </a:xfrm>
          <a:prstGeom prst="rect">
            <a:avLst/>
          </a:prstGeom>
        </p:spPr>
        <p:txBody>
          <a:bodyPr lIns="0" tIns="0" rIns="0" bIns="0" anchor="ctr">
            <a:noAutofit/>
          </a:bodyPr>
          <a:lstStyle>
            <a:lvl1pPr>
              <a:lnSpc>
                <a:spcPct val="100000"/>
              </a:lnSpc>
              <a:spcAft>
                <a:spcPts val="0"/>
              </a:spcAft>
              <a:defRPr sz="2800" b="1">
                <a:solidFill>
                  <a:srgbClr val="32006E"/>
                </a:solidFill>
              </a:defRPr>
            </a:lvl1pPr>
          </a:lstStyle>
          <a:p>
            <a:r>
              <a:rPr lang="en-US" dirty="0"/>
              <a:t>Click to add title</a:t>
            </a:r>
          </a:p>
        </p:txBody>
      </p:sp>
      <p:sp>
        <p:nvSpPr>
          <p:cNvPr id="9" name="Table Placeholder 8">
            <a:extLst>
              <a:ext uri="{FF2B5EF4-FFF2-40B4-BE49-F238E27FC236}">
                <a16:creationId xmlns:a16="http://schemas.microsoft.com/office/drawing/2014/main" id="{BEF581C2-7562-2E21-E6DD-20AEFC43AABC}"/>
              </a:ext>
            </a:extLst>
          </p:cNvPr>
          <p:cNvSpPr>
            <a:spLocks noGrp="1"/>
          </p:cNvSpPr>
          <p:nvPr>
            <p:ph type="tbl" sz="quarter" idx="10"/>
          </p:nvPr>
        </p:nvSpPr>
        <p:spPr>
          <a:xfrm>
            <a:off x="467139" y="1938131"/>
            <a:ext cx="11221278" cy="4622672"/>
          </a:xfrm>
        </p:spPr>
        <p:txBody>
          <a:bodyPr lIns="0" tIns="0" rIns="0" bIns="0">
            <a:noAutofit/>
          </a:bodyPr>
          <a:lstStyle>
            <a:lvl1pPr>
              <a:lnSpc>
                <a:spcPct val="100000"/>
              </a:lnSpc>
              <a:defRPr sz="2400"/>
            </a:lvl1pPr>
          </a:lstStyle>
          <a:p>
            <a:r>
              <a:rPr lang="en-US" dirty="0"/>
              <a:t>Click icon to add table</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11554312" y="6560803"/>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cxnSp>
        <p:nvCxnSpPr>
          <p:cNvPr id="4" name="Straight Connector 3">
            <a:extLst>
              <a:ext uri="{FF2B5EF4-FFF2-40B4-BE49-F238E27FC236}">
                <a16:creationId xmlns:a16="http://schemas.microsoft.com/office/drawing/2014/main" id="{76AA6E50-66C3-6BC1-F8C9-4A376131E4DA}"/>
              </a:ext>
            </a:extLst>
          </p:cNvPr>
          <p:cNvCxnSpPr/>
          <p:nvPr userDrawn="1"/>
        </p:nvCxnSpPr>
        <p:spPr>
          <a:xfrm>
            <a:off x="0" y="618213"/>
            <a:ext cx="9412357" cy="0"/>
          </a:xfrm>
          <a:prstGeom prst="line">
            <a:avLst/>
          </a:prstGeom>
          <a:ln w="19050">
            <a:solidFill>
              <a:srgbClr val="32006E"/>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0370BBD7-411C-DEB1-E248-62BF3C0133A1}"/>
              </a:ext>
            </a:extLst>
          </p:cNvPr>
          <p:cNvSpPr/>
          <p:nvPr userDrawn="1"/>
        </p:nvSpPr>
        <p:spPr>
          <a:xfrm>
            <a:off x="0" y="6581775"/>
            <a:ext cx="3028950" cy="2762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200" dirty="0">
                <a:solidFill>
                  <a:schemeClr val="bg1">
                    <a:lumMod val="50000"/>
                  </a:schemeClr>
                </a:solidFill>
                <a:latin typeface="Arial" panose="020B0604020202020204" pitchFamily="34" charset="0"/>
                <a:ea typeface="Meiryo UI" panose="020B0604030504040204" pitchFamily="50" charset="-128"/>
                <a:cs typeface="Arial" panose="020B0604020202020204" pitchFamily="34" charset="0"/>
              </a:rPr>
              <a:t>© Satoshi Koiso</a:t>
            </a:r>
          </a:p>
        </p:txBody>
      </p:sp>
    </p:spTree>
    <p:extLst>
      <p:ext uri="{BB962C8B-B14F-4D97-AF65-F5344CB8AC3E}">
        <p14:creationId xmlns:p14="http://schemas.microsoft.com/office/powerpoint/2010/main" val="3896959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able">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67669DC-4C7F-9B50-FCC0-F2AF5B2A9509}"/>
              </a:ext>
            </a:extLst>
          </p:cNvPr>
          <p:cNvSpPr>
            <a:spLocks noGrp="1"/>
          </p:cNvSpPr>
          <p:nvPr>
            <p:ph type="title" hasCustomPrompt="1"/>
          </p:nvPr>
        </p:nvSpPr>
        <p:spPr>
          <a:xfrm>
            <a:off x="923545" y="584477"/>
            <a:ext cx="10354052" cy="1209765"/>
          </a:xfrm>
        </p:spPr>
        <p:txBody>
          <a:bodyPr>
            <a:normAutofit/>
          </a:bodyPr>
          <a:lstStyle>
            <a:lvl1pPr>
              <a:defRPr sz="3200"/>
            </a:lvl1pPr>
          </a:lstStyle>
          <a:p>
            <a:r>
              <a:rPr lang="en-US" dirty="0"/>
              <a:t>Click to add title</a:t>
            </a:r>
          </a:p>
        </p:txBody>
      </p:sp>
      <p:sp>
        <p:nvSpPr>
          <p:cNvPr id="9" name="Table Placeholder 8">
            <a:extLst>
              <a:ext uri="{FF2B5EF4-FFF2-40B4-BE49-F238E27FC236}">
                <a16:creationId xmlns:a16="http://schemas.microsoft.com/office/drawing/2014/main" id="{BEF581C2-7562-2E21-E6DD-20AEFC43AABC}"/>
              </a:ext>
            </a:extLst>
          </p:cNvPr>
          <p:cNvSpPr>
            <a:spLocks noGrp="1"/>
          </p:cNvSpPr>
          <p:nvPr>
            <p:ph type="tbl" sz="quarter" idx="10"/>
          </p:nvPr>
        </p:nvSpPr>
        <p:spPr>
          <a:xfrm>
            <a:off x="923545" y="2009775"/>
            <a:ext cx="10354052" cy="3931920"/>
          </a:xfrm>
        </p:spPr>
        <p:txBody>
          <a:bodyPr>
            <a:normAutofit/>
          </a:bodyPr>
          <a:lstStyle>
            <a:lvl1pPr>
              <a:defRPr sz="2400"/>
            </a:lvl1pPr>
          </a:lstStyle>
          <a:p>
            <a:r>
              <a:rPr lang="en-US"/>
              <a:t>Click icon to add table</a:t>
            </a:r>
            <a:endParaRPr lang="en-US" dirty="0"/>
          </a:p>
        </p:txBody>
      </p:sp>
      <p:sp>
        <p:nvSpPr>
          <p:cNvPr id="2" name="Slide Number Placeholder 5">
            <a:extLst>
              <a:ext uri="{FF2B5EF4-FFF2-40B4-BE49-F238E27FC236}">
                <a16:creationId xmlns:a16="http://schemas.microsoft.com/office/drawing/2014/main" id="{45970D7D-AD55-B406-AB07-862068B21A88}"/>
              </a:ext>
            </a:extLst>
          </p:cNvPr>
          <p:cNvSpPr txBox="1">
            <a:spLocks/>
          </p:cNvSpPr>
          <p:nvPr userDrawn="1"/>
        </p:nvSpPr>
        <p:spPr>
          <a:xfrm>
            <a:off x="11554312" y="6560803"/>
            <a:ext cx="631065" cy="296214"/>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solidFill>
                <a:latin typeface="Arial" panose="020B0604020202020204" pitchFamily="34" charset="0"/>
                <a:ea typeface="Meiryo" panose="020B0604030504040204" pitchFamily="34" charset="-128"/>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CEABB6-07DC-46E8-9B57-56EC44A396E5}" type="slidenum">
              <a:rPr lang="en-US" smtClean="0"/>
              <a:pPr/>
              <a:t>‹#›</a:t>
            </a:fld>
            <a:endParaRPr lang="en-US" dirty="0"/>
          </a:p>
        </p:txBody>
      </p:sp>
      <p:sp>
        <p:nvSpPr>
          <p:cNvPr id="4" name="Rectangle 3">
            <a:extLst>
              <a:ext uri="{FF2B5EF4-FFF2-40B4-BE49-F238E27FC236}">
                <a16:creationId xmlns:a16="http://schemas.microsoft.com/office/drawing/2014/main" id="{7363DE62-D6A4-72F7-E0D6-EE1B34798D50}"/>
              </a:ext>
            </a:extLst>
          </p:cNvPr>
          <p:cNvSpPr/>
          <p:nvPr userDrawn="1"/>
        </p:nvSpPr>
        <p:spPr>
          <a:xfrm>
            <a:off x="0" y="6581775"/>
            <a:ext cx="3028950" cy="2762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200" dirty="0">
                <a:solidFill>
                  <a:schemeClr val="bg1">
                    <a:lumMod val="50000"/>
                  </a:schemeClr>
                </a:solidFill>
                <a:latin typeface="Arial" panose="020B0604020202020204" pitchFamily="34" charset="0"/>
                <a:ea typeface="Meiryo UI" panose="020B0604030504040204" pitchFamily="50" charset="-128"/>
                <a:cs typeface="Arial" panose="020B0604020202020204" pitchFamily="34" charset="0"/>
              </a:rPr>
              <a:t>© Satoshi Koiso</a:t>
            </a:r>
          </a:p>
        </p:txBody>
      </p:sp>
    </p:spTree>
    <p:extLst>
      <p:ext uri="{BB962C8B-B14F-4D97-AF65-F5344CB8AC3E}">
        <p14:creationId xmlns:p14="http://schemas.microsoft.com/office/powerpoint/2010/main" val="3734768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0DFB311A-EAAD-7656-C753-E8C739948535}"/>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44533" t="18691" r="1" b="-131"/>
          <a:stretch/>
        </p:blipFill>
        <p:spPr>
          <a:xfrm rot="5400000">
            <a:off x="7851419" y="-1244552"/>
            <a:ext cx="3096029" cy="5585137"/>
          </a:xfrm>
          <a:custGeom>
            <a:avLst/>
            <a:gdLst>
              <a:gd name="connsiteX0" fmla="*/ 0 w 1756624"/>
              <a:gd name="connsiteY0" fmla="*/ 0 h 6858000"/>
              <a:gd name="connsiteX1" fmla="*/ 1756624 w 1756624"/>
              <a:gd name="connsiteY1" fmla="*/ 0 h 6858000"/>
              <a:gd name="connsiteX2" fmla="*/ 1756624 w 1756624"/>
              <a:gd name="connsiteY2" fmla="*/ 6858000 h 6858000"/>
              <a:gd name="connsiteX3" fmla="*/ 0 w 175662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756624" h="6858000">
                <a:moveTo>
                  <a:pt x="0" y="0"/>
                </a:moveTo>
                <a:lnTo>
                  <a:pt x="1756624" y="0"/>
                </a:lnTo>
                <a:lnTo>
                  <a:pt x="1756624" y="6858000"/>
                </a:lnTo>
                <a:lnTo>
                  <a:pt x="0" y="6858000"/>
                </a:lnTo>
                <a:close/>
              </a:path>
            </a:pathLst>
          </a:custGeom>
        </p:spPr>
      </p:pic>
      <p:pic>
        <p:nvPicPr>
          <p:cNvPr id="10" name="Graphic 9">
            <a:extLst>
              <a:ext uri="{FF2B5EF4-FFF2-40B4-BE49-F238E27FC236}">
                <a16:creationId xmlns:a16="http://schemas.microsoft.com/office/drawing/2014/main" id="{1612F0DE-D367-10BB-1F71-60AA6527CAD4}"/>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4151" r="18577"/>
          <a:stretch/>
        </p:blipFill>
        <p:spPr>
          <a:xfrm>
            <a:off x="7010400" y="0"/>
            <a:ext cx="5181600" cy="6858000"/>
          </a:xfrm>
          <a:prstGeom prst="rect">
            <a:avLst/>
          </a:prstGeom>
        </p:spPr>
      </p:pic>
      <p:sp>
        <p:nvSpPr>
          <p:cNvPr id="2" name="Title 1">
            <a:extLst>
              <a:ext uri="{FF2B5EF4-FFF2-40B4-BE49-F238E27FC236}">
                <a16:creationId xmlns:a16="http://schemas.microsoft.com/office/drawing/2014/main" id="{4F4F5799-FC34-2F2D-D11E-9B472CAF066E}"/>
              </a:ext>
            </a:extLst>
          </p:cNvPr>
          <p:cNvSpPr>
            <a:spLocks noGrp="1"/>
          </p:cNvSpPr>
          <p:nvPr>
            <p:ph type="title" hasCustomPrompt="1"/>
          </p:nvPr>
        </p:nvSpPr>
        <p:spPr>
          <a:xfrm>
            <a:off x="914400" y="315533"/>
            <a:ext cx="5181600" cy="2376868"/>
          </a:xfrm>
        </p:spPr>
        <p:txBody>
          <a:bodyPr anchor="b">
            <a:normAutofit/>
          </a:bodyPr>
          <a:lstStyle>
            <a:lvl1pPr>
              <a:defRPr sz="3200"/>
            </a:lvl1pPr>
          </a:lstStyle>
          <a:p>
            <a:r>
              <a:rPr lang="en-US" dirty="0"/>
              <a:t>Click to add title</a:t>
            </a:r>
          </a:p>
        </p:txBody>
      </p:sp>
      <p:sp>
        <p:nvSpPr>
          <p:cNvPr id="8" name="Content Placeholder 7">
            <a:extLst>
              <a:ext uri="{FF2B5EF4-FFF2-40B4-BE49-F238E27FC236}">
                <a16:creationId xmlns:a16="http://schemas.microsoft.com/office/drawing/2014/main" id="{2575025C-084B-CD7A-F546-0E13BA13CFEF}"/>
              </a:ext>
            </a:extLst>
          </p:cNvPr>
          <p:cNvSpPr>
            <a:spLocks noGrp="1"/>
          </p:cNvSpPr>
          <p:nvPr>
            <p:ph sz="quarter" idx="10" hasCustomPrompt="1"/>
          </p:nvPr>
        </p:nvSpPr>
        <p:spPr>
          <a:xfrm>
            <a:off x="914400" y="2844800"/>
            <a:ext cx="5181600" cy="3128963"/>
          </a:xfrm>
        </p:spPr>
        <p:txBody>
          <a:bodyPr>
            <a:normAutofit/>
          </a:bodyPr>
          <a:lstStyle>
            <a:lvl1pPr marL="0" indent="0">
              <a:lnSpc>
                <a:spcPct val="120000"/>
              </a:lnSpc>
              <a:buNone/>
              <a:defRPr sz="2000"/>
            </a:lvl1pPr>
            <a:lvl2pPr>
              <a:lnSpc>
                <a:spcPct val="120000"/>
              </a:lnSpc>
              <a:defRPr sz="1800"/>
            </a:lvl2pPr>
            <a:lvl3pPr>
              <a:lnSpc>
                <a:spcPct val="120000"/>
              </a:lnSpc>
              <a:defRPr sz="1600"/>
            </a:lvl3pPr>
            <a:lvl4pPr>
              <a:lnSpc>
                <a:spcPct val="120000"/>
              </a:lnSpc>
              <a:defRPr sz="1400"/>
            </a:lvl4pPr>
            <a:lvl5pPr>
              <a:lnSpc>
                <a:spcPct val="120000"/>
              </a:lnSpc>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238750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rgbClr val="32006E"/>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5DE041D-A3BF-94FF-029C-719D4DADA215}"/>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3300" t="13815"/>
          <a:stretch/>
        </p:blipFill>
        <p:spPr>
          <a:xfrm>
            <a:off x="0" y="-1"/>
            <a:ext cx="4239206" cy="3776193"/>
          </a:xfrm>
          <a:prstGeom prst="rect">
            <a:avLst/>
          </a:prstGeom>
        </p:spPr>
      </p:pic>
      <p:sp>
        <p:nvSpPr>
          <p:cNvPr id="2" name="Title 1">
            <a:extLst>
              <a:ext uri="{FF2B5EF4-FFF2-40B4-BE49-F238E27FC236}">
                <a16:creationId xmlns:a16="http://schemas.microsoft.com/office/drawing/2014/main" id="{0DEE605D-0584-F71C-A97D-B672F13E3911}"/>
              </a:ext>
            </a:extLst>
          </p:cNvPr>
          <p:cNvSpPr>
            <a:spLocks noGrp="1"/>
          </p:cNvSpPr>
          <p:nvPr>
            <p:ph type="title" hasCustomPrompt="1"/>
          </p:nvPr>
        </p:nvSpPr>
        <p:spPr>
          <a:xfrm>
            <a:off x="914400" y="2580640"/>
            <a:ext cx="5181600" cy="3368819"/>
          </a:xfrm>
        </p:spPr>
        <p:txBody>
          <a:bodyPr anchor="b">
            <a:normAutofit/>
          </a:bodyPr>
          <a:lstStyle>
            <a:lvl1pPr>
              <a:defRPr sz="4800">
                <a:solidFill>
                  <a:schemeClr val="bg1"/>
                </a:solidFill>
              </a:defRPr>
            </a:lvl1pPr>
          </a:lstStyle>
          <a:p>
            <a:r>
              <a:rPr lang="en-US" dirty="0"/>
              <a:t>Click to add title</a:t>
            </a:r>
          </a:p>
        </p:txBody>
      </p:sp>
      <p:sp>
        <p:nvSpPr>
          <p:cNvPr id="9" name="Picture Placeholder 8">
            <a:extLst>
              <a:ext uri="{FF2B5EF4-FFF2-40B4-BE49-F238E27FC236}">
                <a16:creationId xmlns:a16="http://schemas.microsoft.com/office/drawing/2014/main" id="{59AF635C-89E6-F6EF-FA6A-417A9A84BF4A}"/>
              </a:ext>
            </a:extLst>
          </p:cNvPr>
          <p:cNvSpPr>
            <a:spLocks noGrp="1"/>
          </p:cNvSpPr>
          <p:nvPr>
            <p:ph type="pic" sz="quarter" idx="10" hasCustomPrompt="1"/>
          </p:nvPr>
        </p:nvSpPr>
        <p:spPr>
          <a:xfrm>
            <a:off x="6085840" y="-10159"/>
            <a:ext cx="6116320" cy="6868160"/>
          </a:xfrm>
          <a:custGeom>
            <a:avLst/>
            <a:gdLst>
              <a:gd name="connsiteX0" fmla="*/ 0 w 6116320"/>
              <a:gd name="connsiteY0" fmla="*/ 0 h 6880225"/>
              <a:gd name="connsiteX1" fmla="*/ 6116320 w 6116320"/>
              <a:gd name="connsiteY1" fmla="*/ 0 h 6880225"/>
              <a:gd name="connsiteX2" fmla="*/ 6116320 w 6116320"/>
              <a:gd name="connsiteY2" fmla="*/ 6880225 h 6880225"/>
              <a:gd name="connsiteX3" fmla="*/ 0 w 6116320"/>
              <a:gd name="connsiteY3" fmla="*/ 6880225 h 6880225"/>
              <a:gd name="connsiteX4" fmla="*/ 0 w 6116320"/>
              <a:gd name="connsiteY4" fmla="*/ 0 h 6880225"/>
              <a:gd name="connsiteX0" fmla="*/ 0 w 6116320"/>
              <a:gd name="connsiteY0" fmla="*/ 0 h 6880225"/>
              <a:gd name="connsiteX1" fmla="*/ 6116320 w 6116320"/>
              <a:gd name="connsiteY1" fmla="*/ 0 h 6880225"/>
              <a:gd name="connsiteX2" fmla="*/ 6116320 w 6116320"/>
              <a:gd name="connsiteY2" fmla="*/ 6880225 h 6880225"/>
              <a:gd name="connsiteX3" fmla="*/ 2052320 w 6116320"/>
              <a:gd name="connsiteY3" fmla="*/ 6880225 h 6880225"/>
              <a:gd name="connsiteX4" fmla="*/ 0 w 6116320"/>
              <a:gd name="connsiteY4" fmla="*/ 0 h 6880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6320" h="6880225">
                <a:moveTo>
                  <a:pt x="0" y="0"/>
                </a:moveTo>
                <a:lnTo>
                  <a:pt x="6116320" y="0"/>
                </a:lnTo>
                <a:lnTo>
                  <a:pt x="6116320" y="6880225"/>
                </a:lnTo>
                <a:lnTo>
                  <a:pt x="2052320" y="6880225"/>
                </a:lnTo>
                <a:lnTo>
                  <a:pt x="0" y="0"/>
                </a:lnTo>
                <a:close/>
              </a:path>
            </a:pathLst>
          </a:custGeom>
        </p:spPr>
        <p:txBody>
          <a:bodyPr>
            <a:normAutofit/>
          </a:bodyPr>
          <a:lstStyle>
            <a:lvl1pPr marL="0" indent="0" algn="ctr">
              <a:buNone/>
              <a:defRPr sz="2000">
                <a:solidFill>
                  <a:schemeClr val="bg1"/>
                </a:solidFill>
              </a:defRPr>
            </a:lvl1pPr>
          </a:lstStyle>
          <a:p>
            <a:r>
              <a:rPr lang="en-US" dirty="0"/>
              <a:t>Click icon to insert picture</a:t>
            </a:r>
          </a:p>
        </p:txBody>
      </p:sp>
    </p:spTree>
    <p:extLst>
      <p:ext uri="{BB962C8B-B14F-4D97-AF65-F5344CB8AC3E}">
        <p14:creationId xmlns:p14="http://schemas.microsoft.com/office/powerpoint/2010/main" val="736789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left Image 1">
    <p:bg>
      <p:bgPr>
        <a:solidFill>
          <a:srgbClr val="32006E"/>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589277D-BC14-E7E0-5822-5575F563E1C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6200000">
            <a:off x="8039100" y="228600"/>
            <a:ext cx="4381500" cy="3924300"/>
          </a:xfrm>
          <a:prstGeom prst="rect">
            <a:avLst/>
          </a:prstGeom>
        </p:spPr>
      </p:pic>
      <p:sp>
        <p:nvSpPr>
          <p:cNvPr id="2" name="Title 1">
            <a:extLst>
              <a:ext uri="{FF2B5EF4-FFF2-40B4-BE49-F238E27FC236}">
                <a16:creationId xmlns:a16="http://schemas.microsoft.com/office/drawing/2014/main" id="{4FDB1BDE-C8F3-ACC0-740B-CBD8128777D5}"/>
              </a:ext>
            </a:extLst>
          </p:cNvPr>
          <p:cNvSpPr>
            <a:spLocks noGrp="1"/>
          </p:cNvSpPr>
          <p:nvPr>
            <p:ph type="title"/>
          </p:nvPr>
        </p:nvSpPr>
        <p:spPr>
          <a:xfrm>
            <a:off x="6096000" y="375285"/>
            <a:ext cx="4896678" cy="3624984"/>
          </a:xfrm>
        </p:spPr>
        <p:txBody>
          <a:bodyPr anchor="b">
            <a:normAutofit/>
          </a:bodyPr>
          <a:lstStyle>
            <a:lvl1pPr>
              <a:defRPr sz="4800">
                <a:solidFill>
                  <a:schemeClr val="bg1"/>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128597A3-47D0-F393-55D9-07FFD951F396}"/>
              </a:ext>
            </a:extLst>
          </p:cNvPr>
          <p:cNvSpPr>
            <a:spLocks noGrp="1"/>
          </p:cNvSpPr>
          <p:nvPr>
            <p:ph type="pic" sz="quarter" idx="11"/>
          </p:nvPr>
        </p:nvSpPr>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405384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586 w 6096586"/>
              <a:gd name="connsiteY0" fmla="*/ 0 h 6858000"/>
              <a:gd name="connsiteX1" fmla="*/ 4054426 w 6096586"/>
              <a:gd name="connsiteY1" fmla="*/ 0 h 6858000"/>
              <a:gd name="connsiteX2" fmla="*/ 6096586 w 6096586"/>
              <a:gd name="connsiteY2" fmla="*/ 6858000 h 6858000"/>
              <a:gd name="connsiteX3" fmla="*/ 586 w 6096586"/>
              <a:gd name="connsiteY3" fmla="*/ 6858000 h 6858000"/>
              <a:gd name="connsiteX4" fmla="*/ 586 w 6096586"/>
              <a:gd name="connsiteY4" fmla="*/ 3669792 h 6858000"/>
              <a:gd name="connsiteX5" fmla="*/ 586 w 6096586"/>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4053840" y="0"/>
                </a:lnTo>
                <a:lnTo>
                  <a:pt x="6096000" y="6858000"/>
                </a:lnTo>
                <a:lnTo>
                  <a:pt x="950976" y="6858000"/>
                </a:lnTo>
                <a:lnTo>
                  <a:pt x="0" y="3669792"/>
                </a:lnTo>
                <a:lnTo>
                  <a:pt x="0" y="0"/>
                </a:lnTo>
                <a:close/>
              </a:path>
            </a:pathLst>
          </a:custGeom>
        </p:spPr>
        <p:txBody>
          <a:bodyPr>
            <a:normAutofit/>
          </a:bodyPr>
          <a:lstStyle>
            <a:lvl1pPr marL="0" indent="0" algn="l">
              <a:buNone/>
              <a:defRPr sz="2000">
                <a:solidFill>
                  <a:schemeClr val="bg1"/>
                </a:solidFill>
              </a:defRPr>
            </a:lvl1pPr>
          </a:lstStyle>
          <a:p>
            <a:r>
              <a:rPr lang="en-US"/>
              <a:t>Click icon to add picture</a:t>
            </a:r>
            <a:endParaRPr lang="en-US" dirty="0"/>
          </a:p>
        </p:txBody>
      </p:sp>
      <p:sp>
        <p:nvSpPr>
          <p:cNvPr id="9" name="Content Placeholder 10">
            <a:extLst>
              <a:ext uri="{FF2B5EF4-FFF2-40B4-BE49-F238E27FC236}">
                <a16:creationId xmlns:a16="http://schemas.microsoft.com/office/drawing/2014/main" id="{4BF260CE-C6E3-AE7A-DB8E-A72A1CF5B54E}"/>
              </a:ext>
            </a:extLst>
          </p:cNvPr>
          <p:cNvSpPr>
            <a:spLocks noGrp="1"/>
          </p:cNvSpPr>
          <p:nvPr>
            <p:ph sz="quarter" idx="10" hasCustomPrompt="1"/>
          </p:nvPr>
        </p:nvSpPr>
        <p:spPr>
          <a:xfrm>
            <a:off x="6096000" y="4172990"/>
            <a:ext cx="4896677" cy="2309726"/>
          </a:xfrm>
        </p:spPr>
        <p:txBody>
          <a:bodyPr>
            <a:normAutofit/>
          </a:bodyPr>
          <a:lstStyle>
            <a:lvl1pPr marL="0" indent="0">
              <a:spcBef>
                <a:spcPts val="0"/>
              </a:spcBef>
              <a:spcAft>
                <a:spcPts val="1200"/>
              </a:spcAft>
              <a:buNone/>
              <a:defRPr sz="2000">
                <a:solidFill>
                  <a:schemeClr val="bg1"/>
                </a:solidFill>
              </a:defRPr>
            </a:lvl1pPr>
            <a:lvl2pPr marL="742950" indent="-285750">
              <a:spcBef>
                <a:spcPts val="0"/>
              </a:spcBef>
              <a:spcAft>
                <a:spcPts val="1200"/>
              </a:spcAft>
              <a:buFont typeface="Arial" panose="020B0604020202020204" pitchFamily="34" charset="0"/>
              <a:buChar char="•"/>
              <a:defRPr sz="1800">
                <a:solidFill>
                  <a:schemeClr val="bg1"/>
                </a:solidFill>
              </a:defRPr>
            </a:lvl2pPr>
            <a:lvl3pPr marL="1200150" indent="-285750">
              <a:spcBef>
                <a:spcPts val="0"/>
              </a:spcBef>
              <a:spcAft>
                <a:spcPts val="1200"/>
              </a:spcAft>
              <a:buFont typeface="Arial" panose="020B0604020202020204" pitchFamily="34" charset="0"/>
              <a:buChar char="•"/>
              <a:defRPr sz="1600">
                <a:solidFill>
                  <a:schemeClr val="bg1"/>
                </a:solidFill>
              </a:defRPr>
            </a:lvl3pPr>
            <a:lvl4pPr marL="1657350" indent="-285750">
              <a:spcBef>
                <a:spcPts val="0"/>
              </a:spcBef>
              <a:spcAft>
                <a:spcPts val="1200"/>
              </a:spcAft>
              <a:buFont typeface="Arial" panose="020B0604020202020204" pitchFamily="34" charset="0"/>
              <a:buChar char="•"/>
              <a:defRPr sz="1400">
                <a:solidFill>
                  <a:schemeClr val="bg1"/>
                </a:solidFill>
              </a:defRPr>
            </a:lvl4pPr>
            <a:lvl5pPr marL="2114550" indent="-285750">
              <a:spcBef>
                <a:spcPts val="0"/>
              </a:spcBef>
              <a:spcAft>
                <a:spcPts val="1200"/>
              </a:spcAft>
              <a:buFont typeface="Arial" panose="020B0604020202020204" pitchFamily="34" charset="0"/>
              <a:buChar char="•"/>
              <a:defRPr sz="1400">
                <a:solidFill>
                  <a:schemeClr val="bg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89111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verview">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2B74EE53-DB22-C27E-074F-A7129585FEA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5158" t="-5374" b="78533"/>
          <a:stretch/>
        </p:blipFill>
        <p:spPr>
          <a:xfrm rot="10800000">
            <a:off x="6324600" y="0"/>
            <a:ext cx="5867400" cy="1647324"/>
          </a:xfrm>
          <a:prstGeom prst="rect">
            <a:avLst/>
          </a:prstGeom>
        </p:spPr>
      </p:pic>
      <p:sp>
        <p:nvSpPr>
          <p:cNvPr id="2" name="Title 1">
            <a:extLst>
              <a:ext uri="{FF2B5EF4-FFF2-40B4-BE49-F238E27FC236}">
                <a16:creationId xmlns:a16="http://schemas.microsoft.com/office/drawing/2014/main" id="{278AEF0C-FA4B-8C23-0132-5529EC244F9E}"/>
              </a:ext>
            </a:extLst>
          </p:cNvPr>
          <p:cNvSpPr>
            <a:spLocks noGrp="1"/>
          </p:cNvSpPr>
          <p:nvPr>
            <p:ph type="title" hasCustomPrompt="1"/>
          </p:nvPr>
        </p:nvSpPr>
        <p:spPr>
          <a:xfrm>
            <a:off x="6126480" y="1310639"/>
            <a:ext cx="4805997" cy="2689629"/>
          </a:xfrm>
        </p:spPr>
        <p:txBody>
          <a:bodyPr anchor="b">
            <a:normAutofit/>
          </a:bodyPr>
          <a:lstStyle>
            <a:lvl1pPr>
              <a:defRPr sz="4800"/>
            </a:lvl1pPr>
          </a:lstStyle>
          <a:p>
            <a:r>
              <a:rPr lang="en-US" dirty="0"/>
              <a:t>Click to add title</a:t>
            </a:r>
          </a:p>
        </p:txBody>
      </p:sp>
      <p:sp>
        <p:nvSpPr>
          <p:cNvPr id="12" name="Picture Placeholder 11">
            <a:extLst>
              <a:ext uri="{FF2B5EF4-FFF2-40B4-BE49-F238E27FC236}">
                <a16:creationId xmlns:a16="http://schemas.microsoft.com/office/drawing/2014/main" id="{B3DD4867-9B0B-647C-1F78-5E50BF30F089}"/>
              </a:ext>
            </a:extLst>
          </p:cNvPr>
          <p:cNvSpPr>
            <a:spLocks noGrp="1"/>
          </p:cNvSpPr>
          <p:nvPr>
            <p:ph type="pic" sz="quarter" idx="11"/>
          </p:nvPr>
        </p:nvSpPr>
        <p:spPr>
          <a:xfrm>
            <a:off x="0" y="-1016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053840 w 6096000"/>
              <a:gd name="connsiteY2" fmla="*/ 6858000 h 6858000"/>
              <a:gd name="connsiteX3" fmla="*/ 0 w 6096000"/>
              <a:gd name="connsiteY3" fmla="*/ 6858000 h 6858000"/>
              <a:gd name="connsiteX4" fmla="*/ 0 w 6096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58000">
                <a:moveTo>
                  <a:pt x="0" y="0"/>
                </a:moveTo>
                <a:lnTo>
                  <a:pt x="6096000" y="0"/>
                </a:lnTo>
                <a:lnTo>
                  <a:pt x="4053840" y="6858000"/>
                </a:lnTo>
                <a:lnTo>
                  <a:pt x="0" y="6858000"/>
                </a:lnTo>
                <a:lnTo>
                  <a:pt x="0" y="0"/>
                </a:lnTo>
                <a:close/>
              </a:path>
            </a:pathLst>
          </a:custGeom>
        </p:spPr>
        <p:txBody>
          <a:bodyPr>
            <a:normAutofit/>
          </a:bodyPr>
          <a:lstStyle>
            <a:lvl1pPr marL="0" indent="0" algn="ctr">
              <a:buNone/>
              <a:defRPr sz="2000"/>
            </a:lvl1pPr>
          </a:lstStyle>
          <a:p>
            <a:r>
              <a:rPr lang="en-US"/>
              <a:t>Click icon to add picture</a:t>
            </a:r>
            <a:endParaRPr lang="en-US" dirty="0"/>
          </a:p>
        </p:txBody>
      </p:sp>
      <p:sp>
        <p:nvSpPr>
          <p:cNvPr id="10" name="Content Placeholder 9">
            <a:extLst>
              <a:ext uri="{FF2B5EF4-FFF2-40B4-BE49-F238E27FC236}">
                <a16:creationId xmlns:a16="http://schemas.microsoft.com/office/drawing/2014/main" id="{BFF4D65D-965A-5E86-4D91-C72D1D03A8B9}"/>
              </a:ext>
            </a:extLst>
          </p:cNvPr>
          <p:cNvSpPr>
            <a:spLocks noGrp="1"/>
          </p:cNvSpPr>
          <p:nvPr>
            <p:ph sz="quarter" idx="10" hasCustomPrompt="1"/>
          </p:nvPr>
        </p:nvSpPr>
        <p:spPr>
          <a:xfrm>
            <a:off x="6126163" y="4172990"/>
            <a:ext cx="4805997" cy="2389736"/>
          </a:xfrm>
        </p:spPr>
        <p:txBody>
          <a:bodyPr>
            <a:normAutofit/>
          </a:bodyPr>
          <a:lstStyle>
            <a:lvl1pPr marL="0" indent="0">
              <a:buFont typeface="Arial" panose="020B0604020202020204" pitchFamily="34" charse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6365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4C9F686-E069-3B60-9625-01EE6A41D75D}"/>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45239"/>
          <a:stretch/>
        </p:blipFill>
        <p:spPr>
          <a:xfrm flipH="1">
            <a:off x="9135414" y="0"/>
            <a:ext cx="3056586" cy="6858000"/>
          </a:xfrm>
          <a:custGeom>
            <a:avLst/>
            <a:gdLst>
              <a:gd name="connsiteX0" fmla="*/ 4284372 w 4284372"/>
              <a:gd name="connsiteY0" fmla="*/ 0 h 6858000"/>
              <a:gd name="connsiteX1" fmla="*/ 0 w 4284372"/>
              <a:gd name="connsiteY1" fmla="*/ 0 h 6858000"/>
              <a:gd name="connsiteX2" fmla="*/ 0 w 4284372"/>
              <a:gd name="connsiteY2" fmla="*/ 6858000 h 6858000"/>
              <a:gd name="connsiteX3" fmla="*/ 4284372 w 428437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84372" h="6858000">
                <a:moveTo>
                  <a:pt x="4284372" y="0"/>
                </a:moveTo>
                <a:lnTo>
                  <a:pt x="0" y="0"/>
                </a:lnTo>
                <a:lnTo>
                  <a:pt x="0" y="6858000"/>
                </a:lnTo>
                <a:lnTo>
                  <a:pt x="4284372" y="6858000"/>
                </a:lnTo>
                <a:close/>
              </a:path>
            </a:pathLst>
          </a:custGeom>
        </p:spPr>
      </p:pic>
      <p:pic>
        <p:nvPicPr>
          <p:cNvPr id="9" name="Graphic 8">
            <a:extLst>
              <a:ext uri="{FF2B5EF4-FFF2-40B4-BE49-F238E27FC236}">
                <a16:creationId xmlns:a16="http://schemas.microsoft.com/office/drawing/2014/main" id="{6D7227F9-50F9-820B-69B7-924C0212046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2330"/>
          <a:stretch/>
        </p:blipFill>
        <p:spPr>
          <a:xfrm>
            <a:off x="7810500" y="3025140"/>
            <a:ext cx="4381500" cy="3832860"/>
          </a:xfrm>
          <a:prstGeom prst="rect">
            <a:avLst/>
          </a:prstGeom>
        </p:spPr>
      </p:pic>
      <p:sp>
        <p:nvSpPr>
          <p:cNvPr id="2" name="Title 1">
            <a:extLst>
              <a:ext uri="{FF2B5EF4-FFF2-40B4-BE49-F238E27FC236}">
                <a16:creationId xmlns:a16="http://schemas.microsoft.com/office/drawing/2014/main" id="{448D1E69-316E-A8E1-7ADA-040A0E490730}"/>
              </a:ext>
            </a:extLst>
          </p:cNvPr>
          <p:cNvSpPr>
            <a:spLocks noGrp="1"/>
          </p:cNvSpPr>
          <p:nvPr>
            <p:ph type="title" hasCustomPrompt="1"/>
          </p:nvPr>
        </p:nvSpPr>
        <p:spPr>
          <a:xfrm>
            <a:off x="914399" y="365125"/>
            <a:ext cx="7273637" cy="1646555"/>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61069CA0-E0AB-99C6-10DB-13AAC019DD7D}"/>
              </a:ext>
            </a:extLst>
          </p:cNvPr>
          <p:cNvSpPr>
            <a:spLocks noGrp="1"/>
          </p:cNvSpPr>
          <p:nvPr>
            <p:ph sz="quarter" idx="10" hasCustomPrompt="1"/>
          </p:nvPr>
        </p:nvSpPr>
        <p:spPr>
          <a:xfrm>
            <a:off x="914399" y="2011363"/>
            <a:ext cx="7273638" cy="4155757"/>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8152138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wo Content 1">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6E20435-B9A5-359D-133D-5D3EED409CD5}"/>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55" t="41988" r="53993" b="33420"/>
          <a:stretch/>
        </p:blipFill>
        <p:spPr>
          <a:xfrm rot="10800000">
            <a:off x="9198864" y="-5"/>
            <a:ext cx="2993136" cy="1517907"/>
          </a:xfrm>
          <a:prstGeom prst="rect">
            <a:avLst/>
          </a:prstGeom>
        </p:spPr>
      </p:pic>
      <p:pic>
        <p:nvPicPr>
          <p:cNvPr id="9" name="Graphic 8">
            <a:extLst>
              <a:ext uri="{FF2B5EF4-FFF2-40B4-BE49-F238E27FC236}">
                <a16:creationId xmlns:a16="http://schemas.microsoft.com/office/drawing/2014/main" id="{7B99CAE4-AA9B-52BA-7DE8-8245CE705D35}"/>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25445" t="24819" r="46503"/>
          <a:stretch/>
        </p:blipFill>
        <p:spPr>
          <a:xfrm rot="16200000">
            <a:off x="961221" y="4525179"/>
            <a:ext cx="1371600" cy="3294042"/>
          </a:xfrm>
          <a:prstGeom prst="rect">
            <a:avLst/>
          </a:prstGeom>
        </p:spPr>
      </p:pic>
      <p:sp>
        <p:nvSpPr>
          <p:cNvPr id="10" name="Title 9">
            <a:extLst>
              <a:ext uri="{FF2B5EF4-FFF2-40B4-BE49-F238E27FC236}">
                <a16:creationId xmlns:a16="http://schemas.microsoft.com/office/drawing/2014/main" id="{28DFE681-710B-6FE5-B8E0-3BC9DB9F12D1}"/>
              </a:ext>
            </a:extLst>
          </p:cNvPr>
          <p:cNvSpPr>
            <a:spLocks noGrp="1"/>
          </p:cNvSpPr>
          <p:nvPr>
            <p:ph type="title" hasCustomPrompt="1"/>
          </p:nvPr>
        </p:nvSpPr>
        <p:spPr>
          <a:xfrm>
            <a:off x="914399" y="365125"/>
            <a:ext cx="10363201" cy="1629601"/>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3FE383D3-6A16-1891-FF52-470B26B94042}"/>
              </a:ext>
            </a:extLst>
          </p:cNvPr>
          <p:cNvSpPr>
            <a:spLocks noGrp="1"/>
          </p:cNvSpPr>
          <p:nvPr>
            <p:ph sz="quarter" idx="10" hasCustomPrompt="1"/>
          </p:nvPr>
        </p:nvSpPr>
        <p:spPr>
          <a:xfrm>
            <a:off x="914399"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74B5EB04-CA6E-7417-56DF-A55B21E94B74}"/>
              </a:ext>
            </a:extLst>
          </p:cNvPr>
          <p:cNvSpPr>
            <a:spLocks noGrp="1"/>
          </p:cNvSpPr>
          <p:nvPr>
            <p:ph sz="quarter" idx="11" hasCustomPrompt="1"/>
          </p:nvPr>
        </p:nvSpPr>
        <p:spPr>
          <a:xfrm>
            <a:off x="6284891"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417792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A783FA55-EF1D-66CF-8FD5-29086D71E62F}"/>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81" t="40714" r="61027" b="44471"/>
          <a:stretch/>
        </p:blipFill>
        <p:spPr>
          <a:xfrm rot="10800000" flipV="1">
            <a:off x="-26830" y="5950040"/>
            <a:ext cx="2513521" cy="914400"/>
          </a:xfrm>
          <a:prstGeom prst="rect">
            <a:avLst/>
          </a:prstGeom>
        </p:spPr>
      </p:pic>
      <p:pic>
        <p:nvPicPr>
          <p:cNvPr id="9" name="Graphic 8">
            <a:extLst>
              <a:ext uri="{FF2B5EF4-FFF2-40B4-BE49-F238E27FC236}">
                <a16:creationId xmlns:a16="http://schemas.microsoft.com/office/drawing/2014/main" id="{542CEFED-8DE0-0155-A5B6-A44051A6D034}"/>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8883" t="18052" r="46636"/>
          <a:stretch/>
        </p:blipFill>
        <p:spPr>
          <a:xfrm rot="16200000" flipH="1" flipV="1">
            <a:off x="9553763" y="-952310"/>
            <a:ext cx="1685928" cy="3590547"/>
          </a:xfrm>
          <a:prstGeom prst="rect">
            <a:avLst/>
          </a:prstGeom>
        </p:spPr>
      </p:pic>
      <p:sp>
        <p:nvSpPr>
          <p:cNvPr id="10" name="Title 9">
            <a:extLst>
              <a:ext uri="{FF2B5EF4-FFF2-40B4-BE49-F238E27FC236}">
                <a16:creationId xmlns:a16="http://schemas.microsoft.com/office/drawing/2014/main" id="{57FC493E-284F-ADBA-D92D-883CAB13ADCA}"/>
              </a:ext>
            </a:extLst>
          </p:cNvPr>
          <p:cNvSpPr>
            <a:spLocks noGrp="1"/>
          </p:cNvSpPr>
          <p:nvPr>
            <p:ph type="title" hasCustomPrompt="1"/>
          </p:nvPr>
        </p:nvSpPr>
        <p:spPr>
          <a:xfrm>
            <a:off x="914398" y="365125"/>
            <a:ext cx="10439401" cy="1617017"/>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4B8B2035-4AA9-D25E-9F15-3ED36F734D13}"/>
              </a:ext>
            </a:extLst>
          </p:cNvPr>
          <p:cNvSpPr>
            <a:spLocks noGrp="1"/>
          </p:cNvSpPr>
          <p:nvPr>
            <p:ph sz="quarter" idx="10" hasCustomPrompt="1"/>
          </p:nvPr>
        </p:nvSpPr>
        <p:spPr>
          <a:xfrm>
            <a:off x="914399" y="2022250"/>
            <a:ext cx="3310129" cy="3747180"/>
          </a:xfrm>
        </p:spPr>
        <p:txBody>
          <a:bodyPr>
            <a:normAutofit/>
          </a:bodyPr>
          <a:lstStyle>
            <a:lvl1pPr>
              <a:spcBef>
                <a:spcPts val="0"/>
              </a:spcBef>
              <a:spcAft>
                <a:spcPts val="1200"/>
              </a:spcAft>
              <a:defRPr sz="2000" b="1"/>
            </a:lvl1pPr>
            <a:lvl2pPr>
              <a:spcBef>
                <a:spcPts val="0"/>
              </a:spcBef>
              <a:spcAft>
                <a:spcPts val="1200"/>
              </a:spcAft>
              <a:defRPr sz="1800" b="1"/>
            </a:lvl2pPr>
            <a:lvl3pPr>
              <a:spcBef>
                <a:spcPts val="0"/>
              </a:spcBef>
              <a:spcAft>
                <a:spcPts val="1200"/>
              </a:spcAft>
              <a:defRPr sz="1600" b="1"/>
            </a:lvl3pPr>
            <a:lvl4pPr>
              <a:spcBef>
                <a:spcPts val="0"/>
              </a:spcBef>
              <a:spcAft>
                <a:spcPts val="1200"/>
              </a:spcAft>
              <a:defRPr sz="1400" b="1"/>
            </a:lvl4pPr>
            <a:lvl5pPr>
              <a:spcBef>
                <a:spcPts val="0"/>
              </a:spcBef>
              <a:spcAft>
                <a:spcPts val="1200"/>
              </a:spcAft>
              <a:defRPr sz="1400" b="1"/>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6A694422-6B3E-3D80-AC41-FD1CED52ACAB}"/>
              </a:ext>
            </a:extLst>
          </p:cNvPr>
          <p:cNvSpPr>
            <a:spLocks noGrp="1"/>
          </p:cNvSpPr>
          <p:nvPr>
            <p:ph sz="quarter" idx="11" hasCustomPrompt="1"/>
          </p:nvPr>
        </p:nvSpPr>
        <p:spPr>
          <a:xfrm>
            <a:off x="4602310" y="2018120"/>
            <a:ext cx="675148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7828138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and right Image">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48DBD2A1-633E-7A22-751B-5CEFCA93F20C}"/>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7703" t="485" b="67543"/>
          <a:stretch/>
        </p:blipFill>
        <p:spPr>
          <a:xfrm rot="5400000">
            <a:off x="-115162" y="115164"/>
            <a:ext cx="1895058" cy="1664735"/>
          </a:xfrm>
          <a:prstGeom prst="rect">
            <a:avLst/>
          </a:prstGeom>
        </p:spPr>
      </p:pic>
      <p:sp>
        <p:nvSpPr>
          <p:cNvPr id="9" name="Title 8">
            <a:extLst>
              <a:ext uri="{FF2B5EF4-FFF2-40B4-BE49-F238E27FC236}">
                <a16:creationId xmlns:a16="http://schemas.microsoft.com/office/drawing/2014/main" id="{3E7BF4D0-D641-9859-157D-B9094EF3DAB1}"/>
              </a:ext>
            </a:extLst>
          </p:cNvPr>
          <p:cNvSpPr>
            <a:spLocks noGrp="1"/>
          </p:cNvSpPr>
          <p:nvPr>
            <p:ph type="title" hasCustomPrompt="1"/>
          </p:nvPr>
        </p:nvSpPr>
        <p:spPr>
          <a:xfrm>
            <a:off x="916385" y="446313"/>
            <a:ext cx="5179615" cy="1448747"/>
          </a:xfrm>
        </p:spPr>
        <p:txBody>
          <a:bodyPr>
            <a:normAutofit/>
          </a:bodyPr>
          <a:lstStyle>
            <a:lvl1pPr>
              <a:defRPr sz="3200"/>
            </a:lvl1pPr>
          </a:lstStyle>
          <a:p>
            <a:r>
              <a:rPr lang="en-US" dirty="0"/>
              <a:t>Click to add title</a:t>
            </a:r>
          </a:p>
        </p:txBody>
      </p:sp>
      <p:sp>
        <p:nvSpPr>
          <p:cNvPr id="10" name="Content Placeholder 10">
            <a:extLst>
              <a:ext uri="{FF2B5EF4-FFF2-40B4-BE49-F238E27FC236}">
                <a16:creationId xmlns:a16="http://schemas.microsoft.com/office/drawing/2014/main" id="{115AE488-757F-4C5A-7733-85C1D1EA98D3}"/>
              </a:ext>
            </a:extLst>
          </p:cNvPr>
          <p:cNvSpPr>
            <a:spLocks noGrp="1"/>
          </p:cNvSpPr>
          <p:nvPr>
            <p:ph sz="quarter" idx="10" hasCustomPrompt="1"/>
          </p:nvPr>
        </p:nvSpPr>
        <p:spPr>
          <a:xfrm>
            <a:off x="914399" y="2022250"/>
            <a:ext cx="5181600" cy="3747180"/>
          </a:xfrm>
        </p:spPr>
        <p:txBody>
          <a:bodyPr>
            <a:normAutofit/>
          </a:bodyPr>
          <a:lstStyle>
            <a:lvl1pPr>
              <a:spcBef>
                <a:spcPts val="0"/>
              </a:spcBef>
              <a:spcAft>
                <a:spcPts val="1200"/>
              </a:spcAft>
              <a:defRPr sz="2000" b="0"/>
            </a:lvl1pPr>
            <a:lvl2pPr>
              <a:spcBef>
                <a:spcPts val="0"/>
              </a:spcBef>
              <a:spcAft>
                <a:spcPts val="1200"/>
              </a:spcAft>
              <a:defRPr sz="1800" b="0"/>
            </a:lvl2pPr>
            <a:lvl3pPr>
              <a:spcBef>
                <a:spcPts val="0"/>
              </a:spcBef>
              <a:spcAft>
                <a:spcPts val="1200"/>
              </a:spcAft>
              <a:defRPr sz="1600" b="0"/>
            </a:lvl3pPr>
            <a:lvl4pPr>
              <a:spcBef>
                <a:spcPts val="0"/>
              </a:spcBef>
              <a:spcAft>
                <a:spcPts val="1200"/>
              </a:spcAft>
              <a:defRPr sz="1400" b="0"/>
            </a:lvl4pPr>
            <a:lvl5pPr>
              <a:spcBef>
                <a:spcPts val="0"/>
              </a:spcBef>
              <a:spcAft>
                <a:spcPts val="1200"/>
              </a:spcAft>
              <a:defRPr sz="14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
        <p:nvSpPr>
          <p:cNvPr id="12" name="Picture Placeholder 11">
            <a:extLst>
              <a:ext uri="{FF2B5EF4-FFF2-40B4-BE49-F238E27FC236}">
                <a16:creationId xmlns:a16="http://schemas.microsoft.com/office/drawing/2014/main" id="{39DD264F-42B5-DBB0-9839-DB4C6827ED76}"/>
              </a:ext>
            </a:extLst>
          </p:cNvPr>
          <p:cNvSpPr>
            <a:spLocks noGrp="1"/>
          </p:cNvSpPr>
          <p:nvPr>
            <p:ph type="pic" sz="quarter" idx="11"/>
          </p:nvPr>
        </p:nvSpPr>
        <p:spPr>
          <a:xfrm>
            <a:off x="6076950" y="0"/>
            <a:ext cx="6115050" cy="6868886"/>
          </a:xfrm>
          <a:custGeom>
            <a:avLst/>
            <a:gdLst>
              <a:gd name="connsiteX0" fmla="*/ 0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0 w 6115050"/>
              <a:gd name="connsiteY4" fmla="*/ 0 h 6858000"/>
              <a:gd name="connsiteX0" fmla="*/ 2024742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2024742 w 6115050"/>
              <a:gd name="connsiteY4" fmla="*/ 0 h 6858000"/>
              <a:gd name="connsiteX0" fmla="*/ 2024742 w 6115050"/>
              <a:gd name="connsiteY0" fmla="*/ 0 h 6858000"/>
              <a:gd name="connsiteX1" fmla="*/ 6115050 w 6115050"/>
              <a:gd name="connsiteY1" fmla="*/ 0 h 6858000"/>
              <a:gd name="connsiteX2" fmla="*/ 6115050 w 6115050"/>
              <a:gd name="connsiteY2" fmla="*/ 3603171 h 6858000"/>
              <a:gd name="connsiteX3" fmla="*/ 6115050 w 6115050"/>
              <a:gd name="connsiteY3" fmla="*/ 6858000 h 6858000"/>
              <a:gd name="connsiteX4" fmla="*/ 0 w 6115050"/>
              <a:gd name="connsiteY4" fmla="*/ 6858000 h 6858000"/>
              <a:gd name="connsiteX5" fmla="*/ 2024742 w 6115050"/>
              <a:gd name="connsiteY5" fmla="*/ 0 h 6858000"/>
              <a:gd name="connsiteX0" fmla="*/ 2024742 w 6115050"/>
              <a:gd name="connsiteY0" fmla="*/ 0 h 6868886"/>
              <a:gd name="connsiteX1" fmla="*/ 6115050 w 6115050"/>
              <a:gd name="connsiteY1" fmla="*/ 0 h 6868886"/>
              <a:gd name="connsiteX2" fmla="*/ 6115050 w 6115050"/>
              <a:gd name="connsiteY2" fmla="*/ 3603171 h 6868886"/>
              <a:gd name="connsiteX3" fmla="*/ 5157107 w 6115050"/>
              <a:gd name="connsiteY3" fmla="*/ 6868886 h 6868886"/>
              <a:gd name="connsiteX4" fmla="*/ 0 w 6115050"/>
              <a:gd name="connsiteY4" fmla="*/ 6858000 h 6868886"/>
              <a:gd name="connsiteX5" fmla="*/ 2024742 w 6115050"/>
              <a:gd name="connsiteY5" fmla="*/ 0 h 6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15050" h="6868886">
                <a:moveTo>
                  <a:pt x="2024742" y="0"/>
                </a:moveTo>
                <a:lnTo>
                  <a:pt x="6115050" y="0"/>
                </a:lnTo>
                <a:lnTo>
                  <a:pt x="6115050" y="3603171"/>
                </a:lnTo>
                <a:lnTo>
                  <a:pt x="5157107" y="6868886"/>
                </a:lnTo>
                <a:lnTo>
                  <a:pt x="0" y="6858000"/>
                </a:lnTo>
                <a:lnTo>
                  <a:pt x="2024742" y="0"/>
                </a:lnTo>
                <a:close/>
              </a:path>
            </a:pathLst>
          </a:custGeom>
        </p:spPr>
        <p:txBody>
          <a:bodyPr>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34670084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two Content 3">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13A42171-0D82-07BF-4667-498861CC2AFB}"/>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8883" t="34408" r="46636" b="1"/>
          <a:stretch/>
        </p:blipFill>
        <p:spPr>
          <a:xfrm flipH="1" flipV="1">
            <a:off x="10506072" y="3984078"/>
            <a:ext cx="1685928" cy="2873921"/>
          </a:xfrm>
          <a:prstGeom prst="rect">
            <a:avLst/>
          </a:prstGeom>
        </p:spPr>
      </p:pic>
      <p:pic>
        <p:nvPicPr>
          <p:cNvPr id="9" name="Graphic 8">
            <a:extLst>
              <a:ext uri="{FF2B5EF4-FFF2-40B4-BE49-F238E27FC236}">
                <a16:creationId xmlns:a16="http://schemas.microsoft.com/office/drawing/2014/main" id="{13C71A0D-EE6D-54C4-71DE-04BE28558058}"/>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29718" t="47145" r="39389" b="8754"/>
          <a:stretch/>
        </p:blipFill>
        <p:spPr>
          <a:xfrm rot="5400000" flipV="1">
            <a:off x="9781526" y="-311511"/>
            <a:ext cx="2098964" cy="2721985"/>
          </a:xfrm>
          <a:prstGeom prst="rect">
            <a:avLst/>
          </a:prstGeom>
        </p:spPr>
      </p:pic>
      <p:sp>
        <p:nvSpPr>
          <p:cNvPr id="10" name="Title 9">
            <a:extLst>
              <a:ext uri="{FF2B5EF4-FFF2-40B4-BE49-F238E27FC236}">
                <a16:creationId xmlns:a16="http://schemas.microsoft.com/office/drawing/2014/main" id="{3F82FA92-501B-5A05-E15F-2FB9BCEBE312}"/>
              </a:ext>
            </a:extLst>
          </p:cNvPr>
          <p:cNvSpPr>
            <a:spLocks noGrp="1"/>
          </p:cNvSpPr>
          <p:nvPr>
            <p:ph type="title" hasCustomPrompt="1"/>
          </p:nvPr>
        </p:nvSpPr>
        <p:spPr>
          <a:xfrm>
            <a:off x="891990" y="434225"/>
            <a:ext cx="9524998" cy="1499627"/>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B463EEE0-BE31-122C-586C-8BA8D90371E6}"/>
              </a:ext>
            </a:extLst>
          </p:cNvPr>
          <p:cNvSpPr>
            <a:spLocks noGrp="1"/>
          </p:cNvSpPr>
          <p:nvPr>
            <p:ph sz="quarter" idx="10" hasCustomPrompt="1"/>
          </p:nvPr>
        </p:nvSpPr>
        <p:spPr>
          <a:xfrm>
            <a:off x="914399" y="2022250"/>
            <a:ext cx="6257366" cy="3914910"/>
          </a:xfrm>
        </p:spPr>
        <p:txBody>
          <a:bodyPr>
            <a:normAutofit/>
          </a:bodyPr>
          <a:lstStyle>
            <a:lvl1pPr marL="0" indent="0">
              <a:spcBef>
                <a:spcPts val="0"/>
              </a:spcBef>
              <a:spcAft>
                <a:spcPts val="1200"/>
              </a:spcAft>
              <a:buNone/>
              <a:defRPr sz="2000" b="0"/>
            </a:lvl1pPr>
            <a:lvl2pPr marL="228600">
              <a:spcBef>
                <a:spcPts val="0"/>
              </a:spcBef>
              <a:spcAft>
                <a:spcPts val="1200"/>
              </a:spcAft>
              <a:defRPr sz="2000" b="0"/>
            </a:lvl2pPr>
            <a:lvl3pPr marL="685800">
              <a:spcBef>
                <a:spcPts val="0"/>
              </a:spcBef>
              <a:spcAft>
                <a:spcPts val="1200"/>
              </a:spcAft>
              <a:defRPr sz="1800" b="0"/>
            </a:lvl3pPr>
            <a:lvl4pPr marL="914400">
              <a:spcBef>
                <a:spcPts val="0"/>
              </a:spcBef>
              <a:spcAft>
                <a:spcPts val="1200"/>
              </a:spcAft>
              <a:defRPr sz="1600" b="0"/>
            </a:lvl4pPr>
            <a:lvl5pPr marL="1143000">
              <a:spcBef>
                <a:spcPts val="0"/>
              </a:spcBef>
              <a:spcAft>
                <a:spcPts val="1200"/>
              </a:spcAft>
              <a:defRPr sz="16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52C157D5-2C68-BA6A-033B-A4CC016CA68F}"/>
              </a:ext>
            </a:extLst>
          </p:cNvPr>
          <p:cNvSpPr>
            <a:spLocks noGrp="1"/>
          </p:cNvSpPr>
          <p:nvPr>
            <p:ph sz="quarter" idx="11" hasCustomPrompt="1"/>
          </p:nvPr>
        </p:nvSpPr>
        <p:spPr>
          <a:xfrm>
            <a:off x="7967475" y="2018119"/>
            <a:ext cx="2449514" cy="3931919"/>
          </a:xfrm>
        </p:spPr>
        <p:txBody>
          <a:bodyPr>
            <a:normAutofit/>
          </a:bodyPr>
          <a:lstStyle>
            <a:lvl1pPr>
              <a:spcBef>
                <a:spcPts val="0"/>
              </a:spcBef>
              <a:spcAft>
                <a:spcPts val="1200"/>
              </a:spcAft>
              <a:defRPr sz="2000" b="1"/>
            </a:lvl1pPr>
            <a:lvl2pPr marL="411480">
              <a:spcBef>
                <a:spcPts val="0"/>
              </a:spcBef>
              <a:spcAft>
                <a:spcPts val="1200"/>
              </a:spcAft>
              <a:defRPr sz="1800" b="1"/>
            </a:lvl2pPr>
            <a:lvl3pPr marL="502920">
              <a:spcBef>
                <a:spcPts val="0"/>
              </a:spcBef>
              <a:spcAft>
                <a:spcPts val="1200"/>
              </a:spcAft>
              <a:defRPr sz="1600" b="1"/>
            </a:lvl3pPr>
            <a:lvl4pPr marL="594360">
              <a:spcBef>
                <a:spcPts val="0"/>
              </a:spcBef>
              <a:spcAft>
                <a:spcPts val="1200"/>
              </a:spcAft>
              <a:defRPr sz="1400" b="1"/>
            </a:lvl4pPr>
            <a:lvl5pPr marL="685800">
              <a:spcBef>
                <a:spcPts val="0"/>
              </a:spcBef>
              <a:spcAft>
                <a:spcPts val="1200"/>
              </a:spcAft>
              <a:defRPr sz="1400" b="1"/>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1198423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losing 2">
    <p:bg>
      <p:bgPr>
        <a:solidFill>
          <a:srgbClr val="32006E"/>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3A3E8B6-2BD8-19E0-7F51-7A25EF836F8C}"/>
              </a:ext>
            </a:extLst>
          </p:cNvPr>
          <p:cNvSpPr>
            <a:spLocks noGrp="1"/>
          </p:cNvSpPr>
          <p:nvPr>
            <p:ph type="title" hasCustomPrompt="1"/>
          </p:nvPr>
        </p:nvSpPr>
        <p:spPr>
          <a:xfrm>
            <a:off x="6091515" y="374090"/>
            <a:ext cx="5057104" cy="3624984"/>
          </a:xfrm>
        </p:spPr>
        <p:txBody>
          <a:bodyPr anchor="b">
            <a:normAutofit/>
          </a:bodyPr>
          <a:lstStyle>
            <a:lvl1pPr>
              <a:defRPr sz="4800">
                <a:solidFill>
                  <a:schemeClr val="bg1"/>
                </a:solidFill>
              </a:defRPr>
            </a:lvl1pPr>
          </a:lstStyle>
          <a:p>
            <a:r>
              <a:rPr lang="en-US" dirty="0"/>
              <a:t>Click to add title</a:t>
            </a:r>
          </a:p>
        </p:txBody>
      </p:sp>
      <p:sp>
        <p:nvSpPr>
          <p:cNvPr id="8" name="Content Placeholder 2">
            <a:extLst>
              <a:ext uri="{FF2B5EF4-FFF2-40B4-BE49-F238E27FC236}">
                <a16:creationId xmlns:a16="http://schemas.microsoft.com/office/drawing/2014/main" id="{B1F96043-F6A4-F581-7DB8-96138F0E4011}"/>
              </a:ext>
            </a:extLst>
          </p:cNvPr>
          <p:cNvSpPr>
            <a:spLocks noGrp="1"/>
          </p:cNvSpPr>
          <p:nvPr>
            <p:ph idx="1" hasCustomPrompt="1"/>
          </p:nvPr>
        </p:nvSpPr>
        <p:spPr>
          <a:xfrm>
            <a:off x="6091514" y="4172989"/>
            <a:ext cx="5057103" cy="2519363"/>
          </a:xfrm>
        </p:spPr>
        <p:txBody>
          <a:bodyPr>
            <a:normAutofit/>
          </a:bodyPr>
          <a:lstStyle>
            <a:lvl1pPr marL="0" indent="0">
              <a:lnSpc>
                <a:spcPct val="90000"/>
              </a:lnSpc>
              <a:spcBef>
                <a:spcPts val="0"/>
              </a:spcBef>
              <a:spcAft>
                <a:spcPts val="0"/>
              </a:spcAft>
              <a:buNone/>
              <a:defRPr sz="2000" baseline="0">
                <a:solidFill>
                  <a:schemeClr val="bg1"/>
                </a:solidFill>
              </a:defRPr>
            </a:lvl1pPr>
            <a:lvl2pPr marL="742950" indent="-285750">
              <a:lnSpc>
                <a:spcPct val="90000"/>
              </a:lnSpc>
              <a:spcBef>
                <a:spcPts val="0"/>
              </a:spcBef>
              <a:spcAft>
                <a:spcPts val="0"/>
              </a:spcAft>
              <a:buFont typeface="Arial" panose="020B0604020202020204" pitchFamily="34" charset="0"/>
              <a:buChar char="•"/>
              <a:defRPr sz="1800" baseline="0">
                <a:solidFill>
                  <a:schemeClr val="bg1"/>
                </a:solidFill>
              </a:defRPr>
            </a:lvl2pPr>
            <a:lvl3pPr marL="1200150" indent="-285750">
              <a:lnSpc>
                <a:spcPct val="90000"/>
              </a:lnSpc>
              <a:spcBef>
                <a:spcPts val="0"/>
              </a:spcBef>
              <a:spcAft>
                <a:spcPts val="0"/>
              </a:spcAft>
              <a:buFont typeface="Arial" panose="020B0604020202020204" pitchFamily="34" charset="0"/>
              <a:buChar char="•"/>
              <a:defRPr sz="1600" baseline="0">
                <a:solidFill>
                  <a:schemeClr val="bg1"/>
                </a:solidFill>
              </a:defRPr>
            </a:lvl3pPr>
            <a:lvl4pPr marL="1657350" indent="-285750">
              <a:lnSpc>
                <a:spcPct val="90000"/>
              </a:lnSpc>
              <a:spcBef>
                <a:spcPts val="0"/>
              </a:spcBef>
              <a:spcAft>
                <a:spcPts val="0"/>
              </a:spcAft>
              <a:buFont typeface="Arial" panose="020B0604020202020204" pitchFamily="34" charset="0"/>
              <a:buChar char="•"/>
              <a:defRPr sz="1400" baseline="0">
                <a:solidFill>
                  <a:schemeClr val="bg1"/>
                </a:solidFill>
              </a:defRPr>
            </a:lvl4pPr>
            <a:lvl5pPr marL="2000250" indent="-171450">
              <a:lnSpc>
                <a:spcPct val="90000"/>
              </a:lnSpc>
              <a:spcBef>
                <a:spcPts val="0"/>
              </a:spcBef>
              <a:spcAft>
                <a:spcPts val="0"/>
              </a:spcAft>
              <a:buFont typeface="Arial" panose="020B0604020202020204" pitchFamily="34" charset="0"/>
              <a:buChar char="•"/>
              <a:defRPr sz="1200" baseline="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C805DE67-EFB0-F6F3-6C08-2FE90284C31C}"/>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4151" r="18577"/>
          <a:stretch/>
        </p:blipFill>
        <p:spPr>
          <a:xfrm flipH="1">
            <a:off x="0" y="0"/>
            <a:ext cx="5181600" cy="6858000"/>
          </a:xfrm>
          <a:prstGeom prst="rect">
            <a:avLst/>
          </a:prstGeom>
        </p:spPr>
      </p:pic>
    </p:spTree>
    <p:extLst>
      <p:ext uri="{BB962C8B-B14F-4D97-AF65-F5344CB8AC3E}">
        <p14:creationId xmlns:p14="http://schemas.microsoft.com/office/powerpoint/2010/main" val="247034701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US"/>
              <a:t>Pitch Deck</a:t>
            </a:r>
            <a:endParaRPr lang="en-US" dirty="0"/>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707" r:id="rId1"/>
    <p:sldLayoutId id="2147483719" r:id="rId2"/>
    <p:sldLayoutId id="2147483716" r:id="rId3"/>
    <p:sldLayoutId id="2147483718" r:id="rId4"/>
    <p:sldLayoutId id="2147483722" r:id="rId5"/>
    <p:sldLayoutId id="2147483721" r:id="rId6"/>
    <p:sldLayoutId id="2147483708" r:id="rId7"/>
    <p:sldLayoutId id="2147483709" r:id="rId8"/>
    <p:sldLayoutId id="2147483712" r:id="rId9"/>
    <p:sldLayoutId id="2147483710" r:id="rId10"/>
    <p:sldLayoutId id="2147483711" r:id="rId11"/>
    <p:sldLayoutId id="2147483713" r:id="rId12"/>
    <p:sldLayoutId id="2147483714" r:id="rId13"/>
    <p:sldLayoutId id="2147483715" r:id="rId14"/>
    <p:sldLayoutId id="2147483717" r:id="rId15"/>
    <p:sldLayoutId id="2147483706" r:id="rId16"/>
  </p:sldLayoutIdLst>
  <p:hf hdr="0" ftr="0" dt="0"/>
  <p:txStyles>
    <p:titleStyle>
      <a:lvl1pPr algn="l" defTabSz="914400" rtl="0" eaLnBrk="1" latinLnBrk="0" hangingPunct="1">
        <a:lnSpc>
          <a:spcPct val="90000"/>
        </a:lnSpc>
        <a:spcBef>
          <a:spcPct val="0"/>
        </a:spcBef>
        <a:buNone/>
        <a:defRPr sz="4400" kern="1200" cap="none" baseline="0">
          <a:solidFill>
            <a:schemeClr val="tx1"/>
          </a:solidFill>
          <a:latin typeface="Arial" panose="020B0604020202020204" pitchFamily="34" charset="0"/>
          <a:ea typeface="Meiryo" panose="020B0604030504040204" pitchFamily="34" charset="-128"/>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eiryo" panose="020B0604030504040204" pitchFamily="34" charset="-128"/>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eiryo" panose="020B0604030504040204" pitchFamily="34" charset="-128"/>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eiryo" panose="020B0604030504040204" pitchFamily="34" charset="-128"/>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eiryo" panose="020B0604030504040204" pitchFamily="34" charset="-128"/>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eiryo" panose="020B0604030504040204" pitchFamily="34" charset="-128"/>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8.cao.go.jp/kourei/english/annualreport/2025/pdf/2025.pdf"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www.mhlw.go.jp/wp/hakusyo/kousei/25-2/index_en.html"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hyperlink" Target="https://www.mhlw.go.jp/wp/hakusyo/kousei/25-2/index_en.html"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hyperlink" Target="https://www.mhlw.go.jp/wp/hakusyo/kousei/25-2/index_en.html"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hyperlink" Target="https://www.mhlw.go.jp/wp/hakusyo/kousei/25-2/index_en.html"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mhlw.go.jp/stf/seisakunitsuite/bunya/kenkou_iryou/iryouhoken/iryouhoken01/index.html"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mhlw.go.jp/file/06-Seisakujouhou-12400000-Hokenkyoku/0000203025.pdf"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hyperlink" Target="https://www.pmda.go.jp/files/000263354.pdf"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4.gif"/><Relationship Id="rId5" Type="http://schemas.openxmlformats.org/officeDocument/2006/relationships/image" Target="../media/image23.png"/><Relationship Id="rId4" Type="http://schemas.openxmlformats.org/officeDocument/2006/relationships/hyperlink" Target="https://www.mhlw.go.jp/content/10808000/001508748.pdf"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hyperlink" Target="https://www.mhlw.go.jp/content/12401000/001137908.pdf" TargetMode="External"/><Relationship Id="rId4" Type="http://schemas.openxmlformats.org/officeDocument/2006/relationships/image" Target="../media/image25.svg"/></Relationships>
</file>

<file path=ppt/slides/_rels/slide18.xml.rels><?xml version="1.0" encoding="UTF-8" standalone="yes"?>
<Relationships xmlns="http://schemas.openxmlformats.org/package/2006/relationships"><Relationship Id="rId3" Type="http://schemas.openxmlformats.org/officeDocument/2006/relationships/hyperlink" Target="https://www.mhlw.go.jp/content/12400000/001666329.pdf"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pmda.go.jp/files/000274829.pdf"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mhlw.go.jp/content/10800000/001073851.pdf"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pmda.go.jp/files/000274829.pdf"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mhlw.go.jp/content/12404000/001168428.pdf"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hyperlink" Target="https://www.mhlw.go.jp/content/10808000/001568750.pdf"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www.amed.go.jp/en/news/release_20200129.html"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hyperlink" Target="https://www.cybernet.co.jp/company/about/news/press/2021/20210420.html" TargetMode="External"/><Relationship Id="rId4" Type="http://schemas.openxmlformats.org/officeDocument/2006/relationships/hyperlink" Target="https://www.data-max.co.jp/article/39367"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hyperlink" Target="https://www.mhlw.go.jp/content/12404000/000693018.pdf" TargetMode="External"/><Relationship Id="rId4" Type="http://schemas.openxmlformats.org/officeDocument/2006/relationships/hyperlink" Target="https://www.pmda.go.jp/medical_devices/2020/M20200911001/230909000_30200BZX00271000_C100_1.pdf"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8" Type="http://schemas.openxmlformats.org/officeDocument/2006/relationships/image" Target="../media/image20.png"/><Relationship Id="rId3" Type="http://schemas.microsoft.com/office/2018/10/relationships/comments" Target="../comments/modernComment_1AC_FF39FF9B.xml"/><Relationship Id="rId7"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chart" Target="../charts/chart2.xml"/><Relationship Id="rId4" Type="http://schemas.openxmlformats.org/officeDocument/2006/relationships/hyperlink" Target="https://www.mhlw.go.jp/stf/seisakunitsuite/bunya/kenkou_iryou/iryouhoken/iryouhoken01/index.html" TargetMode="External"/><Relationship Id="rId9"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3F9140-EC34-B8CA-E824-A34C7CA20A32}"/>
              </a:ext>
            </a:extLst>
          </p:cNvPr>
          <p:cNvSpPr>
            <a:spLocks noGrp="1"/>
          </p:cNvSpPr>
          <p:nvPr>
            <p:ph type="title" idx="4294967295"/>
          </p:nvPr>
        </p:nvSpPr>
        <p:spPr>
          <a:xfrm>
            <a:off x="4616132" y="1719139"/>
            <a:ext cx="7139167" cy="1659980"/>
          </a:xfrm>
          <a:prstGeom prst="rect">
            <a:avLst/>
          </a:prstGeom>
          <a:no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chemeClr val="lt1"/>
                </a:solidFill>
                <a:effectLst/>
                <a:uLnTx/>
                <a:uFillTx/>
                <a:latin typeface="Arial" panose="020B0604020202020204" pitchFamily="34" charset="0"/>
                <a:ea typeface="Meiryo UI" panose="020B0604030504040204" pitchFamily="50" charset="-128"/>
                <a:cs typeface="Arial" panose="020B0604020202020204" pitchFamily="34" charset="0"/>
              </a:rPr>
              <a:t>Japan’s Health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chemeClr val="lt1"/>
                </a:solidFill>
                <a:effectLst/>
                <a:uLnTx/>
                <a:uFillTx/>
                <a:latin typeface="Arial" panose="020B0604020202020204" pitchFamily="34" charset="0"/>
                <a:ea typeface="Meiryo UI" panose="020B0604030504040204" pitchFamily="50" charset="-128"/>
                <a:cs typeface="Arial" panose="020B0604020202020204" pitchFamily="34" charset="0"/>
              </a:rPr>
              <a:t>Insurance System and Reimbursement for </a:t>
            </a:r>
            <a:br>
              <a:rPr kumimoji="0" lang="en-US" sz="4000" b="1" i="0" u="none" strike="noStrike" kern="1200" cap="none" spc="0" normalizeH="0" baseline="0" noProof="0" dirty="0">
                <a:ln>
                  <a:noFill/>
                </a:ln>
                <a:solidFill>
                  <a:schemeClr val="lt1"/>
                </a:solidFill>
                <a:effectLst/>
                <a:uLnTx/>
                <a:uFillTx/>
                <a:latin typeface="Arial" panose="020B0604020202020204" pitchFamily="34" charset="0"/>
                <a:ea typeface="Meiryo UI" panose="020B0604030504040204" pitchFamily="50" charset="-128"/>
                <a:cs typeface="Arial" panose="020B0604020202020204" pitchFamily="34" charset="0"/>
              </a:rPr>
            </a:br>
            <a:r>
              <a:rPr kumimoji="0" lang="en-US" sz="4000" b="1" i="0" u="none" strike="noStrike" kern="1200" cap="none" spc="0" normalizeH="0" baseline="0" noProof="0" dirty="0">
                <a:ln>
                  <a:noFill/>
                </a:ln>
                <a:solidFill>
                  <a:schemeClr val="lt1"/>
                </a:solidFill>
                <a:effectLst/>
                <a:uLnTx/>
                <a:uFillTx/>
                <a:latin typeface="Arial" panose="020B0604020202020204" pitchFamily="34" charset="0"/>
                <a:ea typeface="Meiryo UI" panose="020B0604030504040204" pitchFamily="50" charset="-128"/>
                <a:cs typeface="Arial" panose="020B0604020202020204" pitchFamily="34" charset="0"/>
              </a:rPr>
              <a:t>AI Medical Devices</a:t>
            </a:r>
            <a:endParaRPr kumimoji="0" lang="en-US" sz="1100" b="0" i="0" u="none" strike="noStrike" kern="1200" cap="none" spc="0" normalizeH="0" baseline="0" noProof="0" dirty="0">
              <a:ln>
                <a:noFill/>
              </a:ln>
              <a:solidFill>
                <a:schemeClr val="bg1"/>
              </a:solidFill>
              <a:effectLst/>
              <a:uLnTx/>
              <a:uFillTx/>
              <a:latin typeface="Arial" panose="020B0604020202020204" pitchFamily="34" charset="0"/>
              <a:ea typeface="Meiryo UI" panose="020B0604030504040204" pitchFamily="50" charset="-128"/>
              <a:cs typeface="Arial" panose="020B0604020202020204" pitchFamily="34" charset="0"/>
            </a:endParaRPr>
          </a:p>
        </p:txBody>
      </p:sp>
      <p:sp>
        <p:nvSpPr>
          <p:cNvPr id="3" name="Rectangle 2">
            <a:extLst>
              <a:ext uri="{FF2B5EF4-FFF2-40B4-BE49-F238E27FC236}">
                <a16:creationId xmlns:a16="http://schemas.microsoft.com/office/drawing/2014/main" id="{F540FB97-D7F2-8229-DF1D-44421E58DF71}"/>
              </a:ext>
            </a:extLst>
          </p:cNvPr>
          <p:cNvSpPr/>
          <p:nvPr/>
        </p:nvSpPr>
        <p:spPr>
          <a:xfrm>
            <a:off x="3429000" y="4367511"/>
            <a:ext cx="8312574" cy="97580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2400" noProof="0" dirty="0">
                <a:solidFill>
                  <a:schemeClr val="bg1"/>
                </a:solidFill>
                <a:latin typeface="Arial" panose="020B0604020202020204" pitchFamily="34" charset="0"/>
                <a:ea typeface="Meiryo UI" panose="020B0604030504040204" pitchFamily="50" charset="-128"/>
                <a:cs typeface="Arial" panose="020B0604020202020204" pitchFamily="34" charset="0"/>
              </a:rPr>
              <a:t>Satoshi Koiso</a:t>
            </a:r>
          </a:p>
          <a:p>
            <a:pPr algn="r"/>
            <a:r>
              <a:rPr lang="en-US" sz="2400" noProof="0" dirty="0">
                <a:solidFill>
                  <a:schemeClr val="bg1"/>
                </a:solidFill>
                <a:latin typeface="Arial" panose="020B0604020202020204" pitchFamily="34" charset="0"/>
                <a:ea typeface="Meiryo UI" panose="020B0604030504040204" pitchFamily="50" charset="-128"/>
                <a:cs typeface="Arial" panose="020B0604020202020204" pitchFamily="34" charset="0"/>
              </a:rPr>
              <a:t>PhD student in Health Economics and Outcome Research</a:t>
            </a:r>
          </a:p>
          <a:p>
            <a:pPr algn="r"/>
            <a:r>
              <a:rPr lang="en-US" sz="2400" noProof="0" dirty="0">
                <a:solidFill>
                  <a:schemeClr val="bg1"/>
                </a:solidFill>
                <a:latin typeface="Arial" panose="020B0604020202020204" pitchFamily="34" charset="0"/>
                <a:ea typeface="Meiryo UI" panose="020B0604030504040204" pitchFamily="50" charset="-128"/>
                <a:cs typeface="Arial" panose="020B0604020202020204" pitchFamily="34" charset="0"/>
              </a:rPr>
              <a:t>CHOICE Institute, University of Washington</a:t>
            </a:r>
          </a:p>
        </p:txBody>
      </p:sp>
      <p:sp>
        <p:nvSpPr>
          <p:cNvPr id="5" name="Rectangle 4">
            <a:extLst>
              <a:ext uri="{FF2B5EF4-FFF2-40B4-BE49-F238E27FC236}">
                <a16:creationId xmlns:a16="http://schemas.microsoft.com/office/drawing/2014/main" id="{F9085391-A357-8ED8-F15D-CEA05582359D}"/>
              </a:ext>
            </a:extLst>
          </p:cNvPr>
          <p:cNvSpPr/>
          <p:nvPr/>
        </p:nvSpPr>
        <p:spPr>
          <a:xfrm>
            <a:off x="2806147" y="6163733"/>
            <a:ext cx="8894421" cy="47344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2000" noProof="0" dirty="0">
                <a:solidFill>
                  <a:schemeClr val="bg1"/>
                </a:solidFill>
                <a:latin typeface="Arial" panose="020B0604020202020204" pitchFamily="34" charset="0"/>
                <a:ea typeface="Meiryo UI" panose="020B0604030504040204" pitchFamily="50" charset="-128"/>
                <a:cs typeface="Arial" panose="020B0604020202020204" pitchFamily="34" charset="0"/>
              </a:rPr>
              <a:t>April 29, 2026, CHOICE Graduate Seminar </a:t>
            </a:r>
          </a:p>
        </p:txBody>
      </p:sp>
    </p:spTree>
    <p:extLst>
      <p:ext uri="{BB962C8B-B14F-4D97-AF65-F5344CB8AC3E}">
        <p14:creationId xmlns:p14="http://schemas.microsoft.com/office/powerpoint/2010/main" val="2945390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46A5B-301C-EE63-589D-1AC4EBA1CF45}"/>
              </a:ext>
            </a:extLst>
          </p:cNvPr>
          <p:cNvSpPr>
            <a:spLocks noGrp="1"/>
          </p:cNvSpPr>
          <p:nvPr>
            <p:ph type="title"/>
          </p:nvPr>
        </p:nvSpPr>
        <p:spPr/>
        <p:txBody>
          <a:bodyPr/>
          <a:lstStyle/>
          <a:p>
            <a:r>
              <a:rPr lang="en-US" noProof="0" dirty="0"/>
              <a:t>Key questions for </a:t>
            </a:r>
            <a:r>
              <a:rPr lang="en-US" dirty="0"/>
              <a:t>t</a:t>
            </a:r>
            <a:r>
              <a:rPr lang="en-US" noProof="0" dirty="0"/>
              <a:t>his </a:t>
            </a:r>
            <a:r>
              <a:rPr lang="en-US" altLang="ja-JP" dirty="0"/>
              <a:t>talk</a:t>
            </a:r>
            <a:endParaRPr lang="en-US" noProof="0" dirty="0"/>
          </a:p>
        </p:txBody>
      </p:sp>
      <p:sp>
        <p:nvSpPr>
          <p:cNvPr id="3" name="Table Placeholder 2">
            <a:extLst>
              <a:ext uri="{FF2B5EF4-FFF2-40B4-BE49-F238E27FC236}">
                <a16:creationId xmlns:a16="http://schemas.microsoft.com/office/drawing/2014/main" id="{851997D4-EB27-3B85-4241-5C39F598B5AB}"/>
              </a:ext>
            </a:extLst>
          </p:cNvPr>
          <p:cNvSpPr>
            <a:spLocks noGrp="1"/>
          </p:cNvSpPr>
          <p:nvPr>
            <p:ph type="tbl" sz="quarter" idx="10"/>
          </p:nvPr>
        </p:nvSpPr>
        <p:spPr>
          <a:xfrm>
            <a:off x="467139" y="1205071"/>
            <a:ext cx="11221278" cy="5063206"/>
          </a:xfrm>
        </p:spPr>
        <p:txBody>
          <a:bodyPr/>
          <a:lstStyle/>
          <a:p>
            <a:r>
              <a:rPr lang="en-US" sz="2800" noProof="0" dirty="0"/>
              <a:t>Is Japan’s </a:t>
            </a:r>
            <a:r>
              <a:rPr lang="en-US" sz="2800" dirty="0"/>
              <a:t>current </a:t>
            </a:r>
            <a:r>
              <a:rPr lang="en-US" sz="2800" noProof="0" dirty="0"/>
              <a:t>cost-sharing model reaching its limit?</a:t>
            </a:r>
          </a:p>
          <a:p>
            <a:pPr>
              <a:lnSpc>
                <a:spcPct val="100000"/>
              </a:lnSpc>
            </a:pPr>
            <a:endParaRPr lang="en-US" sz="2800" noProof="0" dirty="0"/>
          </a:p>
          <a:p>
            <a:r>
              <a:rPr lang="en-US" sz="2800" noProof="0" dirty="0"/>
              <a:t>Can the current pricing scheme capture the value of innovation?</a:t>
            </a:r>
          </a:p>
          <a:p>
            <a:pPr lvl="1"/>
            <a:endParaRPr lang="en-US" sz="2800" noProof="0" dirty="0"/>
          </a:p>
          <a:p>
            <a:r>
              <a:rPr lang="en-US" sz="2800" noProof="0" dirty="0"/>
              <a:t>Can the current regulatory and pricing evolution balance technological innovation with the long-term sustainability of the healthcare system?</a:t>
            </a:r>
          </a:p>
        </p:txBody>
      </p:sp>
      <p:sp>
        <p:nvSpPr>
          <p:cNvPr id="4" name="Slide Number Placeholder 3">
            <a:extLst>
              <a:ext uri="{FF2B5EF4-FFF2-40B4-BE49-F238E27FC236}">
                <a16:creationId xmlns:a16="http://schemas.microsoft.com/office/drawing/2014/main" id="{E0A5B02F-9CA3-0887-AC22-6C38638DCBA8}"/>
              </a:ext>
              <a:ext uri="{C183D7F6-B498-43B3-948B-1728B52AA6E4}">
                <adec:decorative xmlns:adec="http://schemas.microsoft.com/office/drawing/2017/decorative" val="1"/>
              </a:ext>
            </a:extLst>
          </p:cNvPr>
          <p:cNvSpPr>
            <a:spLocks noGrp="1"/>
          </p:cNvSpPr>
          <p:nvPr>
            <p:ph type="sldNum" sz="quarter" idx="4"/>
          </p:nvPr>
        </p:nvSpPr>
        <p:spPr/>
        <p:txBody>
          <a:bodyPr/>
          <a:lstStyle/>
          <a:p>
            <a:fld id="{B5CEABB6-07DC-46E8-9B57-56EC44A396E5}" type="slidenum">
              <a:rPr lang="en-US" noProof="0" smtClean="0"/>
              <a:pPr/>
              <a:t>2</a:t>
            </a:fld>
            <a:endParaRPr lang="en-US" noProof="0" dirty="0"/>
          </a:p>
        </p:txBody>
      </p:sp>
    </p:spTree>
    <p:extLst>
      <p:ext uri="{BB962C8B-B14F-4D97-AF65-F5344CB8AC3E}">
        <p14:creationId xmlns:p14="http://schemas.microsoft.com/office/powerpoint/2010/main" val="3493793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45B58-CBA0-683B-3483-0D260908D155}"/>
              </a:ext>
            </a:extLst>
          </p:cNvPr>
          <p:cNvSpPr>
            <a:spLocks noGrp="1"/>
          </p:cNvSpPr>
          <p:nvPr>
            <p:ph type="title"/>
          </p:nvPr>
        </p:nvSpPr>
        <p:spPr>
          <a:xfrm>
            <a:off x="467139" y="589724"/>
            <a:ext cx="11221278" cy="362776"/>
          </a:xfrm>
        </p:spPr>
        <p:txBody>
          <a:bodyPr/>
          <a:lstStyle/>
          <a:p>
            <a:r>
              <a:rPr lang="en-US" noProof="0" dirty="0"/>
              <a:t>Agenda</a:t>
            </a:r>
          </a:p>
        </p:txBody>
      </p:sp>
      <p:sp>
        <p:nvSpPr>
          <p:cNvPr id="6" name="Rectangle 5">
            <a:extLst>
              <a:ext uri="{FF2B5EF4-FFF2-40B4-BE49-F238E27FC236}">
                <a16:creationId xmlns:a16="http://schemas.microsoft.com/office/drawing/2014/main" id="{5CDB5598-0159-A688-0E67-5570D6B55E8A}"/>
              </a:ext>
            </a:extLst>
          </p:cNvPr>
          <p:cNvSpPr/>
          <p:nvPr/>
        </p:nvSpPr>
        <p:spPr>
          <a:xfrm>
            <a:off x="467139" y="2064970"/>
            <a:ext cx="11221278" cy="735496"/>
          </a:xfrm>
          <a:prstGeom prst="rect">
            <a:avLst/>
          </a:prstGeom>
          <a:solidFill>
            <a:srgbClr val="3200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Meiryo UI" panose="020B0604030504040204" pitchFamily="50" charset="-128"/>
                <a:cs typeface="Arial" panose="020B0604020202020204" pitchFamily="34" charset="0"/>
              </a:rPr>
              <a:t>1</a:t>
            </a:r>
            <a:r>
              <a:rPr lang="en-US" sz="2400" b="1" noProof="0" dirty="0">
                <a:latin typeface="Arial" panose="020B0604020202020204" pitchFamily="34" charset="0"/>
                <a:ea typeface="Meiryo UI" panose="020B0604030504040204" pitchFamily="50" charset="-128"/>
                <a:cs typeface="Arial" panose="020B0604020202020204" pitchFamily="34" charset="0"/>
              </a:rPr>
              <a:t>. Overview of Japan’s Public Health Insurance System </a:t>
            </a:r>
          </a:p>
        </p:txBody>
      </p:sp>
      <p:sp>
        <p:nvSpPr>
          <p:cNvPr id="7" name="Rectangle 6">
            <a:extLst>
              <a:ext uri="{FF2B5EF4-FFF2-40B4-BE49-F238E27FC236}">
                <a16:creationId xmlns:a16="http://schemas.microsoft.com/office/drawing/2014/main" id="{1D30FC8F-584D-2C92-769A-EE9034D424FC}"/>
              </a:ext>
            </a:extLst>
          </p:cNvPr>
          <p:cNvSpPr/>
          <p:nvPr/>
        </p:nvSpPr>
        <p:spPr>
          <a:xfrm>
            <a:off x="467139" y="3506988"/>
            <a:ext cx="11221278" cy="735496"/>
          </a:xfrm>
          <a:prstGeom prst="rect">
            <a:avLst/>
          </a:prstGeom>
          <a:solidFill>
            <a:srgbClr val="3200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Meiryo UI" panose="020B0604030504040204" pitchFamily="50" charset="-128"/>
                <a:cs typeface="Arial" panose="020B0604020202020204" pitchFamily="34" charset="0"/>
              </a:rPr>
              <a:t>2</a:t>
            </a:r>
            <a:r>
              <a:rPr lang="en-US" sz="2400" b="1" noProof="0" dirty="0">
                <a:latin typeface="Arial" panose="020B0604020202020204" pitchFamily="34" charset="0"/>
                <a:ea typeface="Meiryo UI" panose="020B0604030504040204" pitchFamily="50" charset="-128"/>
                <a:cs typeface="Arial" panose="020B0604020202020204" pitchFamily="34" charset="0"/>
              </a:rPr>
              <a:t>. Medical Regulatory Approval and Reimbursement </a:t>
            </a:r>
          </a:p>
        </p:txBody>
      </p:sp>
      <p:sp>
        <p:nvSpPr>
          <p:cNvPr id="8" name="Rectangle 7">
            <a:extLst>
              <a:ext uri="{FF2B5EF4-FFF2-40B4-BE49-F238E27FC236}">
                <a16:creationId xmlns:a16="http://schemas.microsoft.com/office/drawing/2014/main" id="{688CEFA3-C06B-BD4E-B24C-4FF5FEED8B13}"/>
              </a:ext>
            </a:extLst>
          </p:cNvPr>
          <p:cNvSpPr/>
          <p:nvPr/>
        </p:nvSpPr>
        <p:spPr>
          <a:xfrm>
            <a:off x="467139" y="4949006"/>
            <a:ext cx="11221278" cy="735496"/>
          </a:xfrm>
          <a:prstGeom prst="rect">
            <a:avLst/>
          </a:prstGeom>
          <a:solidFill>
            <a:srgbClr val="3200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Meiryo UI" panose="020B0604030504040204" pitchFamily="50" charset="-128"/>
                <a:cs typeface="Arial" panose="020B0604020202020204" pitchFamily="34" charset="0"/>
              </a:rPr>
              <a:t>3</a:t>
            </a:r>
            <a:r>
              <a:rPr lang="en-US" sz="2400" b="1" noProof="0" dirty="0">
                <a:latin typeface="Arial" panose="020B0604020202020204" pitchFamily="34" charset="0"/>
                <a:ea typeface="Meiryo UI" panose="020B0604030504040204" pitchFamily="50" charset="-128"/>
                <a:cs typeface="Arial" panose="020B0604020202020204" pitchFamily="34" charset="0"/>
              </a:rPr>
              <a:t>. Approval and Reimbursement for AI Medical Devices</a:t>
            </a:r>
          </a:p>
        </p:txBody>
      </p:sp>
      <p:sp>
        <p:nvSpPr>
          <p:cNvPr id="4" name="Slide Number Placeholder 3">
            <a:extLst>
              <a:ext uri="{FF2B5EF4-FFF2-40B4-BE49-F238E27FC236}">
                <a16:creationId xmlns:a16="http://schemas.microsoft.com/office/drawing/2014/main" id="{14F24589-153D-4571-B22D-21EC9937519C}"/>
              </a:ext>
              <a:ext uri="{C183D7F6-B498-43B3-948B-1728B52AA6E4}">
                <adec:decorative xmlns:adec="http://schemas.microsoft.com/office/drawing/2017/decorative" val="1"/>
              </a:ext>
            </a:extLst>
          </p:cNvPr>
          <p:cNvSpPr>
            <a:spLocks noGrp="1"/>
          </p:cNvSpPr>
          <p:nvPr>
            <p:ph type="sldNum" sz="quarter" idx="4"/>
          </p:nvPr>
        </p:nvSpPr>
        <p:spPr/>
        <p:txBody>
          <a:bodyPr/>
          <a:lstStyle/>
          <a:p>
            <a:fld id="{B5CEABB6-07DC-46E8-9B57-56EC44A396E5}" type="slidenum">
              <a:rPr lang="en-US" noProof="0" smtClean="0"/>
              <a:pPr/>
              <a:t>3</a:t>
            </a:fld>
            <a:endParaRPr lang="en-US" noProof="0" dirty="0"/>
          </a:p>
        </p:txBody>
      </p:sp>
    </p:spTree>
    <p:extLst>
      <p:ext uri="{BB962C8B-B14F-4D97-AF65-F5344CB8AC3E}">
        <p14:creationId xmlns:p14="http://schemas.microsoft.com/office/powerpoint/2010/main" val="3450247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3820F-4E08-EBA2-6CDB-E936FC9BE2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A34ACB-27D8-3E96-6EAB-6AD8B3070FA7}"/>
              </a:ext>
            </a:extLst>
          </p:cNvPr>
          <p:cNvSpPr>
            <a:spLocks noGrp="1"/>
          </p:cNvSpPr>
          <p:nvPr>
            <p:ph type="title"/>
          </p:nvPr>
        </p:nvSpPr>
        <p:spPr>
          <a:xfrm>
            <a:off x="467139" y="589724"/>
            <a:ext cx="11221278" cy="362776"/>
          </a:xfrm>
        </p:spPr>
        <p:txBody>
          <a:bodyPr/>
          <a:lstStyle/>
          <a:p>
            <a:r>
              <a:rPr lang="en-US" noProof="0" dirty="0"/>
              <a:t>Agenda</a:t>
            </a:r>
          </a:p>
        </p:txBody>
      </p:sp>
      <p:sp>
        <p:nvSpPr>
          <p:cNvPr id="4" name="Slide Number Placeholder 3">
            <a:extLst>
              <a:ext uri="{FF2B5EF4-FFF2-40B4-BE49-F238E27FC236}">
                <a16:creationId xmlns:a16="http://schemas.microsoft.com/office/drawing/2014/main" id="{ADF68678-EAEE-18DE-B9E9-7071E8B0E12B}"/>
              </a:ext>
              <a:ext uri="{C183D7F6-B498-43B3-948B-1728B52AA6E4}">
                <adec:decorative xmlns:adec="http://schemas.microsoft.com/office/drawing/2017/decorative" val="1"/>
              </a:ext>
            </a:extLst>
          </p:cNvPr>
          <p:cNvSpPr>
            <a:spLocks noGrp="1"/>
          </p:cNvSpPr>
          <p:nvPr>
            <p:ph type="sldNum" sz="quarter" idx="4"/>
          </p:nvPr>
        </p:nvSpPr>
        <p:spPr/>
        <p:txBody>
          <a:bodyPr/>
          <a:lstStyle/>
          <a:p>
            <a:fld id="{B5CEABB6-07DC-46E8-9B57-56EC44A396E5}" type="slidenum">
              <a:rPr lang="en-US" noProof="0" smtClean="0"/>
              <a:pPr/>
              <a:t>4</a:t>
            </a:fld>
            <a:endParaRPr lang="en-US" noProof="0" dirty="0"/>
          </a:p>
        </p:txBody>
      </p:sp>
      <p:sp>
        <p:nvSpPr>
          <p:cNvPr id="6" name="Rectangle 5">
            <a:extLst>
              <a:ext uri="{FF2B5EF4-FFF2-40B4-BE49-F238E27FC236}">
                <a16:creationId xmlns:a16="http://schemas.microsoft.com/office/drawing/2014/main" id="{D2956DA8-FF6E-39FA-D4C8-7B2A83EE9C8E}"/>
              </a:ext>
            </a:extLst>
          </p:cNvPr>
          <p:cNvSpPr/>
          <p:nvPr/>
        </p:nvSpPr>
        <p:spPr>
          <a:xfrm>
            <a:off x="467139" y="2064970"/>
            <a:ext cx="11221278" cy="735496"/>
          </a:xfrm>
          <a:prstGeom prst="rect">
            <a:avLst/>
          </a:prstGeom>
          <a:solidFill>
            <a:srgbClr val="3200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Meiryo UI" panose="020B0604030504040204" pitchFamily="50" charset="-128"/>
                <a:cs typeface="Arial" panose="020B0604020202020204" pitchFamily="34" charset="0"/>
              </a:rPr>
              <a:t>1</a:t>
            </a:r>
            <a:r>
              <a:rPr lang="en-US" sz="2400" b="1" noProof="0" dirty="0">
                <a:latin typeface="Arial" panose="020B0604020202020204" pitchFamily="34" charset="0"/>
                <a:ea typeface="Meiryo UI" panose="020B0604030504040204" pitchFamily="50" charset="-128"/>
                <a:cs typeface="Arial" panose="020B0604020202020204" pitchFamily="34" charset="0"/>
              </a:rPr>
              <a:t>. Overview of Japan’s Public Health Insurance System </a:t>
            </a:r>
          </a:p>
        </p:txBody>
      </p:sp>
      <p:sp>
        <p:nvSpPr>
          <p:cNvPr id="7" name="Rectangle 6">
            <a:extLst>
              <a:ext uri="{FF2B5EF4-FFF2-40B4-BE49-F238E27FC236}">
                <a16:creationId xmlns:a16="http://schemas.microsoft.com/office/drawing/2014/main" id="{42680A12-B34A-DFEC-D83F-20BB043BA634}"/>
              </a:ext>
            </a:extLst>
          </p:cNvPr>
          <p:cNvSpPr/>
          <p:nvPr/>
        </p:nvSpPr>
        <p:spPr>
          <a:xfrm>
            <a:off x="467139" y="3506988"/>
            <a:ext cx="11221278" cy="735496"/>
          </a:xfrm>
          <a:prstGeom prst="rect">
            <a:avLst/>
          </a:prstGeom>
          <a:solidFill>
            <a:srgbClr val="C5B4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Meiryo UI" panose="020B0604030504040204" pitchFamily="50" charset="-128"/>
                <a:cs typeface="Arial" panose="020B0604020202020204" pitchFamily="34" charset="0"/>
              </a:rPr>
              <a:t>2</a:t>
            </a:r>
            <a:r>
              <a:rPr lang="en-US" sz="2400" b="1" noProof="0" dirty="0">
                <a:latin typeface="Arial" panose="020B0604020202020204" pitchFamily="34" charset="0"/>
                <a:ea typeface="Meiryo UI" panose="020B0604030504040204" pitchFamily="50" charset="-128"/>
                <a:cs typeface="Arial" panose="020B0604020202020204" pitchFamily="34" charset="0"/>
              </a:rPr>
              <a:t>. Medical Regulatory Approval and Reimbursement </a:t>
            </a:r>
          </a:p>
        </p:txBody>
      </p:sp>
      <p:sp>
        <p:nvSpPr>
          <p:cNvPr id="8" name="Rectangle 7">
            <a:extLst>
              <a:ext uri="{FF2B5EF4-FFF2-40B4-BE49-F238E27FC236}">
                <a16:creationId xmlns:a16="http://schemas.microsoft.com/office/drawing/2014/main" id="{6BED7C85-15FF-3EDE-4DEF-0C930BB6507B}"/>
              </a:ext>
            </a:extLst>
          </p:cNvPr>
          <p:cNvSpPr/>
          <p:nvPr/>
        </p:nvSpPr>
        <p:spPr>
          <a:xfrm>
            <a:off x="467139" y="4949006"/>
            <a:ext cx="11221278" cy="735496"/>
          </a:xfrm>
          <a:prstGeom prst="rect">
            <a:avLst/>
          </a:prstGeom>
          <a:solidFill>
            <a:srgbClr val="C5B4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Meiryo UI" panose="020B0604030504040204" pitchFamily="50" charset="-128"/>
                <a:cs typeface="Arial" panose="020B0604020202020204" pitchFamily="34" charset="0"/>
              </a:rPr>
              <a:t>3</a:t>
            </a:r>
            <a:r>
              <a:rPr lang="en-US" sz="2400" b="1" noProof="0" dirty="0">
                <a:latin typeface="Arial" panose="020B0604020202020204" pitchFamily="34" charset="0"/>
                <a:ea typeface="Meiryo UI" panose="020B0604030504040204" pitchFamily="50" charset="-128"/>
                <a:cs typeface="Arial" panose="020B0604020202020204" pitchFamily="34" charset="0"/>
              </a:rPr>
              <a:t>. Approval and Reimbursement for AI Medical Devices</a:t>
            </a:r>
          </a:p>
        </p:txBody>
      </p:sp>
    </p:spTree>
    <p:extLst>
      <p:ext uri="{BB962C8B-B14F-4D97-AF65-F5344CB8AC3E}">
        <p14:creationId xmlns:p14="http://schemas.microsoft.com/office/powerpoint/2010/main" val="3507656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B6426-4DC7-C421-AA59-776F608847B0}"/>
              </a:ext>
            </a:extLst>
          </p:cNvPr>
          <p:cNvSpPr>
            <a:spLocks noGrp="1"/>
          </p:cNvSpPr>
          <p:nvPr>
            <p:ph type="title"/>
          </p:nvPr>
        </p:nvSpPr>
        <p:spPr/>
        <p:txBody>
          <a:bodyPr/>
          <a:lstStyle/>
          <a:p>
            <a:r>
              <a:rPr lang="en-US" noProof="0" dirty="0"/>
              <a:t>Universal health coverage and demographic challenges</a:t>
            </a:r>
          </a:p>
        </p:txBody>
      </p:sp>
      <p:sp>
        <p:nvSpPr>
          <p:cNvPr id="5" name="Table Placeholder 4">
            <a:extLst>
              <a:ext uri="{FF2B5EF4-FFF2-40B4-BE49-F238E27FC236}">
                <a16:creationId xmlns:a16="http://schemas.microsoft.com/office/drawing/2014/main" id="{BDB76AA7-75F1-7B82-6668-DA67432D7AF2}"/>
              </a:ext>
            </a:extLst>
          </p:cNvPr>
          <p:cNvSpPr>
            <a:spLocks noGrp="1"/>
          </p:cNvSpPr>
          <p:nvPr>
            <p:ph type="tbl" sz="quarter" idx="11"/>
          </p:nvPr>
        </p:nvSpPr>
        <p:spPr/>
        <p:txBody>
          <a:bodyPr/>
          <a:lstStyle/>
          <a:p>
            <a:r>
              <a:rPr lang="en-US" noProof="0" dirty="0"/>
              <a:t>While supportive public health insurance system is available in Japan, its sustainability </a:t>
            </a:r>
            <a:r>
              <a:rPr lang="en-US" dirty="0"/>
              <a:t>and robustness are under increasing strain</a:t>
            </a:r>
            <a:endParaRPr lang="en-US" noProof="0" dirty="0"/>
          </a:p>
        </p:txBody>
      </p:sp>
      <p:sp>
        <p:nvSpPr>
          <p:cNvPr id="3" name="Table Placeholder 2">
            <a:extLst>
              <a:ext uri="{FF2B5EF4-FFF2-40B4-BE49-F238E27FC236}">
                <a16:creationId xmlns:a16="http://schemas.microsoft.com/office/drawing/2014/main" id="{B605A180-FC2C-8EB1-9955-75F8E781704D}"/>
              </a:ext>
            </a:extLst>
          </p:cNvPr>
          <p:cNvSpPr>
            <a:spLocks noGrp="1"/>
          </p:cNvSpPr>
          <p:nvPr>
            <p:ph type="tbl" sz="quarter" idx="10"/>
          </p:nvPr>
        </p:nvSpPr>
        <p:spPr/>
        <p:txBody>
          <a:bodyPr/>
          <a:lstStyle/>
          <a:p>
            <a:pPr>
              <a:lnSpc>
                <a:spcPct val="100000"/>
              </a:lnSpc>
            </a:pPr>
            <a:r>
              <a:rPr lang="en-US" sz="2800" noProof="0" dirty="0"/>
              <a:t>Nearly 100% of the population is covered by public health insurance</a:t>
            </a:r>
          </a:p>
          <a:p>
            <a:pPr>
              <a:lnSpc>
                <a:spcPct val="100000"/>
              </a:lnSpc>
            </a:pPr>
            <a:endParaRPr lang="en-US" sz="2800" noProof="0" dirty="0"/>
          </a:p>
          <a:p>
            <a:pPr>
              <a:lnSpc>
                <a:spcPct val="100000"/>
              </a:lnSpc>
            </a:pPr>
            <a:r>
              <a:rPr lang="en-US" sz="2800" noProof="0" dirty="0"/>
              <a:t>Demographic changes posing big concerns about sustainability</a:t>
            </a:r>
          </a:p>
          <a:p>
            <a:pPr lvl="1">
              <a:lnSpc>
                <a:spcPct val="100000"/>
              </a:lnSpc>
            </a:pPr>
            <a:r>
              <a:rPr lang="en-US" noProof="0" dirty="0"/>
              <a:t>Aging (approx. 30% over 65 </a:t>
            </a:r>
            <a:r>
              <a:rPr lang="en-US" noProof="0" dirty="0" err="1"/>
              <a:t>yo</a:t>
            </a:r>
            <a:r>
              <a:rPr lang="en-US" noProof="0" dirty="0"/>
              <a:t>)</a:t>
            </a:r>
            <a:r>
              <a:rPr lang="en-US" baseline="30000" noProof="0" dirty="0"/>
              <a:t>1</a:t>
            </a:r>
          </a:p>
          <a:p>
            <a:pPr lvl="1">
              <a:lnSpc>
                <a:spcPct val="100000"/>
              </a:lnSpc>
            </a:pPr>
            <a:r>
              <a:rPr lang="en-US" noProof="0" dirty="0"/>
              <a:t>Declining birth rate (1.15–1.2 child births per woman lifetime)</a:t>
            </a:r>
            <a:r>
              <a:rPr lang="en-US" baseline="30000" dirty="0"/>
              <a:t>2</a:t>
            </a:r>
            <a:endParaRPr lang="en-US" noProof="0" dirty="0"/>
          </a:p>
          <a:p>
            <a:pPr lvl="1">
              <a:lnSpc>
                <a:spcPct val="100000"/>
              </a:lnSpc>
            </a:pPr>
            <a:r>
              <a:rPr lang="en-US" dirty="0"/>
              <a:t>Regional disparities in healthcare providers and age distribution</a:t>
            </a:r>
            <a:endParaRPr lang="en-US" noProof="0" dirty="0"/>
          </a:p>
          <a:p>
            <a:pPr>
              <a:lnSpc>
                <a:spcPct val="100000"/>
              </a:lnSpc>
            </a:pPr>
            <a:endParaRPr lang="en-US" sz="2800" noProof="0" dirty="0"/>
          </a:p>
          <a:p>
            <a:pPr>
              <a:lnSpc>
                <a:spcPct val="100000"/>
              </a:lnSpc>
            </a:pPr>
            <a:endParaRPr lang="en-US" sz="2800" noProof="0" dirty="0"/>
          </a:p>
        </p:txBody>
      </p:sp>
      <p:sp>
        <p:nvSpPr>
          <p:cNvPr id="4" name="Slide Number Placeholder 3">
            <a:extLst>
              <a:ext uri="{FF2B5EF4-FFF2-40B4-BE49-F238E27FC236}">
                <a16:creationId xmlns:a16="http://schemas.microsoft.com/office/drawing/2014/main" id="{65C1CA99-940A-57C1-9DFF-6CF7DC9B90C4}"/>
              </a:ext>
              <a:ext uri="{C183D7F6-B498-43B3-948B-1728B52AA6E4}">
                <adec:decorative xmlns:adec="http://schemas.microsoft.com/office/drawing/2017/decorative" val="1"/>
              </a:ext>
            </a:extLst>
          </p:cNvPr>
          <p:cNvSpPr>
            <a:spLocks noGrp="1"/>
          </p:cNvSpPr>
          <p:nvPr>
            <p:ph type="sldNum" sz="quarter" idx="4"/>
          </p:nvPr>
        </p:nvSpPr>
        <p:spPr/>
        <p:txBody>
          <a:bodyPr/>
          <a:lstStyle/>
          <a:p>
            <a:fld id="{B5CEABB6-07DC-46E8-9B57-56EC44A396E5}" type="slidenum">
              <a:rPr lang="en-US" noProof="0" smtClean="0"/>
              <a:pPr/>
              <a:t>5</a:t>
            </a:fld>
            <a:endParaRPr lang="en-US" noProof="0" dirty="0"/>
          </a:p>
        </p:txBody>
      </p:sp>
      <p:grpSp>
        <p:nvGrpSpPr>
          <p:cNvPr id="10" name="Group 9">
            <a:extLst>
              <a:ext uri="{FF2B5EF4-FFF2-40B4-BE49-F238E27FC236}">
                <a16:creationId xmlns:a16="http://schemas.microsoft.com/office/drawing/2014/main" id="{C817F1EE-2368-5599-F5C1-FF3A3902E548}"/>
              </a:ext>
              <a:ext uri="{C183D7F6-B498-43B3-948B-1728B52AA6E4}">
                <adec:decorative xmlns:adec="http://schemas.microsoft.com/office/drawing/2017/decorative" val="1"/>
              </a:ext>
            </a:extLst>
          </p:cNvPr>
          <p:cNvGrpSpPr/>
          <p:nvPr/>
        </p:nvGrpSpPr>
        <p:grpSpPr>
          <a:xfrm>
            <a:off x="467139" y="108959"/>
            <a:ext cx="4197304" cy="307297"/>
            <a:chOff x="562270" y="127168"/>
            <a:chExt cx="4197304" cy="307297"/>
          </a:xfrm>
        </p:grpSpPr>
        <p:sp>
          <p:nvSpPr>
            <p:cNvPr id="11" name="Arrow: Pentagon 10">
              <a:extLst>
                <a:ext uri="{FF2B5EF4-FFF2-40B4-BE49-F238E27FC236}">
                  <a16:creationId xmlns:a16="http://schemas.microsoft.com/office/drawing/2014/main" id="{19DC3F8B-1A9F-700B-5818-9981EB725302}"/>
                </a:ext>
              </a:extLst>
            </p:cNvPr>
            <p:cNvSpPr/>
            <p:nvPr/>
          </p:nvSpPr>
          <p:spPr>
            <a:xfrm>
              <a:off x="3192565"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③AI</a:t>
              </a:r>
            </a:p>
          </p:txBody>
        </p:sp>
        <p:sp>
          <p:nvSpPr>
            <p:cNvPr id="12" name="Arrow: Pentagon 11">
              <a:extLst>
                <a:ext uri="{FF2B5EF4-FFF2-40B4-BE49-F238E27FC236}">
                  <a16:creationId xmlns:a16="http://schemas.microsoft.com/office/drawing/2014/main" id="{790EC47A-F4D7-DB9E-B74C-A5E9FAF06AD6}"/>
                </a:ext>
              </a:extLst>
            </p:cNvPr>
            <p:cNvSpPr/>
            <p:nvPr/>
          </p:nvSpPr>
          <p:spPr>
            <a:xfrm>
              <a:off x="1817136"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②Regulation</a:t>
              </a:r>
            </a:p>
          </p:txBody>
        </p:sp>
        <p:sp>
          <p:nvSpPr>
            <p:cNvPr id="13" name="Arrow: Pentagon 12">
              <a:extLst>
                <a:ext uri="{FF2B5EF4-FFF2-40B4-BE49-F238E27FC236}">
                  <a16:creationId xmlns:a16="http://schemas.microsoft.com/office/drawing/2014/main" id="{A9266467-ADE3-8026-4A4F-A934BD7381BE}"/>
                </a:ext>
              </a:extLst>
            </p:cNvPr>
            <p:cNvSpPr/>
            <p:nvPr/>
          </p:nvSpPr>
          <p:spPr>
            <a:xfrm>
              <a:off x="562270" y="127168"/>
              <a:ext cx="1567009" cy="307297"/>
            </a:xfrm>
            <a:prstGeom prst="homePlate">
              <a:avLst/>
            </a:prstGeom>
            <a:solidFill>
              <a:srgbClr val="32006E"/>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①Insurance</a:t>
              </a:r>
            </a:p>
          </p:txBody>
        </p:sp>
      </p:grpSp>
      <p:sp>
        <p:nvSpPr>
          <p:cNvPr id="6" name="TextBox 5">
            <a:extLst>
              <a:ext uri="{FF2B5EF4-FFF2-40B4-BE49-F238E27FC236}">
                <a16:creationId xmlns:a16="http://schemas.microsoft.com/office/drawing/2014/main" id="{BDB21B51-FAD5-41FB-5FEF-FF076177889C}"/>
              </a:ext>
            </a:extLst>
          </p:cNvPr>
          <p:cNvSpPr txBox="1"/>
          <p:nvPr/>
        </p:nvSpPr>
        <p:spPr>
          <a:xfrm>
            <a:off x="467139" y="6248621"/>
            <a:ext cx="11257722" cy="369332"/>
          </a:xfrm>
          <a:prstGeom prst="rect">
            <a:avLst/>
          </a:prstGeom>
          <a:solidFill>
            <a:schemeClr val="bg1"/>
          </a:solidFill>
        </p:spPr>
        <p:txBody>
          <a:bodyPr wrap="square" lIns="0" tIns="0" rIns="0" bIns="0">
            <a:spAutoFit/>
          </a:bodyPr>
          <a:lstStyle/>
          <a:p>
            <a:r>
              <a:rPr lang="en-US" sz="1200" noProof="0" dirty="0">
                <a:latin typeface="Arial" panose="020B0604020202020204" pitchFamily="34" charset="0"/>
                <a:ea typeface="Meiryo UI" panose="020B0604030504040204" pitchFamily="50" charset="-128"/>
                <a:cs typeface="Arial" panose="020B0604020202020204" pitchFamily="34" charset="0"/>
              </a:rPr>
              <a:t>1: Annual Report on the Ageing Society FY2025. Cabinet Office Japan. 2025. </a:t>
            </a:r>
            <a:r>
              <a:rPr lang="en-US" sz="1200" noProof="0" dirty="0">
                <a:latin typeface="Arial" panose="020B0604020202020204" pitchFamily="34" charset="0"/>
                <a:ea typeface="Meiryo UI" panose="020B0604030504040204" pitchFamily="50" charset="-128"/>
                <a:cs typeface="Arial" panose="020B0604020202020204" pitchFamily="34" charset="0"/>
                <a:hlinkClick r:id="rId3"/>
              </a:rPr>
              <a:t>https://www8.cao.go.jp/kourei/english/annualreport/2025/pdf/2025.pdf</a:t>
            </a:r>
            <a:endParaRPr lang="en-US" sz="1200" noProof="0" dirty="0">
              <a:latin typeface="Arial" panose="020B0604020202020204" pitchFamily="34" charset="0"/>
              <a:ea typeface="Meiryo UI" panose="020B0604030504040204" pitchFamily="50" charset="-128"/>
              <a:cs typeface="Arial" panose="020B0604020202020204" pitchFamily="34" charset="0"/>
            </a:endParaRPr>
          </a:p>
          <a:p>
            <a:r>
              <a:rPr lang="en-US" sz="1200" dirty="0">
                <a:latin typeface="Arial" panose="020B0604020202020204" pitchFamily="34" charset="0"/>
                <a:ea typeface="Meiryo UI" panose="020B0604030504040204" pitchFamily="50" charset="-128"/>
                <a:cs typeface="Arial" panose="020B0604020202020204" pitchFamily="34" charset="0"/>
              </a:rPr>
              <a:t>2: </a:t>
            </a:r>
            <a:r>
              <a:rPr lang="pt-BR" sz="1200" dirty="0">
                <a:latin typeface="Arial" panose="020B0604020202020204" pitchFamily="34" charset="0"/>
                <a:ea typeface="Meiryo UI" panose="020B0604030504040204" pitchFamily="50" charset="-128"/>
                <a:cs typeface="Arial" panose="020B0604020202020204" pitchFamily="34" charset="0"/>
              </a:rPr>
              <a:t>Annual Health, Labour and Welfare Report 2025. Ministry of Health, Labour and Welfare </a:t>
            </a:r>
            <a:r>
              <a:rPr lang="pt-BR" sz="1200" dirty="0">
                <a:latin typeface="Arial" panose="020B0604020202020204" pitchFamily="34" charset="0"/>
                <a:ea typeface="Meiryo UI" panose="020B0604030504040204" pitchFamily="50" charset="-128"/>
                <a:cs typeface="Arial" panose="020B0604020202020204" pitchFamily="34" charset="0"/>
                <a:hlinkClick r:id="rId4"/>
              </a:rPr>
              <a:t>https://www.mhlw.go.jp/wp/hakusyo/kousei/25-2/index_en.html</a:t>
            </a:r>
            <a:endParaRPr lang="pt-BR" sz="1200" dirty="0">
              <a:latin typeface="Arial" panose="020B0604020202020204" pitchFamily="34" charset="0"/>
              <a:ea typeface="Meiryo UI" panose="020B0604030504040204" pitchFamily="50" charset="-128"/>
              <a:cs typeface="Arial" panose="020B0604020202020204" pitchFamily="34" charset="0"/>
            </a:endParaRPr>
          </a:p>
        </p:txBody>
      </p:sp>
    </p:spTree>
    <p:extLst>
      <p:ext uri="{BB962C8B-B14F-4D97-AF65-F5344CB8AC3E}">
        <p14:creationId xmlns:p14="http://schemas.microsoft.com/office/powerpoint/2010/main" val="4063284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A83823B-DD05-4330-6CB4-8912BE65E5A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356645" y="1090554"/>
            <a:ext cx="1605757" cy="1605757"/>
          </a:xfrm>
          <a:prstGeom prst="rect">
            <a:avLst/>
          </a:prstGeom>
        </p:spPr>
      </p:pic>
      <p:pic>
        <p:nvPicPr>
          <p:cNvPr id="14" name="Picture 13">
            <a:extLst>
              <a:ext uri="{FF2B5EF4-FFF2-40B4-BE49-F238E27FC236}">
                <a16:creationId xmlns:a16="http://schemas.microsoft.com/office/drawing/2014/main" id="{4CE94398-C49F-EF98-81BC-9D764EF37380}"/>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229596" y="1090554"/>
            <a:ext cx="1605757" cy="1605757"/>
          </a:xfrm>
          <a:prstGeom prst="rect">
            <a:avLst/>
          </a:prstGeom>
        </p:spPr>
      </p:pic>
      <p:pic>
        <p:nvPicPr>
          <p:cNvPr id="16" name="Picture 15">
            <a:extLst>
              <a:ext uri="{FF2B5EF4-FFF2-40B4-BE49-F238E27FC236}">
                <a16:creationId xmlns:a16="http://schemas.microsoft.com/office/drawing/2014/main" id="{F893DDC3-3B85-BBC8-1462-45965CB17C3A}"/>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304843" y="4308384"/>
            <a:ext cx="1605757" cy="1605757"/>
          </a:xfrm>
          <a:prstGeom prst="rect">
            <a:avLst/>
          </a:prstGeom>
        </p:spPr>
      </p:pic>
      <p:pic>
        <p:nvPicPr>
          <p:cNvPr id="18" name="Picture 17">
            <a:extLst>
              <a:ext uri="{FF2B5EF4-FFF2-40B4-BE49-F238E27FC236}">
                <a16:creationId xmlns:a16="http://schemas.microsoft.com/office/drawing/2014/main" id="{E9760790-C81C-D028-79DB-2397ABF89750}"/>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1553766" y="4260863"/>
            <a:ext cx="1605757" cy="1605757"/>
          </a:xfrm>
          <a:prstGeom prst="rect">
            <a:avLst/>
          </a:prstGeom>
        </p:spPr>
      </p:pic>
      <p:cxnSp>
        <p:nvCxnSpPr>
          <p:cNvPr id="22" name="Straight Arrow Connector 21">
            <a:extLst>
              <a:ext uri="{FF2B5EF4-FFF2-40B4-BE49-F238E27FC236}">
                <a16:creationId xmlns:a16="http://schemas.microsoft.com/office/drawing/2014/main" id="{355A4741-DC42-1948-D889-AAE9280A9559}"/>
              </a:ext>
              <a:ext uri="{C183D7F6-B498-43B3-948B-1728B52AA6E4}">
                <adec:decorative xmlns:adec="http://schemas.microsoft.com/office/drawing/2017/decorative" val="1"/>
              </a:ext>
            </a:extLst>
          </p:cNvPr>
          <p:cNvCxnSpPr>
            <a:cxnSpLocks/>
          </p:cNvCxnSpPr>
          <p:nvPr/>
        </p:nvCxnSpPr>
        <p:spPr>
          <a:xfrm flipH="1">
            <a:off x="4198948" y="1793629"/>
            <a:ext cx="3791631" cy="0"/>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145FD16-49B4-4429-B125-82E9AD653E96}"/>
              </a:ext>
              <a:ext uri="{C183D7F6-B498-43B3-948B-1728B52AA6E4}">
                <adec:decorative xmlns:adec="http://schemas.microsoft.com/office/drawing/2017/decorative" val="1"/>
              </a:ext>
            </a:extLst>
          </p:cNvPr>
          <p:cNvCxnSpPr>
            <a:cxnSpLocks/>
          </p:cNvCxnSpPr>
          <p:nvPr/>
        </p:nvCxnSpPr>
        <p:spPr>
          <a:xfrm>
            <a:off x="4198948" y="2227383"/>
            <a:ext cx="3791631" cy="0"/>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85A3C43E-E4BC-DB65-5A82-221761EB6DA0}"/>
              </a:ext>
            </a:extLst>
          </p:cNvPr>
          <p:cNvSpPr/>
          <p:nvPr/>
        </p:nvSpPr>
        <p:spPr>
          <a:xfrm>
            <a:off x="2684020" y="2745220"/>
            <a:ext cx="1017294" cy="3379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Patient</a:t>
            </a:r>
          </a:p>
        </p:txBody>
      </p:sp>
      <p:sp>
        <p:nvSpPr>
          <p:cNvPr id="35" name="Rectangle 34">
            <a:extLst>
              <a:ext uri="{FF2B5EF4-FFF2-40B4-BE49-F238E27FC236}">
                <a16:creationId xmlns:a16="http://schemas.microsoft.com/office/drawing/2014/main" id="{662D61CD-ABFD-24AE-3A47-4318A72313FD}"/>
              </a:ext>
            </a:extLst>
          </p:cNvPr>
          <p:cNvSpPr/>
          <p:nvPr/>
        </p:nvSpPr>
        <p:spPr>
          <a:xfrm>
            <a:off x="8131375" y="2792112"/>
            <a:ext cx="1802198" cy="3379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Healthcare Provider</a:t>
            </a:r>
          </a:p>
        </p:txBody>
      </p:sp>
      <p:sp>
        <p:nvSpPr>
          <p:cNvPr id="36" name="Rectangle 35">
            <a:extLst>
              <a:ext uri="{FF2B5EF4-FFF2-40B4-BE49-F238E27FC236}">
                <a16:creationId xmlns:a16="http://schemas.microsoft.com/office/drawing/2014/main" id="{B525AE86-D5F7-DEF9-A70B-8A6B5A2FB9F6}"/>
              </a:ext>
            </a:extLst>
          </p:cNvPr>
          <p:cNvSpPr/>
          <p:nvPr/>
        </p:nvSpPr>
        <p:spPr>
          <a:xfrm>
            <a:off x="5199336" y="5991357"/>
            <a:ext cx="1802198" cy="3379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Insurer</a:t>
            </a:r>
          </a:p>
        </p:txBody>
      </p:sp>
      <p:sp>
        <p:nvSpPr>
          <p:cNvPr id="47" name="Rectangle 46">
            <a:extLst>
              <a:ext uri="{FF2B5EF4-FFF2-40B4-BE49-F238E27FC236}">
                <a16:creationId xmlns:a16="http://schemas.microsoft.com/office/drawing/2014/main" id="{068AADAD-1DC9-04B8-B864-CFA73BF7D460}"/>
              </a:ext>
            </a:extLst>
          </p:cNvPr>
          <p:cNvSpPr/>
          <p:nvPr/>
        </p:nvSpPr>
        <p:spPr>
          <a:xfrm rot="2655717">
            <a:off x="3837455" y="3448588"/>
            <a:ext cx="1354018"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Premium</a:t>
            </a:r>
          </a:p>
        </p:txBody>
      </p:sp>
      <p:sp>
        <p:nvSpPr>
          <p:cNvPr id="28" name="Rectangle 27">
            <a:extLst>
              <a:ext uri="{FF2B5EF4-FFF2-40B4-BE49-F238E27FC236}">
                <a16:creationId xmlns:a16="http://schemas.microsoft.com/office/drawing/2014/main" id="{826C080D-C30B-5CFF-1418-E4F83684BB93}"/>
              </a:ext>
            </a:extLst>
          </p:cNvPr>
          <p:cNvSpPr/>
          <p:nvPr/>
        </p:nvSpPr>
        <p:spPr>
          <a:xfrm>
            <a:off x="4163176" y="1425344"/>
            <a:ext cx="3863174"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Medical care/treatment</a:t>
            </a:r>
            <a:r>
              <a:rPr lang="en-US" dirty="0">
                <a:solidFill>
                  <a:schemeClr val="tx1"/>
                </a:solidFill>
                <a:latin typeface="Arial" panose="020B0604020202020204" pitchFamily="34" charset="0"/>
                <a:ea typeface="Meiryo UI" panose="020B0604030504040204" pitchFamily="50" charset="-128"/>
                <a:cs typeface="Arial" panose="020B0604020202020204" pitchFamily="34" charset="0"/>
              </a:rPr>
              <a:t> &amp; Charge</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9" name="Rectangle 28">
            <a:extLst>
              <a:ext uri="{FF2B5EF4-FFF2-40B4-BE49-F238E27FC236}">
                <a16:creationId xmlns:a16="http://schemas.microsoft.com/office/drawing/2014/main" id="{9CEADB92-8EB6-F92C-D847-A012347B9F12}"/>
              </a:ext>
            </a:extLst>
          </p:cNvPr>
          <p:cNvSpPr/>
          <p:nvPr/>
        </p:nvSpPr>
        <p:spPr>
          <a:xfrm>
            <a:off x="4895400" y="2306412"/>
            <a:ext cx="2398726" cy="2308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solidFill>
                  <a:schemeClr val="tx1"/>
                </a:solidFill>
                <a:latin typeface="Arial" panose="020B0604020202020204" pitchFamily="34" charset="0"/>
                <a:ea typeface="Meiryo UI" panose="020B0604030504040204" pitchFamily="50" charset="-128"/>
                <a:cs typeface="Arial" panose="020B0604020202020204" pitchFamily="34" charset="0"/>
              </a:rPr>
              <a:t>Out-of-Pocket </a:t>
            </a: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payment</a:t>
            </a:r>
          </a:p>
        </p:txBody>
      </p:sp>
      <p:cxnSp>
        <p:nvCxnSpPr>
          <p:cNvPr id="30" name="Straight Arrow Connector 29">
            <a:extLst>
              <a:ext uri="{FF2B5EF4-FFF2-40B4-BE49-F238E27FC236}">
                <a16:creationId xmlns:a16="http://schemas.microsoft.com/office/drawing/2014/main" id="{6653D8D1-7C72-EBC0-7FCD-4D031A11F44D}"/>
              </a:ext>
              <a:ext uri="{C183D7F6-B498-43B3-948B-1728B52AA6E4}">
                <adec:decorative xmlns:adec="http://schemas.microsoft.com/office/drawing/2017/decorative" val="1"/>
              </a:ext>
            </a:extLst>
          </p:cNvPr>
          <p:cNvCxnSpPr>
            <a:cxnSpLocks/>
          </p:cNvCxnSpPr>
          <p:nvPr/>
        </p:nvCxnSpPr>
        <p:spPr>
          <a:xfrm>
            <a:off x="3791712" y="3130064"/>
            <a:ext cx="1389888" cy="1370426"/>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AB6BE965-C445-3FDA-1D75-1BD64B938B25}"/>
              </a:ext>
              <a:ext uri="{C183D7F6-B498-43B3-948B-1728B52AA6E4}">
                <adec:decorative xmlns:adec="http://schemas.microsoft.com/office/drawing/2017/decorative" val="1"/>
              </a:ext>
            </a:extLst>
          </p:cNvPr>
          <p:cNvCxnSpPr>
            <a:cxnSpLocks/>
          </p:cNvCxnSpPr>
          <p:nvPr/>
        </p:nvCxnSpPr>
        <p:spPr>
          <a:xfrm flipH="1">
            <a:off x="7010402" y="3261037"/>
            <a:ext cx="1336429" cy="1239453"/>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16B040F5-2109-1B06-F3E7-A306188AADF8}"/>
              </a:ext>
            </a:extLst>
          </p:cNvPr>
          <p:cNvSpPr/>
          <p:nvPr/>
        </p:nvSpPr>
        <p:spPr>
          <a:xfrm rot="19022470">
            <a:off x="7129295" y="3583069"/>
            <a:ext cx="924813"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Claim</a:t>
            </a:r>
          </a:p>
        </p:txBody>
      </p:sp>
      <p:cxnSp>
        <p:nvCxnSpPr>
          <p:cNvPr id="45" name="Straight Arrow Connector 44">
            <a:extLst>
              <a:ext uri="{FF2B5EF4-FFF2-40B4-BE49-F238E27FC236}">
                <a16:creationId xmlns:a16="http://schemas.microsoft.com/office/drawing/2014/main" id="{C4F83B57-188D-8461-DC56-8B08D799B689}"/>
              </a:ext>
              <a:ext uri="{C183D7F6-B498-43B3-948B-1728B52AA6E4}">
                <adec:decorative xmlns:adec="http://schemas.microsoft.com/office/drawing/2017/decorative" val="1"/>
              </a:ext>
            </a:extLst>
          </p:cNvPr>
          <p:cNvCxnSpPr>
            <a:cxnSpLocks/>
          </p:cNvCxnSpPr>
          <p:nvPr/>
        </p:nvCxnSpPr>
        <p:spPr>
          <a:xfrm flipV="1">
            <a:off x="7192303" y="3408193"/>
            <a:ext cx="1470072" cy="1363398"/>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AEDC17E7-D0F8-A95F-0E1F-F0EAAF0A36BD}"/>
              </a:ext>
            </a:extLst>
          </p:cNvPr>
          <p:cNvSpPr/>
          <p:nvPr/>
        </p:nvSpPr>
        <p:spPr>
          <a:xfrm rot="19022470">
            <a:off x="7037296" y="4249792"/>
            <a:ext cx="1802198" cy="2308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Claim payment</a:t>
            </a:r>
          </a:p>
        </p:txBody>
      </p:sp>
      <p:cxnSp>
        <p:nvCxnSpPr>
          <p:cNvPr id="2" name="Straight Arrow Connector 1">
            <a:extLst>
              <a:ext uri="{FF2B5EF4-FFF2-40B4-BE49-F238E27FC236}">
                <a16:creationId xmlns:a16="http://schemas.microsoft.com/office/drawing/2014/main" id="{F83DFE00-B10A-B85C-825F-1861FF7E1CB4}"/>
              </a:ext>
              <a:ext uri="{C183D7F6-B498-43B3-948B-1728B52AA6E4}">
                <adec:decorative xmlns:adec="http://schemas.microsoft.com/office/drawing/2017/decorative" val="1"/>
              </a:ext>
            </a:extLst>
          </p:cNvPr>
          <p:cNvCxnSpPr>
            <a:cxnSpLocks/>
          </p:cNvCxnSpPr>
          <p:nvPr/>
        </p:nvCxnSpPr>
        <p:spPr>
          <a:xfrm>
            <a:off x="3282766" y="5303197"/>
            <a:ext cx="1816768" cy="0"/>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E3289F86-AA6C-1943-96C4-42839C3D2295}"/>
              </a:ext>
            </a:extLst>
          </p:cNvPr>
          <p:cNvSpPr/>
          <p:nvPr/>
        </p:nvSpPr>
        <p:spPr>
          <a:xfrm>
            <a:off x="1358881" y="5991357"/>
            <a:ext cx="1982418" cy="3379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Government</a:t>
            </a:r>
          </a:p>
        </p:txBody>
      </p:sp>
      <p:sp>
        <p:nvSpPr>
          <p:cNvPr id="7" name="Rectangle 6">
            <a:extLst>
              <a:ext uri="{FF2B5EF4-FFF2-40B4-BE49-F238E27FC236}">
                <a16:creationId xmlns:a16="http://schemas.microsoft.com/office/drawing/2014/main" id="{6DF6B3BA-E43B-8D56-9628-A36064A3C68B}"/>
              </a:ext>
            </a:extLst>
          </p:cNvPr>
          <p:cNvSpPr/>
          <p:nvPr/>
        </p:nvSpPr>
        <p:spPr>
          <a:xfrm>
            <a:off x="3449204" y="4979344"/>
            <a:ext cx="1354018" cy="2308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Budget</a:t>
            </a:r>
          </a:p>
        </p:txBody>
      </p:sp>
      <p:sp>
        <p:nvSpPr>
          <p:cNvPr id="3" name="Title 2">
            <a:extLst>
              <a:ext uri="{FF2B5EF4-FFF2-40B4-BE49-F238E27FC236}">
                <a16:creationId xmlns:a16="http://schemas.microsoft.com/office/drawing/2014/main" id="{BC1AB98E-BE22-9AAD-D450-B775F5E37BEA}"/>
              </a:ext>
            </a:extLst>
          </p:cNvPr>
          <p:cNvSpPr>
            <a:spLocks noGrp="1"/>
          </p:cNvSpPr>
          <p:nvPr>
            <p:ph type="title"/>
          </p:nvPr>
        </p:nvSpPr>
        <p:spPr/>
        <p:txBody>
          <a:bodyPr/>
          <a:lstStyle/>
          <a:p>
            <a:r>
              <a:rPr lang="en-US" dirty="0"/>
              <a:t>Japan's healthcare system</a:t>
            </a:r>
          </a:p>
        </p:txBody>
      </p:sp>
    </p:spTree>
    <p:extLst>
      <p:ext uri="{BB962C8B-B14F-4D97-AF65-F5344CB8AC3E}">
        <p14:creationId xmlns:p14="http://schemas.microsoft.com/office/powerpoint/2010/main" val="3972579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58F30-3DBA-639B-3322-6049AD5F24C1}"/>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5C91F999-B1B5-18DA-EA4C-0A775DDB12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356645" y="1090554"/>
            <a:ext cx="1605757" cy="1605757"/>
          </a:xfrm>
          <a:prstGeom prst="rect">
            <a:avLst/>
          </a:prstGeom>
        </p:spPr>
      </p:pic>
      <p:pic>
        <p:nvPicPr>
          <p:cNvPr id="14" name="Picture 13">
            <a:extLst>
              <a:ext uri="{FF2B5EF4-FFF2-40B4-BE49-F238E27FC236}">
                <a16:creationId xmlns:a16="http://schemas.microsoft.com/office/drawing/2014/main" id="{68D6BF74-E343-8A81-FA6D-3C81279E2DAB}"/>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229596" y="1090554"/>
            <a:ext cx="1605757" cy="1605757"/>
          </a:xfrm>
          <a:prstGeom prst="rect">
            <a:avLst/>
          </a:prstGeom>
        </p:spPr>
      </p:pic>
      <p:pic>
        <p:nvPicPr>
          <p:cNvPr id="16" name="Picture 15">
            <a:extLst>
              <a:ext uri="{FF2B5EF4-FFF2-40B4-BE49-F238E27FC236}">
                <a16:creationId xmlns:a16="http://schemas.microsoft.com/office/drawing/2014/main" id="{0364DD49-506C-A4D0-2C9A-31D7E2CAF3F9}"/>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304843" y="4308384"/>
            <a:ext cx="1605757" cy="1605757"/>
          </a:xfrm>
          <a:prstGeom prst="rect">
            <a:avLst/>
          </a:prstGeom>
        </p:spPr>
      </p:pic>
      <p:cxnSp>
        <p:nvCxnSpPr>
          <p:cNvPr id="22" name="Straight Arrow Connector 21">
            <a:extLst>
              <a:ext uri="{FF2B5EF4-FFF2-40B4-BE49-F238E27FC236}">
                <a16:creationId xmlns:a16="http://schemas.microsoft.com/office/drawing/2014/main" id="{ED601AA5-D19B-6AF9-824D-B7270C51DBD4}"/>
              </a:ext>
              <a:ext uri="{C183D7F6-B498-43B3-948B-1728B52AA6E4}">
                <adec:decorative xmlns:adec="http://schemas.microsoft.com/office/drawing/2017/decorative" val="1"/>
              </a:ext>
            </a:extLst>
          </p:cNvPr>
          <p:cNvCxnSpPr>
            <a:cxnSpLocks/>
          </p:cNvCxnSpPr>
          <p:nvPr/>
        </p:nvCxnSpPr>
        <p:spPr>
          <a:xfrm flipH="1">
            <a:off x="4198948" y="1793629"/>
            <a:ext cx="3791631" cy="0"/>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566B85D-091A-6FBF-73E8-FB11ECE80BD6}"/>
              </a:ext>
              <a:ext uri="{C183D7F6-B498-43B3-948B-1728B52AA6E4}">
                <adec:decorative xmlns:adec="http://schemas.microsoft.com/office/drawing/2017/decorative" val="1"/>
              </a:ext>
            </a:extLst>
          </p:cNvPr>
          <p:cNvCxnSpPr>
            <a:cxnSpLocks/>
          </p:cNvCxnSpPr>
          <p:nvPr/>
        </p:nvCxnSpPr>
        <p:spPr>
          <a:xfrm>
            <a:off x="4198948" y="2227383"/>
            <a:ext cx="3791631" cy="0"/>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DB8DBE87-E952-E3DB-D0D8-C35B17BAF3FC}"/>
              </a:ext>
            </a:extLst>
          </p:cNvPr>
          <p:cNvSpPr/>
          <p:nvPr/>
        </p:nvSpPr>
        <p:spPr>
          <a:xfrm>
            <a:off x="4163176" y="1425344"/>
            <a:ext cx="3863174"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Medical care/treatment</a:t>
            </a:r>
            <a:r>
              <a:rPr lang="en-US" dirty="0">
                <a:solidFill>
                  <a:schemeClr val="tx1"/>
                </a:solidFill>
                <a:latin typeface="Arial" panose="020B0604020202020204" pitchFamily="34" charset="0"/>
                <a:ea typeface="Meiryo UI" panose="020B0604030504040204" pitchFamily="50" charset="-128"/>
                <a:cs typeface="Arial" panose="020B0604020202020204" pitchFamily="34" charset="0"/>
              </a:rPr>
              <a:t> &amp; Charge</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30" name="Straight Arrow Connector 29">
            <a:extLst>
              <a:ext uri="{FF2B5EF4-FFF2-40B4-BE49-F238E27FC236}">
                <a16:creationId xmlns:a16="http://schemas.microsoft.com/office/drawing/2014/main" id="{28C09A51-4F50-A5B1-1564-7F2C88B754C9}"/>
              </a:ext>
              <a:ext uri="{C183D7F6-B498-43B3-948B-1728B52AA6E4}">
                <adec:decorative xmlns:adec="http://schemas.microsoft.com/office/drawing/2017/decorative" val="1"/>
              </a:ext>
            </a:extLst>
          </p:cNvPr>
          <p:cNvCxnSpPr>
            <a:cxnSpLocks/>
          </p:cNvCxnSpPr>
          <p:nvPr/>
        </p:nvCxnSpPr>
        <p:spPr>
          <a:xfrm>
            <a:off x="3791712" y="3130064"/>
            <a:ext cx="1389888" cy="1370426"/>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401F51D3-52EA-C094-A4FA-E5531EF3E271}"/>
              </a:ext>
            </a:extLst>
          </p:cNvPr>
          <p:cNvSpPr/>
          <p:nvPr/>
        </p:nvSpPr>
        <p:spPr>
          <a:xfrm>
            <a:off x="2684020" y="2745220"/>
            <a:ext cx="1017294" cy="3379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Patient</a:t>
            </a:r>
          </a:p>
        </p:txBody>
      </p:sp>
      <p:sp>
        <p:nvSpPr>
          <p:cNvPr id="35" name="Rectangle 34">
            <a:extLst>
              <a:ext uri="{FF2B5EF4-FFF2-40B4-BE49-F238E27FC236}">
                <a16:creationId xmlns:a16="http://schemas.microsoft.com/office/drawing/2014/main" id="{4B3C178A-128E-8461-D2B6-0412E15018B8}"/>
              </a:ext>
            </a:extLst>
          </p:cNvPr>
          <p:cNvSpPr/>
          <p:nvPr/>
        </p:nvSpPr>
        <p:spPr>
          <a:xfrm>
            <a:off x="8131375" y="2792112"/>
            <a:ext cx="1802198" cy="3379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Healthcare Provider</a:t>
            </a:r>
          </a:p>
        </p:txBody>
      </p:sp>
      <p:sp>
        <p:nvSpPr>
          <p:cNvPr id="36" name="Rectangle 35">
            <a:extLst>
              <a:ext uri="{FF2B5EF4-FFF2-40B4-BE49-F238E27FC236}">
                <a16:creationId xmlns:a16="http://schemas.microsoft.com/office/drawing/2014/main" id="{CEF7A0FB-FFCB-2639-6D2C-9C768B4DD746}"/>
              </a:ext>
            </a:extLst>
          </p:cNvPr>
          <p:cNvSpPr/>
          <p:nvPr/>
        </p:nvSpPr>
        <p:spPr>
          <a:xfrm>
            <a:off x="5199336" y="5991357"/>
            <a:ext cx="1802198" cy="3379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Insurer</a:t>
            </a:r>
          </a:p>
        </p:txBody>
      </p:sp>
      <p:cxnSp>
        <p:nvCxnSpPr>
          <p:cNvPr id="39" name="Straight Arrow Connector 38">
            <a:extLst>
              <a:ext uri="{FF2B5EF4-FFF2-40B4-BE49-F238E27FC236}">
                <a16:creationId xmlns:a16="http://schemas.microsoft.com/office/drawing/2014/main" id="{BCF21BD9-FCE6-1AC2-69B3-4A07A4185BDC}"/>
              </a:ext>
              <a:ext uri="{C183D7F6-B498-43B3-948B-1728B52AA6E4}">
                <adec:decorative xmlns:adec="http://schemas.microsoft.com/office/drawing/2017/decorative" val="1"/>
              </a:ext>
            </a:extLst>
          </p:cNvPr>
          <p:cNvCxnSpPr>
            <a:cxnSpLocks/>
          </p:cNvCxnSpPr>
          <p:nvPr/>
        </p:nvCxnSpPr>
        <p:spPr>
          <a:xfrm flipH="1">
            <a:off x="7010402" y="3261037"/>
            <a:ext cx="1336429" cy="1239453"/>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992EC13D-06F0-81F7-5C9F-DBB6042B1F24}"/>
              </a:ext>
            </a:extLst>
          </p:cNvPr>
          <p:cNvSpPr/>
          <p:nvPr/>
        </p:nvSpPr>
        <p:spPr>
          <a:xfrm rot="19022470">
            <a:off x="7129295" y="3583069"/>
            <a:ext cx="924813"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Claim</a:t>
            </a:r>
          </a:p>
        </p:txBody>
      </p:sp>
      <p:cxnSp>
        <p:nvCxnSpPr>
          <p:cNvPr id="45" name="Straight Arrow Connector 44">
            <a:extLst>
              <a:ext uri="{FF2B5EF4-FFF2-40B4-BE49-F238E27FC236}">
                <a16:creationId xmlns:a16="http://schemas.microsoft.com/office/drawing/2014/main" id="{D5DC42DA-CA0D-E6E4-3CFA-F5A49754E658}"/>
              </a:ext>
              <a:ext uri="{C183D7F6-B498-43B3-948B-1728B52AA6E4}">
                <adec:decorative xmlns:adec="http://schemas.microsoft.com/office/drawing/2017/decorative" val="1"/>
              </a:ext>
            </a:extLst>
          </p:cNvPr>
          <p:cNvCxnSpPr>
            <a:cxnSpLocks/>
          </p:cNvCxnSpPr>
          <p:nvPr/>
        </p:nvCxnSpPr>
        <p:spPr>
          <a:xfrm flipV="1">
            <a:off x="7192303" y="3408193"/>
            <a:ext cx="1470072" cy="1363398"/>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20721B29-2B04-B82C-D110-1B37D0688DDD}"/>
              </a:ext>
            </a:extLst>
          </p:cNvPr>
          <p:cNvSpPr/>
          <p:nvPr/>
        </p:nvSpPr>
        <p:spPr>
          <a:xfrm rot="19022470">
            <a:off x="7037296" y="4249792"/>
            <a:ext cx="1802198" cy="2308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Claim payment</a:t>
            </a:r>
          </a:p>
        </p:txBody>
      </p:sp>
      <p:sp>
        <p:nvSpPr>
          <p:cNvPr id="47" name="Rectangle 46">
            <a:extLst>
              <a:ext uri="{FF2B5EF4-FFF2-40B4-BE49-F238E27FC236}">
                <a16:creationId xmlns:a16="http://schemas.microsoft.com/office/drawing/2014/main" id="{7CCBD8B9-E4FA-FD4A-B7D7-DEE85E3C98A9}"/>
              </a:ext>
            </a:extLst>
          </p:cNvPr>
          <p:cNvSpPr/>
          <p:nvPr/>
        </p:nvSpPr>
        <p:spPr>
          <a:xfrm rot="2655717">
            <a:off x="3837455" y="3448588"/>
            <a:ext cx="1354018"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Premium</a:t>
            </a:r>
          </a:p>
        </p:txBody>
      </p:sp>
      <p:sp>
        <p:nvSpPr>
          <p:cNvPr id="2" name="Rectangle 1">
            <a:extLst>
              <a:ext uri="{FF2B5EF4-FFF2-40B4-BE49-F238E27FC236}">
                <a16:creationId xmlns:a16="http://schemas.microsoft.com/office/drawing/2014/main" id="{B86B0502-18B9-6869-08E9-0D27F7A04561}"/>
              </a:ext>
              <a:ext uri="{C183D7F6-B498-43B3-948B-1728B52AA6E4}">
                <adec:decorative xmlns:adec="http://schemas.microsoft.com/office/drawing/2017/decorative" val="1"/>
              </a:ext>
            </a:extLst>
          </p:cNvPr>
          <p:cNvSpPr/>
          <p:nvPr/>
        </p:nvSpPr>
        <p:spPr>
          <a:xfrm>
            <a:off x="4163176" y="1324702"/>
            <a:ext cx="3863174" cy="631575"/>
          </a:xfrm>
          <a:prstGeom prst="rect">
            <a:avLst/>
          </a:prstGeom>
          <a:noFill/>
          <a:ln w="57150">
            <a:solidFill>
              <a:srgbClr val="FFC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3" name="Rectangle 2">
            <a:extLst>
              <a:ext uri="{FF2B5EF4-FFF2-40B4-BE49-F238E27FC236}">
                <a16:creationId xmlns:a16="http://schemas.microsoft.com/office/drawing/2014/main" id="{1F60B9E2-3922-6F3D-7123-F285631EAA9C}"/>
              </a:ext>
              <a:ext uri="{C183D7F6-B498-43B3-948B-1728B52AA6E4}">
                <adec:decorative xmlns:adec="http://schemas.microsoft.com/office/drawing/2017/decorative" val="1"/>
              </a:ext>
            </a:extLst>
          </p:cNvPr>
          <p:cNvSpPr/>
          <p:nvPr/>
        </p:nvSpPr>
        <p:spPr>
          <a:xfrm rot="19072303">
            <a:off x="6684154" y="3537210"/>
            <a:ext cx="1868351" cy="505161"/>
          </a:xfrm>
          <a:prstGeom prst="rect">
            <a:avLst/>
          </a:prstGeom>
          <a:noFill/>
          <a:ln w="57150">
            <a:solidFill>
              <a:srgbClr val="FFC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pic>
        <p:nvPicPr>
          <p:cNvPr id="5" name="Picture 4">
            <a:extLst>
              <a:ext uri="{FF2B5EF4-FFF2-40B4-BE49-F238E27FC236}">
                <a16:creationId xmlns:a16="http://schemas.microsoft.com/office/drawing/2014/main" id="{1DB255D1-DB9F-BFBF-12C2-259B7527EF86}"/>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1553766" y="4260863"/>
            <a:ext cx="1605757" cy="1605757"/>
          </a:xfrm>
          <a:prstGeom prst="rect">
            <a:avLst/>
          </a:prstGeom>
        </p:spPr>
      </p:pic>
      <p:cxnSp>
        <p:nvCxnSpPr>
          <p:cNvPr id="6" name="Straight Arrow Connector 5">
            <a:extLst>
              <a:ext uri="{FF2B5EF4-FFF2-40B4-BE49-F238E27FC236}">
                <a16:creationId xmlns:a16="http://schemas.microsoft.com/office/drawing/2014/main" id="{FF64F84A-845D-FC73-F079-C39219974519}"/>
              </a:ext>
              <a:ext uri="{C183D7F6-B498-43B3-948B-1728B52AA6E4}">
                <adec:decorative xmlns:adec="http://schemas.microsoft.com/office/drawing/2017/decorative" val="1"/>
              </a:ext>
            </a:extLst>
          </p:cNvPr>
          <p:cNvCxnSpPr>
            <a:cxnSpLocks/>
          </p:cNvCxnSpPr>
          <p:nvPr/>
        </p:nvCxnSpPr>
        <p:spPr>
          <a:xfrm>
            <a:off x="3282766" y="5303197"/>
            <a:ext cx="1816768" cy="0"/>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D2FCAFC-942A-E32B-16CB-99449E9C2099}"/>
              </a:ext>
            </a:extLst>
          </p:cNvPr>
          <p:cNvSpPr/>
          <p:nvPr/>
        </p:nvSpPr>
        <p:spPr>
          <a:xfrm>
            <a:off x="1358881" y="5991357"/>
            <a:ext cx="1982418" cy="3379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Government</a:t>
            </a:r>
          </a:p>
        </p:txBody>
      </p:sp>
      <p:sp>
        <p:nvSpPr>
          <p:cNvPr id="8" name="Rectangle 7">
            <a:extLst>
              <a:ext uri="{FF2B5EF4-FFF2-40B4-BE49-F238E27FC236}">
                <a16:creationId xmlns:a16="http://schemas.microsoft.com/office/drawing/2014/main" id="{F49CAFF2-41A7-73FA-B3B5-0B7A75D60D46}"/>
              </a:ext>
            </a:extLst>
          </p:cNvPr>
          <p:cNvSpPr/>
          <p:nvPr/>
        </p:nvSpPr>
        <p:spPr>
          <a:xfrm>
            <a:off x="3449204" y="4979344"/>
            <a:ext cx="1354018" cy="2308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Budget</a:t>
            </a:r>
          </a:p>
        </p:txBody>
      </p:sp>
      <p:sp>
        <p:nvSpPr>
          <p:cNvPr id="4" name="Rectangle 3">
            <a:extLst>
              <a:ext uri="{FF2B5EF4-FFF2-40B4-BE49-F238E27FC236}">
                <a16:creationId xmlns:a16="http://schemas.microsoft.com/office/drawing/2014/main" id="{D409B38A-4ED7-B7E1-6BC9-EA3562548EC8}"/>
              </a:ext>
            </a:extLst>
          </p:cNvPr>
          <p:cNvSpPr/>
          <p:nvPr/>
        </p:nvSpPr>
        <p:spPr>
          <a:xfrm>
            <a:off x="4895400" y="2306412"/>
            <a:ext cx="2398726" cy="2308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solidFill>
                  <a:schemeClr val="tx1"/>
                </a:solidFill>
                <a:latin typeface="Arial" panose="020B0604020202020204" pitchFamily="34" charset="0"/>
                <a:ea typeface="Meiryo UI" panose="020B0604030504040204" pitchFamily="50" charset="-128"/>
                <a:cs typeface="Arial" panose="020B0604020202020204" pitchFamily="34" charset="0"/>
              </a:rPr>
              <a:t>Out-of-Pocket </a:t>
            </a: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payment</a:t>
            </a:r>
          </a:p>
        </p:txBody>
      </p:sp>
      <p:sp>
        <p:nvSpPr>
          <p:cNvPr id="9" name="Title 8">
            <a:extLst>
              <a:ext uri="{FF2B5EF4-FFF2-40B4-BE49-F238E27FC236}">
                <a16:creationId xmlns:a16="http://schemas.microsoft.com/office/drawing/2014/main" id="{FB428B70-FD9D-A8DF-E4F8-4FB0E9AAFEC0}"/>
              </a:ext>
            </a:extLst>
          </p:cNvPr>
          <p:cNvSpPr>
            <a:spLocks noGrp="1"/>
          </p:cNvSpPr>
          <p:nvPr>
            <p:ph type="title"/>
          </p:nvPr>
        </p:nvSpPr>
        <p:spPr/>
        <p:txBody>
          <a:bodyPr/>
          <a:lstStyle/>
          <a:p>
            <a:r>
              <a:rPr lang="en-US" dirty="0"/>
              <a:t>Japan's healthcare system</a:t>
            </a:r>
          </a:p>
        </p:txBody>
      </p:sp>
    </p:spTree>
    <p:extLst>
      <p:ext uri="{BB962C8B-B14F-4D97-AF65-F5344CB8AC3E}">
        <p14:creationId xmlns:p14="http://schemas.microsoft.com/office/powerpoint/2010/main" val="1412789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6ABED-D18B-4377-7948-7818C3393F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0D9900-0439-68CC-BB80-7AB787C1CDC4}"/>
              </a:ext>
            </a:extLst>
          </p:cNvPr>
          <p:cNvSpPr>
            <a:spLocks noGrp="1"/>
          </p:cNvSpPr>
          <p:nvPr>
            <p:ph type="title"/>
          </p:nvPr>
        </p:nvSpPr>
        <p:spPr/>
        <p:txBody>
          <a:bodyPr/>
          <a:lstStyle/>
          <a:p>
            <a:r>
              <a:rPr lang="en-US" noProof="0" dirty="0"/>
              <a:t>Rising health expenditure due to aging</a:t>
            </a:r>
          </a:p>
        </p:txBody>
      </p:sp>
      <p:sp>
        <p:nvSpPr>
          <p:cNvPr id="4" name="Slide Number Placeholder 3">
            <a:extLst>
              <a:ext uri="{FF2B5EF4-FFF2-40B4-BE49-F238E27FC236}">
                <a16:creationId xmlns:a16="http://schemas.microsoft.com/office/drawing/2014/main" id="{93B04933-4144-893F-958C-EB7CC52D6DAA}"/>
              </a:ext>
            </a:extLst>
          </p:cNvPr>
          <p:cNvSpPr>
            <a:spLocks noGrp="1"/>
          </p:cNvSpPr>
          <p:nvPr>
            <p:ph type="sldNum" sz="quarter" idx="4"/>
          </p:nvPr>
        </p:nvSpPr>
        <p:spPr/>
        <p:txBody>
          <a:bodyPr/>
          <a:lstStyle/>
          <a:p>
            <a:fld id="{B5CEABB6-07DC-46E8-9B57-56EC44A396E5}" type="slidenum">
              <a:rPr lang="en-US" noProof="0" smtClean="0"/>
              <a:pPr/>
              <a:t>8</a:t>
            </a:fld>
            <a:endParaRPr lang="en-US" noProof="0" dirty="0"/>
          </a:p>
        </p:txBody>
      </p:sp>
      <p:sp>
        <p:nvSpPr>
          <p:cNvPr id="5" name="Table Placeholder 4">
            <a:extLst>
              <a:ext uri="{FF2B5EF4-FFF2-40B4-BE49-F238E27FC236}">
                <a16:creationId xmlns:a16="http://schemas.microsoft.com/office/drawing/2014/main" id="{2DEDB5BA-8767-D173-D7A8-9A20F2E24CC5}"/>
              </a:ext>
            </a:extLst>
          </p:cNvPr>
          <p:cNvSpPr>
            <a:spLocks noGrp="1"/>
          </p:cNvSpPr>
          <p:nvPr>
            <p:ph type="tbl" sz="quarter" idx="11"/>
          </p:nvPr>
        </p:nvSpPr>
        <p:spPr/>
        <p:txBody>
          <a:bodyPr/>
          <a:lstStyle/>
          <a:p>
            <a:r>
              <a:rPr lang="en-US" noProof="0" dirty="0"/>
              <a:t>Health expenditure </a:t>
            </a:r>
            <a:r>
              <a:rPr lang="en-US" dirty="0"/>
              <a:t>has been</a:t>
            </a:r>
            <a:r>
              <a:rPr lang="en-US" noProof="0" dirty="0"/>
              <a:t> rising by 2-3% every year. The growth rate for </a:t>
            </a:r>
            <a:r>
              <a:rPr lang="ja-JP" altLang="en-US" noProof="0" dirty="0"/>
              <a:t>≧</a:t>
            </a:r>
            <a:r>
              <a:rPr lang="en-US" altLang="ja-JP" noProof="0" dirty="0"/>
              <a:t>75 </a:t>
            </a:r>
            <a:r>
              <a:rPr lang="en-US" altLang="ja-JP" noProof="0" dirty="0" err="1"/>
              <a:t>yo</a:t>
            </a:r>
            <a:r>
              <a:rPr lang="en-US" altLang="ja-JP" noProof="0" dirty="0"/>
              <a:t> is larger than the overall growth rate</a:t>
            </a:r>
            <a:r>
              <a:rPr lang="en-US" dirty="0"/>
              <a:t> </a:t>
            </a:r>
            <a:endParaRPr lang="en-US" noProof="0" dirty="0"/>
          </a:p>
        </p:txBody>
      </p:sp>
      <p:grpSp>
        <p:nvGrpSpPr>
          <p:cNvPr id="10" name="Group 9">
            <a:extLst>
              <a:ext uri="{FF2B5EF4-FFF2-40B4-BE49-F238E27FC236}">
                <a16:creationId xmlns:a16="http://schemas.microsoft.com/office/drawing/2014/main" id="{B403273B-2D3C-1380-19E1-BAF6BFFD4D55}"/>
              </a:ext>
              <a:ext uri="{C183D7F6-B498-43B3-948B-1728B52AA6E4}">
                <adec:decorative xmlns:adec="http://schemas.microsoft.com/office/drawing/2017/decorative" val="1"/>
              </a:ext>
            </a:extLst>
          </p:cNvPr>
          <p:cNvGrpSpPr/>
          <p:nvPr/>
        </p:nvGrpSpPr>
        <p:grpSpPr>
          <a:xfrm>
            <a:off x="467139" y="108959"/>
            <a:ext cx="4197304" cy="307297"/>
            <a:chOff x="562270" y="127168"/>
            <a:chExt cx="4197304" cy="307297"/>
          </a:xfrm>
        </p:grpSpPr>
        <p:sp>
          <p:nvSpPr>
            <p:cNvPr id="11" name="Arrow: Pentagon 10">
              <a:extLst>
                <a:ext uri="{FF2B5EF4-FFF2-40B4-BE49-F238E27FC236}">
                  <a16:creationId xmlns:a16="http://schemas.microsoft.com/office/drawing/2014/main" id="{4C22EA5A-BB51-F7A1-33EE-7BC4C57CBCDF}"/>
                </a:ext>
              </a:extLst>
            </p:cNvPr>
            <p:cNvSpPr/>
            <p:nvPr/>
          </p:nvSpPr>
          <p:spPr>
            <a:xfrm>
              <a:off x="3192565"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③AI</a:t>
              </a:r>
            </a:p>
          </p:txBody>
        </p:sp>
        <p:sp>
          <p:nvSpPr>
            <p:cNvPr id="12" name="Arrow: Pentagon 11">
              <a:extLst>
                <a:ext uri="{FF2B5EF4-FFF2-40B4-BE49-F238E27FC236}">
                  <a16:creationId xmlns:a16="http://schemas.microsoft.com/office/drawing/2014/main" id="{ACCBB959-BA0C-CF47-0BA8-E0DE1CF75811}"/>
                </a:ext>
              </a:extLst>
            </p:cNvPr>
            <p:cNvSpPr/>
            <p:nvPr/>
          </p:nvSpPr>
          <p:spPr>
            <a:xfrm>
              <a:off x="1817136"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②Regulation</a:t>
              </a:r>
            </a:p>
          </p:txBody>
        </p:sp>
        <p:sp>
          <p:nvSpPr>
            <p:cNvPr id="13" name="Arrow: Pentagon 12">
              <a:extLst>
                <a:ext uri="{FF2B5EF4-FFF2-40B4-BE49-F238E27FC236}">
                  <a16:creationId xmlns:a16="http://schemas.microsoft.com/office/drawing/2014/main" id="{2C2A08DF-82C6-04E7-DF09-0142B32C3406}"/>
                </a:ext>
              </a:extLst>
            </p:cNvPr>
            <p:cNvSpPr/>
            <p:nvPr/>
          </p:nvSpPr>
          <p:spPr>
            <a:xfrm>
              <a:off x="562270" y="127168"/>
              <a:ext cx="1567009" cy="307297"/>
            </a:xfrm>
            <a:prstGeom prst="homePlate">
              <a:avLst/>
            </a:prstGeom>
            <a:solidFill>
              <a:srgbClr val="32006E"/>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①Insurance</a:t>
              </a:r>
            </a:p>
          </p:txBody>
        </p:sp>
      </p:grpSp>
      <p:sp>
        <p:nvSpPr>
          <p:cNvPr id="6" name="TextBox 5">
            <a:extLst>
              <a:ext uri="{FF2B5EF4-FFF2-40B4-BE49-F238E27FC236}">
                <a16:creationId xmlns:a16="http://schemas.microsoft.com/office/drawing/2014/main" id="{74C70289-3610-2605-BB9E-32FD3EEBEFBF}"/>
              </a:ext>
            </a:extLst>
          </p:cNvPr>
          <p:cNvSpPr txBox="1"/>
          <p:nvPr/>
        </p:nvSpPr>
        <p:spPr>
          <a:xfrm>
            <a:off x="467139" y="6431501"/>
            <a:ext cx="11257722" cy="184666"/>
          </a:xfrm>
          <a:prstGeom prst="rect">
            <a:avLst/>
          </a:prstGeom>
          <a:solidFill>
            <a:schemeClr val="bg1"/>
          </a:solidFill>
        </p:spPr>
        <p:txBody>
          <a:bodyPr wrap="square" lIns="0" tIns="0" rIns="0" bIns="0">
            <a:spAutoFit/>
          </a:bodyPr>
          <a:lstStyle/>
          <a:p>
            <a:r>
              <a:rPr lang="pt-BR" sz="1200" dirty="0">
                <a:latin typeface="Arial" panose="020B0604020202020204" pitchFamily="34" charset="0"/>
                <a:ea typeface="Meiryo UI" panose="020B0604030504040204" pitchFamily="50" charset="-128"/>
                <a:cs typeface="Arial" panose="020B0604020202020204" pitchFamily="34" charset="0"/>
              </a:rPr>
              <a:t>Annual Health, Labour and Welfare Report 2025. Ministry of Health, Labour and Welfare </a:t>
            </a:r>
            <a:r>
              <a:rPr lang="pt-BR" sz="1200" dirty="0">
                <a:latin typeface="Arial" panose="020B0604020202020204" pitchFamily="34" charset="0"/>
                <a:ea typeface="Meiryo UI" panose="020B0604030504040204" pitchFamily="50" charset="-128"/>
                <a:cs typeface="Arial" panose="020B0604020202020204" pitchFamily="34" charset="0"/>
                <a:hlinkClick r:id="rId3"/>
              </a:rPr>
              <a:t>https://www.mhlw.go.jp/wp/hakusyo/kousei/25-2/index_en.html</a:t>
            </a:r>
            <a:endParaRPr lang="pt-BR" sz="1200" dirty="0">
              <a:latin typeface="Arial" panose="020B0604020202020204" pitchFamily="34" charset="0"/>
              <a:ea typeface="Meiryo UI" panose="020B0604030504040204" pitchFamily="50" charset="-128"/>
              <a:cs typeface="Arial" panose="020B0604020202020204" pitchFamily="34" charset="0"/>
            </a:endParaRPr>
          </a:p>
        </p:txBody>
      </p:sp>
      <p:graphicFrame>
        <p:nvGraphicFramePr>
          <p:cNvPr id="14" name="Chart 13" descr="National health expenditure has been rising by 2 to 3% every year. Notably, the growth rate for those aged 75 and over — shown in dark purple — is larger than the overall growth rate">
            <a:extLst>
              <a:ext uri="{FF2B5EF4-FFF2-40B4-BE49-F238E27FC236}">
                <a16:creationId xmlns:a16="http://schemas.microsoft.com/office/drawing/2014/main" id="{3D0F9D21-93CE-18AD-CA39-97F3B78ABB67}"/>
              </a:ext>
            </a:extLst>
          </p:cNvPr>
          <p:cNvGraphicFramePr>
            <a:graphicFrameLocks/>
          </p:cNvGraphicFramePr>
          <p:nvPr>
            <p:extLst>
              <p:ext uri="{D42A27DB-BD31-4B8C-83A1-F6EECF244321}">
                <p14:modId xmlns:p14="http://schemas.microsoft.com/office/powerpoint/2010/main" val="2978003011"/>
              </p:ext>
            </p:extLst>
          </p:nvPr>
        </p:nvGraphicFramePr>
        <p:xfrm>
          <a:off x="503583" y="1931671"/>
          <a:ext cx="7223097" cy="4365421"/>
        </p:xfrm>
        <a:graphic>
          <a:graphicData uri="http://schemas.openxmlformats.org/drawingml/2006/chart">
            <c:chart xmlns:c="http://schemas.openxmlformats.org/drawingml/2006/chart" xmlns:r="http://schemas.openxmlformats.org/officeDocument/2006/relationships" r:id="rId4"/>
          </a:graphicData>
        </a:graphic>
      </p:graphicFrame>
      <p:sp>
        <p:nvSpPr>
          <p:cNvPr id="15" name="Table Placeholder 2">
            <a:extLst>
              <a:ext uri="{FF2B5EF4-FFF2-40B4-BE49-F238E27FC236}">
                <a16:creationId xmlns:a16="http://schemas.microsoft.com/office/drawing/2014/main" id="{8D8ED14C-7317-34BE-4D91-E22780124C08}"/>
              </a:ext>
            </a:extLst>
          </p:cNvPr>
          <p:cNvSpPr>
            <a:spLocks noGrp="1"/>
          </p:cNvSpPr>
          <p:nvPr>
            <p:ph type="tbl" sz="quarter" idx="10"/>
          </p:nvPr>
        </p:nvSpPr>
        <p:spPr>
          <a:xfrm>
            <a:off x="8181073" y="1938130"/>
            <a:ext cx="3474020" cy="4252521"/>
          </a:xfrm>
        </p:spPr>
        <p:txBody>
          <a:bodyPr/>
          <a:lstStyle/>
          <a:p>
            <a:pPr marL="0" indent="0">
              <a:buNone/>
            </a:pPr>
            <a:r>
              <a:rPr lang="en-US" noProof="0" dirty="0"/>
              <a:t>In 2023</a:t>
            </a:r>
          </a:p>
          <a:p>
            <a:r>
              <a:rPr lang="en-US" noProof="0" dirty="0"/>
              <a:t>Overall: 48 trillion JPY ($302 billion)</a:t>
            </a:r>
          </a:p>
          <a:p>
            <a:r>
              <a:rPr lang="ja-JP" altLang="en-US" dirty="0"/>
              <a:t>≧</a:t>
            </a:r>
            <a:r>
              <a:rPr lang="en-US" dirty="0"/>
              <a:t>75 </a:t>
            </a:r>
            <a:r>
              <a:rPr lang="en-US" dirty="0" err="1"/>
              <a:t>yo</a:t>
            </a:r>
            <a:r>
              <a:rPr lang="en-US" dirty="0"/>
              <a:t>: 18.6 trillion JPY ($117 billion; 40%)</a:t>
            </a:r>
          </a:p>
          <a:p>
            <a:r>
              <a:rPr lang="en-US" dirty="0"/>
              <a:t>8.1% of GDP</a:t>
            </a:r>
          </a:p>
        </p:txBody>
      </p:sp>
      <p:sp>
        <p:nvSpPr>
          <p:cNvPr id="3" name="Rectangle 2">
            <a:extLst>
              <a:ext uri="{FF2B5EF4-FFF2-40B4-BE49-F238E27FC236}">
                <a16:creationId xmlns:a16="http://schemas.microsoft.com/office/drawing/2014/main" id="{25D6A14F-217B-2B48-01E1-E350AF3EF931}"/>
              </a:ext>
              <a:ext uri="{C183D7F6-B498-43B3-948B-1728B52AA6E4}">
                <adec:decorative xmlns:adec="http://schemas.microsoft.com/office/drawing/2017/decorative" val="1"/>
              </a:ext>
            </a:extLst>
          </p:cNvPr>
          <p:cNvSpPr/>
          <p:nvPr/>
        </p:nvSpPr>
        <p:spPr>
          <a:xfrm>
            <a:off x="8063546" y="1938130"/>
            <a:ext cx="42381" cy="4252521"/>
          </a:xfrm>
          <a:prstGeom prst="rect">
            <a:avLst/>
          </a:prstGeom>
          <a:solidFill>
            <a:srgbClr val="3200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Tree>
    <p:extLst>
      <p:ext uri="{BB962C8B-B14F-4D97-AF65-F5344CB8AC3E}">
        <p14:creationId xmlns:p14="http://schemas.microsoft.com/office/powerpoint/2010/main" val="8922416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5448A-157C-604E-50D5-0EADF5402591}"/>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85A9F825-8D95-4AC8-ACF3-CB6158680AA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356645" y="1090554"/>
            <a:ext cx="1605757" cy="1605757"/>
          </a:xfrm>
          <a:prstGeom prst="rect">
            <a:avLst/>
          </a:prstGeom>
        </p:spPr>
      </p:pic>
      <p:pic>
        <p:nvPicPr>
          <p:cNvPr id="14" name="Picture 13">
            <a:extLst>
              <a:ext uri="{FF2B5EF4-FFF2-40B4-BE49-F238E27FC236}">
                <a16:creationId xmlns:a16="http://schemas.microsoft.com/office/drawing/2014/main" id="{73562C69-C3D7-CA17-634F-665471DAFE75}"/>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229596" y="1090554"/>
            <a:ext cx="1605757" cy="1605757"/>
          </a:xfrm>
          <a:prstGeom prst="rect">
            <a:avLst/>
          </a:prstGeom>
        </p:spPr>
      </p:pic>
      <p:pic>
        <p:nvPicPr>
          <p:cNvPr id="16" name="Picture 15">
            <a:extLst>
              <a:ext uri="{FF2B5EF4-FFF2-40B4-BE49-F238E27FC236}">
                <a16:creationId xmlns:a16="http://schemas.microsoft.com/office/drawing/2014/main" id="{2462654D-98AB-8042-CAA8-05C10777CB7D}"/>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304843" y="4308384"/>
            <a:ext cx="1605757" cy="1605757"/>
          </a:xfrm>
          <a:prstGeom prst="rect">
            <a:avLst/>
          </a:prstGeom>
        </p:spPr>
      </p:pic>
      <p:cxnSp>
        <p:nvCxnSpPr>
          <p:cNvPr id="22" name="Straight Arrow Connector 21">
            <a:extLst>
              <a:ext uri="{FF2B5EF4-FFF2-40B4-BE49-F238E27FC236}">
                <a16:creationId xmlns:a16="http://schemas.microsoft.com/office/drawing/2014/main" id="{71C41A2A-E9A6-6C63-CCA6-74CAA542FB80}"/>
              </a:ext>
              <a:ext uri="{C183D7F6-B498-43B3-948B-1728B52AA6E4}">
                <adec:decorative xmlns:adec="http://schemas.microsoft.com/office/drawing/2017/decorative" val="1"/>
              </a:ext>
            </a:extLst>
          </p:cNvPr>
          <p:cNvCxnSpPr>
            <a:cxnSpLocks/>
          </p:cNvCxnSpPr>
          <p:nvPr/>
        </p:nvCxnSpPr>
        <p:spPr>
          <a:xfrm flipH="1">
            <a:off x="4198948" y="1793629"/>
            <a:ext cx="3791631" cy="0"/>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035A60E-5F89-4183-607B-B039FCA105F3}"/>
              </a:ext>
              <a:ext uri="{C183D7F6-B498-43B3-948B-1728B52AA6E4}">
                <adec:decorative xmlns:adec="http://schemas.microsoft.com/office/drawing/2017/decorative" val="1"/>
              </a:ext>
            </a:extLst>
          </p:cNvPr>
          <p:cNvCxnSpPr>
            <a:cxnSpLocks/>
          </p:cNvCxnSpPr>
          <p:nvPr/>
        </p:nvCxnSpPr>
        <p:spPr>
          <a:xfrm>
            <a:off x="4198948" y="2227383"/>
            <a:ext cx="3791631" cy="0"/>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E5114306-873F-F3B7-9E97-99EAA113A097}"/>
              </a:ext>
            </a:extLst>
          </p:cNvPr>
          <p:cNvSpPr/>
          <p:nvPr/>
        </p:nvSpPr>
        <p:spPr>
          <a:xfrm>
            <a:off x="4163176" y="1425344"/>
            <a:ext cx="3863174"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Medical care/treatment</a:t>
            </a:r>
            <a:r>
              <a:rPr lang="en-US" dirty="0">
                <a:solidFill>
                  <a:schemeClr val="tx1"/>
                </a:solidFill>
                <a:latin typeface="Arial" panose="020B0604020202020204" pitchFamily="34" charset="0"/>
                <a:ea typeface="Meiryo UI" panose="020B0604030504040204" pitchFamily="50" charset="-128"/>
                <a:cs typeface="Arial" panose="020B0604020202020204" pitchFamily="34" charset="0"/>
              </a:rPr>
              <a:t> &amp; Charge</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30" name="Straight Arrow Connector 29">
            <a:extLst>
              <a:ext uri="{FF2B5EF4-FFF2-40B4-BE49-F238E27FC236}">
                <a16:creationId xmlns:a16="http://schemas.microsoft.com/office/drawing/2014/main" id="{7C5184FD-2368-BB55-28F6-B34A8F2C009A}"/>
              </a:ext>
              <a:ext uri="{C183D7F6-B498-43B3-948B-1728B52AA6E4}">
                <adec:decorative xmlns:adec="http://schemas.microsoft.com/office/drawing/2017/decorative" val="1"/>
              </a:ext>
            </a:extLst>
          </p:cNvPr>
          <p:cNvCxnSpPr>
            <a:cxnSpLocks/>
          </p:cNvCxnSpPr>
          <p:nvPr/>
        </p:nvCxnSpPr>
        <p:spPr>
          <a:xfrm>
            <a:off x="3791712" y="3130064"/>
            <a:ext cx="1389888" cy="1370426"/>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8140CBF7-8315-43E9-9311-D82CEAE177AC}"/>
              </a:ext>
            </a:extLst>
          </p:cNvPr>
          <p:cNvSpPr/>
          <p:nvPr/>
        </p:nvSpPr>
        <p:spPr>
          <a:xfrm>
            <a:off x="2684020" y="2745220"/>
            <a:ext cx="1017294" cy="3379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Patient</a:t>
            </a:r>
          </a:p>
        </p:txBody>
      </p:sp>
      <p:sp>
        <p:nvSpPr>
          <p:cNvPr id="35" name="Rectangle 34">
            <a:extLst>
              <a:ext uri="{FF2B5EF4-FFF2-40B4-BE49-F238E27FC236}">
                <a16:creationId xmlns:a16="http://schemas.microsoft.com/office/drawing/2014/main" id="{E13A7124-207E-C5BE-28F5-28E2F3FD40D0}"/>
              </a:ext>
            </a:extLst>
          </p:cNvPr>
          <p:cNvSpPr/>
          <p:nvPr/>
        </p:nvSpPr>
        <p:spPr>
          <a:xfrm>
            <a:off x="8131375" y="2792112"/>
            <a:ext cx="1802198" cy="3379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Healthcare Provider</a:t>
            </a:r>
          </a:p>
        </p:txBody>
      </p:sp>
      <p:sp>
        <p:nvSpPr>
          <p:cNvPr id="36" name="Rectangle 35">
            <a:extLst>
              <a:ext uri="{FF2B5EF4-FFF2-40B4-BE49-F238E27FC236}">
                <a16:creationId xmlns:a16="http://schemas.microsoft.com/office/drawing/2014/main" id="{862AE5A0-97B7-0184-FFDB-18EF795A07FE}"/>
              </a:ext>
            </a:extLst>
          </p:cNvPr>
          <p:cNvSpPr/>
          <p:nvPr/>
        </p:nvSpPr>
        <p:spPr>
          <a:xfrm>
            <a:off x="5199336" y="5991357"/>
            <a:ext cx="1802198" cy="3379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Insurer</a:t>
            </a:r>
          </a:p>
        </p:txBody>
      </p:sp>
      <p:cxnSp>
        <p:nvCxnSpPr>
          <p:cNvPr id="39" name="Straight Arrow Connector 38">
            <a:extLst>
              <a:ext uri="{FF2B5EF4-FFF2-40B4-BE49-F238E27FC236}">
                <a16:creationId xmlns:a16="http://schemas.microsoft.com/office/drawing/2014/main" id="{47994D2A-A95D-1E81-F999-79ECCF64A718}"/>
              </a:ext>
              <a:ext uri="{C183D7F6-B498-43B3-948B-1728B52AA6E4}">
                <adec:decorative xmlns:adec="http://schemas.microsoft.com/office/drawing/2017/decorative" val="1"/>
              </a:ext>
            </a:extLst>
          </p:cNvPr>
          <p:cNvCxnSpPr>
            <a:cxnSpLocks/>
          </p:cNvCxnSpPr>
          <p:nvPr/>
        </p:nvCxnSpPr>
        <p:spPr>
          <a:xfrm flipH="1">
            <a:off x="7010402" y="3261037"/>
            <a:ext cx="1336429" cy="1239453"/>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2A289080-2FAC-5946-3E8B-6D58C16ACD66}"/>
              </a:ext>
            </a:extLst>
          </p:cNvPr>
          <p:cNvSpPr/>
          <p:nvPr/>
        </p:nvSpPr>
        <p:spPr>
          <a:xfrm rot="19022470">
            <a:off x="7129295" y="3583069"/>
            <a:ext cx="924813"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Claim</a:t>
            </a:r>
          </a:p>
        </p:txBody>
      </p:sp>
      <p:cxnSp>
        <p:nvCxnSpPr>
          <p:cNvPr id="45" name="Straight Arrow Connector 44">
            <a:extLst>
              <a:ext uri="{FF2B5EF4-FFF2-40B4-BE49-F238E27FC236}">
                <a16:creationId xmlns:a16="http://schemas.microsoft.com/office/drawing/2014/main" id="{F51B02C7-5FA1-8468-0AC9-95AAB54B48B0}"/>
              </a:ext>
              <a:ext uri="{C183D7F6-B498-43B3-948B-1728B52AA6E4}">
                <adec:decorative xmlns:adec="http://schemas.microsoft.com/office/drawing/2017/decorative" val="1"/>
              </a:ext>
            </a:extLst>
          </p:cNvPr>
          <p:cNvCxnSpPr>
            <a:cxnSpLocks/>
          </p:cNvCxnSpPr>
          <p:nvPr/>
        </p:nvCxnSpPr>
        <p:spPr>
          <a:xfrm flipV="1">
            <a:off x="7192303" y="3408193"/>
            <a:ext cx="1470072" cy="1363398"/>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1F1A320E-3383-76C3-185D-51841F3C40FD}"/>
              </a:ext>
            </a:extLst>
          </p:cNvPr>
          <p:cNvSpPr/>
          <p:nvPr/>
        </p:nvSpPr>
        <p:spPr>
          <a:xfrm rot="19022470">
            <a:off x="7037296" y="4249792"/>
            <a:ext cx="1802198" cy="2308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Claim payment</a:t>
            </a:r>
          </a:p>
        </p:txBody>
      </p:sp>
      <p:sp>
        <p:nvSpPr>
          <p:cNvPr id="47" name="Rectangle 46">
            <a:extLst>
              <a:ext uri="{FF2B5EF4-FFF2-40B4-BE49-F238E27FC236}">
                <a16:creationId xmlns:a16="http://schemas.microsoft.com/office/drawing/2014/main" id="{5285CB05-8033-8472-8B1C-C69AA3686A48}"/>
              </a:ext>
            </a:extLst>
          </p:cNvPr>
          <p:cNvSpPr/>
          <p:nvPr/>
        </p:nvSpPr>
        <p:spPr>
          <a:xfrm rot="2655717">
            <a:off x="3837455" y="3448588"/>
            <a:ext cx="1354018"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Premium</a:t>
            </a:r>
          </a:p>
        </p:txBody>
      </p:sp>
      <p:sp>
        <p:nvSpPr>
          <p:cNvPr id="2" name="Rectangle 1">
            <a:extLst>
              <a:ext uri="{FF2B5EF4-FFF2-40B4-BE49-F238E27FC236}">
                <a16:creationId xmlns:a16="http://schemas.microsoft.com/office/drawing/2014/main" id="{57422275-32A9-46B2-49BA-8D0C092CF63A}"/>
              </a:ext>
              <a:ext uri="{C183D7F6-B498-43B3-948B-1728B52AA6E4}">
                <adec:decorative xmlns:adec="http://schemas.microsoft.com/office/drawing/2017/decorative" val="1"/>
              </a:ext>
            </a:extLst>
          </p:cNvPr>
          <p:cNvSpPr/>
          <p:nvPr/>
        </p:nvSpPr>
        <p:spPr>
          <a:xfrm>
            <a:off x="4176134" y="2029893"/>
            <a:ext cx="3863174" cy="631575"/>
          </a:xfrm>
          <a:prstGeom prst="rect">
            <a:avLst/>
          </a:prstGeom>
          <a:noFill/>
          <a:ln w="57150">
            <a:solidFill>
              <a:srgbClr val="FFC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pic>
        <p:nvPicPr>
          <p:cNvPr id="3" name="Picture 2">
            <a:extLst>
              <a:ext uri="{FF2B5EF4-FFF2-40B4-BE49-F238E27FC236}">
                <a16:creationId xmlns:a16="http://schemas.microsoft.com/office/drawing/2014/main" id="{10DBB83E-AAA5-5340-37EC-7FF137665584}"/>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1553766" y="4260863"/>
            <a:ext cx="1605757" cy="1605757"/>
          </a:xfrm>
          <a:prstGeom prst="rect">
            <a:avLst/>
          </a:prstGeom>
        </p:spPr>
      </p:pic>
      <p:cxnSp>
        <p:nvCxnSpPr>
          <p:cNvPr id="5" name="Straight Arrow Connector 4">
            <a:extLst>
              <a:ext uri="{FF2B5EF4-FFF2-40B4-BE49-F238E27FC236}">
                <a16:creationId xmlns:a16="http://schemas.microsoft.com/office/drawing/2014/main" id="{95F54139-98A3-911D-7DFB-20A82D478B7C}"/>
              </a:ext>
              <a:ext uri="{C183D7F6-B498-43B3-948B-1728B52AA6E4}">
                <adec:decorative xmlns:adec="http://schemas.microsoft.com/office/drawing/2017/decorative" val="1"/>
              </a:ext>
            </a:extLst>
          </p:cNvPr>
          <p:cNvCxnSpPr>
            <a:cxnSpLocks/>
          </p:cNvCxnSpPr>
          <p:nvPr/>
        </p:nvCxnSpPr>
        <p:spPr>
          <a:xfrm>
            <a:off x="3282766" y="5303197"/>
            <a:ext cx="1816768" cy="0"/>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FC0E1673-E278-3A9F-7FFB-F46E50039AA4}"/>
              </a:ext>
            </a:extLst>
          </p:cNvPr>
          <p:cNvSpPr/>
          <p:nvPr/>
        </p:nvSpPr>
        <p:spPr>
          <a:xfrm>
            <a:off x="1358881" y="5991357"/>
            <a:ext cx="1982418" cy="3379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Government</a:t>
            </a:r>
          </a:p>
        </p:txBody>
      </p:sp>
      <p:sp>
        <p:nvSpPr>
          <p:cNvPr id="7" name="Rectangle 6">
            <a:extLst>
              <a:ext uri="{FF2B5EF4-FFF2-40B4-BE49-F238E27FC236}">
                <a16:creationId xmlns:a16="http://schemas.microsoft.com/office/drawing/2014/main" id="{DEC3D4B0-860F-A7AF-00DC-E77854736427}"/>
              </a:ext>
            </a:extLst>
          </p:cNvPr>
          <p:cNvSpPr/>
          <p:nvPr/>
        </p:nvSpPr>
        <p:spPr>
          <a:xfrm>
            <a:off x="3449204" y="4979344"/>
            <a:ext cx="1354018" cy="2308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Budget</a:t>
            </a:r>
          </a:p>
        </p:txBody>
      </p:sp>
      <p:sp>
        <p:nvSpPr>
          <p:cNvPr id="4" name="Rectangle 3">
            <a:extLst>
              <a:ext uri="{FF2B5EF4-FFF2-40B4-BE49-F238E27FC236}">
                <a16:creationId xmlns:a16="http://schemas.microsoft.com/office/drawing/2014/main" id="{C7A6ED59-6487-64B8-7030-7D0BD194B095}"/>
              </a:ext>
            </a:extLst>
          </p:cNvPr>
          <p:cNvSpPr/>
          <p:nvPr/>
        </p:nvSpPr>
        <p:spPr>
          <a:xfrm>
            <a:off x="4895400" y="2306412"/>
            <a:ext cx="2398726" cy="2308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solidFill>
                  <a:schemeClr val="tx1"/>
                </a:solidFill>
                <a:latin typeface="Arial" panose="020B0604020202020204" pitchFamily="34" charset="0"/>
                <a:ea typeface="Meiryo UI" panose="020B0604030504040204" pitchFamily="50" charset="-128"/>
                <a:cs typeface="Arial" panose="020B0604020202020204" pitchFamily="34" charset="0"/>
              </a:rPr>
              <a:t>Out-of-Pocket </a:t>
            </a: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payment</a:t>
            </a:r>
          </a:p>
        </p:txBody>
      </p:sp>
      <p:sp>
        <p:nvSpPr>
          <p:cNvPr id="8" name="Title 7">
            <a:extLst>
              <a:ext uri="{FF2B5EF4-FFF2-40B4-BE49-F238E27FC236}">
                <a16:creationId xmlns:a16="http://schemas.microsoft.com/office/drawing/2014/main" id="{3DBA29B7-475D-D1ED-DB5F-8CF787095B41}"/>
              </a:ext>
            </a:extLst>
          </p:cNvPr>
          <p:cNvSpPr>
            <a:spLocks noGrp="1"/>
          </p:cNvSpPr>
          <p:nvPr>
            <p:ph type="title"/>
          </p:nvPr>
        </p:nvSpPr>
        <p:spPr/>
        <p:txBody>
          <a:bodyPr/>
          <a:lstStyle/>
          <a:p>
            <a:r>
              <a:rPr lang="en-US" dirty="0"/>
              <a:t>Japan's healthcare system</a:t>
            </a:r>
          </a:p>
        </p:txBody>
      </p:sp>
    </p:spTree>
    <p:extLst>
      <p:ext uri="{BB962C8B-B14F-4D97-AF65-F5344CB8AC3E}">
        <p14:creationId xmlns:p14="http://schemas.microsoft.com/office/powerpoint/2010/main" val="2547916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BEEF7-1FA2-67A6-A0C1-F67B90FA6581}"/>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BECFFE1A-F8D7-89CC-1EBD-35C020440EA2}"/>
              </a:ext>
            </a:extLst>
          </p:cNvPr>
          <p:cNvSpPr/>
          <p:nvPr/>
        </p:nvSpPr>
        <p:spPr>
          <a:xfrm>
            <a:off x="5880896" y="1860989"/>
            <a:ext cx="1130246"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dirty="0">
                <a:solidFill>
                  <a:schemeClr val="tx1"/>
                </a:solidFill>
                <a:latin typeface="Arial" panose="020B0604020202020204" pitchFamily="34" charset="0"/>
                <a:ea typeface="Meiryo UI" panose="020B0604030504040204" pitchFamily="50" charset="-128"/>
                <a:cs typeface="Arial" panose="020B0604020202020204" pitchFamily="34" charset="0"/>
              </a:rPr>
              <a:t>≧ </a:t>
            </a:r>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2M JPY</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4" name="Rectangle 33">
            <a:extLst>
              <a:ext uri="{FF2B5EF4-FFF2-40B4-BE49-F238E27FC236}">
                <a16:creationId xmlns:a16="http://schemas.microsoft.com/office/drawing/2014/main" id="{B8134C37-9BBE-BB9F-C331-CD731ABC071B}"/>
              </a:ext>
            </a:extLst>
          </p:cNvPr>
          <p:cNvSpPr/>
          <p:nvPr/>
        </p:nvSpPr>
        <p:spPr>
          <a:xfrm>
            <a:off x="7947737" y="1860989"/>
            <a:ext cx="1367598"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dirty="0">
                <a:solidFill>
                  <a:schemeClr val="tx1"/>
                </a:solidFill>
                <a:latin typeface="Arial" panose="020B0604020202020204" pitchFamily="34" charset="0"/>
                <a:ea typeface="Meiryo UI" panose="020B0604030504040204" pitchFamily="50" charset="-128"/>
                <a:cs typeface="Arial" panose="020B0604020202020204" pitchFamily="34" charset="0"/>
              </a:rPr>
              <a:t>≧ </a:t>
            </a:r>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3.8M JPY</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 name="Title 1">
            <a:extLst>
              <a:ext uri="{FF2B5EF4-FFF2-40B4-BE49-F238E27FC236}">
                <a16:creationId xmlns:a16="http://schemas.microsoft.com/office/drawing/2014/main" id="{436FE253-99A0-320C-89B4-84120EFB4E5C}"/>
              </a:ext>
            </a:extLst>
          </p:cNvPr>
          <p:cNvSpPr>
            <a:spLocks noGrp="1"/>
          </p:cNvSpPr>
          <p:nvPr>
            <p:ph type="title"/>
          </p:nvPr>
        </p:nvSpPr>
        <p:spPr/>
        <p:txBody>
          <a:bodyPr/>
          <a:lstStyle/>
          <a:p>
            <a:r>
              <a:rPr lang="en-US" noProof="0" dirty="0"/>
              <a:t>Different coinsurance by age and income level</a:t>
            </a:r>
          </a:p>
        </p:txBody>
      </p:sp>
      <p:sp>
        <p:nvSpPr>
          <p:cNvPr id="4" name="Slide Number Placeholder 3">
            <a:extLst>
              <a:ext uri="{FF2B5EF4-FFF2-40B4-BE49-F238E27FC236}">
                <a16:creationId xmlns:a16="http://schemas.microsoft.com/office/drawing/2014/main" id="{93510475-6C98-D4EE-5B35-316107A794B1}"/>
              </a:ext>
            </a:extLst>
          </p:cNvPr>
          <p:cNvSpPr>
            <a:spLocks noGrp="1"/>
          </p:cNvSpPr>
          <p:nvPr>
            <p:ph type="sldNum" sz="quarter" idx="4"/>
          </p:nvPr>
        </p:nvSpPr>
        <p:spPr/>
        <p:txBody>
          <a:bodyPr/>
          <a:lstStyle/>
          <a:p>
            <a:fld id="{B5CEABB6-07DC-46E8-9B57-56EC44A396E5}" type="slidenum">
              <a:rPr lang="en-US" noProof="0" smtClean="0"/>
              <a:pPr/>
              <a:t>10</a:t>
            </a:fld>
            <a:endParaRPr lang="en-US" noProof="0" dirty="0"/>
          </a:p>
        </p:txBody>
      </p:sp>
      <p:sp>
        <p:nvSpPr>
          <p:cNvPr id="5" name="Table Placeholder 4">
            <a:extLst>
              <a:ext uri="{FF2B5EF4-FFF2-40B4-BE49-F238E27FC236}">
                <a16:creationId xmlns:a16="http://schemas.microsoft.com/office/drawing/2014/main" id="{4AC456F6-6300-3F9E-6024-B10CF5655B01}"/>
              </a:ext>
            </a:extLst>
          </p:cNvPr>
          <p:cNvSpPr>
            <a:spLocks noGrp="1"/>
          </p:cNvSpPr>
          <p:nvPr>
            <p:ph type="tbl" sz="quarter" idx="11"/>
          </p:nvPr>
        </p:nvSpPr>
        <p:spPr/>
        <p:txBody>
          <a:bodyPr/>
          <a:lstStyle/>
          <a:p>
            <a:r>
              <a:rPr lang="en-US" noProof="0" dirty="0"/>
              <a:t>To support vulnerable populations with lower income and higher healthcare needs, coinsurance differ by age and income</a:t>
            </a:r>
            <a:r>
              <a:rPr lang="en-US" dirty="0"/>
              <a:t> </a:t>
            </a:r>
            <a:endParaRPr lang="en-US" noProof="0" dirty="0"/>
          </a:p>
        </p:txBody>
      </p:sp>
      <p:grpSp>
        <p:nvGrpSpPr>
          <p:cNvPr id="10" name="Group 9">
            <a:extLst>
              <a:ext uri="{FF2B5EF4-FFF2-40B4-BE49-F238E27FC236}">
                <a16:creationId xmlns:a16="http://schemas.microsoft.com/office/drawing/2014/main" id="{036BBC4A-77DE-6A02-7BAA-A1FEB0C3AAA6}"/>
              </a:ext>
              <a:ext uri="{C183D7F6-B498-43B3-948B-1728B52AA6E4}">
                <adec:decorative xmlns:adec="http://schemas.microsoft.com/office/drawing/2017/decorative" val="1"/>
              </a:ext>
            </a:extLst>
          </p:cNvPr>
          <p:cNvGrpSpPr/>
          <p:nvPr/>
        </p:nvGrpSpPr>
        <p:grpSpPr>
          <a:xfrm>
            <a:off x="467139" y="108959"/>
            <a:ext cx="4197304" cy="307297"/>
            <a:chOff x="562270" y="127168"/>
            <a:chExt cx="4197304" cy="307297"/>
          </a:xfrm>
        </p:grpSpPr>
        <p:sp>
          <p:nvSpPr>
            <p:cNvPr id="11" name="Arrow: Pentagon 10">
              <a:extLst>
                <a:ext uri="{FF2B5EF4-FFF2-40B4-BE49-F238E27FC236}">
                  <a16:creationId xmlns:a16="http://schemas.microsoft.com/office/drawing/2014/main" id="{0CB2B2DA-4B94-5D0C-792C-D73150E5012B}"/>
                </a:ext>
              </a:extLst>
            </p:cNvPr>
            <p:cNvSpPr/>
            <p:nvPr/>
          </p:nvSpPr>
          <p:spPr>
            <a:xfrm>
              <a:off x="3192565"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③AI</a:t>
              </a:r>
            </a:p>
          </p:txBody>
        </p:sp>
        <p:sp>
          <p:nvSpPr>
            <p:cNvPr id="12" name="Arrow: Pentagon 11">
              <a:extLst>
                <a:ext uri="{FF2B5EF4-FFF2-40B4-BE49-F238E27FC236}">
                  <a16:creationId xmlns:a16="http://schemas.microsoft.com/office/drawing/2014/main" id="{AC4F032E-4D22-8804-DADD-B073BDA130CA}"/>
                </a:ext>
              </a:extLst>
            </p:cNvPr>
            <p:cNvSpPr/>
            <p:nvPr/>
          </p:nvSpPr>
          <p:spPr>
            <a:xfrm>
              <a:off x="1817136"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②Regulation</a:t>
              </a:r>
            </a:p>
          </p:txBody>
        </p:sp>
        <p:sp>
          <p:nvSpPr>
            <p:cNvPr id="13" name="Arrow: Pentagon 12">
              <a:extLst>
                <a:ext uri="{FF2B5EF4-FFF2-40B4-BE49-F238E27FC236}">
                  <a16:creationId xmlns:a16="http://schemas.microsoft.com/office/drawing/2014/main" id="{889088EE-7B9D-5F12-BAA7-36FE7E9D8923}"/>
                </a:ext>
              </a:extLst>
            </p:cNvPr>
            <p:cNvSpPr/>
            <p:nvPr/>
          </p:nvSpPr>
          <p:spPr>
            <a:xfrm>
              <a:off x="562270" y="127168"/>
              <a:ext cx="1567009" cy="307297"/>
            </a:xfrm>
            <a:prstGeom prst="homePlate">
              <a:avLst/>
            </a:prstGeom>
            <a:solidFill>
              <a:srgbClr val="32006E"/>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①Insurance</a:t>
              </a:r>
            </a:p>
          </p:txBody>
        </p:sp>
      </p:grpSp>
      <p:sp>
        <p:nvSpPr>
          <p:cNvPr id="6" name="TextBox 5">
            <a:extLst>
              <a:ext uri="{FF2B5EF4-FFF2-40B4-BE49-F238E27FC236}">
                <a16:creationId xmlns:a16="http://schemas.microsoft.com/office/drawing/2014/main" id="{7B8BB261-9D89-200F-EAD4-B52AC599587F}"/>
              </a:ext>
            </a:extLst>
          </p:cNvPr>
          <p:cNvSpPr txBox="1"/>
          <p:nvPr/>
        </p:nvSpPr>
        <p:spPr>
          <a:xfrm>
            <a:off x="467139" y="6431501"/>
            <a:ext cx="11257722" cy="184666"/>
          </a:xfrm>
          <a:prstGeom prst="rect">
            <a:avLst/>
          </a:prstGeom>
          <a:solidFill>
            <a:schemeClr val="bg1"/>
          </a:solidFill>
        </p:spPr>
        <p:txBody>
          <a:bodyPr wrap="square" lIns="0" tIns="0" rIns="0" bIns="0">
            <a:spAutoFit/>
          </a:bodyPr>
          <a:lstStyle/>
          <a:p>
            <a:r>
              <a:rPr lang="pt-BR" sz="1200" dirty="0">
                <a:latin typeface="Arial" panose="020B0604020202020204" pitchFamily="34" charset="0"/>
                <a:ea typeface="Meiryo UI" panose="020B0604030504040204" pitchFamily="50" charset="-128"/>
                <a:cs typeface="Arial" panose="020B0604020202020204" pitchFamily="34" charset="0"/>
              </a:rPr>
              <a:t>Annual Health, Labour and Welfare Report 2025. Ministry of Health, Labour and Welfare </a:t>
            </a:r>
            <a:r>
              <a:rPr lang="pt-BR" sz="1200" dirty="0">
                <a:latin typeface="Arial" panose="020B0604020202020204" pitchFamily="34" charset="0"/>
                <a:ea typeface="Meiryo UI" panose="020B0604030504040204" pitchFamily="50" charset="-128"/>
                <a:cs typeface="Arial" panose="020B0604020202020204" pitchFamily="34" charset="0"/>
                <a:hlinkClick r:id="rId3"/>
              </a:rPr>
              <a:t>https://www.mhlw.go.jp/wp/hakusyo/kousei/25-2/index_en.html</a:t>
            </a:r>
            <a:endParaRPr lang="pt-BR" sz="1200" dirty="0">
              <a:latin typeface="Arial" panose="020B0604020202020204" pitchFamily="34" charset="0"/>
              <a:ea typeface="Meiryo UI" panose="020B0604030504040204" pitchFamily="50" charset="-128"/>
              <a:cs typeface="Arial" panose="020B0604020202020204" pitchFamily="34" charset="0"/>
            </a:endParaRPr>
          </a:p>
        </p:txBody>
      </p:sp>
      <p:sp>
        <p:nvSpPr>
          <p:cNvPr id="3" name="Rectangle 2">
            <a:extLst>
              <a:ext uri="{FF2B5EF4-FFF2-40B4-BE49-F238E27FC236}">
                <a16:creationId xmlns:a16="http://schemas.microsoft.com/office/drawing/2014/main" id="{8A587FE0-D782-55DF-037B-2EA6F04F549D}"/>
              </a:ext>
            </a:extLst>
          </p:cNvPr>
          <p:cNvSpPr/>
          <p:nvPr/>
        </p:nvSpPr>
        <p:spPr>
          <a:xfrm>
            <a:off x="2334440" y="3068876"/>
            <a:ext cx="7523120" cy="2341448"/>
          </a:xfrm>
          <a:prstGeom prst="rect">
            <a:avLst/>
          </a:prstGeom>
          <a:solidFill>
            <a:srgbClr val="C5B4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30%</a:t>
            </a:r>
          </a:p>
        </p:txBody>
      </p:sp>
      <p:sp>
        <p:nvSpPr>
          <p:cNvPr id="7" name="Rectangle 6">
            <a:extLst>
              <a:ext uri="{FF2B5EF4-FFF2-40B4-BE49-F238E27FC236}">
                <a16:creationId xmlns:a16="http://schemas.microsoft.com/office/drawing/2014/main" id="{1B107278-38F2-350C-59D0-8BC997881D1D}"/>
              </a:ext>
            </a:extLst>
          </p:cNvPr>
          <p:cNvSpPr/>
          <p:nvPr/>
        </p:nvSpPr>
        <p:spPr>
          <a:xfrm>
            <a:off x="2334440" y="2577408"/>
            <a:ext cx="6293239" cy="491469"/>
          </a:xfrm>
          <a:prstGeom prst="rect">
            <a:avLst/>
          </a:prstGeom>
          <a:solidFill>
            <a:srgbClr val="C5B4E3">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rial" panose="020B0604020202020204" pitchFamily="34" charset="0"/>
                <a:ea typeface="Meiryo UI" panose="020B0604030504040204" pitchFamily="50" charset="-128"/>
                <a:cs typeface="Arial" panose="020B0604020202020204" pitchFamily="34" charset="0"/>
              </a:rPr>
              <a:t>2</a:t>
            </a: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0%</a:t>
            </a:r>
          </a:p>
        </p:txBody>
      </p:sp>
      <p:sp>
        <p:nvSpPr>
          <p:cNvPr id="8" name="Rectangle 7">
            <a:extLst>
              <a:ext uri="{FF2B5EF4-FFF2-40B4-BE49-F238E27FC236}">
                <a16:creationId xmlns:a16="http://schemas.microsoft.com/office/drawing/2014/main" id="{2962F7EE-071D-D4FD-6859-0405E62A1885}"/>
              </a:ext>
            </a:extLst>
          </p:cNvPr>
          <p:cNvSpPr/>
          <p:nvPr/>
        </p:nvSpPr>
        <p:spPr>
          <a:xfrm>
            <a:off x="2334440" y="2085939"/>
            <a:ext cx="4103685" cy="491469"/>
          </a:xfrm>
          <a:prstGeom prst="rect">
            <a:avLst/>
          </a:prstGeom>
          <a:solidFill>
            <a:srgbClr val="C5B4E3">
              <a:alpha val="30196"/>
            </a:srgbClr>
          </a:solidFill>
          <a:ln>
            <a:solidFill>
              <a:srgbClr val="C5B4E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10%</a:t>
            </a:r>
          </a:p>
        </p:txBody>
      </p:sp>
      <p:sp>
        <p:nvSpPr>
          <p:cNvPr id="9" name="Rectangle 8">
            <a:extLst>
              <a:ext uri="{FF2B5EF4-FFF2-40B4-BE49-F238E27FC236}">
                <a16:creationId xmlns:a16="http://schemas.microsoft.com/office/drawing/2014/main" id="{A0FA3CF4-3E42-E9A0-B113-66116BCF6E8F}"/>
              </a:ext>
            </a:extLst>
          </p:cNvPr>
          <p:cNvSpPr/>
          <p:nvPr/>
        </p:nvSpPr>
        <p:spPr>
          <a:xfrm>
            <a:off x="2334440" y="5410324"/>
            <a:ext cx="7523120" cy="491468"/>
          </a:xfrm>
          <a:prstGeom prst="rect">
            <a:avLst/>
          </a:prstGeom>
          <a:solidFill>
            <a:srgbClr val="C5B4E3">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rial" panose="020B0604020202020204" pitchFamily="34" charset="0"/>
                <a:ea typeface="Meiryo UI" panose="020B0604030504040204" pitchFamily="50" charset="-128"/>
                <a:cs typeface="Arial" panose="020B0604020202020204" pitchFamily="34" charset="0"/>
              </a:rPr>
              <a:t>2</a:t>
            </a: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0%</a:t>
            </a:r>
          </a:p>
        </p:txBody>
      </p:sp>
      <p:sp>
        <p:nvSpPr>
          <p:cNvPr id="22" name="Rectangle 21">
            <a:extLst>
              <a:ext uri="{FF2B5EF4-FFF2-40B4-BE49-F238E27FC236}">
                <a16:creationId xmlns:a16="http://schemas.microsoft.com/office/drawing/2014/main" id="{383D3C40-9D79-6676-2C1A-A707629EB50F}"/>
              </a:ext>
            </a:extLst>
          </p:cNvPr>
          <p:cNvSpPr/>
          <p:nvPr/>
        </p:nvSpPr>
        <p:spPr>
          <a:xfrm>
            <a:off x="5194901" y="5982809"/>
            <a:ext cx="1802198"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Annual income</a:t>
            </a:r>
          </a:p>
        </p:txBody>
      </p:sp>
      <p:sp>
        <p:nvSpPr>
          <p:cNvPr id="28" name="Rectangle 27">
            <a:extLst>
              <a:ext uri="{FF2B5EF4-FFF2-40B4-BE49-F238E27FC236}">
                <a16:creationId xmlns:a16="http://schemas.microsoft.com/office/drawing/2014/main" id="{DE785455-40EC-0BAE-88F4-66E77B4A3D95}"/>
              </a:ext>
            </a:extLst>
          </p:cNvPr>
          <p:cNvSpPr/>
          <p:nvPr/>
        </p:nvSpPr>
        <p:spPr>
          <a:xfrm>
            <a:off x="6438127" y="2085938"/>
            <a:ext cx="2189552" cy="491469"/>
          </a:xfrm>
          <a:prstGeom prst="rect">
            <a:avLst/>
          </a:prstGeom>
          <a:solidFill>
            <a:srgbClr val="C5B4E3">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rial" panose="020B0604020202020204" pitchFamily="34" charset="0"/>
                <a:ea typeface="Meiryo UI" panose="020B0604030504040204" pitchFamily="50" charset="-128"/>
                <a:cs typeface="Arial" panose="020B0604020202020204" pitchFamily="34" charset="0"/>
              </a:rPr>
              <a:t>2</a:t>
            </a: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0%</a:t>
            </a:r>
          </a:p>
        </p:txBody>
      </p:sp>
      <p:sp>
        <p:nvSpPr>
          <p:cNvPr id="29" name="Rectangle 28">
            <a:extLst>
              <a:ext uri="{FF2B5EF4-FFF2-40B4-BE49-F238E27FC236}">
                <a16:creationId xmlns:a16="http://schemas.microsoft.com/office/drawing/2014/main" id="{C1A8284C-FC53-B641-3CD6-0DF7B5FB79A5}"/>
              </a:ext>
            </a:extLst>
          </p:cNvPr>
          <p:cNvSpPr/>
          <p:nvPr/>
        </p:nvSpPr>
        <p:spPr>
          <a:xfrm>
            <a:off x="8627680" y="2085937"/>
            <a:ext cx="1229879" cy="982940"/>
          </a:xfrm>
          <a:prstGeom prst="rect">
            <a:avLst/>
          </a:prstGeom>
          <a:solidFill>
            <a:srgbClr val="C5B4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rPr>
              <a:t>30%</a:t>
            </a:r>
          </a:p>
        </p:txBody>
      </p:sp>
      <p:sp>
        <p:nvSpPr>
          <p:cNvPr id="43" name="Rectangle 42">
            <a:extLst>
              <a:ext uri="{FF2B5EF4-FFF2-40B4-BE49-F238E27FC236}">
                <a16:creationId xmlns:a16="http://schemas.microsoft.com/office/drawing/2014/main" id="{019F9DA2-B395-CE1B-587E-108F0A46F3AA}"/>
              </a:ext>
            </a:extLst>
          </p:cNvPr>
          <p:cNvSpPr/>
          <p:nvPr/>
        </p:nvSpPr>
        <p:spPr>
          <a:xfrm rot="16200000">
            <a:off x="1051173" y="4434498"/>
            <a:ext cx="1017294"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Age</a:t>
            </a:r>
          </a:p>
        </p:txBody>
      </p:sp>
      <p:sp>
        <p:nvSpPr>
          <p:cNvPr id="44" name="Rectangle 43">
            <a:extLst>
              <a:ext uri="{FF2B5EF4-FFF2-40B4-BE49-F238E27FC236}">
                <a16:creationId xmlns:a16="http://schemas.microsoft.com/office/drawing/2014/main" id="{13E63E3E-0E91-5ECE-E59E-56AF2D023DFB}"/>
              </a:ext>
            </a:extLst>
          </p:cNvPr>
          <p:cNvSpPr/>
          <p:nvPr/>
        </p:nvSpPr>
        <p:spPr>
          <a:xfrm>
            <a:off x="2005573" y="5275199"/>
            <a:ext cx="250314"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6</a:t>
            </a:r>
          </a:p>
        </p:txBody>
      </p:sp>
      <p:sp>
        <p:nvSpPr>
          <p:cNvPr id="45" name="Rectangle 44">
            <a:extLst>
              <a:ext uri="{FF2B5EF4-FFF2-40B4-BE49-F238E27FC236}">
                <a16:creationId xmlns:a16="http://schemas.microsoft.com/office/drawing/2014/main" id="{34FAF660-5B7F-E26B-FB82-1FF769C6C355}"/>
              </a:ext>
            </a:extLst>
          </p:cNvPr>
          <p:cNvSpPr/>
          <p:nvPr/>
        </p:nvSpPr>
        <p:spPr>
          <a:xfrm>
            <a:off x="1993058" y="2913349"/>
            <a:ext cx="275345"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70</a:t>
            </a:r>
          </a:p>
        </p:txBody>
      </p:sp>
      <p:sp>
        <p:nvSpPr>
          <p:cNvPr id="46" name="Rectangle 45">
            <a:extLst>
              <a:ext uri="{FF2B5EF4-FFF2-40B4-BE49-F238E27FC236}">
                <a16:creationId xmlns:a16="http://schemas.microsoft.com/office/drawing/2014/main" id="{7D5B5F6E-5913-524F-11D0-C532E6F7727D}"/>
              </a:ext>
            </a:extLst>
          </p:cNvPr>
          <p:cNvSpPr/>
          <p:nvPr/>
        </p:nvSpPr>
        <p:spPr>
          <a:xfrm>
            <a:off x="1993058" y="2429421"/>
            <a:ext cx="275345"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75</a:t>
            </a:r>
          </a:p>
        </p:txBody>
      </p:sp>
      <p:sp>
        <p:nvSpPr>
          <p:cNvPr id="47" name="Rectangle 46">
            <a:extLst>
              <a:ext uri="{FF2B5EF4-FFF2-40B4-BE49-F238E27FC236}">
                <a16:creationId xmlns:a16="http://schemas.microsoft.com/office/drawing/2014/main" id="{F5DC9148-B844-46A1-E8BF-22ED70CE1BF0}"/>
              </a:ext>
            </a:extLst>
          </p:cNvPr>
          <p:cNvSpPr/>
          <p:nvPr/>
        </p:nvSpPr>
        <p:spPr>
          <a:xfrm>
            <a:off x="1993058" y="3431400"/>
            <a:ext cx="275345"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solidFill>
                  <a:schemeClr val="tx1"/>
                </a:solidFill>
                <a:latin typeface="Arial" panose="020B0604020202020204" pitchFamily="34" charset="0"/>
                <a:ea typeface="Meiryo UI" panose="020B0604030504040204" pitchFamily="50" charset="-128"/>
                <a:cs typeface="Arial" panose="020B0604020202020204" pitchFamily="34" charset="0"/>
              </a:rPr>
              <a:t>6</a:t>
            </a: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0</a:t>
            </a:r>
          </a:p>
        </p:txBody>
      </p:sp>
      <p:cxnSp>
        <p:nvCxnSpPr>
          <p:cNvPr id="48" name="Straight Arrow Connector 47">
            <a:extLst>
              <a:ext uri="{FF2B5EF4-FFF2-40B4-BE49-F238E27FC236}">
                <a16:creationId xmlns:a16="http://schemas.microsoft.com/office/drawing/2014/main" id="{13D8AD2E-5644-2926-1963-A27F88D5726B}"/>
              </a:ext>
              <a:ext uri="{C183D7F6-B498-43B3-948B-1728B52AA6E4}">
                <adec:decorative xmlns:adec="http://schemas.microsoft.com/office/drawing/2017/decorative" val="1"/>
              </a:ext>
            </a:extLst>
          </p:cNvPr>
          <p:cNvCxnSpPr/>
          <p:nvPr/>
        </p:nvCxnSpPr>
        <p:spPr>
          <a:xfrm>
            <a:off x="1924050" y="3041532"/>
            <a:ext cx="0" cy="534640"/>
          </a:xfrm>
          <a:prstGeom prst="straightConnector1">
            <a:avLst/>
          </a:prstGeom>
          <a:ln w="19050">
            <a:solidFill>
              <a:schemeClr val="tx1">
                <a:lumMod val="85000"/>
                <a:lumOff val="1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5BD91813-91DE-B6C8-CF89-7291044A3A4C}"/>
              </a:ext>
              <a:ext uri="{C183D7F6-B498-43B3-948B-1728B52AA6E4}">
                <adec:decorative xmlns:adec="http://schemas.microsoft.com/office/drawing/2017/decorative" val="1"/>
              </a:ext>
            </a:extLst>
          </p:cNvPr>
          <p:cNvCxnSpPr>
            <a:cxnSpLocks/>
          </p:cNvCxnSpPr>
          <p:nvPr/>
        </p:nvCxnSpPr>
        <p:spPr>
          <a:xfrm flipV="1">
            <a:off x="2305865" y="2002077"/>
            <a:ext cx="9521" cy="38997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7C2906D3-2AB2-88F3-97C7-A245B3C4E1FB}"/>
              </a:ext>
              <a:ext uri="{C183D7F6-B498-43B3-948B-1728B52AA6E4}">
                <adec:decorative xmlns:adec="http://schemas.microsoft.com/office/drawing/2017/decorative" val="1"/>
              </a:ext>
            </a:extLst>
          </p:cNvPr>
          <p:cNvCxnSpPr>
            <a:cxnSpLocks/>
          </p:cNvCxnSpPr>
          <p:nvPr/>
        </p:nvCxnSpPr>
        <p:spPr>
          <a:xfrm>
            <a:off x="2315390" y="5901792"/>
            <a:ext cx="7638235" cy="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BDC4D4BF-C904-B3B5-71BC-5786201AF08B}"/>
              </a:ext>
            </a:extLst>
          </p:cNvPr>
          <p:cNvSpPr/>
          <p:nvPr/>
        </p:nvSpPr>
        <p:spPr>
          <a:xfrm>
            <a:off x="736239" y="3181899"/>
            <a:ext cx="1130246"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Retirement</a:t>
            </a:r>
          </a:p>
        </p:txBody>
      </p:sp>
    </p:spTree>
    <p:extLst>
      <p:ext uri="{BB962C8B-B14F-4D97-AF65-F5344CB8AC3E}">
        <p14:creationId xmlns:p14="http://schemas.microsoft.com/office/powerpoint/2010/main" val="1463785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C1125-FE67-FB1E-FECC-1BCAA5F8F623}"/>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EC6C949B-6F6D-068D-CDCE-43CC9ABF1121}"/>
              </a:ext>
            </a:extLst>
          </p:cNvPr>
          <p:cNvPicPr>
            <a:picLocks noChangeAspect="1"/>
          </p:cNvPicPr>
          <p:nvPr/>
        </p:nvPicPr>
        <p:blipFill>
          <a:blip r:embed="rId3"/>
          <a:stretch>
            <a:fillRect/>
          </a:stretch>
        </p:blipFill>
        <p:spPr>
          <a:xfrm>
            <a:off x="2356645" y="1090554"/>
            <a:ext cx="1605757" cy="1605757"/>
          </a:xfrm>
          <a:prstGeom prst="rect">
            <a:avLst/>
          </a:prstGeom>
        </p:spPr>
      </p:pic>
      <p:pic>
        <p:nvPicPr>
          <p:cNvPr id="14" name="Picture 13">
            <a:extLst>
              <a:ext uri="{FF2B5EF4-FFF2-40B4-BE49-F238E27FC236}">
                <a16:creationId xmlns:a16="http://schemas.microsoft.com/office/drawing/2014/main" id="{08C6A4AF-7F0F-942F-B95F-56AB09FE02B8}"/>
              </a:ext>
            </a:extLst>
          </p:cNvPr>
          <p:cNvPicPr>
            <a:picLocks noChangeAspect="1"/>
          </p:cNvPicPr>
          <p:nvPr/>
        </p:nvPicPr>
        <p:blipFill>
          <a:blip r:embed="rId4"/>
          <a:stretch>
            <a:fillRect/>
          </a:stretch>
        </p:blipFill>
        <p:spPr>
          <a:xfrm>
            <a:off x="8229596" y="1090554"/>
            <a:ext cx="1605757" cy="1605757"/>
          </a:xfrm>
          <a:prstGeom prst="rect">
            <a:avLst/>
          </a:prstGeom>
        </p:spPr>
      </p:pic>
      <p:pic>
        <p:nvPicPr>
          <p:cNvPr id="16" name="Picture 15">
            <a:extLst>
              <a:ext uri="{FF2B5EF4-FFF2-40B4-BE49-F238E27FC236}">
                <a16:creationId xmlns:a16="http://schemas.microsoft.com/office/drawing/2014/main" id="{4F27581A-33A4-8ADE-3D7C-F93E0E1558B8}"/>
              </a:ext>
            </a:extLst>
          </p:cNvPr>
          <p:cNvPicPr>
            <a:picLocks noChangeAspect="1"/>
          </p:cNvPicPr>
          <p:nvPr/>
        </p:nvPicPr>
        <p:blipFill>
          <a:blip r:embed="rId5"/>
          <a:stretch>
            <a:fillRect/>
          </a:stretch>
        </p:blipFill>
        <p:spPr>
          <a:xfrm>
            <a:off x="5304843" y="4308384"/>
            <a:ext cx="1605757" cy="1605757"/>
          </a:xfrm>
          <a:prstGeom prst="rect">
            <a:avLst/>
          </a:prstGeom>
        </p:spPr>
      </p:pic>
      <p:cxnSp>
        <p:nvCxnSpPr>
          <p:cNvPr id="22" name="Straight Arrow Connector 21">
            <a:extLst>
              <a:ext uri="{FF2B5EF4-FFF2-40B4-BE49-F238E27FC236}">
                <a16:creationId xmlns:a16="http://schemas.microsoft.com/office/drawing/2014/main" id="{AB8FB7C1-E2AB-580C-8B8E-72499899CE0F}"/>
              </a:ext>
            </a:extLst>
          </p:cNvPr>
          <p:cNvCxnSpPr>
            <a:cxnSpLocks/>
          </p:cNvCxnSpPr>
          <p:nvPr/>
        </p:nvCxnSpPr>
        <p:spPr>
          <a:xfrm flipH="1">
            <a:off x="4198948" y="1793629"/>
            <a:ext cx="3791631" cy="0"/>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31681B6-C12D-B5CD-9107-94C271489F07}"/>
              </a:ext>
            </a:extLst>
          </p:cNvPr>
          <p:cNvCxnSpPr>
            <a:cxnSpLocks/>
          </p:cNvCxnSpPr>
          <p:nvPr/>
        </p:nvCxnSpPr>
        <p:spPr>
          <a:xfrm>
            <a:off x="4198948" y="2227383"/>
            <a:ext cx="3791631" cy="0"/>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FC52F754-CAF9-99FE-E715-23385BBEF3BB}"/>
              </a:ext>
            </a:extLst>
          </p:cNvPr>
          <p:cNvSpPr/>
          <p:nvPr/>
        </p:nvSpPr>
        <p:spPr>
          <a:xfrm>
            <a:off x="4163176" y="1425344"/>
            <a:ext cx="3863174"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Medical care/treatment</a:t>
            </a:r>
            <a:r>
              <a:rPr lang="en-US" dirty="0">
                <a:solidFill>
                  <a:schemeClr val="tx1"/>
                </a:solidFill>
                <a:latin typeface="Arial" panose="020B0604020202020204" pitchFamily="34" charset="0"/>
                <a:ea typeface="Meiryo UI" panose="020B0604030504040204" pitchFamily="50" charset="-128"/>
                <a:cs typeface="Arial" panose="020B0604020202020204" pitchFamily="34" charset="0"/>
              </a:rPr>
              <a:t> &amp; Charge</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30" name="Straight Arrow Connector 29">
            <a:extLst>
              <a:ext uri="{FF2B5EF4-FFF2-40B4-BE49-F238E27FC236}">
                <a16:creationId xmlns:a16="http://schemas.microsoft.com/office/drawing/2014/main" id="{2C42F6EB-52F8-60E5-EB3E-80552449FA0A}"/>
              </a:ext>
            </a:extLst>
          </p:cNvPr>
          <p:cNvCxnSpPr>
            <a:cxnSpLocks/>
          </p:cNvCxnSpPr>
          <p:nvPr/>
        </p:nvCxnSpPr>
        <p:spPr>
          <a:xfrm>
            <a:off x="3791712" y="3130064"/>
            <a:ext cx="1389888" cy="1370426"/>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31EF27DE-E16B-FD3F-D13F-B0AD80088CF4}"/>
              </a:ext>
            </a:extLst>
          </p:cNvPr>
          <p:cNvSpPr/>
          <p:nvPr/>
        </p:nvSpPr>
        <p:spPr>
          <a:xfrm>
            <a:off x="2684020" y="2745220"/>
            <a:ext cx="1017294" cy="3379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Patient</a:t>
            </a:r>
          </a:p>
        </p:txBody>
      </p:sp>
      <p:sp>
        <p:nvSpPr>
          <p:cNvPr id="35" name="Rectangle 34">
            <a:extLst>
              <a:ext uri="{FF2B5EF4-FFF2-40B4-BE49-F238E27FC236}">
                <a16:creationId xmlns:a16="http://schemas.microsoft.com/office/drawing/2014/main" id="{FA29FE21-58CC-14BD-E414-7783AEDE9040}"/>
              </a:ext>
            </a:extLst>
          </p:cNvPr>
          <p:cNvSpPr/>
          <p:nvPr/>
        </p:nvSpPr>
        <p:spPr>
          <a:xfrm>
            <a:off x="8131375" y="2792112"/>
            <a:ext cx="1802198" cy="3379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Healthcare Provider</a:t>
            </a:r>
          </a:p>
        </p:txBody>
      </p:sp>
      <p:sp>
        <p:nvSpPr>
          <p:cNvPr id="36" name="Rectangle 35">
            <a:extLst>
              <a:ext uri="{FF2B5EF4-FFF2-40B4-BE49-F238E27FC236}">
                <a16:creationId xmlns:a16="http://schemas.microsoft.com/office/drawing/2014/main" id="{0BF44E81-372A-314D-4082-B8B16804E44A}"/>
              </a:ext>
            </a:extLst>
          </p:cNvPr>
          <p:cNvSpPr/>
          <p:nvPr/>
        </p:nvSpPr>
        <p:spPr>
          <a:xfrm>
            <a:off x="5199336" y="5991357"/>
            <a:ext cx="1802198" cy="3379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Insurer</a:t>
            </a:r>
          </a:p>
        </p:txBody>
      </p:sp>
      <p:cxnSp>
        <p:nvCxnSpPr>
          <p:cNvPr id="39" name="Straight Arrow Connector 38">
            <a:extLst>
              <a:ext uri="{FF2B5EF4-FFF2-40B4-BE49-F238E27FC236}">
                <a16:creationId xmlns:a16="http://schemas.microsoft.com/office/drawing/2014/main" id="{349F1F1F-DD6E-D791-2F5A-E34537613DB6}"/>
              </a:ext>
            </a:extLst>
          </p:cNvPr>
          <p:cNvCxnSpPr>
            <a:cxnSpLocks/>
          </p:cNvCxnSpPr>
          <p:nvPr/>
        </p:nvCxnSpPr>
        <p:spPr>
          <a:xfrm flipH="1">
            <a:off x="7010402" y="3261037"/>
            <a:ext cx="1336429" cy="1239453"/>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0A605388-CD65-C14C-E857-37A5A97BFCFD}"/>
              </a:ext>
            </a:extLst>
          </p:cNvPr>
          <p:cNvSpPr/>
          <p:nvPr/>
        </p:nvSpPr>
        <p:spPr>
          <a:xfrm rot="19022470">
            <a:off x="7129295" y="3583069"/>
            <a:ext cx="924813"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Claim</a:t>
            </a:r>
          </a:p>
        </p:txBody>
      </p:sp>
      <p:cxnSp>
        <p:nvCxnSpPr>
          <p:cNvPr id="45" name="Straight Arrow Connector 44">
            <a:extLst>
              <a:ext uri="{FF2B5EF4-FFF2-40B4-BE49-F238E27FC236}">
                <a16:creationId xmlns:a16="http://schemas.microsoft.com/office/drawing/2014/main" id="{6E5FE67C-650D-CC01-8F48-33B0799A2991}"/>
              </a:ext>
            </a:extLst>
          </p:cNvPr>
          <p:cNvCxnSpPr>
            <a:cxnSpLocks/>
          </p:cNvCxnSpPr>
          <p:nvPr/>
        </p:nvCxnSpPr>
        <p:spPr>
          <a:xfrm flipV="1">
            <a:off x="7192303" y="3408193"/>
            <a:ext cx="1470072" cy="1363398"/>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7F9BCE54-2162-41BF-4BC3-EE919AD17D15}"/>
              </a:ext>
            </a:extLst>
          </p:cNvPr>
          <p:cNvSpPr/>
          <p:nvPr/>
        </p:nvSpPr>
        <p:spPr>
          <a:xfrm rot="19022470">
            <a:off x="7037296" y="4249792"/>
            <a:ext cx="1802198" cy="2308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Claim payment</a:t>
            </a:r>
          </a:p>
        </p:txBody>
      </p:sp>
      <p:sp>
        <p:nvSpPr>
          <p:cNvPr id="47" name="Rectangle 46">
            <a:extLst>
              <a:ext uri="{FF2B5EF4-FFF2-40B4-BE49-F238E27FC236}">
                <a16:creationId xmlns:a16="http://schemas.microsoft.com/office/drawing/2014/main" id="{77572A92-0CF9-F31F-BACC-2B1BE6768F57}"/>
              </a:ext>
            </a:extLst>
          </p:cNvPr>
          <p:cNvSpPr/>
          <p:nvPr/>
        </p:nvSpPr>
        <p:spPr>
          <a:xfrm rot="2655717">
            <a:off x="3837455" y="3448588"/>
            <a:ext cx="1354018"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Premium</a:t>
            </a:r>
          </a:p>
        </p:txBody>
      </p:sp>
      <p:sp>
        <p:nvSpPr>
          <p:cNvPr id="2" name="Rectangle 1">
            <a:extLst>
              <a:ext uri="{FF2B5EF4-FFF2-40B4-BE49-F238E27FC236}">
                <a16:creationId xmlns:a16="http://schemas.microsoft.com/office/drawing/2014/main" id="{D212ACEB-00EC-7AEE-133B-2649944DFA13}"/>
              </a:ext>
            </a:extLst>
          </p:cNvPr>
          <p:cNvSpPr/>
          <p:nvPr/>
        </p:nvSpPr>
        <p:spPr>
          <a:xfrm rot="2702451">
            <a:off x="3444997" y="3433259"/>
            <a:ext cx="2099785" cy="658977"/>
          </a:xfrm>
          <a:prstGeom prst="rect">
            <a:avLst/>
          </a:prstGeom>
          <a:noFill/>
          <a:ln w="57150">
            <a:solidFill>
              <a:srgbClr val="FFC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pic>
        <p:nvPicPr>
          <p:cNvPr id="3" name="Picture 2">
            <a:extLst>
              <a:ext uri="{FF2B5EF4-FFF2-40B4-BE49-F238E27FC236}">
                <a16:creationId xmlns:a16="http://schemas.microsoft.com/office/drawing/2014/main" id="{7C9C14BA-AB9A-BE9D-2EA5-509CCB58215B}"/>
              </a:ext>
            </a:extLst>
          </p:cNvPr>
          <p:cNvPicPr>
            <a:picLocks noChangeAspect="1"/>
          </p:cNvPicPr>
          <p:nvPr/>
        </p:nvPicPr>
        <p:blipFill>
          <a:blip r:embed="rId6"/>
          <a:stretch>
            <a:fillRect/>
          </a:stretch>
        </p:blipFill>
        <p:spPr>
          <a:xfrm>
            <a:off x="1553766" y="4260863"/>
            <a:ext cx="1605757" cy="1605757"/>
          </a:xfrm>
          <a:prstGeom prst="rect">
            <a:avLst/>
          </a:prstGeom>
        </p:spPr>
      </p:pic>
      <p:cxnSp>
        <p:nvCxnSpPr>
          <p:cNvPr id="5" name="Straight Arrow Connector 4">
            <a:extLst>
              <a:ext uri="{FF2B5EF4-FFF2-40B4-BE49-F238E27FC236}">
                <a16:creationId xmlns:a16="http://schemas.microsoft.com/office/drawing/2014/main" id="{6699B2E5-0B7B-E827-F518-96AA9742CFA4}"/>
              </a:ext>
            </a:extLst>
          </p:cNvPr>
          <p:cNvCxnSpPr>
            <a:cxnSpLocks/>
          </p:cNvCxnSpPr>
          <p:nvPr/>
        </p:nvCxnSpPr>
        <p:spPr>
          <a:xfrm>
            <a:off x="3282766" y="5303197"/>
            <a:ext cx="1816768" cy="0"/>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138B2813-38D0-B596-B956-9C0459812D38}"/>
              </a:ext>
            </a:extLst>
          </p:cNvPr>
          <p:cNvSpPr/>
          <p:nvPr/>
        </p:nvSpPr>
        <p:spPr>
          <a:xfrm>
            <a:off x="1358881" y="5991357"/>
            <a:ext cx="1982418" cy="3379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Government</a:t>
            </a:r>
          </a:p>
        </p:txBody>
      </p:sp>
      <p:sp>
        <p:nvSpPr>
          <p:cNvPr id="7" name="Rectangle 6">
            <a:extLst>
              <a:ext uri="{FF2B5EF4-FFF2-40B4-BE49-F238E27FC236}">
                <a16:creationId xmlns:a16="http://schemas.microsoft.com/office/drawing/2014/main" id="{9D17BABF-523A-0051-0FA2-305EB315A43F}"/>
              </a:ext>
            </a:extLst>
          </p:cNvPr>
          <p:cNvSpPr/>
          <p:nvPr/>
        </p:nvSpPr>
        <p:spPr>
          <a:xfrm>
            <a:off x="3449204" y="4979344"/>
            <a:ext cx="1354018" cy="2308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Budget</a:t>
            </a:r>
          </a:p>
        </p:txBody>
      </p:sp>
      <p:sp>
        <p:nvSpPr>
          <p:cNvPr id="4" name="Rectangle 3">
            <a:extLst>
              <a:ext uri="{FF2B5EF4-FFF2-40B4-BE49-F238E27FC236}">
                <a16:creationId xmlns:a16="http://schemas.microsoft.com/office/drawing/2014/main" id="{DA4B4228-5C3D-FCB6-C80B-061417CE7184}"/>
              </a:ext>
            </a:extLst>
          </p:cNvPr>
          <p:cNvSpPr/>
          <p:nvPr/>
        </p:nvSpPr>
        <p:spPr>
          <a:xfrm>
            <a:off x="4895400" y="2306412"/>
            <a:ext cx="2398726" cy="2308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solidFill>
                  <a:schemeClr val="tx1"/>
                </a:solidFill>
                <a:latin typeface="Arial" panose="020B0604020202020204" pitchFamily="34" charset="0"/>
                <a:ea typeface="Meiryo UI" panose="020B0604030504040204" pitchFamily="50" charset="-128"/>
                <a:cs typeface="Arial" panose="020B0604020202020204" pitchFamily="34" charset="0"/>
              </a:rPr>
              <a:t>Out-of-Pocket </a:t>
            </a: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payment</a:t>
            </a:r>
          </a:p>
        </p:txBody>
      </p:sp>
      <p:sp>
        <p:nvSpPr>
          <p:cNvPr id="8" name="Title 7">
            <a:extLst>
              <a:ext uri="{FF2B5EF4-FFF2-40B4-BE49-F238E27FC236}">
                <a16:creationId xmlns:a16="http://schemas.microsoft.com/office/drawing/2014/main" id="{57908010-E37B-22CE-C3C7-5BF920A4C5BD}"/>
              </a:ext>
            </a:extLst>
          </p:cNvPr>
          <p:cNvSpPr>
            <a:spLocks noGrp="1"/>
          </p:cNvSpPr>
          <p:nvPr>
            <p:ph type="title"/>
          </p:nvPr>
        </p:nvSpPr>
        <p:spPr/>
        <p:txBody>
          <a:bodyPr/>
          <a:lstStyle/>
          <a:p>
            <a:r>
              <a:rPr lang="en-US" dirty="0"/>
              <a:t>Japan's healthcare system</a:t>
            </a:r>
          </a:p>
        </p:txBody>
      </p:sp>
    </p:spTree>
    <p:extLst>
      <p:ext uri="{BB962C8B-B14F-4D97-AF65-F5344CB8AC3E}">
        <p14:creationId xmlns:p14="http://schemas.microsoft.com/office/powerpoint/2010/main" val="4181106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86E03-6B82-0A29-4ABB-A77723E3D175}"/>
            </a:ext>
          </a:extLst>
        </p:cNvPr>
        <p:cNvGrpSpPr/>
        <p:nvPr/>
      </p:nvGrpSpPr>
      <p:grpSpPr>
        <a:xfrm>
          <a:off x="0" y="0"/>
          <a:ext cx="0" cy="0"/>
          <a:chOff x="0" y="0"/>
          <a:chExt cx="0" cy="0"/>
        </a:xfrm>
      </p:grpSpPr>
      <p:cxnSp>
        <p:nvCxnSpPr>
          <p:cNvPr id="17" name="Straight Arrow Connector 16">
            <a:extLst>
              <a:ext uri="{FF2B5EF4-FFF2-40B4-BE49-F238E27FC236}">
                <a16:creationId xmlns:a16="http://schemas.microsoft.com/office/drawing/2014/main" id="{FCD0222F-7AA4-9619-4543-C14E0D8A8A82}"/>
              </a:ext>
              <a:ext uri="{C183D7F6-B498-43B3-948B-1728B52AA6E4}">
                <adec:decorative xmlns:adec="http://schemas.microsoft.com/office/drawing/2017/decorative" val="1"/>
              </a:ext>
            </a:extLst>
          </p:cNvPr>
          <p:cNvCxnSpPr>
            <a:cxnSpLocks/>
          </p:cNvCxnSpPr>
          <p:nvPr/>
        </p:nvCxnSpPr>
        <p:spPr>
          <a:xfrm>
            <a:off x="2315390" y="5901792"/>
            <a:ext cx="7638235" cy="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194344F0-97C7-2C70-D837-CA747486F2C1}"/>
              </a:ext>
              <a:ext uri="{C183D7F6-B498-43B3-948B-1728B52AA6E4}">
                <adec:decorative xmlns:adec="http://schemas.microsoft.com/office/drawing/2017/decorative" val="1"/>
              </a:ext>
            </a:extLst>
          </p:cNvPr>
          <p:cNvSpPr/>
          <p:nvPr/>
        </p:nvSpPr>
        <p:spPr>
          <a:xfrm>
            <a:off x="8009394" y="2603046"/>
            <a:ext cx="1866900" cy="329408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a:p>
            <a:pPr algn="ctr"/>
            <a:endParaRPr lang="en-US" sz="24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 name="Title 1">
            <a:extLst>
              <a:ext uri="{FF2B5EF4-FFF2-40B4-BE49-F238E27FC236}">
                <a16:creationId xmlns:a16="http://schemas.microsoft.com/office/drawing/2014/main" id="{441F16C9-52F7-CBAD-1102-97EEBA52F065}"/>
              </a:ext>
            </a:extLst>
          </p:cNvPr>
          <p:cNvSpPr>
            <a:spLocks noGrp="1"/>
          </p:cNvSpPr>
          <p:nvPr>
            <p:ph type="title"/>
          </p:nvPr>
        </p:nvSpPr>
        <p:spPr/>
        <p:txBody>
          <a:bodyPr/>
          <a:lstStyle/>
          <a:p>
            <a:r>
              <a:rPr lang="en-US" noProof="0" dirty="0"/>
              <a:t>Different insurance provider by age and occupation</a:t>
            </a:r>
          </a:p>
        </p:txBody>
      </p:sp>
      <p:sp>
        <p:nvSpPr>
          <p:cNvPr id="4" name="Slide Number Placeholder 3">
            <a:extLst>
              <a:ext uri="{FF2B5EF4-FFF2-40B4-BE49-F238E27FC236}">
                <a16:creationId xmlns:a16="http://schemas.microsoft.com/office/drawing/2014/main" id="{3D82F7AB-5FF5-9BA1-ECCE-4C68A88A0EB3}"/>
              </a:ext>
            </a:extLst>
          </p:cNvPr>
          <p:cNvSpPr>
            <a:spLocks noGrp="1"/>
          </p:cNvSpPr>
          <p:nvPr>
            <p:ph type="sldNum" sz="quarter" idx="4"/>
          </p:nvPr>
        </p:nvSpPr>
        <p:spPr/>
        <p:txBody>
          <a:bodyPr/>
          <a:lstStyle/>
          <a:p>
            <a:fld id="{B5CEABB6-07DC-46E8-9B57-56EC44A396E5}" type="slidenum">
              <a:rPr lang="en-US" noProof="0" smtClean="0"/>
              <a:pPr/>
              <a:t>12</a:t>
            </a:fld>
            <a:endParaRPr lang="en-US" noProof="0" dirty="0"/>
          </a:p>
        </p:txBody>
      </p:sp>
      <p:sp>
        <p:nvSpPr>
          <p:cNvPr id="5" name="Table Placeholder 4">
            <a:extLst>
              <a:ext uri="{FF2B5EF4-FFF2-40B4-BE49-F238E27FC236}">
                <a16:creationId xmlns:a16="http://schemas.microsoft.com/office/drawing/2014/main" id="{A2B7C864-8D68-664B-1AC0-8C75F4F6B9EC}"/>
              </a:ext>
            </a:extLst>
          </p:cNvPr>
          <p:cNvSpPr>
            <a:spLocks noGrp="1"/>
          </p:cNvSpPr>
          <p:nvPr>
            <p:ph type="tbl" sz="quarter" idx="11"/>
          </p:nvPr>
        </p:nvSpPr>
        <p:spPr/>
        <p:txBody>
          <a:bodyPr/>
          <a:lstStyle/>
          <a:p>
            <a:r>
              <a:rPr lang="en-US" noProof="0" dirty="0"/>
              <a:t>To accommodate different work styles and health risks, 3,000+ health insurers serve the population under 5 sub-systems</a:t>
            </a:r>
            <a:r>
              <a:rPr lang="en-US" dirty="0"/>
              <a:t> </a:t>
            </a:r>
            <a:endParaRPr lang="en-US" noProof="0" dirty="0"/>
          </a:p>
        </p:txBody>
      </p:sp>
      <p:grpSp>
        <p:nvGrpSpPr>
          <p:cNvPr id="10" name="Group 9">
            <a:extLst>
              <a:ext uri="{FF2B5EF4-FFF2-40B4-BE49-F238E27FC236}">
                <a16:creationId xmlns:a16="http://schemas.microsoft.com/office/drawing/2014/main" id="{930BF8F9-B7B4-E072-46AE-7E278C2C2CCF}"/>
              </a:ext>
              <a:ext uri="{C183D7F6-B498-43B3-948B-1728B52AA6E4}">
                <adec:decorative xmlns:adec="http://schemas.microsoft.com/office/drawing/2017/decorative" val="1"/>
              </a:ext>
            </a:extLst>
          </p:cNvPr>
          <p:cNvGrpSpPr/>
          <p:nvPr/>
        </p:nvGrpSpPr>
        <p:grpSpPr>
          <a:xfrm>
            <a:off x="467139" y="108959"/>
            <a:ext cx="4197304" cy="307297"/>
            <a:chOff x="562270" y="127168"/>
            <a:chExt cx="4197304" cy="307297"/>
          </a:xfrm>
        </p:grpSpPr>
        <p:sp>
          <p:nvSpPr>
            <p:cNvPr id="11" name="Arrow: Pentagon 10">
              <a:extLst>
                <a:ext uri="{FF2B5EF4-FFF2-40B4-BE49-F238E27FC236}">
                  <a16:creationId xmlns:a16="http://schemas.microsoft.com/office/drawing/2014/main" id="{19C3C7EE-086C-1AFB-6F5B-B6F416E22722}"/>
                </a:ext>
              </a:extLst>
            </p:cNvPr>
            <p:cNvSpPr/>
            <p:nvPr/>
          </p:nvSpPr>
          <p:spPr>
            <a:xfrm>
              <a:off x="3192565"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③AI</a:t>
              </a:r>
            </a:p>
          </p:txBody>
        </p:sp>
        <p:sp>
          <p:nvSpPr>
            <p:cNvPr id="12" name="Arrow: Pentagon 11">
              <a:extLst>
                <a:ext uri="{FF2B5EF4-FFF2-40B4-BE49-F238E27FC236}">
                  <a16:creationId xmlns:a16="http://schemas.microsoft.com/office/drawing/2014/main" id="{BC6BCBE6-B2B9-E842-DD27-404687550119}"/>
                </a:ext>
              </a:extLst>
            </p:cNvPr>
            <p:cNvSpPr/>
            <p:nvPr/>
          </p:nvSpPr>
          <p:spPr>
            <a:xfrm>
              <a:off x="1817136"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②Regulation</a:t>
              </a:r>
            </a:p>
          </p:txBody>
        </p:sp>
        <p:sp>
          <p:nvSpPr>
            <p:cNvPr id="13" name="Arrow: Pentagon 12">
              <a:extLst>
                <a:ext uri="{FF2B5EF4-FFF2-40B4-BE49-F238E27FC236}">
                  <a16:creationId xmlns:a16="http://schemas.microsoft.com/office/drawing/2014/main" id="{A25EF746-BE55-B4DE-5830-1C7AC3197D8C}"/>
                </a:ext>
              </a:extLst>
            </p:cNvPr>
            <p:cNvSpPr/>
            <p:nvPr/>
          </p:nvSpPr>
          <p:spPr>
            <a:xfrm>
              <a:off x="562270" y="127168"/>
              <a:ext cx="1567009" cy="307297"/>
            </a:xfrm>
            <a:prstGeom prst="homePlate">
              <a:avLst/>
            </a:prstGeom>
            <a:solidFill>
              <a:srgbClr val="32006E"/>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①Insurance</a:t>
              </a:r>
            </a:p>
          </p:txBody>
        </p:sp>
      </p:grpSp>
      <p:sp>
        <p:nvSpPr>
          <p:cNvPr id="6" name="TextBox 5">
            <a:extLst>
              <a:ext uri="{FF2B5EF4-FFF2-40B4-BE49-F238E27FC236}">
                <a16:creationId xmlns:a16="http://schemas.microsoft.com/office/drawing/2014/main" id="{0DEAFAE0-C472-F357-9119-D8F00F56EDB6}"/>
              </a:ext>
            </a:extLst>
          </p:cNvPr>
          <p:cNvSpPr txBox="1"/>
          <p:nvPr/>
        </p:nvSpPr>
        <p:spPr>
          <a:xfrm>
            <a:off x="467139" y="6431501"/>
            <a:ext cx="11257722" cy="184666"/>
          </a:xfrm>
          <a:prstGeom prst="rect">
            <a:avLst/>
          </a:prstGeom>
          <a:solidFill>
            <a:schemeClr val="bg1"/>
          </a:solidFill>
        </p:spPr>
        <p:txBody>
          <a:bodyPr wrap="square" lIns="0" tIns="0" rIns="0" bIns="0">
            <a:spAutoFit/>
          </a:bodyPr>
          <a:lstStyle/>
          <a:p>
            <a:r>
              <a:rPr lang="pt-BR" sz="1200" dirty="0">
                <a:latin typeface="Arial" panose="020B0604020202020204" pitchFamily="34" charset="0"/>
                <a:ea typeface="Meiryo UI" panose="020B0604030504040204" pitchFamily="50" charset="-128"/>
                <a:cs typeface="Arial" panose="020B0604020202020204" pitchFamily="34" charset="0"/>
              </a:rPr>
              <a:t>Annual Health, Labour and Welfare Report 2025. Ministry of Health, Labour and Welfare </a:t>
            </a:r>
            <a:r>
              <a:rPr lang="pt-BR" sz="1200" dirty="0">
                <a:latin typeface="Arial" panose="020B0604020202020204" pitchFamily="34" charset="0"/>
                <a:ea typeface="Meiryo UI" panose="020B0604030504040204" pitchFamily="50" charset="-128"/>
                <a:cs typeface="Arial" panose="020B0604020202020204" pitchFamily="34" charset="0"/>
                <a:hlinkClick r:id="rId3"/>
              </a:rPr>
              <a:t>https://www.mhlw.go.jp/wp/hakusyo/kousei/25-2/index_en.html</a:t>
            </a:r>
            <a:endParaRPr lang="pt-BR" sz="1200" dirty="0">
              <a:latin typeface="Arial" panose="020B0604020202020204" pitchFamily="34" charset="0"/>
              <a:ea typeface="Meiryo UI" panose="020B0604030504040204" pitchFamily="50" charset="-128"/>
              <a:cs typeface="Arial" panose="020B0604020202020204" pitchFamily="34" charset="0"/>
            </a:endParaRPr>
          </a:p>
        </p:txBody>
      </p:sp>
      <p:sp>
        <p:nvSpPr>
          <p:cNvPr id="3" name="Rectangle 2">
            <a:extLst>
              <a:ext uri="{FF2B5EF4-FFF2-40B4-BE49-F238E27FC236}">
                <a16:creationId xmlns:a16="http://schemas.microsoft.com/office/drawing/2014/main" id="{C75ACFB1-B78C-05AF-8F1C-B956850098EF}"/>
              </a:ext>
              <a:ext uri="{C183D7F6-B498-43B3-948B-1728B52AA6E4}">
                <adec:decorative xmlns:adec="http://schemas.microsoft.com/office/drawing/2017/decorative" val="1"/>
              </a:ext>
            </a:extLst>
          </p:cNvPr>
          <p:cNvSpPr/>
          <p:nvPr/>
        </p:nvSpPr>
        <p:spPr>
          <a:xfrm>
            <a:off x="2334440" y="3516552"/>
            <a:ext cx="1894659" cy="2384080"/>
          </a:xfrm>
          <a:prstGeom prst="rect">
            <a:avLst/>
          </a:prstGeom>
          <a:solidFill>
            <a:srgbClr val="C5B4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7" name="Rectangle 6">
            <a:extLst>
              <a:ext uri="{FF2B5EF4-FFF2-40B4-BE49-F238E27FC236}">
                <a16:creationId xmlns:a16="http://schemas.microsoft.com/office/drawing/2014/main" id="{C2A2867E-ECAE-48F6-7873-BA3F1A7529AC}"/>
              </a:ext>
              <a:ext uri="{C183D7F6-B498-43B3-948B-1728B52AA6E4}">
                <adec:decorative xmlns:adec="http://schemas.microsoft.com/office/drawing/2017/decorative" val="1"/>
              </a:ext>
            </a:extLst>
          </p:cNvPr>
          <p:cNvSpPr/>
          <p:nvPr/>
        </p:nvSpPr>
        <p:spPr>
          <a:xfrm>
            <a:off x="4229099" y="3165382"/>
            <a:ext cx="1866900" cy="2735249"/>
          </a:xfrm>
          <a:prstGeom prst="rect">
            <a:avLst/>
          </a:prstGeom>
          <a:solidFill>
            <a:srgbClr val="C5B4E3">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a:p>
            <a:pPr algn="ctr"/>
            <a:endParaRPr lang="en-US" sz="24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8" name="Rectangle 7">
            <a:extLst>
              <a:ext uri="{FF2B5EF4-FFF2-40B4-BE49-F238E27FC236}">
                <a16:creationId xmlns:a16="http://schemas.microsoft.com/office/drawing/2014/main" id="{CB3B871D-4B5D-22A0-6CD9-5BDA32A87332}"/>
              </a:ext>
            </a:extLst>
          </p:cNvPr>
          <p:cNvSpPr/>
          <p:nvPr/>
        </p:nvSpPr>
        <p:spPr>
          <a:xfrm>
            <a:off x="2334439" y="2104989"/>
            <a:ext cx="7555647" cy="491469"/>
          </a:xfrm>
          <a:prstGeom prst="rect">
            <a:avLst/>
          </a:prstGeom>
          <a:solidFill>
            <a:srgbClr val="3200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bg1"/>
                </a:solidFill>
                <a:latin typeface="Arial" panose="020B0604020202020204" pitchFamily="34" charset="0"/>
                <a:ea typeface="Meiryo UI" panose="020B0604030504040204" pitchFamily="50" charset="-128"/>
                <a:cs typeface="Arial" panose="020B0604020202020204" pitchFamily="34" charset="0"/>
              </a:rPr>
              <a:t>Healthcare system for </a:t>
            </a:r>
            <a:r>
              <a:rPr lang="ja-JP" altLang="en-US" sz="2000" noProof="0" dirty="0">
                <a:solidFill>
                  <a:schemeClr val="bg1"/>
                </a:solidFill>
                <a:latin typeface="Arial" panose="020B0604020202020204" pitchFamily="34" charset="0"/>
                <a:ea typeface="Meiryo UI" panose="020B0604030504040204" pitchFamily="50" charset="-128"/>
                <a:cs typeface="Arial" panose="020B0604020202020204" pitchFamily="34" charset="0"/>
              </a:rPr>
              <a:t>≧</a:t>
            </a:r>
            <a:r>
              <a:rPr lang="en-US" altLang="ja-JP" sz="2000" noProof="0" dirty="0">
                <a:solidFill>
                  <a:schemeClr val="bg1"/>
                </a:solidFill>
                <a:latin typeface="Arial" panose="020B0604020202020204" pitchFamily="34" charset="0"/>
                <a:ea typeface="Meiryo UI" panose="020B0604030504040204" pitchFamily="50" charset="-128"/>
                <a:cs typeface="Arial" panose="020B0604020202020204" pitchFamily="34" charset="0"/>
              </a:rPr>
              <a:t>75 </a:t>
            </a:r>
            <a:r>
              <a:rPr lang="en-US" altLang="ja-JP" sz="2000" noProof="0" dirty="0" err="1">
                <a:solidFill>
                  <a:schemeClr val="bg1"/>
                </a:solidFill>
                <a:latin typeface="Arial" panose="020B0604020202020204" pitchFamily="34" charset="0"/>
                <a:ea typeface="Meiryo UI" panose="020B0604030504040204" pitchFamily="50" charset="-128"/>
                <a:cs typeface="Arial" panose="020B0604020202020204" pitchFamily="34" charset="0"/>
              </a:rPr>
              <a:t>yo</a:t>
            </a:r>
            <a:endParaRPr lang="en-US" sz="2000" noProof="0" dirty="0">
              <a:solidFill>
                <a:schemeClr val="bg1"/>
              </a:solidFill>
              <a:latin typeface="Arial" panose="020B0604020202020204" pitchFamily="34" charset="0"/>
              <a:ea typeface="Meiryo UI" panose="020B0604030504040204" pitchFamily="50" charset="-128"/>
              <a:cs typeface="Arial" panose="020B0604020202020204" pitchFamily="34" charset="0"/>
            </a:endParaRPr>
          </a:p>
        </p:txBody>
      </p:sp>
      <p:sp>
        <p:nvSpPr>
          <p:cNvPr id="22" name="Rectangle 21">
            <a:extLst>
              <a:ext uri="{FF2B5EF4-FFF2-40B4-BE49-F238E27FC236}">
                <a16:creationId xmlns:a16="http://schemas.microsoft.com/office/drawing/2014/main" id="{F46B0344-08AB-E4CA-7659-C57E55C6D162}"/>
              </a:ext>
            </a:extLst>
          </p:cNvPr>
          <p:cNvSpPr/>
          <p:nvPr/>
        </p:nvSpPr>
        <p:spPr>
          <a:xfrm>
            <a:off x="5194900" y="5964497"/>
            <a:ext cx="1802198"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Occupation</a:t>
            </a:r>
          </a:p>
        </p:txBody>
      </p:sp>
      <p:sp>
        <p:nvSpPr>
          <p:cNvPr id="23" name="Rectangle 22">
            <a:extLst>
              <a:ext uri="{FF2B5EF4-FFF2-40B4-BE49-F238E27FC236}">
                <a16:creationId xmlns:a16="http://schemas.microsoft.com/office/drawing/2014/main" id="{FEC803DA-B414-6DAD-138C-A710F0741066}"/>
              </a:ext>
            </a:extLst>
          </p:cNvPr>
          <p:cNvSpPr/>
          <p:nvPr/>
        </p:nvSpPr>
        <p:spPr>
          <a:xfrm rot="16200000">
            <a:off x="1079748" y="4434498"/>
            <a:ext cx="1017294"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Age</a:t>
            </a:r>
          </a:p>
        </p:txBody>
      </p:sp>
      <p:sp>
        <p:nvSpPr>
          <p:cNvPr id="24" name="Rectangle 23">
            <a:extLst>
              <a:ext uri="{FF2B5EF4-FFF2-40B4-BE49-F238E27FC236}">
                <a16:creationId xmlns:a16="http://schemas.microsoft.com/office/drawing/2014/main" id="{63594BA5-3AF4-053C-9A61-188987C56AD8}"/>
              </a:ext>
            </a:extLst>
          </p:cNvPr>
          <p:cNvSpPr/>
          <p:nvPr/>
        </p:nvSpPr>
        <p:spPr>
          <a:xfrm>
            <a:off x="2019861" y="5275199"/>
            <a:ext cx="250314"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6</a:t>
            </a:r>
          </a:p>
        </p:txBody>
      </p:sp>
      <p:sp>
        <p:nvSpPr>
          <p:cNvPr id="26" name="Rectangle 25">
            <a:extLst>
              <a:ext uri="{FF2B5EF4-FFF2-40B4-BE49-F238E27FC236}">
                <a16:creationId xmlns:a16="http://schemas.microsoft.com/office/drawing/2014/main" id="{CF8935F1-3A22-B89F-0A04-B025C4F31E66}"/>
              </a:ext>
            </a:extLst>
          </p:cNvPr>
          <p:cNvSpPr/>
          <p:nvPr/>
        </p:nvSpPr>
        <p:spPr>
          <a:xfrm>
            <a:off x="2007346" y="2429421"/>
            <a:ext cx="275345"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75</a:t>
            </a:r>
          </a:p>
        </p:txBody>
      </p:sp>
      <p:sp>
        <p:nvSpPr>
          <p:cNvPr id="14" name="Isosceles Triangle 13">
            <a:extLst>
              <a:ext uri="{FF2B5EF4-FFF2-40B4-BE49-F238E27FC236}">
                <a16:creationId xmlns:a16="http://schemas.microsoft.com/office/drawing/2014/main" id="{882F0B4F-4F05-5896-0B36-06432DB009DE}"/>
              </a:ext>
              <a:ext uri="{C183D7F6-B498-43B3-948B-1728B52AA6E4}">
                <adec:decorative xmlns:adec="http://schemas.microsoft.com/office/drawing/2017/decorative" val="1"/>
              </a:ext>
            </a:extLst>
          </p:cNvPr>
          <p:cNvSpPr/>
          <p:nvPr/>
        </p:nvSpPr>
        <p:spPr>
          <a:xfrm flipV="1">
            <a:off x="2343961" y="2603046"/>
            <a:ext cx="7485036" cy="1252560"/>
          </a:xfrm>
          <a:prstGeom prst="triangle">
            <a:avLst>
              <a:gd name="adj" fmla="val 0"/>
            </a:avLst>
          </a:prstGeom>
          <a:solidFill>
            <a:srgbClr val="C5B4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15" name="Straight Arrow Connector 14">
            <a:extLst>
              <a:ext uri="{FF2B5EF4-FFF2-40B4-BE49-F238E27FC236}">
                <a16:creationId xmlns:a16="http://schemas.microsoft.com/office/drawing/2014/main" id="{A4BFFE55-CC41-3E15-D791-BBD976534A92}"/>
              </a:ext>
              <a:ext uri="{C183D7F6-B498-43B3-948B-1728B52AA6E4}">
                <adec:decorative xmlns:adec="http://schemas.microsoft.com/office/drawing/2017/decorative" val="1"/>
              </a:ext>
            </a:extLst>
          </p:cNvPr>
          <p:cNvCxnSpPr>
            <a:cxnSpLocks/>
          </p:cNvCxnSpPr>
          <p:nvPr/>
        </p:nvCxnSpPr>
        <p:spPr>
          <a:xfrm flipV="1">
            <a:off x="2334440" y="2002077"/>
            <a:ext cx="9521" cy="38997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002DA05C-5854-8EB7-6009-251CDB4C1BEA}"/>
              </a:ext>
            </a:extLst>
          </p:cNvPr>
          <p:cNvSpPr/>
          <p:nvPr/>
        </p:nvSpPr>
        <p:spPr>
          <a:xfrm>
            <a:off x="2437670" y="2868441"/>
            <a:ext cx="3640007" cy="29694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National Health Insurance</a:t>
            </a:r>
          </a:p>
        </p:txBody>
      </p:sp>
      <p:sp>
        <p:nvSpPr>
          <p:cNvPr id="18" name="Rectangle 17">
            <a:extLst>
              <a:ext uri="{FF2B5EF4-FFF2-40B4-BE49-F238E27FC236}">
                <a16:creationId xmlns:a16="http://schemas.microsoft.com/office/drawing/2014/main" id="{7937ABF6-0984-9039-744C-C70DC98B0169}"/>
              </a:ext>
            </a:extLst>
          </p:cNvPr>
          <p:cNvSpPr/>
          <p:nvPr/>
        </p:nvSpPr>
        <p:spPr>
          <a:xfrm>
            <a:off x="2384419" y="4595004"/>
            <a:ext cx="1826442" cy="108101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91440" indent="-91440">
              <a:buFont typeface="Arial" panose="020B0604020202020204" pitchFamily="34" charset="0"/>
              <a:buChar char="•"/>
            </a:pPr>
            <a:r>
              <a:rPr lang="en-US" sz="1400" dirty="0">
                <a:solidFill>
                  <a:schemeClr val="tx1"/>
                </a:solidFill>
                <a:latin typeface="Arial" panose="020B0604020202020204" pitchFamily="34" charset="0"/>
                <a:ea typeface="Meiryo UI" panose="020B0604030504040204" pitchFamily="50" charset="-128"/>
                <a:cs typeface="Arial" panose="020B0604020202020204" pitchFamily="34" charset="0"/>
              </a:rPr>
              <a:t>Farmers, self-employed, unemployed</a:t>
            </a:r>
            <a:endParaRPr lang="en-US" sz="14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a:p>
            <a:pPr marL="91440" indent="-91440">
              <a:buFont typeface="Arial" panose="020B0604020202020204" pitchFamily="34" charset="0"/>
              <a:buChar char="•"/>
            </a:pPr>
            <a:r>
              <a:rPr lang="en-US" sz="1400" noProof="0" dirty="0">
                <a:solidFill>
                  <a:schemeClr val="tx1"/>
                </a:solidFill>
                <a:latin typeface="Arial" panose="020B0604020202020204" pitchFamily="34" charset="0"/>
                <a:ea typeface="Meiryo UI" panose="020B0604030504040204" pitchFamily="50" charset="-128"/>
                <a:cs typeface="Arial" panose="020B0604020202020204" pitchFamily="34" charset="0"/>
              </a:rPr>
              <a:t>Run by municipalities</a:t>
            </a:r>
          </a:p>
          <a:p>
            <a:pPr marL="91440" indent="-91440">
              <a:buFont typeface="Arial" panose="020B0604020202020204" pitchFamily="34" charset="0"/>
              <a:buChar char="•"/>
            </a:pPr>
            <a:r>
              <a:rPr lang="en-US" sz="1400" dirty="0">
                <a:solidFill>
                  <a:schemeClr val="tx1"/>
                </a:solidFill>
                <a:latin typeface="Arial" panose="020B0604020202020204" pitchFamily="34" charset="0"/>
                <a:ea typeface="Meiryo UI" panose="020B0604030504040204" pitchFamily="50" charset="-128"/>
                <a:cs typeface="Arial" panose="020B0604020202020204" pitchFamily="34" charset="0"/>
              </a:rPr>
              <a:t>Premium rates depend on income</a:t>
            </a:r>
            <a:endParaRPr lang="en-US" sz="14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0" name="Rectangle 19">
            <a:extLst>
              <a:ext uri="{FF2B5EF4-FFF2-40B4-BE49-F238E27FC236}">
                <a16:creationId xmlns:a16="http://schemas.microsoft.com/office/drawing/2014/main" id="{9854D0A3-E020-B87F-10DB-611DBDA0845B}"/>
              </a:ext>
            </a:extLst>
          </p:cNvPr>
          <p:cNvSpPr/>
          <p:nvPr/>
        </p:nvSpPr>
        <p:spPr>
          <a:xfrm>
            <a:off x="4261531" y="4595004"/>
            <a:ext cx="1820273" cy="108101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91440" indent="-91440">
              <a:buFont typeface="Arial" panose="020B0604020202020204" pitchFamily="34" charset="0"/>
              <a:buChar char="•"/>
            </a:pPr>
            <a:r>
              <a:rPr lang="en-US" sz="1400" noProof="0" dirty="0">
                <a:solidFill>
                  <a:schemeClr val="tx1"/>
                </a:solidFill>
                <a:latin typeface="Arial" panose="020B0604020202020204" pitchFamily="34" charset="0"/>
                <a:ea typeface="Meiryo UI" panose="020B0604030504040204" pitchFamily="50" charset="-128"/>
                <a:cs typeface="Arial" panose="020B0604020202020204" pitchFamily="34" charset="0"/>
              </a:rPr>
              <a:t>Employees for large enterprises</a:t>
            </a:r>
          </a:p>
          <a:p>
            <a:pPr marL="91440" indent="-91440">
              <a:buFont typeface="Arial" panose="020B0604020202020204" pitchFamily="34" charset="0"/>
              <a:buChar char="•"/>
            </a:pPr>
            <a:r>
              <a:rPr lang="en-US" sz="1400" noProof="0" dirty="0">
                <a:solidFill>
                  <a:schemeClr val="tx1"/>
                </a:solidFill>
                <a:latin typeface="Arial" panose="020B0604020202020204" pitchFamily="34" charset="0"/>
                <a:ea typeface="Meiryo UI" panose="020B0604030504040204" pitchFamily="50" charset="-128"/>
                <a:cs typeface="Arial" panose="020B0604020202020204" pitchFamily="34" charset="0"/>
              </a:rPr>
              <a:t>Premium rates: 10% of income (half-covered by employer)</a:t>
            </a:r>
          </a:p>
        </p:txBody>
      </p:sp>
      <p:sp>
        <p:nvSpPr>
          <p:cNvPr id="21" name="Rectangle 20">
            <a:extLst>
              <a:ext uri="{FF2B5EF4-FFF2-40B4-BE49-F238E27FC236}">
                <a16:creationId xmlns:a16="http://schemas.microsoft.com/office/drawing/2014/main" id="{8CD21E1A-4BEE-9A00-3810-FB6F22EE0796}"/>
              </a:ext>
            </a:extLst>
          </p:cNvPr>
          <p:cNvSpPr/>
          <p:nvPr/>
        </p:nvSpPr>
        <p:spPr>
          <a:xfrm>
            <a:off x="4294233" y="3416106"/>
            <a:ext cx="1754869" cy="10614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Health Insurance </a:t>
            </a:r>
            <a:r>
              <a:rPr lang="en-US" altLang="ja-JP" sz="2000" dirty="0">
                <a:solidFill>
                  <a:schemeClr val="tx1"/>
                </a:solidFill>
                <a:latin typeface="Arial" panose="020B0604020202020204" pitchFamily="34" charset="0"/>
                <a:ea typeface="Meiryo UI" panose="020B0604030504040204" pitchFamily="50" charset="-128"/>
                <a:cs typeface="Arial" panose="020B0604020202020204" pitchFamily="34" charset="0"/>
              </a:rPr>
              <a:t>Society</a:t>
            </a:r>
            <a:endPar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0" name="Rectangle 29">
            <a:extLst>
              <a:ext uri="{FF2B5EF4-FFF2-40B4-BE49-F238E27FC236}">
                <a16:creationId xmlns:a16="http://schemas.microsoft.com/office/drawing/2014/main" id="{39545CEB-98F5-4019-BC58-52707A6935CA}"/>
              </a:ext>
            </a:extLst>
          </p:cNvPr>
          <p:cNvSpPr/>
          <p:nvPr/>
        </p:nvSpPr>
        <p:spPr>
          <a:xfrm>
            <a:off x="2007346" y="2913349"/>
            <a:ext cx="275345"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70</a:t>
            </a:r>
          </a:p>
        </p:txBody>
      </p:sp>
      <p:sp>
        <p:nvSpPr>
          <p:cNvPr id="35" name="Rectangle 34">
            <a:extLst>
              <a:ext uri="{FF2B5EF4-FFF2-40B4-BE49-F238E27FC236}">
                <a16:creationId xmlns:a16="http://schemas.microsoft.com/office/drawing/2014/main" id="{7C493C33-912B-B0FF-DDA7-C922994D7D90}"/>
              </a:ext>
            </a:extLst>
          </p:cNvPr>
          <p:cNvSpPr/>
          <p:nvPr/>
        </p:nvSpPr>
        <p:spPr>
          <a:xfrm>
            <a:off x="2007346" y="3431400"/>
            <a:ext cx="275345"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solidFill>
                  <a:schemeClr val="tx1"/>
                </a:solidFill>
                <a:latin typeface="Arial" panose="020B0604020202020204" pitchFamily="34" charset="0"/>
                <a:ea typeface="Meiryo UI" panose="020B0604030504040204" pitchFamily="50" charset="-128"/>
                <a:cs typeface="Arial" panose="020B0604020202020204" pitchFamily="34" charset="0"/>
              </a:rPr>
              <a:t>6</a:t>
            </a: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0</a:t>
            </a:r>
          </a:p>
        </p:txBody>
      </p:sp>
      <p:sp>
        <p:nvSpPr>
          <p:cNvPr id="37" name="Rectangle 36">
            <a:extLst>
              <a:ext uri="{FF2B5EF4-FFF2-40B4-BE49-F238E27FC236}">
                <a16:creationId xmlns:a16="http://schemas.microsoft.com/office/drawing/2014/main" id="{38F3D14D-1A40-A62F-4DEA-E8EB193262B9}"/>
              </a:ext>
            </a:extLst>
          </p:cNvPr>
          <p:cNvSpPr/>
          <p:nvPr/>
        </p:nvSpPr>
        <p:spPr>
          <a:xfrm>
            <a:off x="736239" y="3181899"/>
            <a:ext cx="1130246"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Retirement</a:t>
            </a:r>
          </a:p>
        </p:txBody>
      </p:sp>
      <p:sp>
        <p:nvSpPr>
          <p:cNvPr id="38" name="Rectangle 37">
            <a:extLst>
              <a:ext uri="{FF2B5EF4-FFF2-40B4-BE49-F238E27FC236}">
                <a16:creationId xmlns:a16="http://schemas.microsoft.com/office/drawing/2014/main" id="{2B4CD7CB-7C54-B206-612A-98EC36F4A1C1}"/>
              </a:ext>
              <a:ext uri="{C183D7F6-B498-43B3-948B-1728B52AA6E4}">
                <adec:decorative xmlns:adec="http://schemas.microsoft.com/office/drawing/2017/decorative" val="1"/>
              </a:ext>
            </a:extLst>
          </p:cNvPr>
          <p:cNvSpPr/>
          <p:nvPr/>
        </p:nvSpPr>
        <p:spPr>
          <a:xfrm>
            <a:off x="6114237" y="2785095"/>
            <a:ext cx="1908280" cy="3115536"/>
          </a:xfrm>
          <a:prstGeom prst="rect">
            <a:avLst/>
          </a:prstGeom>
          <a:solidFill>
            <a:srgbClr val="C5B4E3">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a:p>
            <a:pPr algn="ctr"/>
            <a:endParaRPr lang="en-US" sz="24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9" name="Rectangle 38">
            <a:extLst>
              <a:ext uri="{FF2B5EF4-FFF2-40B4-BE49-F238E27FC236}">
                <a16:creationId xmlns:a16="http://schemas.microsoft.com/office/drawing/2014/main" id="{DD0FD974-39FF-150E-5622-DED9C942E253}"/>
              </a:ext>
            </a:extLst>
          </p:cNvPr>
          <p:cNvSpPr/>
          <p:nvPr/>
        </p:nvSpPr>
        <p:spPr>
          <a:xfrm>
            <a:off x="6170751" y="3416106"/>
            <a:ext cx="1754869" cy="10614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Japan Health </a:t>
            </a:r>
            <a:r>
              <a:rPr lang="en-US" altLang="ja-JP" sz="2000" dirty="0">
                <a:solidFill>
                  <a:schemeClr val="tx1"/>
                </a:solidFill>
                <a:latin typeface="Arial" panose="020B0604020202020204" pitchFamily="34" charset="0"/>
                <a:ea typeface="Meiryo UI" panose="020B0604030504040204" pitchFamily="50" charset="-128"/>
                <a:cs typeface="Arial" panose="020B0604020202020204" pitchFamily="34" charset="0"/>
              </a:rPr>
              <a:t>Insurance</a:t>
            </a: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 Association</a:t>
            </a:r>
          </a:p>
        </p:txBody>
      </p:sp>
      <p:sp>
        <p:nvSpPr>
          <p:cNvPr id="40" name="Rectangle 39">
            <a:extLst>
              <a:ext uri="{FF2B5EF4-FFF2-40B4-BE49-F238E27FC236}">
                <a16:creationId xmlns:a16="http://schemas.microsoft.com/office/drawing/2014/main" id="{DE34887C-9239-A262-A755-62EE639940F2}"/>
              </a:ext>
            </a:extLst>
          </p:cNvPr>
          <p:cNvSpPr/>
          <p:nvPr/>
        </p:nvSpPr>
        <p:spPr>
          <a:xfrm>
            <a:off x="6110061" y="4595004"/>
            <a:ext cx="1884869" cy="108101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91440" indent="-91440">
              <a:buFont typeface="Arial" panose="020B0604020202020204" pitchFamily="34" charset="0"/>
              <a:buChar char="•"/>
            </a:pPr>
            <a:r>
              <a:rPr lang="en-US" sz="1400" noProof="0" dirty="0">
                <a:solidFill>
                  <a:schemeClr val="tx1"/>
                </a:solidFill>
                <a:latin typeface="Arial" panose="020B0604020202020204" pitchFamily="34" charset="0"/>
                <a:ea typeface="Meiryo UI" panose="020B0604030504040204" pitchFamily="50" charset="-128"/>
                <a:cs typeface="Arial" panose="020B0604020202020204" pitchFamily="34" charset="0"/>
              </a:rPr>
              <a:t>Employees for small and medium enterprises</a:t>
            </a:r>
          </a:p>
          <a:p>
            <a:pPr marL="91440" indent="-91440">
              <a:buFont typeface="Arial" panose="020B0604020202020204" pitchFamily="34" charset="0"/>
              <a:buChar char="•"/>
            </a:pPr>
            <a:r>
              <a:rPr lang="en-US" sz="1400" noProof="0" dirty="0">
                <a:solidFill>
                  <a:schemeClr val="tx1"/>
                </a:solidFill>
                <a:latin typeface="Arial" panose="020B0604020202020204" pitchFamily="34" charset="0"/>
                <a:ea typeface="Meiryo UI" panose="020B0604030504040204" pitchFamily="50" charset="-128"/>
                <a:cs typeface="Arial" panose="020B0604020202020204" pitchFamily="34" charset="0"/>
              </a:rPr>
              <a:t>Premium rates: varies (half-covered by employer)</a:t>
            </a:r>
          </a:p>
        </p:txBody>
      </p:sp>
      <p:sp>
        <p:nvSpPr>
          <p:cNvPr id="42" name="Rectangle 41">
            <a:extLst>
              <a:ext uri="{FF2B5EF4-FFF2-40B4-BE49-F238E27FC236}">
                <a16:creationId xmlns:a16="http://schemas.microsoft.com/office/drawing/2014/main" id="{30E4D17F-8E50-C53C-1827-762DDC63821D}"/>
              </a:ext>
            </a:extLst>
          </p:cNvPr>
          <p:cNvSpPr/>
          <p:nvPr/>
        </p:nvSpPr>
        <p:spPr>
          <a:xfrm>
            <a:off x="8037651" y="3416106"/>
            <a:ext cx="1754869" cy="10614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Mutual Aid Association</a:t>
            </a:r>
          </a:p>
        </p:txBody>
      </p:sp>
      <p:sp>
        <p:nvSpPr>
          <p:cNvPr id="43" name="Rectangle 42">
            <a:extLst>
              <a:ext uri="{FF2B5EF4-FFF2-40B4-BE49-F238E27FC236}">
                <a16:creationId xmlns:a16="http://schemas.microsoft.com/office/drawing/2014/main" id="{46A9C29D-B849-9013-4169-F2F8875A7742}"/>
              </a:ext>
            </a:extLst>
          </p:cNvPr>
          <p:cNvSpPr/>
          <p:nvPr/>
        </p:nvSpPr>
        <p:spPr>
          <a:xfrm>
            <a:off x="8069814" y="4595004"/>
            <a:ext cx="1820273" cy="108101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marL="91440" indent="-91440">
              <a:buFont typeface="Arial" panose="020B0604020202020204" pitchFamily="34" charset="0"/>
              <a:buChar char="•"/>
            </a:pPr>
            <a:r>
              <a:rPr lang="en-US" sz="1400" noProof="0" dirty="0">
                <a:solidFill>
                  <a:schemeClr val="tx1"/>
                </a:solidFill>
                <a:latin typeface="Arial" panose="020B0604020202020204" pitchFamily="34" charset="0"/>
                <a:ea typeface="Meiryo UI" panose="020B0604030504040204" pitchFamily="50" charset="-128"/>
                <a:cs typeface="Arial" panose="020B0604020202020204" pitchFamily="34" charset="0"/>
              </a:rPr>
              <a:t>Government employees and teachers</a:t>
            </a:r>
          </a:p>
          <a:p>
            <a:pPr marL="91440" indent="-91440">
              <a:buFont typeface="Arial" panose="020B0604020202020204" pitchFamily="34" charset="0"/>
              <a:buChar char="•"/>
            </a:pPr>
            <a:r>
              <a:rPr lang="en-US" sz="1400" noProof="0" dirty="0">
                <a:solidFill>
                  <a:schemeClr val="tx1"/>
                </a:solidFill>
                <a:latin typeface="Arial" panose="020B0604020202020204" pitchFamily="34" charset="0"/>
                <a:ea typeface="Meiryo UI" panose="020B0604030504040204" pitchFamily="50" charset="-128"/>
                <a:cs typeface="Arial" panose="020B0604020202020204" pitchFamily="34" charset="0"/>
              </a:rPr>
              <a:t>Premium rates: 1.6% of income</a:t>
            </a:r>
          </a:p>
        </p:txBody>
      </p:sp>
      <p:cxnSp>
        <p:nvCxnSpPr>
          <p:cNvPr id="44" name="Straight Arrow Connector 43">
            <a:extLst>
              <a:ext uri="{FF2B5EF4-FFF2-40B4-BE49-F238E27FC236}">
                <a16:creationId xmlns:a16="http://schemas.microsoft.com/office/drawing/2014/main" id="{98CCBD5F-27F6-82CC-23F5-953111B1FBB6}"/>
              </a:ext>
              <a:ext uri="{C183D7F6-B498-43B3-948B-1728B52AA6E4}">
                <adec:decorative xmlns:adec="http://schemas.microsoft.com/office/drawing/2017/decorative" val="1"/>
              </a:ext>
            </a:extLst>
          </p:cNvPr>
          <p:cNvCxnSpPr>
            <a:cxnSpLocks/>
          </p:cNvCxnSpPr>
          <p:nvPr/>
        </p:nvCxnSpPr>
        <p:spPr>
          <a:xfrm>
            <a:off x="2315390" y="5901792"/>
            <a:ext cx="7638235" cy="0"/>
          </a:xfrm>
          <a:prstGeom prst="straightConnector1">
            <a:avLst/>
          </a:prstGeom>
          <a:ln w="2857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17B2357-F30E-0593-D262-A93E19478DCE}"/>
              </a:ext>
              <a:ext uri="{C183D7F6-B498-43B3-948B-1728B52AA6E4}">
                <adec:decorative xmlns:adec="http://schemas.microsoft.com/office/drawing/2017/decorative" val="1"/>
              </a:ext>
            </a:extLst>
          </p:cNvPr>
          <p:cNvCxnSpPr/>
          <p:nvPr/>
        </p:nvCxnSpPr>
        <p:spPr>
          <a:xfrm>
            <a:off x="1924050" y="3041532"/>
            <a:ext cx="0" cy="534640"/>
          </a:xfrm>
          <a:prstGeom prst="straightConnector1">
            <a:avLst/>
          </a:prstGeom>
          <a:ln w="19050">
            <a:solidFill>
              <a:schemeClr val="tx1">
                <a:lumMod val="85000"/>
                <a:lumOff val="1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0846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DFBAC-08CC-82AD-BA64-5D831DA260DE}"/>
            </a:ext>
          </a:extLst>
        </p:cNvPr>
        <p:cNvGrpSpPr/>
        <p:nvPr/>
      </p:nvGrpSpPr>
      <p:grpSpPr>
        <a:xfrm>
          <a:off x="0" y="0"/>
          <a:ext cx="0" cy="0"/>
          <a:chOff x="0" y="0"/>
          <a:chExt cx="0" cy="0"/>
        </a:xfrm>
      </p:grpSpPr>
      <p:cxnSp>
        <p:nvCxnSpPr>
          <p:cNvPr id="25" name="Straight Arrow Connector 24">
            <a:extLst>
              <a:ext uri="{FF2B5EF4-FFF2-40B4-BE49-F238E27FC236}">
                <a16:creationId xmlns:a16="http://schemas.microsoft.com/office/drawing/2014/main" id="{E19FADE1-DC46-3213-3DD6-76974D61BFA1}"/>
              </a:ext>
              <a:ext uri="{C183D7F6-B498-43B3-948B-1728B52AA6E4}">
                <adec:decorative xmlns:adec="http://schemas.microsoft.com/office/drawing/2017/decorative" val="1"/>
              </a:ext>
            </a:extLst>
          </p:cNvPr>
          <p:cNvCxnSpPr>
            <a:cxnSpLocks/>
          </p:cNvCxnSpPr>
          <p:nvPr/>
        </p:nvCxnSpPr>
        <p:spPr>
          <a:xfrm>
            <a:off x="2315390" y="5901792"/>
            <a:ext cx="7638235" cy="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ACB0102E-FDBF-A88B-BCF8-575EA4B8A396}"/>
              </a:ext>
              <a:ext uri="{C183D7F6-B498-43B3-948B-1728B52AA6E4}">
                <adec:decorative xmlns:adec="http://schemas.microsoft.com/office/drawing/2017/decorative" val="1"/>
              </a:ext>
            </a:extLst>
          </p:cNvPr>
          <p:cNvSpPr/>
          <p:nvPr/>
        </p:nvSpPr>
        <p:spPr>
          <a:xfrm>
            <a:off x="8009394" y="2606934"/>
            <a:ext cx="1866900" cy="329408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a:p>
            <a:pPr algn="ctr"/>
            <a:endParaRPr lang="en-US" sz="24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 name="Title 1">
            <a:extLst>
              <a:ext uri="{FF2B5EF4-FFF2-40B4-BE49-F238E27FC236}">
                <a16:creationId xmlns:a16="http://schemas.microsoft.com/office/drawing/2014/main" id="{18BEB317-A4D0-1A26-2EC2-5B1367B2AE00}"/>
              </a:ext>
            </a:extLst>
          </p:cNvPr>
          <p:cNvSpPr>
            <a:spLocks noGrp="1"/>
          </p:cNvSpPr>
          <p:nvPr>
            <p:ph type="title"/>
          </p:nvPr>
        </p:nvSpPr>
        <p:spPr/>
        <p:txBody>
          <a:bodyPr/>
          <a:lstStyle/>
          <a:p>
            <a:r>
              <a:rPr lang="en-US" noProof="0" dirty="0"/>
              <a:t>Reallocation of budgets</a:t>
            </a:r>
          </a:p>
        </p:txBody>
      </p:sp>
      <p:sp>
        <p:nvSpPr>
          <p:cNvPr id="4" name="Slide Number Placeholder 3">
            <a:extLst>
              <a:ext uri="{FF2B5EF4-FFF2-40B4-BE49-F238E27FC236}">
                <a16:creationId xmlns:a16="http://schemas.microsoft.com/office/drawing/2014/main" id="{9AEE3069-3441-60D0-EF53-7825BF64D138}"/>
              </a:ext>
            </a:extLst>
          </p:cNvPr>
          <p:cNvSpPr>
            <a:spLocks noGrp="1"/>
          </p:cNvSpPr>
          <p:nvPr>
            <p:ph type="sldNum" sz="quarter" idx="4"/>
          </p:nvPr>
        </p:nvSpPr>
        <p:spPr/>
        <p:txBody>
          <a:bodyPr/>
          <a:lstStyle/>
          <a:p>
            <a:fld id="{B5CEABB6-07DC-46E8-9B57-56EC44A396E5}" type="slidenum">
              <a:rPr lang="en-US" noProof="0" smtClean="0"/>
              <a:pPr/>
              <a:t>13</a:t>
            </a:fld>
            <a:endParaRPr lang="en-US" noProof="0" dirty="0"/>
          </a:p>
        </p:txBody>
      </p:sp>
      <p:sp>
        <p:nvSpPr>
          <p:cNvPr id="5" name="Table Placeholder 4">
            <a:extLst>
              <a:ext uri="{FF2B5EF4-FFF2-40B4-BE49-F238E27FC236}">
                <a16:creationId xmlns:a16="http://schemas.microsoft.com/office/drawing/2014/main" id="{674847B8-B4CF-273E-4EF5-A03E25FE683A}"/>
              </a:ext>
            </a:extLst>
          </p:cNvPr>
          <p:cNvSpPr>
            <a:spLocks noGrp="1"/>
          </p:cNvSpPr>
          <p:nvPr>
            <p:ph type="tbl" sz="quarter" idx="11"/>
          </p:nvPr>
        </p:nvSpPr>
        <p:spPr/>
        <p:txBody>
          <a:bodyPr/>
          <a:lstStyle/>
          <a:p>
            <a:r>
              <a:rPr lang="en-US" noProof="0" dirty="0"/>
              <a:t>To fill the gap between budget and expenditure for vulnerable population, budgets are reallocated from employment-based insurance to the others</a:t>
            </a:r>
            <a:r>
              <a:rPr lang="en-US" dirty="0"/>
              <a:t> </a:t>
            </a:r>
            <a:endParaRPr lang="en-US" noProof="0" dirty="0"/>
          </a:p>
        </p:txBody>
      </p:sp>
      <p:grpSp>
        <p:nvGrpSpPr>
          <p:cNvPr id="10" name="Group 9">
            <a:extLst>
              <a:ext uri="{FF2B5EF4-FFF2-40B4-BE49-F238E27FC236}">
                <a16:creationId xmlns:a16="http://schemas.microsoft.com/office/drawing/2014/main" id="{48F1F7AE-9DCE-2F77-A001-E4C7A7E1D925}"/>
              </a:ext>
              <a:ext uri="{C183D7F6-B498-43B3-948B-1728B52AA6E4}">
                <adec:decorative xmlns:adec="http://schemas.microsoft.com/office/drawing/2017/decorative" val="1"/>
              </a:ext>
            </a:extLst>
          </p:cNvPr>
          <p:cNvGrpSpPr/>
          <p:nvPr/>
        </p:nvGrpSpPr>
        <p:grpSpPr>
          <a:xfrm>
            <a:off x="467139" y="108959"/>
            <a:ext cx="4197304" cy="307297"/>
            <a:chOff x="562270" y="127168"/>
            <a:chExt cx="4197304" cy="307297"/>
          </a:xfrm>
        </p:grpSpPr>
        <p:sp>
          <p:nvSpPr>
            <p:cNvPr id="11" name="Arrow: Pentagon 10">
              <a:extLst>
                <a:ext uri="{FF2B5EF4-FFF2-40B4-BE49-F238E27FC236}">
                  <a16:creationId xmlns:a16="http://schemas.microsoft.com/office/drawing/2014/main" id="{A370F404-0744-77FA-9BFD-31718C7CBF48}"/>
                </a:ext>
              </a:extLst>
            </p:cNvPr>
            <p:cNvSpPr/>
            <p:nvPr/>
          </p:nvSpPr>
          <p:spPr>
            <a:xfrm>
              <a:off x="3192565"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③AI</a:t>
              </a:r>
            </a:p>
          </p:txBody>
        </p:sp>
        <p:sp>
          <p:nvSpPr>
            <p:cNvPr id="12" name="Arrow: Pentagon 11">
              <a:extLst>
                <a:ext uri="{FF2B5EF4-FFF2-40B4-BE49-F238E27FC236}">
                  <a16:creationId xmlns:a16="http://schemas.microsoft.com/office/drawing/2014/main" id="{82F68096-DB13-907A-3602-E96EA80055AB}"/>
                </a:ext>
              </a:extLst>
            </p:cNvPr>
            <p:cNvSpPr/>
            <p:nvPr/>
          </p:nvSpPr>
          <p:spPr>
            <a:xfrm>
              <a:off x="1817136"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②Regulation</a:t>
              </a:r>
            </a:p>
          </p:txBody>
        </p:sp>
        <p:sp>
          <p:nvSpPr>
            <p:cNvPr id="13" name="Arrow: Pentagon 12">
              <a:extLst>
                <a:ext uri="{FF2B5EF4-FFF2-40B4-BE49-F238E27FC236}">
                  <a16:creationId xmlns:a16="http://schemas.microsoft.com/office/drawing/2014/main" id="{2F95665C-D084-D02B-18B7-285C91A405B4}"/>
                </a:ext>
              </a:extLst>
            </p:cNvPr>
            <p:cNvSpPr/>
            <p:nvPr/>
          </p:nvSpPr>
          <p:spPr>
            <a:xfrm>
              <a:off x="562270" y="127168"/>
              <a:ext cx="1567009" cy="307297"/>
            </a:xfrm>
            <a:prstGeom prst="homePlate">
              <a:avLst/>
            </a:prstGeom>
            <a:solidFill>
              <a:srgbClr val="32006E"/>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①Insurance</a:t>
              </a:r>
            </a:p>
          </p:txBody>
        </p:sp>
      </p:grpSp>
      <p:sp>
        <p:nvSpPr>
          <p:cNvPr id="6" name="TextBox 5">
            <a:extLst>
              <a:ext uri="{FF2B5EF4-FFF2-40B4-BE49-F238E27FC236}">
                <a16:creationId xmlns:a16="http://schemas.microsoft.com/office/drawing/2014/main" id="{DDA828FF-2A8A-4280-FA73-F50387D19462}"/>
              </a:ext>
            </a:extLst>
          </p:cNvPr>
          <p:cNvSpPr txBox="1"/>
          <p:nvPr/>
        </p:nvSpPr>
        <p:spPr>
          <a:xfrm>
            <a:off x="467139" y="6431501"/>
            <a:ext cx="11257722" cy="184666"/>
          </a:xfrm>
          <a:prstGeom prst="rect">
            <a:avLst/>
          </a:prstGeom>
          <a:solidFill>
            <a:schemeClr val="bg1"/>
          </a:solidFill>
        </p:spPr>
        <p:txBody>
          <a:bodyPr wrap="square" lIns="0" tIns="0" rIns="0" bIns="0">
            <a:spAutoFit/>
          </a:bodyPr>
          <a:lstStyle/>
          <a:p>
            <a:r>
              <a:rPr lang="pt-BR" sz="1200" dirty="0">
                <a:latin typeface="Arial" panose="020B0604020202020204" pitchFamily="34" charset="0"/>
                <a:ea typeface="Meiryo UI" panose="020B0604030504040204" pitchFamily="50" charset="-128"/>
                <a:cs typeface="Arial" panose="020B0604020202020204" pitchFamily="34" charset="0"/>
              </a:rPr>
              <a:t>Ministry of Health, Labour and Welfare </a:t>
            </a:r>
            <a:r>
              <a:rPr lang="pt-BR" sz="1200" dirty="0">
                <a:latin typeface="Arial" panose="020B0604020202020204" pitchFamily="34" charset="0"/>
                <a:ea typeface="Meiryo UI" panose="020B0604030504040204" pitchFamily="50" charset="-128"/>
                <a:cs typeface="Arial" panose="020B0604020202020204" pitchFamily="34" charset="0"/>
                <a:hlinkClick r:id="rId3"/>
              </a:rPr>
              <a:t>https://www.mhlw.go.jp/stf/seisakunitsuite/bunya/kenkou_iryou/iryouhoken/iryouhoken01/index.html</a:t>
            </a:r>
            <a:endParaRPr lang="pt-BR" sz="1200" dirty="0">
              <a:latin typeface="Arial" panose="020B0604020202020204" pitchFamily="34" charset="0"/>
              <a:ea typeface="Meiryo UI" panose="020B0604030504040204" pitchFamily="50" charset="-128"/>
              <a:cs typeface="Arial" panose="020B0604020202020204" pitchFamily="34" charset="0"/>
            </a:endParaRPr>
          </a:p>
        </p:txBody>
      </p:sp>
      <p:sp>
        <p:nvSpPr>
          <p:cNvPr id="3" name="Rectangle 2">
            <a:extLst>
              <a:ext uri="{FF2B5EF4-FFF2-40B4-BE49-F238E27FC236}">
                <a16:creationId xmlns:a16="http://schemas.microsoft.com/office/drawing/2014/main" id="{09C73E71-F638-CF28-CDA0-459F3D34F491}"/>
              </a:ext>
              <a:ext uri="{C183D7F6-B498-43B3-948B-1728B52AA6E4}">
                <adec:decorative xmlns:adec="http://schemas.microsoft.com/office/drawing/2017/decorative" val="1"/>
              </a:ext>
            </a:extLst>
          </p:cNvPr>
          <p:cNvSpPr/>
          <p:nvPr/>
        </p:nvSpPr>
        <p:spPr>
          <a:xfrm>
            <a:off x="2334440" y="3520440"/>
            <a:ext cx="1894659" cy="2384080"/>
          </a:xfrm>
          <a:prstGeom prst="rect">
            <a:avLst/>
          </a:prstGeom>
          <a:solidFill>
            <a:srgbClr val="C5B4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7" name="Rectangle 6">
            <a:extLst>
              <a:ext uri="{FF2B5EF4-FFF2-40B4-BE49-F238E27FC236}">
                <a16:creationId xmlns:a16="http://schemas.microsoft.com/office/drawing/2014/main" id="{8C481377-4CA0-B595-1047-7233FB33D31B}"/>
              </a:ext>
              <a:ext uri="{C183D7F6-B498-43B3-948B-1728B52AA6E4}">
                <adec:decorative xmlns:adec="http://schemas.microsoft.com/office/drawing/2017/decorative" val="1"/>
              </a:ext>
            </a:extLst>
          </p:cNvPr>
          <p:cNvSpPr/>
          <p:nvPr/>
        </p:nvSpPr>
        <p:spPr>
          <a:xfrm>
            <a:off x="4229099" y="3169270"/>
            <a:ext cx="1866900" cy="2735249"/>
          </a:xfrm>
          <a:prstGeom prst="rect">
            <a:avLst/>
          </a:prstGeom>
          <a:solidFill>
            <a:srgbClr val="C5B4E3">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a:p>
            <a:pPr algn="ctr"/>
            <a:endParaRPr lang="en-US" sz="24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8" name="Rectangle 7">
            <a:extLst>
              <a:ext uri="{FF2B5EF4-FFF2-40B4-BE49-F238E27FC236}">
                <a16:creationId xmlns:a16="http://schemas.microsoft.com/office/drawing/2014/main" id="{A537A6A1-A236-7D07-289D-F928AE954EC1}"/>
              </a:ext>
            </a:extLst>
          </p:cNvPr>
          <p:cNvSpPr/>
          <p:nvPr/>
        </p:nvSpPr>
        <p:spPr>
          <a:xfrm>
            <a:off x="2334439" y="2108877"/>
            <a:ext cx="7555647" cy="491469"/>
          </a:xfrm>
          <a:prstGeom prst="rect">
            <a:avLst/>
          </a:prstGeom>
          <a:solidFill>
            <a:srgbClr val="3200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lumMod val="65000"/>
                    <a:lumOff val="35000"/>
                  </a:schemeClr>
                </a:solidFill>
                <a:latin typeface="Arial" panose="020B0604020202020204" pitchFamily="34" charset="0"/>
                <a:ea typeface="Meiryo UI" panose="020B0604030504040204" pitchFamily="50" charset="-128"/>
                <a:cs typeface="Arial" panose="020B0604020202020204" pitchFamily="34" charset="0"/>
              </a:rPr>
              <a:t>Healthcare system for </a:t>
            </a:r>
            <a:r>
              <a:rPr lang="ja-JP" altLang="en-US" sz="2000" noProof="0" dirty="0">
                <a:solidFill>
                  <a:schemeClr val="tx1">
                    <a:lumMod val="65000"/>
                    <a:lumOff val="35000"/>
                  </a:schemeClr>
                </a:solidFill>
                <a:latin typeface="Arial" panose="020B0604020202020204" pitchFamily="34" charset="0"/>
                <a:ea typeface="Meiryo UI" panose="020B0604030504040204" pitchFamily="50" charset="-128"/>
                <a:cs typeface="Arial" panose="020B0604020202020204" pitchFamily="34" charset="0"/>
              </a:rPr>
              <a:t>≧</a:t>
            </a:r>
            <a:r>
              <a:rPr lang="en-US" altLang="ja-JP" sz="2000" noProof="0" dirty="0">
                <a:solidFill>
                  <a:schemeClr val="tx1">
                    <a:lumMod val="65000"/>
                    <a:lumOff val="35000"/>
                  </a:schemeClr>
                </a:solidFill>
                <a:latin typeface="Arial" panose="020B0604020202020204" pitchFamily="34" charset="0"/>
                <a:ea typeface="Meiryo UI" panose="020B0604030504040204" pitchFamily="50" charset="-128"/>
                <a:cs typeface="Arial" panose="020B0604020202020204" pitchFamily="34" charset="0"/>
              </a:rPr>
              <a:t>75 </a:t>
            </a:r>
            <a:r>
              <a:rPr lang="en-US" altLang="ja-JP" sz="2000" noProof="0" dirty="0" err="1">
                <a:solidFill>
                  <a:schemeClr val="tx1">
                    <a:lumMod val="65000"/>
                    <a:lumOff val="35000"/>
                  </a:schemeClr>
                </a:solidFill>
                <a:latin typeface="Arial" panose="020B0604020202020204" pitchFamily="34" charset="0"/>
                <a:ea typeface="Meiryo UI" panose="020B0604030504040204" pitchFamily="50" charset="-128"/>
                <a:cs typeface="Arial" panose="020B0604020202020204" pitchFamily="34" charset="0"/>
              </a:rPr>
              <a:t>yo</a:t>
            </a:r>
            <a:endParaRPr lang="en-US" sz="2000" noProof="0" dirty="0">
              <a:solidFill>
                <a:schemeClr val="tx1">
                  <a:lumMod val="65000"/>
                  <a:lumOff val="35000"/>
                </a:schemeClr>
              </a:solidFill>
              <a:latin typeface="Arial" panose="020B0604020202020204" pitchFamily="34" charset="0"/>
              <a:ea typeface="Meiryo UI" panose="020B0604030504040204" pitchFamily="50" charset="-128"/>
              <a:cs typeface="Arial" panose="020B0604020202020204" pitchFamily="34" charset="0"/>
            </a:endParaRPr>
          </a:p>
        </p:txBody>
      </p:sp>
      <p:sp>
        <p:nvSpPr>
          <p:cNvPr id="22" name="Rectangle 21">
            <a:extLst>
              <a:ext uri="{FF2B5EF4-FFF2-40B4-BE49-F238E27FC236}">
                <a16:creationId xmlns:a16="http://schemas.microsoft.com/office/drawing/2014/main" id="{D255E032-5673-40EC-BD67-13DEAA163EBC}"/>
              </a:ext>
            </a:extLst>
          </p:cNvPr>
          <p:cNvSpPr/>
          <p:nvPr/>
        </p:nvSpPr>
        <p:spPr>
          <a:xfrm>
            <a:off x="5194900" y="5964497"/>
            <a:ext cx="1802198"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Occupation</a:t>
            </a:r>
          </a:p>
        </p:txBody>
      </p:sp>
      <p:sp>
        <p:nvSpPr>
          <p:cNvPr id="23" name="Rectangle 22">
            <a:extLst>
              <a:ext uri="{FF2B5EF4-FFF2-40B4-BE49-F238E27FC236}">
                <a16:creationId xmlns:a16="http://schemas.microsoft.com/office/drawing/2014/main" id="{D09C866A-3333-BB85-7075-6FB94C18A5E7}"/>
              </a:ext>
            </a:extLst>
          </p:cNvPr>
          <p:cNvSpPr/>
          <p:nvPr/>
        </p:nvSpPr>
        <p:spPr>
          <a:xfrm rot="16200000">
            <a:off x="1079748" y="4438386"/>
            <a:ext cx="1017294"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Age</a:t>
            </a:r>
          </a:p>
        </p:txBody>
      </p:sp>
      <p:sp>
        <p:nvSpPr>
          <p:cNvPr id="14" name="Isosceles Triangle 13">
            <a:extLst>
              <a:ext uri="{FF2B5EF4-FFF2-40B4-BE49-F238E27FC236}">
                <a16:creationId xmlns:a16="http://schemas.microsoft.com/office/drawing/2014/main" id="{B6C97447-FE67-48EB-7DE2-9ECB346DF041}"/>
              </a:ext>
              <a:ext uri="{C183D7F6-B498-43B3-948B-1728B52AA6E4}">
                <adec:decorative xmlns:adec="http://schemas.microsoft.com/office/drawing/2017/decorative" val="1"/>
              </a:ext>
            </a:extLst>
          </p:cNvPr>
          <p:cNvSpPr/>
          <p:nvPr/>
        </p:nvSpPr>
        <p:spPr>
          <a:xfrm flipV="1">
            <a:off x="2343961" y="2606934"/>
            <a:ext cx="7485036" cy="1252560"/>
          </a:xfrm>
          <a:prstGeom prst="triangle">
            <a:avLst>
              <a:gd name="adj" fmla="val 0"/>
            </a:avLst>
          </a:prstGeom>
          <a:solidFill>
            <a:srgbClr val="C5B4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15" name="Straight Arrow Connector 14">
            <a:extLst>
              <a:ext uri="{FF2B5EF4-FFF2-40B4-BE49-F238E27FC236}">
                <a16:creationId xmlns:a16="http://schemas.microsoft.com/office/drawing/2014/main" id="{3FDF35C1-971E-7974-5972-C60DEEFC49BC}"/>
              </a:ext>
              <a:ext uri="{C183D7F6-B498-43B3-948B-1728B52AA6E4}">
                <adec:decorative xmlns:adec="http://schemas.microsoft.com/office/drawing/2017/decorative" val="1"/>
              </a:ext>
            </a:extLst>
          </p:cNvPr>
          <p:cNvCxnSpPr>
            <a:cxnSpLocks/>
          </p:cNvCxnSpPr>
          <p:nvPr/>
        </p:nvCxnSpPr>
        <p:spPr>
          <a:xfrm flipV="1">
            <a:off x="2334440" y="2005965"/>
            <a:ext cx="9521" cy="38997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9DB2B756-3871-03C1-4202-494C159305E3}"/>
              </a:ext>
            </a:extLst>
          </p:cNvPr>
          <p:cNvSpPr/>
          <p:nvPr/>
        </p:nvSpPr>
        <p:spPr>
          <a:xfrm>
            <a:off x="2437670" y="2872329"/>
            <a:ext cx="3640007" cy="29694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noProof="0" dirty="0">
                <a:solidFill>
                  <a:schemeClr val="bg1">
                    <a:lumMod val="75000"/>
                  </a:schemeClr>
                </a:solidFill>
                <a:latin typeface="Arial" panose="020B0604020202020204" pitchFamily="34" charset="0"/>
                <a:ea typeface="Meiryo UI" panose="020B0604030504040204" pitchFamily="50" charset="-128"/>
                <a:cs typeface="Arial" panose="020B0604020202020204" pitchFamily="34" charset="0"/>
              </a:rPr>
              <a:t>National Health Insurance</a:t>
            </a:r>
          </a:p>
        </p:txBody>
      </p:sp>
      <p:sp>
        <p:nvSpPr>
          <p:cNvPr id="21" name="Rectangle 20">
            <a:extLst>
              <a:ext uri="{FF2B5EF4-FFF2-40B4-BE49-F238E27FC236}">
                <a16:creationId xmlns:a16="http://schemas.microsoft.com/office/drawing/2014/main" id="{21B2581B-0AB3-93AD-61F0-6CD5CE48662B}"/>
              </a:ext>
            </a:extLst>
          </p:cNvPr>
          <p:cNvSpPr/>
          <p:nvPr/>
        </p:nvSpPr>
        <p:spPr>
          <a:xfrm>
            <a:off x="4294233" y="3419994"/>
            <a:ext cx="1754869" cy="10614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noProof="0" dirty="0">
                <a:solidFill>
                  <a:schemeClr val="bg1">
                    <a:lumMod val="75000"/>
                  </a:schemeClr>
                </a:solidFill>
                <a:latin typeface="Arial" panose="020B0604020202020204" pitchFamily="34" charset="0"/>
                <a:ea typeface="Meiryo UI" panose="020B0604030504040204" pitchFamily="50" charset="-128"/>
                <a:cs typeface="Arial" panose="020B0604020202020204" pitchFamily="34" charset="0"/>
              </a:rPr>
              <a:t>Health Insurance </a:t>
            </a:r>
            <a:r>
              <a:rPr lang="en-US" altLang="ja-JP" sz="2000" dirty="0">
                <a:solidFill>
                  <a:schemeClr val="bg1">
                    <a:lumMod val="75000"/>
                  </a:schemeClr>
                </a:solidFill>
                <a:latin typeface="Arial" panose="020B0604020202020204" pitchFamily="34" charset="0"/>
                <a:ea typeface="Meiryo UI" panose="020B0604030504040204" pitchFamily="50" charset="-128"/>
                <a:cs typeface="Arial" panose="020B0604020202020204" pitchFamily="34" charset="0"/>
              </a:rPr>
              <a:t>Society</a:t>
            </a:r>
            <a:endParaRPr lang="en-US" sz="2000" noProof="0" dirty="0">
              <a:solidFill>
                <a:schemeClr val="bg1">
                  <a:lumMod val="75000"/>
                </a:schemeClr>
              </a:solidFill>
              <a:latin typeface="Arial" panose="020B0604020202020204" pitchFamily="34" charset="0"/>
              <a:ea typeface="Meiryo UI" panose="020B0604030504040204" pitchFamily="50" charset="-128"/>
              <a:cs typeface="Arial" panose="020B0604020202020204" pitchFamily="34" charset="0"/>
            </a:endParaRPr>
          </a:p>
        </p:txBody>
      </p:sp>
      <p:sp>
        <p:nvSpPr>
          <p:cNvPr id="38" name="Rectangle 37">
            <a:extLst>
              <a:ext uri="{FF2B5EF4-FFF2-40B4-BE49-F238E27FC236}">
                <a16:creationId xmlns:a16="http://schemas.microsoft.com/office/drawing/2014/main" id="{AFF30606-C44D-8858-CBB8-B0FDEE3611E9}"/>
              </a:ext>
              <a:ext uri="{C183D7F6-B498-43B3-948B-1728B52AA6E4}">
                <adec:decorative xmlns:adec="http://schemas.microsoft.com/office/drawing/2017/decorative" val="1"/>
              </a:ext>
            </a:extLst>
          </p:cNvPr>
          <p:cNvSpPr/>
          <p:nvPr/>
        </p:nvSpPr>
        <p:spPr>
          <a:xfrm>
            <a:off x="6114236" y="2788983"/>
            <a:ext cx="1886937" cy="3115536"/>
          </a:xfrm>
          <a:prstGeom prst="rect">
            <a:avLst/>
          </a:prstGeom>
          <a:solidFill>
            <a:srgbClr val="C5B4E3">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a:p>
            <a:pPr algn="ctr"/>
            <a:endParaRPr lang="en-US" sz="24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9" name="Rectangle 38">
            <a:extLst>
              <a:ext uri="{FF2B5EF4-FFF2-40B4-BE49-F238E27FC236}">
                <a16:creationId xmlns:a16="http://schemas.microsoft.com/office/drawing/2014/main" id="{FE87A4D1-E174-7507-96B9-D11EF8172496}"/>
              </a:ext>
            </a:extLst>
          </p:cNvPr>
          <p:cNvSpPr/>
          <p:nvPr/>
        </p:nvSpPr>
        <p:spPr>
          <a:xfrm>
            <a:off x="6170751" y="3419994"/>
            <a:ext cx="1754869" cy="10614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noProof="0" dirty="0">
                <a:solidFill>
                  <a:schemeClr val="bg1">
                    <a:lumMod val="75000"/>
                  </a:schemeClr>
                </a:solidFill>
                <a:latin typeface="Arial" panose="020B0604020202020204" pitchFamily="34" charset="0"/>
                <a:ea typeface="Meiryo UI" panose="020B0604030504040204" pitchFamily="50" charset="-128"/>
                <a:cs typeface="Arial" panose="020B0604020202020204" pitchFamily="34" charset="0"/>
              </a:rPr>
              <a:t>Japan Health </a:t>
            </a:r>
            <a:r>
              <a:rPr lang="en-US" altLang="ja-JP" sz="2000" dirty="0">
                <a:solidFill>
                  <a:schemeClr val="bg1">
                    <a:lumMod val="75000"/>
                  </a:schemeClr>
                </a:solidFill>
                <a:latin typeface="Arial" panose="020B0604020202020204" pitchFamily="34" charset="0"/>
                <a:ea typeface="Meiryo UI" panose="020B0604030504040204" pitchFamily="50" charset="-128"/>
                <a:cs typeface="Arial" panose="020B0604020202020204" pitchFamily="34" charset="0"/>
              </a:rPr>
              <a:t>Insurance</a:t>
            </a:r>
            <a:r>
              <a:rPr lang="en-US" sz="2000" noProof="0" dirty="0">
                <a:solidFill>
                  <a:schemeClr val="bg1">
                    <a:lumMod val="75000"/>
                  </a:schemeClr>
                </a:solidFill>
                <a:latin typeface="Arial" panose="020B0604020202020204" pitchFamily="34" charset="0"/>
                <a:ea typeface="Meiryo UI" panose="020B0604030504040204" pitchFamily="50" charset="-128"/>
                <a:cs typeface="Arial" panose="020B0604020202020204" pitchFamily="34" charset="0"/>
              </a:rPr>
              <a:t> Association</a:t>
            </a:r>
          </a:p>
        </p:txBody>
      </p:sp>
      <p:sp>
        <p:nvSpPr>
          <p:cNvPr id="42" name="Rectangle 41">
            <a:extLst>
              <a:ext uri="{FF2B5EF4-FFF2-40B4-BE49-F238E27FC236}">
                <a16:creationId xmlns:a16="http://schemas.microsoft.com/office/drawing/2014/main" id="{4C0A5B48-41A4-410E-C536-E4D47C3C7A45}"/>
              </a:ext>
            </a:extLst>
          </p:cNvPr>
          <p:cNvSpPr/>
          <p:nvPr/>
        </p:nvSpPr>
        <p:spPr>
          <a:xfrm>
            <a:off x="8037651" y="3419994"/>
            <a:ext cx="1754869" cy="10614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noProof="0" dirty="0">
                <a:solidFill>
                  <a:schemeClr val="bg1">
                    <a:lumMod val="75000"/>
                  </a:schemeClr>
                </a:solidFill>
                <a:latin typeface="Arial" panose="020B0604020202020204" pitchFamily="34" charset="0"/>
                <a:ea typeface="Meiryo UI" panose="020B0604030504040204" pitchFamily="50" charset="-128"/>
                <a:cs typeface="Arial" panose="020B0604020202020204" pitchFamily="34" charset="0"/>
              </a:rPr>
              <a:t>Mutual Aid Association</a:t>
            </a:r>
          </a:p>
        </p:txBody>
      </p:sp>
      <p:sp>
        <p:nvSpPr>
          <p:cNvPr id="9" name="Rectangle 8">
            <a:extLst>
              <a:ext uri="{FF2B5EF4-FFF2-40B4-BE49-F238E27FC236}">
                <a16:creationId xmlns:a16="http://schemas.microsoft.com/office/drawing/2014/main" id="{F88ABC1A-544A-1017-D552-B36312D8A12F}"/>
              </a:ext>
              <a:ext uri="{C183D7F6-B498-43B3-948B-1728B52AA6E4}">
                <adec:decorative xmlns:adec="http://schemas.microsoft.com/office/drawing/2017/decorative" val="1"/>
              </a:ext>
            </a:extLst>
          </p:cNvPr>
          <p:cNvSpPr/>
          <p:nvPr/>
        </p:nvSpPr>
        <p:spPr>
          <a:xfrm>
            <a:off x="4266561" y="2638727"/>
            <a:ext cx="5609733" cy="3204110"/>
          </a:xfrm>
          <a:custGeom>
            <a:avLst/>
            <a:gdLst>
              <a:gd name="csX0" fmla="*/ 0 w 5744941"/>
              <a:gd name="csY0" fmla="*/ 0 h 3449195"/>
              <a:gd name="csX1" fmla="*/ 5744941 w 5744941"/>
              <a:gd name="csY1" fmla="*/ 0 h 3449195"/>
              <a:gd name="csX2" fmla="*/ 5744941 w 5744941"/>
              <a:gd name="csY2" fmla="*/ 3449195 h 3449195"/>
              <a:gd name="csX3" fmla="*/ 0 w 5744941"/>
              <a:gd name="csY3" fmla="*/ 3449195 h 3449195"/>
              <a:gd name="csX4" fmla="*/ 0 w 5744941"/>
              <a:gd name="csY4" fmla="*/ 0 h 3449195"/>
              <a:gd name="csX0" fmla="*/ 9525 w 5744941"/>
              <a:gd name="csY0" fmla="*/ 962025 h 3449195"/>
              <a:gd name="csX1" fmla="*/ 5744941 w 5744941"/>
              <a:gd name="csY1" fmla="*/ 0 h 3449195"/>
              <a:gd name="csX2" fmla="*/ 5744941 w 5744941"/>
              <a:gd name="csY2" fmla="*/ 3449195 h 3449195"/>
              <a:gd name="csX3" fmla="*/ 0 w 5744941"/>
              <a:gd name="csY3" fmla="*/ 3449195 h 3449195"/>
              <a:gd name="csX4" fmla="*/ 9525 w 5744941"/>
              <a:gd name="csY4" fmla="*/ 962025 h 3449195"/>
              <a:gd name="csX0" fmla="*/ 0 w 5744941"/>
              <a:gd name="csY0" fmla="*/ 962025 h 3449195"/>
              <a:gd name="csX1" fmla="*/ 5744941 w 5744941"/>
              <a:gd name="csY1" fmla="*/ 0 h 3449195"/>
              <a:gd name="csX2" fmla="*/ 5744941 w 5744941"/>
              <a:gd name="csY2" fmla="*/ 3449195 h 3449195"/>
              <a:gd name="csX3" fmla="*/ 0 w 5744941"/>
              <a:gd name="csY3" fmla="*/ 3449195 h 3449195"/>
              <a:gd name="csX4" fmla="*/ 0 w 5744941"/>
              <a:gd name="csY4" fmla="*/ 962025 h 3449195"/>
            </a:gdLst>
            <a:ahLst/>
            <a:cxnLst>
              <a:cxn ang="0">
                <a:pos x="csX0" y="csY0"/>
              </a:cxn>
              <a:cxn ang="0">
                <a:pos x="csX1" y="csY1"/>
              </a:cxn>
              <a:cxn ang="0">
                <a:pos x="csX2" y="csY2"/>
              </a:cxn>
              <a:cxn ang="0">
                <a:pos x="csX3" y="csY3"/>
              </a:cxn>
              <a:cxn ang="0">
                <a:pos x="csX4" y="csY4"/>
              </a:cxn>
            </a:cxnLst>
            <a:rect l="l" t="t" r="r" b="b"/>
            <a:pathLst>
              <a:path w="5744941" h="3449195">
                <a:moveTo>
                  <a:pt x="0" y="962025"/>
                </a:moveTo>
                <a:lnTo>
                  <a:pt x="5744941" y="0"/>
                </a:lnTo>
                <a:lnTo>
                  <a:pt x="5744941" y="3449195"/>
                </a:lnTo>
                <a:lnTo>
                  <a:pt x="0" y="3449195"/>
                </a:lnTo>
                <a:lnTo>
                  <a:pt x="0" y="962025"/>
                </a:lnTo>
                <a:close/>
              </a:path>
            </a:pathLst>
          </a:custGeom>
          <a:noFill/>
          <a:ln w="38100">
            <a:solidFill>
              <a:srgbClr val="FFC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17" name="Arrow: Left 16">
            <a:extLst>
              <a:ext uri="{FF2B5EF4-FFF2-40B4-BE49-F238E27FC236}">
                <a16:creationId xmlns:a16="http://schemas.microsoft.com/office/drawing/2014/main" id="{A4D5A991-B1BA-F671-38F2-0F7D84D0682C}"/>
              </a:ext>
            </a:extLst>
          </p:cNvPr>
          <p:cNvSpPr/>
          <p:nvPr/>
        </p:nvSpPr>
        <p:spPr>
          <a:xfrm>
            <a:off x="3289014" y="4343422"/>
            <a:ext cx="1468033" cy="1127943"/>
          </a:xfrm>
          <a:prstGeom prst="leftArrow">
            <a:avLst/>
          </a:prstGeom>
          <a:solidFill>
            <a:schemeClr val="bg1">
              <a:lumMod val="95000"/>
            </a:schemeClr>
          </a:solidFill>
          <a:ln w="28575">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ea typeface="Meiryo UI" panose="020B0604030504040204" pitchFamily="50" charset="-128"/>
                <a:cs typeface="Arial" panose="020B0604020202020204" pitchFamily="34" charset="0"/>
              </a:rPr>
              <a:t>2.7 trillion JPY</a:t>
            </a:r>
          </a:p>
        </p:txBody>
      </p:sp>
      <p:sp>
        <p:nvSpPr>
          <p:cNvPr id="19" name="Rectangle 18">
            <a:extLst>
              <a:ext uri="{FF2B5EF4-FFF2-40B4-BE49-F238E27FC236}">
                <a16:creationId xmlns:a16="http://schemas.microsoft.com/office/drawing/2014/main" id="{4D024701-1257-5646-4C05-F9A6FF7FBFA0}"/>
              </a:ext>
            </a:extLst>
          </p:cNvPr>
          <p:cNvSpPr/>
          <p:nvPr/>
        </p:nvSpPr>
        <p:spPr>
          <a:xfrm>
            <a:off x="5493258" y="4536894"/>
            <a:ext cx="3108857" cy="7561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12.4 trillion JPY</a:t>
            </a:r>
            <a:endPar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8" name="Rectangle 27">
            <a:extLst>
              <a:ext uri="{FF2B5EF4-FFF2-40B4-BE49-F238E27FC236}">
                <a16:creationId xmlns:a16="http://schemas.microsoft.com/office/drawing/2014/main" id="{E9CB7D38-3509-BD60-F61E-528C64F55AF8}"/>
              </a:ext>
            </a:extLst>
          </p:cNvPr>
          <p:cNvSpPr/>
          <p:nvPr/>
        </p:nvSpPr>
        <p:spPr>
          <a:xfrm>
            <a:off x="2114641" y="3565738"/>
            <a:ext cx="2422608" cy="7561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8.7 trillion JPY</a:t>
            </a:r>
            <a:endPar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2" name="Rectangle 31">
            <a:extLst>
              <a:ext uri="{FF2B5EF4-FFF2-40B4-BE49-F238E27FC236}">
                <a16:creationId xmlns:a16="http://schemas.microsoft.com/office/drawing/2014/main" id="{5DD61B8C-A39D-4B8A-790B-C2C82A3EC3E2}"/>
              </a:ext>
            </a:extLst>
          </p:cNvPr>
          <p:cNvSpPr/>
          <p:nvPr/>
        </p:nvSpPr>
        <p:spPr>
          <a:xfrm>
            <a:off x="4521072" y="2107527"/>
            <a:ext cx="3108857" cy="4694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800" b="1" noProof="0" dirty="0">
                <a:solidFill>
                  <a:schemeClr val="bg1"/>
                </a:solidFill>
                <a:latin typeface="Arial" panose="020B0604020202020204" pitchFamily="34" charset="0"/>
                <a:ea typeface="Meiryo UI" panose="020B0604030504040204" pitchFamily="50" charset="-128"/>
                <a:cs typeface="Arial" panose="020B0604020202020204" pitchFamily="34" charset="0"/>
              </a:rPr>
              <a:t>18.4 trillion JPY</a:t>
            </a:r>
          </a:p>
        </p:txBody>
      </p:sp>
      <p:sp>
        <p:nvSpPr>
          <p:cNvPr id="34" name="Arrow: Up 33">
            <a:extLst>
              <a:ext uri="{FF2B5EF4-FFF2-40B4-BE49-F238E27FC236}">
                <a16:creationId xmlns:a16="http://schemas.microsoft.com/office/drawing/2014/main" id="{23260140-1811-5F63-A16F-B2A4B674362C}"/>
              </a:ext>
            </a:extLst>
          </p:cNvPr>
          <p:cNvSpPr/>
          <p:nvPr/>
        </p:nvSpPr>
        <p:spPr>
          <a:xfrm rot="1303732">
            <a:off x="3060870" y="2306316"/>
            <a:ext cx="1660507" cy="1013915"/>
          </a:xfrm>
          <a:prstGeom prst="upArrow">
            <a:avLst/>
          </a:prstGeom>
          <a:ln w="28575">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ea typeface="Meiryo UI" panose="020B0604030504040204" pitchFamily="50" charset="-128"/>
                <a:cs typeface="Arial" panose="020B0604020202020204" pitchFamily="34" charset="0"/>
              </a:rPr>
              <a:t>1.5 trillion JPY</a:t>
            </a:r>
          </a:p>
        </p:txBody>
      </p:sp>
      <p:sp>
        <p:nvSpPr>
          <p:cNvPr id="45" name="Arrow: Up 44">
            <a:extLst>
              <a:ext uri="{FF2B5EF4-FFF2-40B4-BE49-F238E27FC236}">
                <a16:creationId xmlns:a16="http://schemas.microsoft.com/office/drawing/2014/main" id="{589E3ADA-743F-B393-B117-FD3D75E8F136}"/>
              </a:ext>
            </a:extLst>
          </p:cNvPr>
          <p:cNvSpPr/>
          <p:nvPr/>
        </p:nvSpPr>
        <p:spPr>
          <a:xfrm rot="19769562">
            <a:off x="7838995" y="2334378"/>
            <a:ext cx="1660507" cy="1013915"/>
          </a:xfrm>
          <a:prstGeom prst="upArrow">
            <a:avLst/>
          </a:prstGeom>
          <a:ln w="28575">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ea typeface="Meiryo UI" panose="020B0604030504040204" pitchFamily="50" charset="-128"/>
                <a:cs typeface="Arial" panose="020B0604020202020204" pitchFamily="34" charset="0"/>
              </a:rPr>
              <a:t>5.8 trillion JPY</a:t>
            </a:r>
          </a:p>
        </p:txBody>
      </p:sp>
      <p:sp>
        <p:nvSpPr>
          <p:cNvPr id="18" name="Rectangle 17">
            <a:extLst>
              <a:ext uri="{FF2B5EF4-FFF2-40B4-BE49-F238E27FC236}">
                <a16:creationId xmlns:a16="http://schemas.microsoft.com/office/drawing/2014/main" id="{5CC20BE3-5D51-BA60-44C3-275199196884}"/>
              </a:ext>
            </a:extLst>
          </p:cNvPr>
          <p:cNvSpPr/>
          <p:nvPr/>
        </p:nvSpPr>
        <p:spPr>
          <a:xfrm>
            <a:off x="736239" y="3185787"/>
            <a:ext cx="1130246"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Retirement</a:t>
            </a:r>
          </a:p>
        </p:txBody>
      </p:sp>
      <p:cxnSp>
        <p:nvCxnSpPr>
          <p:cNvPr id="44" name="Straight Arrow Connector 43">
            <a:extLst>
              <a:ext uri="{FF2B5EF4-FFF2-40B4-BE49-F238E27FC236}">
                <a16:creationId xmlns:a16="http://schemas.microsoft.com/office/drawing/2014/main" id="{8B744DF8-1E60-BD7C-5A73-20496A4D2610}"/>
              </a:ext>
              <a:ext uri="{C183D7F6-B498-43B3-948B-1728B52AA6E4}">
                <adec:decorative xmlns:adec="http://schemas.microsoft.com/office/drawing/2017/decorative" val="1"/>
              </a:ext>
            </a:extLst>
          </p:cNvPr>
          <p:cNvCxnSpPr>
            <a:cxnSpLocks/>
          </p:cNvCxnSpPr>
          <p:nvPr/>
        </p:nvCxnSpPr>
        <p:spPr>
          <a:xfrm>
            <a:off x="2315390" y="5905680"/>
            <a:ext cx="7638235" cy="0"/>
          </a:xfrm>
          <a:prstGeom prst="straightConnector1">
            <a:avLst/>
          </a:prstGeom>
          <a:ln w="2857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D81D5C5D-43D7-1ACA-544C-C0E859C3873F}"/>
              </a:ext>
            </a:extLst>
          </p:cNvPr>
          <p:cNvSpPr/>
          <p:nvPr/>
        </p:nvSpPr>
        <p:spPr>
          <a:xfrm>
            <a:off x="2019861" y="5275199"/>
            <a:ext cx="250314"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6</a:t>
            </a:r>
          </a:p>
        </p:txBody>
      </p:sp>
      <p:sp>
        <p:nvSpPr>
          <p:cNvPr id="46" name="Rectangle 45">
            <a:extLst>
              <a:ext uri="{FF2B5EF4-FFF2-40B4-BE49-F238E27FC236}">
                <a16:creationId xmlns:a16="http://schemas.microsoft.com/office/drawing/2014/main" id="{1D82CB0E-EA11-677C-A3BE-327E0925476D}"/>
              </a:ext>
            </a:extLst>
          </p:cNvPr>
          <p:cNvSpPr/>
          <p:nvPr/>
        </p:nvSpPr>
        <p:spPr>
          <a:xfrm>
            <a:off x="2007346" y="2429421"/>
            <a:ext cx="275345"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75</a:t>
            </a:r>
          </a:p>
        </p:txBody>
      </p:sp>
      <p:sp>
        <p:nvSpPr>
          <p:cNvPr id="47" name="Rectangle 46">
            <a:extLst>
              <a:ext uri="{FF2B5EF4-FFF2-40B4-BE49-F238E27FC236}">
                <a16:creationId xmlns:a16="http://schemas.microsoft.com/office/drawing/2014/main" id="{2E9E2E58-3E25-6A5F-3F4F-BBBBE4A0AA89}"/>
              </a:ext>
            </a:extLst>
          </p:cNvPr>
          <p:cNvSpPr/>
          <p:nvPr/>
        </p:nvSpPr>
        <p:spPr>
          <a:xfrm>
            <a:off x="2007346" y="2913349"/>
            <a:ext cx="275345"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70</a:t>
            </a:r>
          </a:p>
        </p:txBody>
      </p:sp>
      <p:sp>
        <p:nvSpPr>
          <p:cNvPr id="48" name="Rectangle 47">
            <a:extLst>
              <a:ext uri="{FF2B5EF4-FFF2-40B4-BE49-F238E27FC236}">
                <a16:creationId xmlns:a16="http://schemas.microsoft.com/office/drawing/2014/main" id="{5BD760D6-DAE0-CA6B-5537-7AC80EF541AB}"/>
              </a:ext>
            </a:extLst>
          </p:cNvPr>
          <p:cNvSpPr/>
          <p:nvPr/>
        </p:nvSpPr>
        <p:spPr>
          <a:xfrm>
            <a:off x="2007346" y="3431400"/>
            <a:ext cx="275345"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solidFill>
                  <a:schemeClr val="tx1"/>
                </a:solidFill>
                <a:latin typeface="Arial" panose="020B0604020202020204" pitchFamily="34" charset="0"/>
                <a:ea typeface="Meiryo UI" panose="020B0604030504040204" pitchFamily="50" charset="-128"/>
                <a:cs typeface="Arial" panose="020B0604020202020204" pitchFamily="34" charset="0"/>
              </a:rPr>
              <a:t>6</a:t>
            </a: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0</a:t>
            </a:r>
          </a:p>
        </p:txBody>
      </p:sp>
      <p:cxnSp>
        <p:nvCxnSpPr>
          <p:cNvPr id="49" name="Straight Arrow Connector 48">
            <a:extLst>
              <a:ext uri="{FF2B5EF4-FFF2-40B4-BE49-F238E27FC236}">
                <a16:creationId xmlns:a16="http://schemas.microsoft.com/office/drawing/2014/main" id="{B39C6A11-9B37-B29C-CBE7-E11B6D60BDF1}"/>
              </a:ext>
              <a:ext uri="{C183D7F6-B498-43B3-948B-1728B52AA6E4}">
                <adec:decorative xmlns:adec="http://schemas.microsoft.com/office/drawing/2017/decorative" val="1"/>
              </a:ext>
            </a:extLst>
          </p:cNvPr>
          <p:cNvCxnSpPr/>
          <p:nvPr/>
        </p:nvCxnSpPr>
        <p:spPr>
          <a:xfrm>
            <a:off x="1924050" y="3041532"/>
            <a:ext cx="0" cy="534640"/>
          </a:xfrm>
          <a:prstGeom prst="straightConnector1">
            <a:avLst/>
          </a:prstGeom>
          <a:ln w="19050">
            <a:solidFill>
              <a:schemeClr val="tx1">
                <a:lumMod val="85000"/>
                <a:lumOff val="1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1016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2DD70-9A5C-6315-65A9-007C442694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39D680-F7D1-1ECB-9E0C-80C56920D7B5}"/>
              </a:ext>
            </a:extLst>
          </p:cNvPr>
          <p:cNvSpPr>
            <a:spLocks noGrp="1"/>
          </p:cNvSpPr>
          <p:nvPr>
            <p:ph type="title"/>
          </p:nvPr>
        </p:nvSpPr>
        <p:spPr>
          <a:xfrm>
            <a:off x="467139" y="589724"/>
            <a:ext cx="11221278" cy="362776"/>
          </a:xfrm>
        </p:spPr>
        <p:txBody>
          <a:bodyPr/>
          <a:lstStyle/>
          <a:p>
            <a:r>
              <a:rPr lang="en-US" noProof="0" dirty="0"/>
              <a:t>Agenda</a:t>
            </a:r>
          </a:p>
        </p:txBody>
      </p:sp>
      <p:sp>
        <p:nvSpPr>
          <p:cNvPr id="4" name="Slide Number Placeholder 3">
            <a:extLst>
              <a:ext uri="{FF2B5EF4-FFF2-40B4-BE49-F238E27FC236}">
                <a16:creationId xmlns:a16="http://schemas.microsoft.com/office/drawing/2014/main" id="{0A4EA1E3-6574-A566-2680-7394916B20C2}"/>
              </a:ext>
            </a:extLst>
          </p:cNvPr>
          <p:cNvSpPr>
            <a:spLocks noGrp="1"/>
          </p:cNvSpPr>
          <p:nvPr>
            <p:ph type="sldNum" sz="quarter" idx="4"/>
          </p:nvPr>
        </p:nvSpPr>
        <p:spPr/>
        <p:txBody>
          <a:bodyPr/>
          <a:lstStyle/>
          <a:p>
            <a:fld id="{B5CEABB6-07DC-46E8-9B57-56EC44A396E5}" type="slidenum">
              <a:rPr lang="en-US" noProof="0" smtClean="0"/>
              <a:pPr/>
              <a:t>14</a:t>
            </a:fld>
            <a:endParaRPr lang="en-US" noProof="0" dirty="0"/>
          </a:p>
        </p:txBody>
      </p:sp>
      <p:sp>
        <p:nvSpPr>
          <p:cNvPr id="6" name="Rectangle 5">
            <a:extLst>
              <a:ext uri="{FF2B5EF4-FFF2-40B4-BE49-F238E27FC236}">
                <a16:creationId xmlns:a16="http://schemas.microsoft.com/office/drawing/2014/main" id="{0ED30BBE-39C5-0C87-3DCD-DBC86BD7267D}"/>
              </a:ext>
            </a:extLst>
          </p:cNvPr>
          <p:cNvSpPr/>
          <p:nvPr/>
        </p:nvSpPr>
        <p:spPr>
          <a:xfrm>
            <a:off x="467139" y="2064970"/>
            <a:ext cx="11221278" cy="735496"/>
          </a:xfrm>
          <a:prstGeom prst="rect">
            <a:avLst/>
          </a:prstGeom>
          <a:solidFill>
            <a:srgbClr val="C5B4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Meiryo UI" panose="020B0604030504040204" pitchFamily="50" charset="-128"/>
                <a:cs typeface="Arial" panose="020B0604020202020204" pitchFamily="34" charset="0"/>
              </a:rPr>
              <a:t>1</a:t>
            </a:r>
            <a:r>
              <a:rPr lang="en-US" sz="2400" b="1" noProof="0" dirty="0">
                <a:latin typeface="Arial" panose="020B0604020202020204" pitchFamily="34" charset="0"/>
                <a:ea typeface="Meiryo UI" panose="020B0604030504040204" pitchFamily="50" charset="-128"/>
                <a:cs typeface="Arial" panose="020B0604020202020204" pitchFamily="34" charset="0"/>
              </a:rPr>
              <a:t>. Overview of Japan’s Public Health Insurance System </a:t>
            </a:r>
          </a:p>
        </p:txBody>
      </p:sp>
      <p:sp>
        <p:nvSpPr>
          <p:cNvPr id="7" name="Rectangle 6">
            <a:extLst>
              <a:ext uri="{FF2B5EF4-FFF2-40B4-BE49-F238E27FC236}">
                <a16:creationId xmlns:a16="http://schemas.microsoft.com/office/drawing/2014/main" id="{825E0B60-3917-199D-34A7-102995909DFC}"/>
              </a:ext>
            </a:extLst>
          </p:cNvPr>
          <p:cNvSpPr/>
          <p:nvPr/>
        </p:nvSpPr>
        <p:spPr>
          <a:xfrm>
            <a:off x="467139" y="3506988"/>
            <a:ext cx="11221278" cy="735496"/>
          </a:xfrm>
          <a:prstGeom prst="rect">
            <a:avLst/>
          </a:prstGeom>
          <a:solidFill>
            <a:srgbClr val="3200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Meiryo UI" panose="020B0604030504040204" pitchFamily="50" charset="-128"/>
                <a:cs typeface="Arial" panose="020B0604020202020204" pitchFamily="34" charset="0"/>
              </a:rPr>
              <a:t>2</a:t>
            </a:r>
            <a:r>
              <a:rPr lang="en-US" sz="2400" b="1" noProof="0" dirty="0">
                <a:latin typeface="Arial" panose="020B0604020202020204" pitchFamily="34" charset="0"/>
                <a:ea typeface="Meiryo UI" panose="020B0604030504040204" pitchFamily="50" charset="-128"/>
                <a:cs typeface="Arial" panose="020B0604020202020204" pitchFamily="34" charset="0"/>
              </a:rPr>
              <a:t>. Medical Regulatory Approval and Reimbursement </a:t>
            </a:r>
          </a:p>
        </p:txBody>
      </p:sp>
      <p:sp>
        <p:nvSpPr>
          <p:cNvPr id="8" name="Rectangle 7">
            <a:extLst>
              <a:ext uri="{FF2B5EF4-FFF2-40B4-BE49-F238E27FC236}">
                <a16:creationId xmlns:a16="http://schemas.microsoft.com/office/drawing/2014/main" id="{7FB91492-65FC-B017-F260-8C157341BF37}"/>
              </a:ext>
            </a:extLst>
          </p:cNvPr>
          <p:cNvSpPr/>
          <p:nvPr/>
        </p:nvSpPr>
        <p:spPr>
          <a:xfrm>
            <a:off x="467139" y="4949006"/>
            <a:ext cx="11221278" cy="735496"/>
          </a:xfrm>
          <a:prstGeom prst="rect">
            <a:avLst/>
          </a:prstGeom>
          <a:solidFill>
            <a:srgbClr val="C5B4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Meiryo UI" panose="020B0604030504040204" pitchFamily="50" charset="-128"/>
                <a:cs typeface="Arial" panose="020B0604020202020204" pitchFamily="34" charset="0"/>
              </a:rPr>
              <a:t>3</a:t>
            </a:r>
            <a:r>
              <a:rPr lang="en-US" sz="2400" b="1" noProof="0" dirty="0">
                <a:latin typeface="Arial" panose="020B0604020202020204" pitchFamily="34" charset="0"/>
                <a:ea typeface="Meiryo UI" panose="020B0604030504040204" pitchFamily="50" charset="-128"/>
                <a:cs typeface="Arial" panose="020B0604020202020204" pitchFamily="34" charset="0"/>
              </a:rPr>
              <a:t>. Approval and Reimbursement for AI Medical Devices</a:t>
            </a:r>
          </a:p>
        </p:txBody>
      </p:sp>
    </p:spTree>
    <p:extLst>
      <p:ext uri="{BB962C8B-B14F-4D97-AF65-F5344CB8AC3E}">
        <p14:creationId xmlns:p14="http://schemas.microsoft.com/office/powerpoint/2010/main" val="82759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66E76-90EF-9EDB-8F7D-0FB0B0A4E0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3A43F2-501C-3DA0-86F7-70161516973E}"/>
              </a:ext>
            </a:extLst>
          </p:cNvPr>
          <p:cNvSpPr>
            <a:spLocks noGrp="1"/>
          </p:cNvSpPr>
          <p:nvPr>
            <p:ph type="title"/>
          </p:nvPr>
        </p:nvSpPr>
        <p:spPr/>
        <p:txBody>
          <a:bodyPr/>
          <a:lstStyle/>
          <a:p>
            <a:r>
              <a:rPr lang="en-US" noProof="0" dirty="0"/>
              <a:t>Nationwide standardized points</a:t>
            </a:r>
          </a:p>
        </p:txBody>
      </p:sp>
      <p:sp>
        <p:nvSpPr>
          <p:cNvPr id="4" name="Slide Number Placeholder 3">
            <a:extLst>
              <a:ext uri="{FF2B5EF4-FFF2-40B4-BE49-F238E27FC236}">
                <a16:creationId xmlns:a16="http://schemas.microsoft.com/office/drawing/2014/main" id="{AB7751DD-A447-8E9C-6828-2DCA9E0DB090}"/>
              </a:ext>
            </a:extLst>
          </p:cNvPr>
          <p:cNvSpPr>
            <a:spLocks noGrp="1"/>
          </p:cNvSpPr>
          <p:nvPr>
            <p:ph type="sldNum" sz="quarter" idx="4"/>
          </p:nvPr>
        </p:nvSpPr>
        <p:spPr/>
        <p:txBody>
          <a:bodyPr/>
          <a:lstStyle/>
          <a:p>
            <a:fld id="{B5CEABB6-07DC-46E8-9B57-56EC44A396E5}" type="slidenum">
              <a:rPr lang="en-US" noProof="0" smtClean="0"/>
              <a:pPr/>
              <a:t>15</a:t>
            </a:fld>
            <a:endParaRPr lang="en-US" noProof="0" dirty="0"/>
          </a:p>
        </p:txBody>
      </p:sp>
      <p:sp>
        <p:nvSpPr>
          <p:cNvPr id="5" name="Table Placeholder 4">
            <a:extLst>
              <a:ext uri="{FF2B5EF4-FFF2-40B4-BE49-F238E27FC236}">
                <a16:creationId xmlns:a16="http://schemas.microsoft.com/office/drawing/2014/main" id="{BADD70F3-5915-A913-2310-F5690C1E9F26}"/>
              </a:ext>
            </a:extLst>
          </p:cNvPr>
          <p:cNvSpPr>
            <a:spLocks noGrp="1"/>
          </p:cNvSpPr>
          <p:nvPr>
            <p:ph type="tbl" sz="quarter" idx="11"/>
          </p:nvPr>
        </p:nvSpPr>
        <p:spPr/>
        <p:txBody>
          <a:bodyPr/>
          <a:lstStyle/>
          <a:p>
            <a:r>
              <a:rPr lang="en-US" noProof="0" dirty="0"/>
              <a:t>Medical services covered by public health insurance are charged by points, determined by fee schedules</a:t>
            </a:r>
          </a:p>
        </p:txBody>
      </p:sp>
      <p:grpSp>
        <p:nvGrpSpPr>
          <p:cNvPr id="10" name="Group 9">
            <a:extLst>
              <a:ext uri="{FF2B5EF4-FFF2-40B4-BE49-F238E27FC236}">
                <a16:creationId xmlns:a16="http://schemas.microsoft.com/office/drawing/2014/main" id="{A0E155FC-FA13-72C1-EC4A-EDD4A1399898}"/>
              </a:ext>
            </a:extLst>
          </p:cNvPr>
          <p:cNvGrpSpPr/>
          <p:nvPr/>
        </p:nvGrpSpPr>
        <p:grpSpPr>
          <a:xfrm>
            <a:off x="467139" y="108959"/>
            <a:ext cx="4197304" cy="307297"/>
            <a:chOff x="562270" y="127168"/>
            <a:chExt cx="4197304" cy="307297"/>
          </a:xfrm>
        </p:grpSpPr>
        <p:sp>
          <p:nvSpPr>
            <p:cNvPr id="11" name="Arrow: Pentagon 10">
              <a:extLst>
                <a:ext uri="{FF2B5EF4-FFF2-40B4-BE49-F238E27FC236}">
                  <a16:creationId xmlns:a16="http://schemas.microsoft.com/office/drawing/2014/main" id="{1503B08C-C53C-F145-FBC3-64980D81CD12}"/>
                </a:ext>
              </a:extLst>
            </p:cNvPr>
            <p:cNvSpPr/>
            <p:nvPr/>
          </p:nvSpPr>
          <p:spPr>
            <a:xfrm>
              <a:off x="3192565"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③AI</a:t>
              </a:r>
            </a:p>
          </p:txBody>
        </p:sp>
        <p:sp>
          <p:nvSpPr>
            <p:cNvPr id="12" name="Arrow: Pentagon 11">
              <a:extLst>
                <a:ext uri="{FF2B5EF4-FFF2-40B4-BE49-F238E27FC236}">
                  <a16:creationId xmlns:a16="http://schemas.microsoft.com/office/drawing/2014/main" id="{F87B776A-8E0B-3B06-B25E-D46B2898CA05}"/>
                </a:ext>
              </a:extLst>
            </p:cNvPr>
            <p:cNvSpPr/>
            <p:nvPr/>
          </p:nvSpPr>
          <p:spPr>
            <a:xfrm>
              <a:off x="1817136" y="127168"/>
              <a:ext cx="1567009" cy="307297"/>
            </a:xfrm>
            <a:prstGeom prst="homePlate">
              <a:avLst/>
            </a:prstGeom>
            <a:solidFill>
              <a:srgbClr val="32006E"/>
            </a:solidFill>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②Regulation</a:t>
              </a:r>
            </a:p>
          </p:txBody>
        </p:sp>
        <p:sp>
          <p:nvSpPr>
            <p:cNvPr id="13" name="Arrow: Pentagon 12">
              <a:extLst>
                <a:ext uri="{FF2B5EF4-FFF2-40B4-BE49-F238E27FC236}">
                  <a16:creationId xmlns:a16="http://schemas.microsoft.com/office/drawing/2014/main" id="{38CE81FF-DFB2-FC57-B941-184DC6FC3339}"/>
                </a:ext>
              </a:extLst>
            </p:cNvPr>
            <p:cNvSpPr/>
            <p:nvPr/>
          </p:nvSpPr>
          <p:spPr>
            <a:xfrm>
              <a:off x="562270"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①Insurance</a:t>
              </a:r>
            </a:p>
          </p:txBody>
        </p:sp>
      </p:grpSp>
      <p:sp>
        <p:nvSpPr>
          <p:cNvPr id="6" name="TextBox 5">
            <a:extLst>
              <a:ext uri="{FF2B5EF4-FFF2-40B4-BE49-F238E27FC236}">
                <a16:creationId xmlns:a16="http://schemas.microsoft.com/office/drawing/2014/main" id="{2B078A14-5880-360B-2424-8245FC516F5C}"/>
              </a:ext>
            </a:extLst>
          </p:cNvPr>
          <p:cNvSpPr txBox="1"/>
          <p:nvPr/>
        </p:nvSpPr>
        <p:spPr>
          <a:xfrm>
            <a:off x="467139" y="6431501"/>
            <a:ext cx="11257722" cy="184666"/>
          </a:xfrm>
          <a:prstGeom prst="rect">
            <a:avLst/>
          </a:prstGeom>
          <a:solidFill>
            <a:schemeClr val="bg1"/>
          </a:solidFill>
        </p:spPr>
        <p:txBody>
          <a:bodyPr wrap="square" lIns="0" tIns="0" rIns="0" bIns="0">
            <a:spAutoFit/>
          </a:bodyPr>
          <a:lstStyle/>
          <a:p>
            <a:r>
              <a:rPr lang="pt-BR" sz="1200" dirty="0">
                <a:latin typeface="Arial" panose="020B0604020202020204" pitchFamily="34" charset="0"/>
                <a:ea typeface="Meiryo UI" panose="020B0604030504040204" pitchFamily="50" charset="-128"/>
                <a:cs typeface="Arial" panose="020B0604020202020204" pitchFamily="34" charset="0"/>
              </a:rPr>
              <a:t>Ministry of Health, Labour and Welfare </a:t>
            </a:r>
            <a:r>
              <a:rPr lang="pt-BR" sz="1200" dirty="0">
                <a:latin typeface="Arial" panose="020B0604020202020204" pitchFamily="34" charset="0"/>
                <a:ea typeface="Meiryo UI" panose="020B0604030504040204" pitchFamily="50" charset="-128"/>
                <a:cs typeface="Arial" panose="020B0604020202020204" pitchFamily="34" charset="0"/>
                <a:hlinkClick r:id="rId3"/>
              </a:rPr>
              <a:t>https://www.mhlw.go.jp/file/06-Seisakujouhou-12400000-Hokenkyoku/0000203025.pdf</a:t>
            </a:r>
            <a:endParaRPr lang="pt-BR" sz="1200" dirty="0">
              <a:latin typeface="Arial" panose="020B0604020202020204" pitchFamily="34" charset="0"/>
              <a:ea typeface="Meiryo UI" panose="020B0604030504040204" pitchFamily="50" charset="-128"/>
              <a:cs typeface="Arial" panose="020B0604020202020204" pitchFamily="34" charset="0"/>
            </a:endParaRPr>
          </a:p>
        </p:txBody>
      </p:sp>
      <p:pic>
        <p:nvPicPr>
          <p:cNvPr id="7" name="Picture 6">
            <a:extLst>
              <a:ext uri="{FF2B5EF4-FFF2-40B4-BE49-F238E27FC236}">
                <a16:creationId xmlns:a16="http://schemas.microsoft.com/office/drawing/2014/main" id="{7C3D3068-6FDE-6711-E485-A28EDE204DB8}"/>
              </a:ext>
            </a:extLst>
          </p:cNvPr>
          <p:cNvPicPr>
            <a:picLocks noChangeAspect="1"/>
          </p:cNvPicPr>
          <p:nvPr/>
        </p:nvPicPr>
        <p:blipFill>
          <a:blip r:embed="rId4"/>
          <a:srcRect l="8190" r="10423" b="16710"/>
          <a:stretch>
            <a:fillRect/>
          </a:stretch>
        </p:blipFill>
        <p:spPr>
          <a:xfrm>
            <a:off x="467140" y="2091998"/>
            <a:ext cx="6792064" cy="4113967"/>
          </a:xfrm>
          <a:prstGeom prst="rect">
            <a:avLst/>
          </a:prstGeom>
          <a:ln w="19050">
            <a:solidFill>
              <a:schemeClr val="bg1">
                <a:lumMod val="50000"/>
              </a:schemeClr>
            </a:solidFill>
          </a:ln>
        </p:spPr>
      </p:pic>
      <p:sp>
        <p:nvSpPr>
          <p:cNvPr id="63" name="Rectangle 62">
            <a:extLst>
              <a:ext uri="{FF2B5EF4-FFF2-40B4-BE49-F238E27FC236}">
                <a16:creationId xmlns:a16="http://schemas.microsoft.com/office/drawing/2014/main" id="{CAEC94D8-02A4-0EC9-E583-055777FAE062}"/>
              </a:ext>
            </a:extLst>
          </p:cNvPr>
          <p:cNvSpPr/>
          <p:nvPr/>
        </p:nvSpPr>
        <p:spPr>
          <a:xfrm>
            <a:off x="1642175" y="2243053"/>
            <a:ext cx="4249491" cy="3695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Medical Bill Statement (example)</a:t>
            </a:r>
          </a:p>
        </p:txBody>
      </p:sp>
      <p:sp>
        <p:nvSpPr>
          <p:cNvPr id="8" name="Rectangle 7">
            <a:extLst>
              <a:ext uri="{FF2B5EF4-FFF2-40B4-BE49-F238E27FC236}">
                <a16:creationId xmlns:a16="http://schemas.microsoft.com/office/drawing/2014/main" id="{6653F3CD-70D9-6EB1-229B-B13B8E68B157}"/>
              </a:ext>
            </a:extLst>
          </p:cNvPr>
          <p:cNvSpPr/>
          <p:nvPr/>
        </p:nvSpPr>
        <p:spPr>
          <a:xfrm>
            <a:off x="1264697" y="2718569"/>
            <a:ext cx="924813" cy="1896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noProof="0" dirty="0">
                <a:solidFill>
                  <a:schemeClr val="tx1"/>
                </a:solidFill>
                <a:latin typeface="Arial" panose="020B0604020202020204" pitchFamily="34" charset="0"/>
                <a:ea typeface="Meiryo UI" panose="020B0604030504040204" pitchFamily="50" charset="-128"/>
                <a:cs typeface="Arial" panose="020B0604020202020204" pitchFamily="34" charset="0"/>
              </a:rPr>
              <a:t>Outpatient</a:t>
            </a:r>
          </a:p>
        </p:txBody>
      </p:sp>
      <p:sp>
        <p:nvSpPr>
          <p:cNvPr id="9" name="Rectangle 8">
            <a:extLst>
              <a:ext uri="{FF2B5EF4-FFF2-40B4-BE49-F238E27FC236}">
                <a16:creationId xmlns:a16="http://schemas.microsoft.com/office/drawing/2014/main" id="{0A8D011D-8902-DCBD-67E2-D1B44A731911}"/>
              </a:ext>
            </a:extLst>
          </p:cNvPr>
          <p:cNvSpPr/>
          <p:nvPr/>
        </p:nvSpPr>
        <p:spPr>
          <a:xfrm>
            <a:off x="833042" y="2965820"/>
            <a:ext cx="583776" cy="1567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noProof="0" dirty="0">
                <a:solidFill>
                  <a:schemeClr val="tx1"/>
                </a:solidFill>
                <a:latin typeface="Arial" panose="020B0604020202020204" pitchFamily="34" charset="0"/>
                <a:ea typeface="Meiryo UI" panose="020B0604030504040204" pitchFamily="50" charset="-128"/>
                <a:cs typeface="Arial" panose="020B0604020202020204" pitchFamily="34" charset="0"/>
              </a:rPr>
              <a:t>ID</a:t>
            </a:r>
          </a:p>
        </p:txBody>
      </p:sp>
      <p:sp>
        <p:nvSpPr>
          <p:cNvPr id="14" name="Rectangle 13">
            <a:extLst>
              <a:ext uri="{FF2B5EF4-FFF2-40B4-BE49-F238E27FC236}">
                <a16:creationId xmlns:a16="http://schemas.microsoft.com/office/drawing/2014/main" id="{61C05AF3-3D3C-2678-47EC-13545B19BE41}"/>
              </a:ext>
            </a:extLst>
          </p:cNvPr>
          <p:cNvSpPr/>
          <p:nvPr/>
        </p:nvSpPr>
        <p:spPr>
          <a:xfrm>
            <a:off x="2790711" y="2965820"/>
            <a:ext cx="474575" cy="1567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dirty="0">
                <a:solidFill>
                  <a:schemeClr val="tx1"/>
                </a:solidFill>
                <a:latin typeface="Arial" panose="020B0604020202020204" pitchFamily="34" charset="0"/>
                <a:ea typeface="Meiryo UI" panose="020B0604030504040204" pitchFamily="50" charset="-128"/>
                <a:cs typeface="Arial" panose="020B0604020202020204" pitchFamily="34" charset="0"/>
              </a:rPr>
              <a:t>Name</a:t>
            </a:r>
            <a:endParaRPr lang="en-US" sz="14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15" name="Rectangle 14">
            <a:extLst>
              <a:ext uri="{FF2B5EF4-FFF2-40B4-BE49-F238E27FC236}">
                <a16:creationId xmlns:a16="http://schemas.microsoft.com/office/drawing/2014/main" id="{EFD24FD3-40DF-DD68-78F0-00E07365A4E5}"/>
              </a:ext>
            </a:extLst>
          </p:cNvPr>
          <p:cNvSpPr/>
          <p:nvPr/>
        </p:nvSpPr>
        <p:spPr>
          <a:xfrm>
            <a:off x="5024957" y="2965820"/>
            <a:ext cx="474575" cy="1567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dirty="0">
                <a:solidFill>
                  <a:schemeClr val="tx1"/>
                </a:solidFill>
                <a:latin typeface="Arial" panose="020B0604020202020204" pitchFamily="34" charset="0"/>
                <a:ea typeface="Meiryo UI" panose="020B0604030504040204" pitchFamily="50" charset="-128"/>
                <a:cs typeface="Arial" panose="020B0604020202020204" pitchFamily="34" charset="0"/>
              </a:rPr>
              <a:t>Date</a:t>
            </a:r>
            <a:endParaRPr lang="en-US" sz="14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16" name="Rectangle 15">
            <a:extLst>
              <a:ext uri="{FF2B5EF4-FFF2-40B4-BE49-F238E27FC236}">
                <a16:creationId xmlns:a16="http://schemas.microsoft.com/office/drawing/2014/main" id="{834ADE7E-26BE-E82D-DD64-77E9DCC212ED}"/>
              </a:ext>
            </a:extLst>
          </p:cNvPr>
          <p:cNvSpPr/>
          <p:nvPr/>
        </p:nvSpPr>
        <p:spPr>
          <a:xfrm>
            <a:off x="833042" y="3198899"/>
            <a:ext cx="583776" cy="1567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dirty="0">
                <a:solidFill>
                  <a:schemeClr val="tx1"/>
                </a:solidFill>
                <a:latin typeface="Arial" panose="020B0604020202020204" pitchFamily="34" charset="0"/>
                <a:ea typeface="Meiryo UI" panose="020B0604030504040204" pitchFamily="50" charset="-128"/>
                <a:cs typeface="Arial" panose="020B0604020202020204" pitchFamily="34" charset="0"/>
              </a:rPr>
              <a:t>Fee</a:t>
            </a:r>
            <a:endParaRPr lang="en-US" sz="14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17" name="Rectangle 16">
            <a:extLst>
              <a:ext uri="{FF2B5EF4-FFF2-40B4-BE49-F238E27FC236}">
                <a16:creationId xmlns:a16="http://schemas.microsoft.com/office/drawing/2014/main" id="{B0A959C3-FBF8-5E07-780F-2E522F1CF3EC}"/>
              </a:ext>
            </a:extLst>
          </p:cNvPr>
          <p:cNvSpPr/>
          <p:nvPr/>
        </p:nvSpPr>
        <p:spPr>
          <a:xfrm>
            <a:off x="5307890" y="3613645"/>
            <a:ext cx="583776" cy="1567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dirty="0">
                <a:solidFill>
                  <a:schemeClr val="tx1"/>
                </a:solidFill>
                <a:latin typeface="Arial" panose="020B0604020202020204" pitchFamily="34" charset="0"/>
                <a:ea typeface="Meiryo UI" panose="020B0604030504040204" pitchFamily="50" charset="-128"/>
                <a:cs typeface="Arial" panose="020B0604020202020204" pitchFamily="34" charset="0"/>
              </a:rPr>
              <a:t>Points</a:t>
            </a:r>
            <a:endParaRPr lang="en-US" sz="14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18" name="Rectangle 17">
            <a:extLst>
              <a:ext uri="{FF2B5EF4-FFF2-40B4-BE49-F238E27FC236}">
                <a16:creationId xmlns:a16="http://schemas.microsoft.com/office/drawing/2014/main" id="{A2CB8A4B-4C48-EDF5-DEEA-76FECD792B8A}"/>
              </a:ext>
            </a:extLst>
          </p:cNvPr>
          <p:cNvSpPr/>
          <p:nvPr/>
        </p:nvSpPr>
        <p:spPr>
          <a:xfrm>
            <a:off x="6149325" y="3613645"/>
            <a:ext cx="583776" cy="1567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dirty="0">
                <a:solidFill>
                  <a:schemeClr val="tx1"/>
                </a:solidFill>
                <a:latin typeface="Arial" panose="020B0604020202020204" pitchFamily="34" charset="0"/>
                <a:ea typeface="Meiryo UI" panose="020B0604030504040204" pitchFamily="50" charset="-128"/>
                <a:cs typeface="Arial" panose="020B0604020202020204" pitchFamily="34" charset="0"/>
              </a:rPr>
              <a:t>Time</a:t>
            </a:r>
            <a:endParaRPr lang="en-US" sz="14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19" name="Rectangle 18">
            <a:extLst>
              <a:ext uri="{FF2B5EF4-FFF2-40B4-BE49-F238E27FC236}">
                <a16:creationId xmlns:a16="http://schemas.microsoft.com/office/drawing/2014/main" id="{6A99D271-05AF-E788-F011-01D77CC33FD7}"/>
              </a:ext>
            </a:extLst>
          </p:cNvPr>
          <p:cNvSpPr/>
          <p:nvPr/>
        </p:nvSpPr>
        <p:spPr>
          <a:xfrm>
            <a:off x="2368823" y="3613645"/>
            <a:ext cx="1832144" cy="1567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dirty="0">
                <a:solidFill>
                  <a:schemeClr val="tx1"/>
                </a:solidFill>
                <a:latin typeface="Arial" panose="020B0604020202020204" pitchFamily="34" charset="0"/>
                <a:ea typeface="Meiryo UI" panose="020B0604030504040204" pitchFamily="50" charset="-128"/>
                <a:cs typeface="Arial" panose="020B0604020202020204" pitchFamily="34" charset="0"/>
              </a:rPr>
              <a:t>Medical Services</a:t>
            </a:r>
            <a:endParaRPr lang="en-US" sz="14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0" name="Rectangle 19">
            <a:extLst>
              <a:ext uri="{FF2B5EF4-FFF2-40B4-BE49-F238E27FC236}">
                <a16:creationId xmlns:a16="http://schemas.microsoft.com/office/drawing/2014/main" id="{996D32AB-375D-64A8-79A9-FACBCCEE9FBB}"/>
              </a:ext>
            </a:extLst>
          </p:cNvPr>
          <p:cNvSpPr/>
          <p:nvPr/>
        </p:nvSpPr>
        <p:spPr>
          <a:xfrm>
            <a:off x="821166" y="3824765"/>
            <a:ext cx="583776" cy="3252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200" dirty="0">
                <a:solidFill>
                  <a:schemeClr val="tx1"/>
                </a:solidFill>
                <a:latin typeface="Arial" panose="020B0604020202020204" pitchFamily="34" charset="0"/>
                <a:ea typeface="Meiryo UI" panose="020B0604030504040204" pitchFamily="50" charset="-128"/>
                <a:cs typeface="Arial" panose="020B0604020202020204" pitchFamily="34" charset="0"/>
              </a:rPr>
              <a:t>Basic fees</a:t>
            </a:r>
            <a:endParaRPr lang="en-US" sz="12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1" name="Rectangle 20">
            <a:extLst>
              <a:ext uri="{FF2B5EF4-FFF2-40B4-BE49-F238E27FC236}">
                <a16:creationId xmlns:a16="http://schemas.microsoft.com/office/drawing/2014/main" id="{301B6F16-0E0F-3958-CD3E-EDF148CF19B0}"/>
              </a:ext>
            </a:extLst>
          </p:cNvPr>
          <p:cNvSpPr/>
          <p:nvPr/>
        </p:nvSpPr>
        <p:spPr>
          <a:xfrm>
            <a:off x="1640092" y="3824765"/>
            <a:ext cx="2130645" cy="1567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200" dirty="0">
                <a:solidFill>
                  <a:schemeClr val="tx1"/>
                </a:solidFill>
                <a:latin typeface="Arial" panose="020B0604020202020204" pitchFamily="34" charset="0"/>
                <a:ea typeface="Meiryo UI" panose="020B0604030504040204" pitchFamily="50" charset="-128"/>
                <a:cs typeface="Arial" panose="020B0604020202020204" pitchFamily="34" charset="0"/>
              </a:rPr>
              <a:t>Outpatient consultation fee</a:t>
            </a:r>
            <a:endParaRPr lang="en-US" sz="12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2" name="Rectangle 21">
            <a:extLst>
              <a:ext uri="{FF2B5EF4-FFF2-40B4-BE49-F238E27FC236}">
                <a16:creationId xmlns:a16="http://schemas.microsoft.com/office/drawing/2014/main" id="{E9F8F7F8-4CC6-D99C-148B-B737D46C47BA}"/>
              </a:ext>
            </a:extLst>
          </p:cNvPr>
          <p:cNvSpPr/>
          <p:nvPr/>
        </p:nvSpPr>
        <p:spPr>
          <a:xfrm>
            <a:off x="821166" y="4156419"/>
            <a:ext cx="583776" cy="34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200" dirty="0">
                <a:solidFill>
                  <a:schemeClr val="tx1"/>
                </a:solidFill>
                <a:latin typeface="Arial" panose="020B0604020202020204" pitchFamily="34" charset="0"/>
                <a:ea typeface="Meiryo UI" panose="020B0604030504040204" pitchFamily="50" charset="-128"/>
                <a:cs typeface="Arial" panose="020B0604020202020204" pitchFamily="34" charset="0"/>
              </a:rPr>
              <a:t>Home care</a:t>
            </a:r>
            <a:endParaRPr lang="en-US" sz="12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3" name="Rectangle 22">
            <a:extLst>
              <a:ext uri="{FF2B5EF4-FFF2-40B4-BE49-F238E27FC236}">
                <a16:creationId xmlns:a16="http://schemas.microsoft.com/office/drawing/2014/main" id="{D6B05EDB-F20F-89F6-68A4-F2F34D58A176}"/>
              </a:ext>
            </a:extLst>
          </p:cNvPr>
          <p:cNvSpPr/>
          <p:nvPr/>
        </p:nvSpPr>
        <p:spPr>
          <a:xfrm>
            <a:off x="1640092" y="4156419"/>
            <a:ext cx="3152972" cy="1783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200" dirty="0">
                <a:solidFill>
                  <a:schemeClr val="tx1"/>
                </a:solidFill>
                <a:latin typeface="Arial" panose="020B0604020202020204" pitchFamily="34" charset="0"/>
                <a:ea typeface="Meiryo UI" panose="020B0604030504040204" pitchFamily="50" charset="-128"/>
                <a:cs typeface="Arial" panose="020B0604020202020204" pitchFamily="34" charset="0"/>
              </a:rPr>
              <a:t>Self-injection guidance and management fee</a:t>
            </a:r>
            <a:endParaRPr lang="en-US" sz="12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4" name="Rectangle 23">
            <a:extLst>
              <a:ext uri="{FF2B5EF4-FFF2-40B4-BE49-F238E27FC236}">
                <a16:creationId xmlns:a16="http://schemas.microsoft.com/office/drawing/2014/main" id="{47D15972-3077-6FE2-6E9D-E6743483230C}"/>
              </a:ext>
            </a:extLst>
          </p:cNvPr>
          <p:cNvSpPr/>
          <p:nvPr/>
        </p:nvSpPr>
        <p:spPr>
          <a:xfrm>
            <a:off x="1640092" y="4334726"/>
            <a:ext cx="3152972" cy="3252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200" dirty="0">
                <a:solidFill>
                  <a:schemeClr val="tx1"/>
                </a:solidFill>
                <a:latin typeface="Arial" panose="020B0604020202020204" pitchFamily="34" charset="0"/>
                <a:ea typeface="Meiryo UI" panose="020B0604030504040204" pitchFamily="50" charset="-128"/>
                <a:cs typeface="Arial" panose="020B0604020202020204" pitchFamily="34" charset="0"/>
              </a:rPr>
              <a:t>Additional charge for self-monitoring of blood glucose device</a:t>
            </a:r>
            <a:endParaRPr lang="en-US" sz="12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5" name="Rectangle 24">
            <a:extLst>
              <a:ext uri="{FF2B5EF4-FFF2-40B4-BE49-F238E27FC236}">
                <a16:creationId xmlns:a16="http://schemas.microsoft.com/office/drawing/2014/main" id="{B8626D1F-1CA4-0F0E-9FCD-F690E1A71FE1}"/>
              </a:ext>
            </a:extLst>
          </p:cNvPr>
          <p:cNvSpPr/>
          <p:nvPr/>
        </p:nvSpPr>
        <p:spPr>
          <a:xfrm>
            <a:off x="821166" y="4828711"/>
            <a:ext cx="583776" cy="259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200" dirty="0">
                <a:solidFill>
                  <a:schemeClr val="tx1"/>
                </a:solidFill>
                <a:latin typeface="Arial" panose="020B0604020202020204" pitchFamily="34" charset="0"/>
                <a:ea typeface="Meiryo UI" panose="020B0604030504040204" pitchFamily="50" charset="-128"/>
                <a:cs typeface="Arial" panose="020B0604020202020204" pitchFamily="34" charset="0"/>
              </a:rPr>
              <a:t>Prescription</a:t>
            </a:r>
            <a:endParaRPr lang="en-US" sz="12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6" name="Rectangle 25">
            <a:extLst>
              <a:ext uri="{FF2B5EF4-FFF2-40B4-BE49-F238E27FC236}">
                <a16:creationId xmlns:a16="http://schemas.microsoft.com/office/drawing/2014/main" id="{1881DBB3-B7F4-75B6-8EAB-2FB09A24ADB5}"/>
              </a:ext>
            </a:extLst>
          </p:cNvPr>
          <p:cNvSpPr/>
          <p:nvPr/>
        </p:nvSpPr>
        <p:spPr>
          <a:xfrm>
            <a:off x="1640092" y="4828711"/>
            <a:ext cx="3152972" cy="1783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200" dirty="0">
                <a:solidFill>
                  <a:schemeClr val="tx1"/>
                </a:solidFill>
                <a:latin typeface="Arial" panose="020B0604020202020204" pitchFamily="34" charset="0"/>
                <a:ea typeface="Meiryo UI" panose="020B0604030504040204" pitchFamily="50" charset="-128"/>
                <a:cs typeface="Arial" panose="020B0604020202020204" pitchFamily="34" charset="0"/>
              </a:rPr>
              <a:t>Prescription fee</a:t>
            </a:r>
            <a:endParaRPr lang="en-US" sz="12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8" name="Rectangle 27">
            <a:extLst>
              <a:ext uri="{FF2B5EF4-FFF2-40B4-BE49-F238E27FC236}">
                <a16:creationId xmlns:a16="http://schemas.microsoft.com/office/drawing/2014/main" id="{4DA9D029-C371-9316-B281-EAAC93C705FE}"/>
              </a:ext>
            </a:extLst>
          </p:cNvPr>
          <p:cNvSpPr/>
          <p:nvPr/>
        </p:nvSpPr>
        <p:spPr>
          <a:xfrm>
            <a:off x="821166" y="5140303"/>
            <a:ext cx="583776" cy="2972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200" dirty="0">
                <a:solidFill>
                  <a:schemeClr val="tx1"/>
                </a:solidFill>
                <a:latin typeface="Arial" panose="020B0604020202020204" pitchFamily="34" charset="0"/>
                <a:ea typeface="Meiryo UI" panose="020B0604030504040204" pitchFamily="50" charset="-128"/>
                <a:cs typeface="Arial" panose="020B0604020202020204" pitchFamily="34" charset="0"/>
              </a:rPr>
              <a:t>Lab tests</a:t>
            </a:r>
            <a:endParaRPr lang="en-US" sz="12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0" name="Rectangle 29">
            <a:extLst>
              <a:ext uri="{FF2B5EF4-FFF2-40B4-BE49-F238E27FC236}">
                <a16:creationId xmlns:a16="http://schemas.microsoft.com/office/drawing/2014/main" id="{0E7F0745-AD09-04FF-0DA1-6FADCE06E892}"/>
              </a:ext>
            </a:extLst>
          </p:cNvPr>
          <p:cNvSpPr/>
          <p:nvPr/>
        </p:nvSpPr>
        <p:spPr>
          <a:xfrm>
            <a:off x="1640092" y="5140303"/>
            <a:ext cx="3152972" cy="1783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200" dirty="0">
                <a:solidFill>
                  <a:schemeClr val="tx1"/>
                </a:solidFill>
                <a:latin typeface="Arial" panose="020B0604020202020204" pitchFamily="34" charset="0"/>
                <a:ea typeface="Meiryo UI" panose="020B0604030504040204" pitchFamily="50" charset="-128"/>
                <a:cs typeface="Arial" panose="020B0604020202020204" pitchFamily="34" charset="0"/>
              </a:rPr>
              <a:t>Biochemical test (I) interpretation fee</a:t>
            </a:r>
            <a:endParaRPr lang="en-US" sz="12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2" name="Rectangle 31">
            <a:extLst>
              <a:ext uri="{FF2B5EF4-FFF2-40B4-BE49-F238E27FC236}">
                <a16:creationId xmlns:a16="http://schemas.microsoft.com/office/drawing/2014/main" id="{4DDC5BC5-596B-46FE-BF3F-A816EC3BB7EF}"/>
              </a:ext>
            </a:extLst>
          </p:cNvPr>
          <p:cNvSpPr/>
          <p:nvPr/>
        </p:nvSpPr>
        <p:spPr>
          <a:xfrm>
            <a:off x="1640092" y="5334000"/>
            <a:ext cx="3152972" cy="1783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200" dirty="0">
                <a:solidFill>
                  <a:schemeClr val="tx1"/>
                </a:solidFill>
                <a:latin typeface="Arial" panose="020B0604020202020204" pitchFamily="34" charset="0"/>
                <a:ea typeface="Meiryo UI" panose="020B0604030504040204" pitchFamily="50" charset="-128"/>
                <a:cs typeface="Arial" panose="020B0604020202020204" pitchFamily="34" charset="0"/>
              </a:rPr>
              <a:t>Hematological test interpretation fee</a:t>
            </a:r>
            <a:endParaRPr lang="en-US" sz="12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4" name="Rectangle 33">
            <a:extLst>
              <a:ext uri="{FF2B5EF4-FFF2-40B4-BE49-F238E27FC236}">
                <a16:creationId xmlns:a16="http://schemas.microsoft.com/office/drawing/2014/main" id="{C8898646-E71F-D9CB-6FBE-497DC41B2594}"/>
              </a:ext>
            </a:extLst>
          </p:cNvPr>
          <p:cNvSpPr/>
          <p:nvPr/>
        </p:nvSpPr>
        <p:spPr>
          <a:xfrm>
            <a:off x="1640092" y="5675541"/>
            <a:ext cx="3152972" cy="1783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200" dirty="0">
                <a:solidFill>
                  <a:schemeClr val="tx1"/>
                </a:solidFill>
                <a:latin typeface="Arial" panose="020B0604020202020204" pitchFamily="34" charset="0"/>
                <a:ea typeface="Meiryo UI" panose="020B0604030504040204" pitchFamily="50" charset="-128"/>
                <a:cs typeface="Arial" panose="020B0604020202020204" pitchFamily="34" charset="0"/>
              </a:rPr>
              <a:t>Laboratory test management surcharge</a:t>
            </a:r>
            <a:endParaRPr lang="en-US" sz="12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5" name="Rectangle 34">
            <a:extLst>
              <a:ext uri="{FF2B5EF4-FFF2-40B4-BE49-F238E27FC236}">
                <a16:creationId xmlns:a16="http://schemas.microsoft.com/office/drawing/2014/main" id="{AB54F203-77BA-73F9-2A6A-49267D2D2B54}"/>
              </a:ext>
            </a:extLst>
          </p:cNvPr>
          <p:cNvSpPr/>
          <p:nvPr/>
        </p:nvSpPr>
        <p:spPr>
          <a:xfrm>
            <a:off x="1640092" y="5843855"/>
            <a:ext cx="3152972" cy="1783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200" dirty="0">
                <a:solidFill>
                  <a:schemeClr val="tx1"/>
                </a:solidFill>
                <a:latin typeface="Arial" panose="020B0604020202020204" pitchFamily="34" charset="0"/>
                <a:ea typeface="Meiryo UI" panose="020B0604030504040204" pitchFamily="50" charset="-128"/>
                <a:cs typeface="Arial" panose="020B0604020202020204" pitchFamily="34" charset="0"/>
              </a:rPr>
              <a:t>Blood microorganisms</a:t>
            </a:r>
            <a:endParaRPr lang="en-US" sz="12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6" name="Rectangle 35">
            <a:extLst>
              <a:ext uri="{FF2B5EF4-FFF2-40B4-BE49-F238E27FC236}">
                <a16:creationId xmlns:a16="http://schemas.microsoft.com/office/drawing/2014/main" id="{7BE47055-5872-7826-6927-3CF2107A5821}"/>
              </a:ext>
            </a:extLst>
          </p:cNvPr>
          <p:cNvSpPr/>
          <p:nvPr/>
        </p:nvSpPr>
        <p:spPr>
          <a:xfrm>
            <a:off x="1640092" y="6025202"/>
            <a:ext cx="3152972" cy="1783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200" dirty="0">
                <a:solidFill>
                  <a:schemeClr val="tx1"/>
                </a:solidFill>
                <a:latin typeface="Arial" panose="020B0604020202020204" pitchFamily="34" charset="0"/>
                <a:ea typeface="Meiryo UI" panose="020B0604030504040204" pitchFamily="50" charset="-128"/>
                <a:cs typeface="Arial" panose="020B0604020202020204" pitchFamily="34" charset="0"/>
              </a:rPr>
              <a:t>Biochemical test (I)</a:t>
            </a:r>
            <a:endParaRPr lang="en-US" sz="12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7" name="Table Placeholder 2">
            <a:extLst>
              <a:ext uri="{FF2B5EF4-FFF2-40B4-BE49-F238E27FC236}">
                <a16:creationId xmlns:a16="http://schemas.microsoft.com/office/drawing/2014/main" id="{C27C5AA7-5010-0EAE-6C43-73D734A94056}"/>
              </a:ext>
            </a:extLst>
          </p:cNvPr>
          <p:cNvSpPr>
            <a:spLocks noGrp="1"/>
          </p:cNvSpPr>
          <p:nvPr>
            <p:ph type="tbl" sz="quarter" idx="10"/>
          </p:nvPr>
        </p:nvSpPr>
        <p:spPr>
          <a:xfrm>
            <a:off x="7508503" y="2089542"/>
            <a:ext cx="4137534" cy="4113967"/>
          </a:xfrm>
        </p:spPr>
        <p:txBody>
          <a:bodyPr/>
          <a:lstStyle/>
          <a:p>
            <a:pPr marL="0" indent="0">
              <a:buNone/>
            </a:pPr>
            <a:r>
              <a:rPr lang="en-US" dirty="0"/>
              <a:t>Points</a:t>
            </a:r>
          </a:p>
          <a:p>
            <a:r>
              <a:rPr lang="en-US" dirty="0"/>
              <a:t>Assigned to all medical services, drugs, and technologies covered by insurance</a:t>
            </a:r>
          </a:p>
          <a:p>
            <a:r>
              <a:rPr lang="en-US" dirty="0"/>
              <a:t>Standardized nationwide</a:t>
            </a:r>
            <a:endParaRPr lang="en-US" noProof="0" dirty="0"/>
          </a:p>
          <a:p>
            <a:pPr marL="0" indent="0">
              <a:buNone/>
            </a:pPr>
            <a:endParaRPr lang="en-US" noProof="0" dirty="0"/>
          </a:p>
          <a:p>
            <a:pPr marL="0" indent="0">
              <a:buNone/>
            </a:pPr>
            <a:r>
              <a:rPr lang="en-US" noProof="0" dirty="0"/>
              <a:t>Patients pay…</a:t>
            </a:r>
          </a:p>
          <a:p>
            <a:pPr marL="0" indent="0">
              <a:spcBef>
                <a:spcPts val="0"/>
              </a:spcBef>
              <a:buNone/>
            </a:pPr>
            <a:r>
              <a:rPr lang="en-US" noProof="0" dirty="0"/>
              <a:t>Points x time x 10 x </a:t>
            </a:r>
          </a:p>
          <a:p>
            <a:pPr marL="0" indent="0">
              <a:spcBef>
                <a:spcPts val="0"/>
              </a:spcBef>
              <a:buNone/>
            </a:pPr>
            <a:r>
              <a:rPr lang="en-US" noProof="0" dirty="0"/>
              <a:t>coinsurance (%) JPY</a:t>
            </a:r>
          </a:p>
          <a:p>
            <a:pPr marL="0" indent="0">
              <a:buNone/>
            </a:pPr>
            <a:endParaRPr lang="en-US" dirty="0"/>
          </a:p>
        </p:txBody>
      </p:sp>
      <p:sp>
        <p:nvSpPr>
          <p:cNvPr id="38" name="Rectangle 37">
            <a:extLst>
              <a:ext uri="{FF2B5EF4-FFF2-40B4-BE49-F238E27FC236}">
                <a16:creationId xmlns:a16="http://schemas.microsoft.com/office/drawing/2014/main" id="{F06356AA-2A18-7EDE-8B7F-CB36691542D9}"/>
              </a:ext>
            </a:extLst>
          </p:cNvPr>
          <p:cNvSpPr/>
          <p:nvPr/>
        </p:nvSpPr>
        <p:spPr>
          <a:xfrm>
            <a:off x="7392986" y="2091998"/>
            <a:ext cx="42381" cy="4113967"/>
          </a:xfrm>
          <a:prstGeom prst="rect">
            <a:avLst/>
          </a:prstGeom>
          <a:solidFill>
            <a:srgbClr val="3200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44" name="Rectangle 43">
            <a:extLst>
              <a:ext uri="{FF2B5EF4-FFF2-40B4-BE49-F238E27FC236}">
                <a16:creationId xmlns:a16="http://schemas.microsoft.com/office/drawing/2014/main" id="{C14B64B9-B6B1-7AC6-77AC-028A3BDE7108}"/>
              </a:ext>
            </a:extLst>
          </p:cNvPr>
          <p:cNvSpPr/>
          <p:nvPr/>
        </p:nvSpPr>
        <p:spPr>
          <a:xfrm rot="5400000">
            <a:off x="4424259" y="4543213"/>
            <a:ext cx="2443513" cy="1006616"/>
          </a:xfrm>
          <a:prstGeom prst="rect">
            <a:avLst/>
          </a:prstGeom>
          <a:noFill/>
          <a:ln w="57150">
            <a:solidFill>
              <a:srgbClr val="FFC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cxnSp>
        <p:nvCxnSpPr>
          <p:cNvPr id="39" name="Straight Connector 38">
            <a:extLst>
              <a:ext uri="{FF2B5EF4-FFF2-40B4-BE49-F238E27FC236}">
                <a16:creationId xmlns:a16="http://schemas.microsoft.com/office/drawing/2014/main" id="{C80826B9-AF19-C7DB-B3F6-5782DED55ABD}"/>
              </a:ext>
            </a:extLst>
          </p:cNvPr>
          <p:cNvCxnSpPr>
            <a:cxnSpLocks/>
            <a:stCxn id="44" idx="0"/>
            <a:endCxn id="38" idx="1"/>
          </p:cNvCxnSpPr>
          <p:nvPr/>
        </p:nvCxnSpPr>
        <p:spPr>
          <a:xfrm flipV="1">
            <a:off x="6149324" y="4148982"/>
            <a:ext cx="1243662" cy="897540"/>
          </a:xfrm>
          <a:prstGeom prst="line">
            <a:avLst/>
          </a:prstGeom>
          <a:ln w="38100">
            <a:solidFill>
              <a:schemeClr val="bg2">
                <a:lumMod val="2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4817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6D130-4DB5-A571-5D63-9B06894C0F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FF1FB9-AF87-B0C9-985C-F9C785197626}"/>
              </a:ext>
            </a:extLst>
          </p:cNvPr>
          <p:cNvSpPr>
            <a:spLocks noGrp="1"/>
          </p:cNvSpPr>
          <p:nvPr>
            <p:ph type="title"/>
          </p:nvPr>
        </p:nvSpPr>
        <p:spPr/>
        <p:txBody>
          <a:bodyPr/>
          <a:lstStyle/>
          <a:p>
            <a:r>
              <a:rPr lang="en-US" noProof="0" dirty="0"/>
              <a:t>Regulatory approval and listing for reimbursement</a:t>
            </a:r>
          </a:p>
        </p:txBody>
      </p:sp>
      <p:sp>
        <p:nvSpPr>
          <p:cNvPr id="4" name="Slide Number Placeholder 3">
            <a:extLst>
              <a:ext uri="{FF2B5EF4-FFF2-40B4-BE49-F238E27FC236}">
                <a16:creationId xmlns:a16="http://schemas.microsoft.com/office/drawing/2014/main" id="{F856741A-9B42-4190-14BC-DF2B50994355}"/>
              </a:ext>
            </a:extLst>
          </p:cNvPr>
          <p:cNvSpPr>
            <a:spLocks noGrp="1"/>
          </p:cNvSpPr>
          <p:nvPr>
            <p:ph type="sldNum" sz="quarter" idx="4"/>
          </p:nvPr>
        </p:nvSpPr>
        <p:spPr/>
        <p:txBody>
          <a:bodyPr/>
          <a:lstStyle/>
          <a:p>
            <a:fld id="{B5CEABB6-07DC-46E8-9B57-56EC44A396E5}" type="slidenum">
              <a:rPr lang="en-US" noProof="0" smtClean="0"/>
              <a:pPr/>
              <a:t>16</a:t>
            </a:fld>
            <a:endParaRPr lang="en-US" noProof="0" dirty="0"/>
          </a:p>
        </p:txBody>
      </p:sp>
      <p:sp>
        <p:nvSpPr>
          <p:cNvPr id="5" name="Table Placeholder 4">
            <a:extLst>
              <a:ext uri="{FF2B5EF4-FFF2-40B4-BE49-F238E27FC236}">
                <a16:creationId xmlns:a16="http://schemas.microsoft.com/office/drawing/2014/main" id="{0D892A61-2E6C-2A85-C155-D838BC192DD7}"/>
              </a:ext>
            </a:extLst>
          </p:cNvPr>
          <p:cNvSpPr>
            <a:spLocks noGrp="1"/>
          </p:cNvSpPr>
          <p:nvPr>
            <p:ph type="tbl" sz="quarter" idx="11"/>
          </p:nvPr>
        </p:nvSpPr>
        <p:spPr/>
        <p:txBody>
          <a:bodyPr/>
          <a:lstStyle/>
          <a:p>
            <a:r>
              <a:rPr lang="en-US" altLang="ja-JP" dirty="0"/>
              <a:t>Medical</a:t>
            </a:r>
            <a:r>
              <a:rPr lang="en-US" noProof="0" dirty="0"/>
              <a:t> services, pharmaceuticals, and medical technologies must be approved and listed in fee schedule to be covered by health insurance</a:t>
            </a:r>
          </a:p>
        </p:txBody>
      </p:sp>
      <p:grpSp>
        <p:nvGrpSpPr>
          <p:cNvPr id="10" name="Group 9">
            <a:extLst>
              <a:ext uri="{FF2B5EF4-FFF2-40B4-BE49-F238E27FC236}">
                <a16:creationId xmlns:a16="http://schemas.microsoft.com/office/drawing/2014/main" id="{AB69C25D-9B5B-521B-48DA-020E34342E88}"/>
              </a:ext>
              <a:ext uri="{C183D7F6-B498-43B3-948B-1728B52AA6E4}">
                <adec:decorative xmlns:adec="http://schemas.microsoft.com/office/drawing/2017/decorative" val="1"/>
              </a:ext>
            </a:extLst>
          </p:cNvPr>
          <p:cNvGrpSpPr/>
          <p:nvPr/>
        </p:nvGrpSpPr>
        <p:grpSpPr>
          <a:xfrm>
            <a:off x="467139" y="108959"/>
            <a:ext cx="4197304" cy="307297"/>
            <a:chOff x="562270" y="127168"/>
            <a:chExt cx="4197304" cy="307297"/>
          </a:xfrm>
        </p:grpSpPr>
        <p:sp>
          <p:nvSpPr>
            <p:cNvPr id="11" name="Arrow: Pentagon 10">
              <a:extLst>
                <a:ext uri="{FF2B5EF4-FFF2-40B4-BE49-F238E27FC236}">
                  <a16:creationId xmlns:a16="http://schemas.microsoft.com/office/drawing/2014/main" id="{18E6EB37-4127-2368-C30A-FD4C2AB334FC}"/>
                </a:ext>
              </a:extLst>
            </p:cNvPr>
            <p:cNvSpPr/>
            <p:nvPr/>
          </p:nvSpPr>
          <p:spPr>
            <a:xfrm>
              <a:off x="3192565"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③AI</a:t>
              </a:r>
            </a:p>
          </p:txBody>
        </p:sp>
        <p:sp>
          <p:nvSpPr>
            <p:cNvPr id="12" name="Arrow: Pentagon 11">
              <a:extLst>
                <a:ext uri="{FF2B5EF4-FFF2-40B4-BE49-F238E27FC236}">
                  <a16:creationId xmlns:a16="http://schemas.microsoft.com/office/drawing/2014/main" id="{E28C5CDD-CA5A-A40D-7819-D460D2DD892D}"/>
                </a:ext>
              </a:extLst>
            </p:cNvPr>
            <p:cNvSpPr/>
            <p:nvPr/>
          </p:nvSpPr>
          <p:spPr>
            <a:xfrm>
              <a:off x="1817136" y="127168"/>
              <a:ext cx="1567009" cy="307297"/>
            </a:xfrm>
            <a:prstGeom prst="homePlate">
              <a:avLst/>
            </a:prstGeom>
            <a:solidFill>
              <a:srgbClr val="32006E"/>
            </a:solidFill>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②Regulation</a:t>
              </a:r>
            </a:p>
          </p:txBody>
        </p:sp>
        <p:sp>
          <p:nvSpPr>
            <p:cNvPr id="13" name="Arrow: Pentagon 12">
              <a:extLst>
                <a:ext uri="{FF2B5EF4-FFF2-40B4-BE49-F238E27FC236}">
                  <a16:creationId xmlns:a16="http://schemas.microsoft.com/office/drawing/2014/main" id="{58BEC844-2E49-9A23-55D5-0D606F22B33E}"/>
                </a:ext>
              </a:extLst>
            </p:cNvPr>
            <p:cNvSpPr/>
            <p:nvPr/>
          </p:nvSpPr>
          <p:spPr>
            <a:xfrm>
              <a:off x="562270"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①Insurance</a:t>
              </a:r>
            </a:p>
          </p:txBody>
        </p:sp>
      </p:grpSp>
      <p:sp>
        <p:nvSpPr>
          <p:cNvPr id="6" name="TextBox 5">
            <a:extLst>
              <a:ext uri="{FF2B5EF4-FFF2-40B4-BE49-F238E27FC236}">
                <a16:creationId xmlns:a16="http://schemas.microsoft.com/office/drawing/2014/main" id="{DE172EC2-0B17-1AEA-1DEF-4FD765BB154F}"/>
              </a:ext>
            </a:extLst>
          </p:cNvPr>
          <p:cNvSpPr txBox="1"/>
          <p:nvPr/>
        </p:nvSpPr>
        <p:spPr>
          <a:xfrm>
            <a:off x="467139" y="6484405"/>
            <a:ext cx="11257722" cy="369332"/>
          </a:xfrm>
          <a:prstGeom prst="rect">
            <a:avLst/>
          </a:prstGeom>
          <a:solidFill>
            <a:schemeClr val="bg1"/>
          </a:solidFill>
        </p:spPr>
        <p:txBody>
          <a:bodyPr wrap="square" lIns="0" tIns="0" rIns="0" bIns="0">
            <a:spAutoFit/>
          </a:bodyPr>
          <a:lstStyle/>
          <a:p>
            <a:r>
              <a:rPr lang="en-US" sz="1200" dirty="0">
                <a:latin typeface="Arial" panose="020B0604020202020204" pitchFamily="34" charset="0"/>
                <a:ea typeface="Meiryo UI" panose="020B0604030504040204" pitchFamily="50" charset="-128"/>
                <a:cs typeface="Arial" panose="020B0604020202020204" pitchFamily="34" charset="0"/>
              </a:rPr>
              <a:t>Pharmaceuticals and Medical Devices Agency (PMDA)</a:t>
            </a:r>
            <a:r>
              <a:rPr lang="pt-BR" sz="1200" dirty="0">
                <a:latin typeface="Arial" panose="020B0604020202020204" pitchFamily="34" charset="0"/>
                <a:ea typeface="Meiryo UI" panose="020B0604030504040204" pitchFamily="50" charset="-128"/>
                <a:cs typeface="Arial" panose="020B0604020202020204" pitchFamily="34" charset="0"/>
              </a:rPr>
              <a:t> </a:t>
            </a:r>
            <a:r>
              <a:rPr lang="pt-BR" sz="1200" dirty="0">
                <a:latin typeface="Arial" panose="020B0604020202020204" pitchFamily="34" charset="0"/>
                <a:ea typeface="Meiryo UI" panose="020B0604030504040204" pitchFamily="50" charset="-128"/>
                <a:cs typeface="Arial" panose="020B0604020202020204" pitchFamily="34" charset="0"/>
                <a:hlinkClick r:id="rId3"/>
              </a:rPr>
              <a:t>https://www.pmda.go.jp/files/000263354.pdf</a:t>
            </a:r>
            <a:endParaRPr lang="pt-BR" sz="1200" dirty="0">
              <a:latin typeface="Arial" panose="020B0604020202020204" pitchFamily="34" charset="0"/>
              <a:ea typeface="Meiryo UI" panose="020B0604030504040204" pitchFamily="50" charset="-128"/>
              <a:cs typeface="Arial" panose="020B0604020202020204" pitchFamily="34" charset="0"/>
            </a:endParaRPr>
          </a:p>
          <a:p>
            <a:r>
              <a:rPr lang="en-US" altLang="ja-JP" sz="1200" dirty="0">
                <a:latin typeface="Arial" panose="020B0604020202020204" pitchFamily="34" charset="0"/>
                <a:ea typeface="Meiryo UI" panose="020B0604030504040204" pitchFamily="50" charset="-128"/>
                <a:cs typeface="Arial" panose="020B0604020202020204" pitchFamily="34" charset="0"/>
              </a:rPr>
              <a:t>Central Social Insurance Medical Council</a:t>
            </a:r>
            <a:r>
              <a:rPr lang="ja-JP" altLang="en-US" sz="1200" dirty="0">
                <a:latin typeface="Arial" panose="020B0604020202020204" pitchFamily="34" charset="0"/>
                <a:ea typeface="Meiryo UI" panose="020B0604030504040204" pitchFamily="50" charset="-128"/>
                <a:cs typeface="Arial" panose="020B0604020202020204" pitchFamily="34" charset="0"/>
              </a:rPr>
              <a:t>　</a:t>
            </a:r>
            <a:r>
              <a:rPr lang="en-US" altLang="ja-JP" sz="1200" dirty="0">
                <a:latin typeface="Arial" panose="020B0604020202020204" pitchFamily="34" charset="0"/>
                <a:ea typeface="Meiryo UI" panose="020B0604030504040204" pitchFamily="50" charset="-128"/>
                <a:cs typeface="Arial" panose="020B0604020202020204" pitchFamily="34" charset="0"/>
                <a:hlinkClick r:id="rId4"/>
              </a:rPr>
              <a:t>https://www.mhlw.go.jp/content/10808000/001508748.pdf</a:t>
            </a:r>
            <a:endParaRPr lang="pt-BR" sz="1200" dirty="0">
              <a:latin typeface="Arial" panose="020B0604020202020204" pitchFamily="34" charset="0"/>
              <a:ea typeface="Meiryo UI" panose="020B0604030504040204" pitchFamily="50" charset="-128"/>
              <a:cs typeface="Arial" panose="020B0604020202020204" pitchFamily="34" charset="0"/>
            </a:endParaRPr>
          </a:p>
        </p:txBody>
      </p:sp>
      <p:sp>
        <p:nvSpPr>
          <p:cNvPr id="29" name="Arrow: Pentagon 28">
            <a:extLst>
              <a:ext uri="{FF2B5EF4-FFF2-40B4-BE49-F238E27FC236}">
                <a16:creationId xmlns:a16="http://schemas.microsoft.com/office/drawing/2014/main" id="{BE554F89-0E39-38F4-3613-162950E4261C}"/>
              </a:ext>
            </a:extLst>
          </p:cNvPr>
          <p:cNvSpPr/>
          <p:nvPr/>
        </p:nvSpPr>
        <p:spPr>
          <a:xfrm>
            <a:off x="484791" y="2032000"/>
            <a:ext cx="4285329" cy="447040"/>
          </a:xfrm>
          <a:prstGeom prst="homePlate">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ea typeface="Meiryo UI" panose="020B0604030504040204" pitchFamily="50" charset="-128"/>
                <a:cs typeface="Arial" panose="020B0604020202020204" pitchFamily="34" charset="0"/>
              </a:rPr>
              <a:t>Regulatory approval</a:t>
            </a:r>
          </a:p>
        </p:txBody>
      </p:sp>
      <p:sp>
        <p:nvSpPr>
          <p:cNvPr id="31" name="Rectangle 30">
            <a:extLst>
              <a:ext uri="{FF2B5EF4-FFF2-40B4-BE49-F238E27FC236}">
                <a16:creationId xmlns:a16="http://schemas.microsoft.com/office/drawing/2014/main" id="{9AFCC6DF-09EF-38FB-9C6C-EC23DB52BDDA}"/>
              </a:ext>
            </a:extLst>
          </p:cNvPr>
          <p:cNvSpPr/>
          <p:nvPr/>
        </p:nvSpPr>
        <p:spPr>
          <a:xfrm>
            <a:off x="1708355" y="2750710"/>
            <a:ext cx="2883965" cy="405892"/>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Discovery research</a:t>
            </a:r>
          </a:p>
        </p:txBody>
      </p:sp>
      <p:sp>
        <p:nvSpPr>
          <p:cNvPr id="33" name="Rectangle 32">
            <a:extLst>
              <a:ext uri="{FF2B5EF4-FFF2-40B4-BE49-F238E27FC236}">
                <a16:creationId xmlns:a16="http://schemas.microsoft.com/office/drawing/2014/main" id="{1CEA434D-F512-02D5-38C6-30394F5EDEBD}"/>
              </a:ext>
            </a:extLst>
          </p:cNvPr>
          <p:cNvSpPr/>
          <p:nvPr/>
        </p:nvSpPr>
        <p:spPr>
          <a:xfrm>
            <a:off x="1708355" y="4570240"/>
            <a:ext cx="2883965" cy="405892"/>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Regulatory filing to PMDA</a:t>
            </a:r>
          </a:p>
        </p:txBody>
      </p:sp>
      <p:sp>
        <p:nvSpPr>
          <p:cNvPr id="40" name="Rectangle 39">
            <a:extLst>
              <a:ext uri="{FF2B5EF4-FFF2-40B4-BE49-F238E27FC236}">
                <a16:creationId xmlns:a16="http://schemas.microsoft.com/office/drawing/2014/main" id="{B9415918-6420-1960-83BB-7E91A46CF9D9}"/>
              </a:ext>
            </a:extLst>
          </p:cNvPr>
          <p:cNvSpPr/>
          <p:nvPr/>
        </p:nvSpPr>
        <p:spPr>
          <a:xfrm>
            <a:off x="1708355" y="3963730"/>
            <a:ext cx="2883965" cy="405892"/>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Clinical trials (Phase I, II, III)</a:t>
            </a:r>
          </a:p>
        </p:txBody>
      </p:sp>
      <p:sp>
        <p:nvSpPr>
          <p:cNvPr id="41" name="Rectangle 40">
            <a:extLst>
              <a:ext uri="{FF2B5EF4-FFF2-40B4-BE49-F238E27FC236}">
                <a16:creationId xmlns:a16="http://schemas.microsoft.com/office/drawing/2014/main" id="{3FF79922-B436-13FF-9F54-C8E071644B5A}"/>
              </a:ext>
            </a:extLst>
          </p:cNvPr>
          <p:cNvSpPr/>
          <p:nvPr/>
        </p:nvSpPr>
        <p:spPr>
          <a:xfrm>
            <a:off x="1708355" y="3357220"/>
            <a:ext cx="2883965" cy="405892"/>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Preclinical trials</a:t>
            </a:r>
          </a:p>
        </p:txBody>
      </p:sp>
      <p:sp>
        <p:nvSpPr>
          <p:cNvPr id="46" name="Rectangle 45">
            <a:extLst>
              <a:ext uri="{FF2B5EF4-FFF2-40B4-BE49-F238E27FC236}">
                <a16:creationId xmlns:a16="http://schemas.microsoft.com/office/drawing/2014/main" id="{AD0DC736-E398-C81D-E047-F13900801A44}"/>
              </a:ext>
            </a:extLst>
          </p:cNvPr>
          <p:cNvSpPr/>
          <p:nvPr/>
        </p:nvSpPr>
        <p:spPr>
          <a:xfrm>
            <a:off x="1708355" y="5177841"/>
            <a:ext cx="2883965" cy="405892"/>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Regulatory review by PMDA</a:t>
            </a:r>
          </a:p>
        </p:txBody>
      </p:sp>
      <p:sp>
        <p:nvSpPr>
          <p:cNvPr id="48" name="Rectangle 47">
            <a:extLst>
              <a:ext uri="{FF2B5EF4-FFF2-40B4-BE49-F238E27FC236}">
                <a16:creationId xmlns:a16="http://schemas.microsoft.com/office/drawing/2014/main" id="{FF11CFA6-807B-A31F-22DE-0DBA370322CF}"/>
              </a:ext>
            </a:extLst>
          </p:cNvPr>
          <p:cNvSpPr/>
          <p:nvPr/>
        </p:nvSpPr>
        <p:spPr>
          <a:xfrm>
            <a:off x="1708355" y="5796474"/>
            <a:ext cx="2883965" cy="405892"/>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Regulatory approval by MHLW</a:t>
            </a:r>
          </a:p>
        </p:txBody>
      </p:sp>
      <p:pic>
        <p:nvPicPr>
          <p:cNvPr id="51" name="Picture 50">
            <a:extLst>
              <a:ext uri="{FF2B5EF4-FFF2-40B4-BE49-F238E27FC236}">
                <a16:creationId xmlns:a16="http://schemas.microsoft.com/office/drawing/2014/main" id="{EFE8CBC9-B14A-647D-018C-6E024A0E1DA6}"/>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336049" y="4688497"/>
            <a:ext cx="1339583" cy="559414"/>
          </a:xfrm>
          <a:prstGeom prst="rect">
            <a:avLst/>
          </a:prstGeom>
        </p:spPr>
      </p:pic>
      <p:pic>
        <p:nvPicPr>
          <p:cNvPr id="1026" name="Picture 2" descr="Ministry of Health, Labour and Welfare">
            <a:extLst>
              <a:ext uri="{FF2B5EF4-FFF2-40B4-BE49-F238E27FC236}">
                <a16:creationId xmlns:a16="http://schemas.microsoft.com/office/drawing/2014/main" id="{18AC6471-ACD5-7405-4A96-32703A57BFF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7140" t="9386" r="8112" b="13755"/>
          <a:stretch>
            <a:fillRect/>
          </a:stretch>
        </p:blipFill>
        <p:spPr bwMode="auto">
          <a:xfrm>
            <a:off x="279399" y="5707380"/>
            <a:ext cx="1396233" cy="408575"/>
          </a:xfrm>
          <a:prstGeom prst="rect">
            <a:avLst/>
          </a:prstGeom>
          <a:noFill/>
          <a:extLst>
            <a:ext uri="{909E8E84-426E-40DD-AFC4-6F175D3DCCD1}">
              <a14:hiddenFill xmlns:a14="http://schemas.microsoft.com/office/drawing/2010/main">
                <a:solidFill>
                  <a:srgbClr val="FFFFFF"/>
                </a:solidFill>
              </a14:hiddenFill>
            </a:ext>
          </a:extLst>
        </p:spPr>
      </p:pic>
      <p:sp>
        <p:nvSpPr>
          <p:cNvPr id="52" name="Arrow: Pentagon 51">
            <a:extLst>
              <a:ext uri="{FF2B5EF4-FFF2-40B4-BE49-F238E27FC236}">
                <a16:creationId xmlns:a16="http://schemas.microsoft.com/office/drawing/2014/main" id="{38164959-AEFD-BADA-659C-D8CADA9071ED}"/>
              </a:ext>
            </a:extLst>
          </p:cNvPr>
          <p:cNvSpPr/>
          <p:nvPr/>
        </p:nvSpPr>
        <p:spPr>
          <a:xfrm>
            <a:off x="4770120" y="2032000"/>
            <a:ext cx="6992775" cy="447040"/>
          </a:xfrm>
          <a:prstGeom prst="homePlate">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ea typeface="Meiryo UI" panose="020B0604030504040204" pitchFamily="50" charset="-128"/>
                <a:cs typeface="Arial" panose="020B0604020202020204" pitchFamily="34" charset="0"/>
              </a:rPr>
              <a:t>Reimbursement listing by </a:t>
            </a:r>
            <a:r>
              <a:rPr lang="en-US" sz="2000" b="1" dirty="0">
                <a:solidFill>
                  <a:schemeClr val="tx1"/>
                </a:solidFill>
                <a:latin typeface="Arial" panose="020B0604020202020204" pitchFamily="34" charset="0"/>
                <a:ea typeface="Meiryo UI" panose="020B0604030504040204" pitchFamily="50" charset="-128"/>
                <a:cs typeface="Arial" panose="020B0604020202020204" pitchFamily="34" charset="0"/>
              </a:rPr>
              <a:t>CSIMC</a:t>
            </a:r>
          </a:p>
          <a:p>
            <a:pPr algn="ctr"/>
            <a:r>
              <a:rPr lang="en-US" sz="1400" dirty="0">
                <a:solidFill>
                  <a:schemeClr val="tx1"/>
                </a:solidFill>
                <a:latin typeface="Arial" panose="020B0604020202020204" pitchFamily="34" charset="0"/>
                <a:ea typeface="Meiryo UI" panose="020B0604030504040204" pitchFamily="50" charset="-128"/>
                <a:cs typeface="Arial" panose="020B0604020202020204" pitchFamily="34" charset="0"/>
              </a:rPr>
              <a:t>(Central Social Insurance Medical Council)</a:t>
            </a:r>
          </a:p>
        </p:txBody>
      </p:sp>
      <p:sp>
        <p:nvSpPr>
          <p:cNvPr id="53" name="Rectangle 52">
            <a:extLst>
              <a:ext uri="{FF2B5EF4-FFF2-40B4-BE49-F238E27FC236}">
                <a16:creationId xmlns:a16="http://schemas.microsoft.com/office/drawing/2014/main" id="{0E15555D-F92D-B348-A00D-23BD040EF780}"/>
              </a:ext>
            </a:extLst>
          </p:cNvPr>
          <p:cNvSpPr/>
          <p:nvPr/>
        </p:nvSpPr>
        <p:spPr>
          <a:xfrm>
            <a:off x="4937280" y="2740633"/>
            <a:ext cx="4530993" cy="405892"/>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Similar product available</a:t>
            </a:r>
          </a:p>
        </p:txBody>
      </p:sp>
      <p:sp>
        <p:nvSpPr>
          <p:cNvPr id="54" name="Rectangle 53">
            <a:extLst>
              <a:ext uri="{FF2B5EF4-FFF2-40B4-BE49-F238E27FC236}">
                <a16:creationId xmlns:a16="http://schemas.microsoft.com/office/drawing/2014/main" id="{EB9837C0-C173-70F9-331C-7D18C934E03D}"/>
              </a:ext>
            </a:extLst>
          </p:cNvPr>
          <p:cNvSpPr/>
          <p:nvPr/>
        </p:nvSpPr>
        <p:spPr>
          <a:xfrm>
            <a:off x="9522618" y="2740633"/>
            <a:ext cx="2240280" cy="405892"/>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No similar product</a:t>
            </a:r>
          </a:p>
        </p:txBody>
      </p:sp>
      <p:sp>
        <p:nvSpPr>
          <p:cNvPr id="56" name="Rectangle 55">
            <a:extLst>
              <a:ext uri="{FF2B5EF4-FFF2-40B4-BE49-F238E27FC236}">
                <a16:creationId xmlns:a16="http://schemas.microsoft.com/office/drawing/2014/main" id="{6DE03821-68EE-1C85-A039-E545CADCE5EA}"/>
              </a:ext>
            </a:extLst>
          </p:cNvPr>
          <p:cNvSpPr/>
          <p:nvPr/>
        </p:nvSpPr>
        <p:spPr>
          <a:xfrm>
            <a:off x="4937280" y="3493651"/>
            <a:ext cx="2240280" cy="535564"/>
          </a:xfrm>
          <a:prstGeom prst="rect">
            <a:avLst/>
          </a:prstGeom>
          <a:solidFill>
            <a:srgbClr val="32006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b="1" noProof="0" dirty="0">
                <a:solidFill>
                  <a:schemeClr val="bg1"/>
                </a:solidFill>
                <a:latin typeface="Arial" panose="020B0604020202020204" pitchFamily="34" charset="0"/>
                <a:ea typeface="Meiryo UI" panose="020B0604030504040204" pitchFamily="50" charset="-128"/>
                <a:cs typeface="Arial" panose="020B0604020202020204" pitchFamily="34" charset="0"/>
              </a:rPr>
              <a:t>Efficacy comparison</a:t>
            </a:r>
          </a:p>
          <a:p>
            <a:pPr algn="ctr"/>
            <a:r>
              <a:rPr lang="en-US" b="1" noProof="0" dirty="0">
                <a:solidFill>
                  <a:schemeClr val="bg1"/>
                </a:solidFill>
                <a:latin typeface="Arial" panose="020B0604020202020204" pitchFamily="34" charset="0"/>
                <a:ea typeface="Meiryo UI" panose="020B0604030504040204" pitchFamily="50" charset="-128"/>
                <a:cs typeface="Arial" panose="020B0604020202020204" pitchFamily="34" charset="0"/>
              </a:rPr>
              <a:t> method (I)</a:t>
            </a:r>
          </a:p>
        </p:txBody>
      </p:sp>
      <p:sp>
        <p:nvSpPr>
          <p:cNvPr id="57" name="Rectangle 56">
            <a:extLst>
              <a:ext uri="{FF2B5EF4-FFF2-40B4-BE49-F238E27FC236}">
                <a16:creationId xmlns:a16="http://schemas.microsoft.com/office/drawing/2014/main" id="{05593E00-73B0-C468-FBF2-36A60DEEABA3}"/>
              </a:ext>
            </a:extLst>
          </p:cNvPr>
          <p:cNvSpPr/>
          <p:nvPr/>
        </p:nvSpPr>
        <p:spPr>
          <a:xfrm>
            <a:off x="7229949" y="3493651"/>
            <a:ext cx="2240280" cy="535564"/>
          </a:xfrm>
          <a:prstGeom prst="rect">
            <a:avLst/>
          </a:prstGeom>
          <a:solidFill>
            <a:srgbClr val="32006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b="1" noProof="0" dirty="0">
                <a:solidFill>
                  <a:schemeClr val="bg1"/>
                </a:solidFill>
                <a:latin typeface="Arial" panose="020B0604020202020204" pitchFamily="34" charset="0"/>
                <a:ea typeface="Meiryo UI" panose="020B0604030504040204" pitchFamily="50" charset="-128"/>
                <a:cs typeface="Arial" panose="020B0604020202020204" pitchFamily="34" charset="0"/>
              </a:rPr>
              <a:t>Efficacy comparison</a:t>
            </a:r>
          </a:p>
          <a:p>
            <a:pPr algn="ctr"/>
            <a:r>
              <a:rPr lang="en-US" b="1" noProof="0" dirty="0">
                <a:solidFill>
                  <a:schemeClr val="bg1"/>
                </a:solidFill>
                <a:latin typeface="Arial" panose="020B0604020202020204" pitchFamily="34" charset="0"/>
                <a:ea typeface="Meiryo UI" panose="020B0604030504040204" pitchFamily="50" charset="-128"/>
                <a:cs typeface="Arial" panose="020B0604020202020204" pitchFamily="34" charset="0"/>
              </a:rPr>
              <a:t> method (II)</a:t>
            </a:r>
          </a:p>
        </p:txBody>
      </p:sp>
      <p:sp>
        <p:nvSpPr>
          <p:cNvPr id="58" name="Rectangle 57">
            <a:extLst>
              <a:ext uri="{FF2B5EF4-FFF2-40B4-BE49-F238E27FC236}">
                <a16:creationId xmlns:a16="http://schemas.microsoft.com/office/drawing/2014/main" id="{9FEAA9EC-DD68-43AD-73DA-547DE1967390}"/>
              </a:ext>
            </a:extLst>
          </p:cNvPr>
          <p:cNvSpPr/>
          <p:nvPr/>
        </p:nvSpPr>
        <p:spPr>
          <a:xfrm>
            <a:off x="4937280" y="4166616"/>
            <a:ext cx="2240280" cy="765645"/>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Match daily price of the most similar existing </a:t>
            </a:r>
            <a:r>
              <a:rPr lang="en-US" dirty="0">
                <a:solidFill>
                  <a:schemeClr val="tx1"/>
                </a:solidFill>
                <a:latin typeface="Arial" panose="020B0604020202020204" pitchFamily="34" charset="0"/>
                <a:ea typeface="Meiryo UI" panose="020B0604030504040204" pitchFamily="50" charset="-128"/>
                <a:cs typeface="Arial" panose="020B0604020202020204" pitchFamily="34" charset="0"/>
              </a:rPr>
              <a:t>product</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59" name="Rectangle 58">
            <a:extLst>
              <a:ext uri="{FF2B5EF4-FFF2-40B4-BE49-F238E27FC236}">
                <a16:creationId xmlns:a16="http://schemas.microsoft.com/office/drawing/2014/main" id="{A0AA5614-D624-9419-355F-38F7291757D9}"/>
              </a:ext>
            </a:extLst>
          </p:cNvPr>
          <p:cNvSpPr/>
          <p:nvPr/>
        </p:nvSpPr>
        <p:spPr>
          <a:xfrm>
            <a:off x="4937280" y="5158744"/>
            <a:ext cx="2240280" cy="765645"/>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Add-on based on innovation, marketability, </a:t>
            </a:r>
            <a:r>
              <a:rPr lang="en-US" noProof="0" dirty="0" err="1">
                <a:solidFill>
                  <a:schemeClr val="tx1"/>
                </a:solidFill>
                <a:latin typeface="Arial" panose="020B0604020202020204" pitchFamily="34" charset="0"/>
                <a:ea typeface="Meiryo UI" panose="020B0604030504040204" pitchFamily="50" charset="-128"/>
                <a:cs typeface="Arial" panose="020B0604020202020204" pitchFamily="34" charset="0"/>
              </a:rPr>
              <a:t>etc</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0" name="Rectangle 59">
            <a:extLst>
              <a:ext uri="{FF2B5EF4-FFF2-40B4-BE49-F238E27FC236}">
                <a16:creationId xmlns:a16="http://schemas.microsoft.com/office/drawing/2014/main" id="{49BCEC6D-D08C-6247-C94D-673758605216}"/>
              </a:ext>
            </a:extLst>
          </p:cNvPr>
          <p:cNvSpPr/>
          <p:nvPr/>
        </p:nvSpPr>
        <p:spPr>
          <a:xfrm>
            <a:off x="7229949" y="4145499"/>
            <a:ext cx="2240280" cy="1778890"/>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Match the lowest price of similar existing </a:t>
            </a:r>
            <a:r>
              <a:rPr lang="en-US" dirty="0">
                <a:solidFill>
                  <a:schemeClr val="tx1"/>
                </a:solidFill>
                <a:latin typeface="Arial" panose="020B0604020202020204" pitchFamily="34" charset="0"/>
                <a:ea typeface="Meiryo UI" panose="020B0604030504040204" pitchFamily="50" charset="-128"/>
                <a:cs typeface="Arial" panose="020B0604020202020204" pitchFamily="34" charset="0"/>
              </a:rPr>
              <a:t>product</a:t>
            </a: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a:t>
            </a:r>
          </a:p>
        </p:txBody>
      </p:sp>
      <p:sp>
        <p:nvSpPr>
          <p:cNvPr id="61" name="Rectangle 60">
            <a:extLst>
              <a:ext uri="{FF2B5EF4-FFF2-40B4-BE49-F238E27FC236}">
                <a16:creationId xmlns:a16="http://schemas.microsoft.com/office/drawing/2014/main" id="{D78E4147-2E5C-B3DE-6586-DFE7A0A9C273}"/>
              </a:ext>
            </a:extLst>
          </p:cNvPr>
          <p:cNvSpPr/>
          <p:nvPr/>
        </p:nvSpPr>
        <p:spPr>
          <a:xfrm>
            <a:off x="9522618" y="3493650"/>
            <a:ext cx="2240280" cy="535564"/>
          </a:xfrm>
          <a:prstGeom prst="rect">
            <a:avLst/>
          </a:prstGeom>
          <a:solidFill>
            <a:srgbClr val="32006E"/>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b="1" noProof="0" dirty="0">
                <a:solidFill>
                  <a:schemeClr val="bg1"/>
                </a:solidFill>
                <a:latin typeface="Arial" panose="020B0604020202020204" pitchFamily="34" charset="0"/>
                <a:ea typeface="Meiryo UI" panose="020B0604030504040204" pitchFamily="50" charset="-128"/>
                <a:cs typeface="Arial" panose="020B0604020202020204" pitchFamily="34" charset="0"/>
              </a:rPr>
              <a:t>Cost-based method </a:t>
            </a:r>
          </a:p>
        </p:txBody>
      </p:sp>
      <p:sp>
        <p:nvSpPr>
          <p:cNvPr id="62" name="Rectangle 61">
            <a:extLst>
              <a:ext uri="{FF2B5EF4-FFF2-40B4-BE49-F238E27FC236}">
                <a16:creationId xmlns:a16="http://schemas.microsoft.com/office/drawing/2014/main" id="{A6A7A1AD-C9FB-A697-8AC2-88D89A8D04B0}"/>
              </a:ext>
            </a:extLst>
          </p:cNvPr>
          <p:cNvSpPr/>
          <p:nvPr/>
        </p:nvSpPr>
        <p:spPr>
          <a:xfrm>
            <a:off x="9522618" y="4145499"/>
            <a:ext cx="2240280" cy="784112"/>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Sum manufacturing costs, operational profit, etc.</a:t>
            </a:r>
          </a:p>
        </p:txBody>
      </p:sp>
      <p:sp>
        <p:nvSpPr>
          <p:cNvPr id="1024" name="Rectangle 1023">
            <a:extLst>
              <a:ext uri="{FF2B5EF4-FFF2-40B4-BE49-F238E27FC236}">
                <a16:creationId xmlns:a16="http://schemas.microsoft.com/office/drawing/2014/main" id="{4A6C9CBB-379B-5F2E-EBB9-9A6CE32DAE14}"/>
              </a:ext>
            </a:extLst>
          </p:cNvPr>
          <p:cNvSpPr/>
          <p:nvPr/>
        </p:nvSpPr>
        <p:spPr>
          <a:xfrm>
            <a:off x="9522618" y="5158745"/>
            <a:ext cx="2240280" cy="765645"/>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Add-on based on innovation, marketability, </a:t>
            </a:r>
            <a:r>
              <a:rPr lang="en-US" noProof="0" dirty="0" err="1">
                <a:solidFill>
                  <a:schemeClr val="tx1"/>
                </a:solidFill>
                <a:latin typeface="Arial" panose="020B0604020202020204" pitchFamily="34" charset="0"/>
                <a:ea typeface="Meiryo UI" panose="020B0604030504040204" pitchFamily="50" charset="-128"/>
                <a:cs typeface="Arial" panose="020B0604020202020204" pitchFamily="34" charset="0"/>
              </a:rPr>
              <a:t>etc</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1025" name="Straight Arrow Connector 1024">
            <a:extLst>
              <a:ext uri="{FF2B5EF4-FFF2-40B4-BE49-F238E27FC236}">
                <a16:creationId xmlns:a16="http://schemas.microsoft.com/office/drawing/2014/main" id="{0EC8C07C-C9BF-CF88-45ED-1D911860E0DE}"/>
              </a:ext>
              <a:ext uri="{C183D7F6-B498-43B3-948B-1728B52AA6E4}">
                <adec:decorative xmlns:adec="http://schemas.microsoft.com/office/drawing/2017/decorative" val="1"/>
              </a:ext>
            </a:extLst>
          </p:cNvPr>
          <p:cNvCxnSpPr>
            <a:cxnSpLocks/>
            <a:stCxn id="31" idx="2"/>
            <a:endCxn id="41" idx="0"/>
          </p:cNvCxnSpPr>
          <p:nvPr/>
        </p:nvCxnSpPr>
        <p:spPr>
          <a:xfrm>
            <a:off x="3150338" y="3156602"/>
            <a:ext cx="0" cy="20061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0" name="Straight Arrow Connector 1029">
            <a:extLst>
              <a:ext uri="{FF2B5EF4-FFF2-40B4-BE49-F238E27FC236}">
                <a16:creationId xmlns:a16="http://schemas.microsoft.com/office/drawing/2014/main" id="{59908BC3-BD0C-4B06-954A-77F7D63D3729}"/>
              </a:ext>
              <a:ext uri="{C183D7F6-B498-43B3-948B-1728B52AA6E4}">
                <adec:decorative xmlns:adec="http://schemas.microsoft.com/office/drawing/2017/decorative" val="1"/>
              </a:ext>
            </a:extLst>
          </p:cNvPr>
          <p:cNvCxnSpPr>
            <a:cxnSpLocks/>
            <a:stCxn id="41" idx="2"/>
            <a:endCxn id="40" idx="0"/>
          </p:cNvCxnSpPr>
          <p:nvPr/>
        </p:nvCxnSpPr>
        <p:spPr>
          <a:xfrm>
            <a:off x="3150338" y="3763112"/>
            <a:ext cx="0" cy="20061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1" name="Straight Arrow Connector 1030">
            <a:extLst>
              <a:ext uri="{FF2B5EF4-FFF2-40B4-BE49-F238E27FC236}">
                <a16:creationId xmlns:a16="http://schemas.microsoft.com/office/drawing/2014/main" id="{29CABA25-20E6-175A-7B7A-42462EA0CC5F}"/>
              </a:ext>
              <a:ext uri="{C183D7F6-B498-43B3-948B-1728B52AA6E4}">
                <adec:decorative xmlns:adec="http://schemas.microsoft.com/office/drawing/2017/decorative" val="1"/>
              </a:ext>
            </a:extLst>
          </p:cNvPr>
          <p:cNvCxnSpPr>
            <a:cxnSpLocks/>
            <a:stCxn id="40" idx="2"/>
            <a:endCxn id="33" idx="0"/>
          </p:cNvCxnSpPr>
          <p:nvPr/>
        </p:nvCxnSpPr>
        <p:spPr>
          <a:xfrm>
            <a:off x="3150338" y="4369622"/>
            <a:ext cx="0" cy="20061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2" name="Straight Arrow Connector 1031">
            <a:extLst>
              <a:ext uri="{FF2B5EF4-FFF2-40B4-BE49-F238E27FC236}">
                <a16:creationId xmlns:a16="http://schemas.microsoft.com/office/drawing/2014/main" id="{85E42D7F-F5F9-47A2-0267-428374401248}"/>
              </a:ext>
              <a:ext uri="{C183D7F6-B498-43B3-948B-1728B52AA6E4}">
                <adec:decorative xmlns:adec="http://schemas.microsoft.com/office/drawing/2017/decorative" val="1"/>
              </a:ext>
            </a:extLst>
          </p:cNvPr>
          <p:cNvCxnSpPr>
            <a:cxnSpLocks/>
            <a:stCxn id="33" idx="2"/>
            <a:endCxn id="46" idx="0"/>
          </p:cNvCxnSpPr>
          <p:nvPr/>
        </p:nvCxnSpPr>
        <p:spPr>
          <a:xfrm>
            <a:off x="3150338" y="4976132"/>
            <a:ext cx="0" cy="20170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3" name="Straight Arrow Connector 1032">
            <a:extLst>
              <a:ext uri="{FF2B5EF4-FFF2-40B4-BE49-F238E27FC236}">
                <a16:creationId xmlns:a16="http://schemas.microsoft.com/office/drawing/2014/main" id="{AE7BA289-B04B-67D6-67B5-DBDA6AC86264}"/>
              </a:ext>
              <a:ext uri="{C183D7F6-B498-43B3-948B-1728B52AA6E4}">
                <adec:decorative xmlns:adec="http://schemas.microsoft.com/office/drawing/2017/decorative" val="1"/>
              </a:ext>
            </a:extLst>
          </p:cNvPr>
          <p:cNvCxnSpPr>
            <a:cxnSpLocks/>
            <a:stCxn id="46" idx="2"/>
            <a:endCxn id="48" idx="0"/>
          </p:cNvCxnSpPr>
          <p:nvPr/>
        </p:nvCxnSpPr>
        <p:spPr>
          <a:xfrm>
            <a:off x="3150338" y="5583733"/>
            <a:ext cx="0" cy="21274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4" name="Straight Arrow Connector 1033">
            <a:extLst>
              <a:ext uri="{FF2B5EF4-FFF2-40B4-BE49-F238E27FC236}">
                <a16:creationId xmlns:a16="http://schemas.microsoft.com/office/drawing/2014/main" id="{7F1FF833-AE3E-6935-9925-6279CA5099B2}"/>
              </a:ext>
              <a:ext uri="{C183D7F6-B498-43B3-948B-1728B52AA6E4}">
                <adec:decorative xmlns:adec="http://schemas.microsoft.com/office/drawing/2017/decorative" val="1"/>
              </a:ext>
            </a:extLst>
          </p:cNvPr>
          <p:cNvCxnSpPr>
            <a:cxnSpLocks/>
            <a:stCxn id="56" idx="2"/>
            <a:endCxn id="58" idx="0"/>
          </p:cNvCxnSpPr>
          <p:nvPr/>
        </p:nvCxnSpPr>
        <p:spPr>
          <a:xfrm>
            <a:off x="6057420" y="4029215"/>
            <a:ext cx="0" cy="13740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5" name="Straight Arrow Connector 1034">
            <a:extLst>
              <a:ext uri="{FF2B5EF4-FFF2-40B4-BE49-F238E27FC236}">
                <a16:creationId xmlns:a16="http://schemas.microsoft.com/office/drawing/2014/main" id="{81D33486-DE82-52C8-9CAD-EDC909023D55}"/>
              </a:ext>
              <a:ext uri="{C183D7F6-B498-43B3-948B-1728B52AA6E4}">
                <adec:decorative xmlns:adec="http://schemas.microsoft.com/office/drawing/2017/decorative" val="1"/>
              </a:ext>
            </a:extLst>
          </p:cNvPr>
          <p:cNvCxnSpPr>
            <a:cxnSpLocks/>
            <a:stCxn id="57" idx="2"/>
            <a:endCxn id="60" idx="0"/>
          </p:cNvCxnSpPr>
          <p:nvPr/>
        </p:nvCxnSpPr>
        <p:spPr>
          <a:xfrm>
            <a:off x="8350089" y="4029215"/>
            <a:ext cx="0" cy="11628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5" name="Connector: Elbow 1044">
            <a:extLst>
              <a:ext uri="{FF2B5EF4-FFF2-40B4-BE49-F238E27FC236}">
                <a16:creationId xmlns:a16="http://schemas.microsoft.com/office/drawing/2014/main" id="{9601E0DE-96E7-1566-590D-4200C958FCD9}"/>
              </a:ext>
              <a:ext uri="{C183D7F6-B498-43B3-948B-1728B52AA6E4}">
                <adec:decorative xmlns:adec="http://schemas.microsoft.com/office/drawing/2017/decorative" val="1"/>
              </a:ext>
            </a:extLst>
          </p:cNvPr>
          <p:cNvCxnSpPr>
            <a:cxnSpLocks/>
            <a:stCxn id="48" idx="2"/>
            <a:endCxn id="53" idx="0"/>
          </p:cNvCxnSpPr>
          <p:nvPr/>
        </p:nvCxnSpPr>
        <p:spPr>
          <a:xfrm rot="5400000" flipH="1" flipV="1">
            <a:off x="3445690" y="2445280"/>
            <a:ext cx="3461733" cy="4052439"/>
          </a:xfrm>
          <a:prstGeom prst="bentConnector5">
            <a:avLst>
              <a:gd name="adj1" fmla="val -6604"/>
              <a:gd name="adj2" fmla="val 39839"/>
              <a:gd name="adj3" fmla="val 10440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51" name="Rectangle 1050">
            <a:extLst>
              <a:ext uri="{FF2B5EF4-FFF2-40B4-BE49-F238E27FC236}">
                <a16:creationId xmlns:a16="http://schemas.microsoft.com/office/drawing/2014/main" id="{3081A5A5-F2FB-7F90-EBA8-B435588A2E33}"/>
              </a:ext>
            </a:extLst>
          </p:cNvPr>
          <p:cNvSpPr/>
          <p:nvPr/>
        </p:nvSpPr>
        <p:spPr>
          <a:xfrm>
            <a:off x="4937280" y="6115955"/>
            <a:ext cx="6825615" cy="335031"/>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Foreign Price Adjustment</a:t>
            </a:r>
          </a:p>
        </p:txBody>
      </p:sp>
      <p:cxnSp>
        <p:nvCxnSpPr>
          <p:cNvPr id="1052" name="Connector: Elbow 1051">
            <a:extLst>
              <a:ext uri="{FF2B5EF4-FFF2-40B4-BE49-F238E27FC236}">
                <a16:creationId xmlns:a16="http://schemas.microsoft.com/office/drawing/2014/main" id="{C269BC6E-ABE0-FED3-C550-C7062B02C8F0}"/>
              </a:ext>
              <a:ext uri="{C183D7F6-B498-43B3-948B-1728B52AA6E4}">
                <adec:decorative xmlns:adec="http://schemas.microsoft.com/office/drawing/2017/decorative" val="1"/>
              </a:ext>
            </a:extLst>
          </p:cNvPr>
          <p:cNvCxnSpPr>
            <a:cxnSpLocks/>
            <a:stCxn id="48" idx="2"/>
            <a:endCxn id="54" idx="0"/>
          </p:cNvCxnSpPr>
          <p:nvPr/>
        </p:nvCxnSpPr>
        <p:spPr>
          <a:xfrm rot="5400000" flipH="1" flipV="1">
            <a:off x="5165681" y="725290"/>
            <a:ext cx="3461733" cy="7492420"/>
          </a:xfrm>
          <a:prstGeom prst="bentConnector5">
            <a:avLst>
              <a:gd name="adj1" fmla="val -6604"/>
              <a:gd name="adj2" fmla="val 21507"/>
              <a:gd name="adj3" fmla="val 104356"/>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0" name="Straight Arrow Connector 1059">
            <a:extLst>
              <a:ext uri="{FF2B5EF4-FFF2-40B4-BE49-F238E27FC236}">
                <a16:creationId xmlns:a16="http://schemas.microsoft.com/office/drawing/2014/main" id="{125CA50F-C9A5-AD07-AC7E-6D95D5B57CF8}"/>
              </a:ext>
              <a:ext uri="{C183D7F6-B498-43B3-948B-1728B52AA6E4}">
                <adec:decorative xmlns:adec="http://schemas.microsoft.com/office/drawing/2017/decorative" val="1"/>
              </a:ext>
            </a:extLst>
          </p:cNvPr>
          <p:cNvCxnSpPr>
            <a:cxnSpLocks/>
            <a:stCxn id="58" idx="2"/>
            <a:endCxn id="59" idx="0"/>
          </p:cNvCxnSpPr>
          <p:nvPr/>
        </p:nvCxnSpPr>
        <p:spPr>
          <a:xfrm>
            <a:off x="6057420" y="4932261"/>
            <a:ext cx="0" cy="22648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2" name="Straight Arrow Connector 1071">
            <a:extLst>
              <a:ext uri="{FF2B5EF4-FFF2-40B4-BE49-F238E27FC236}">
                <a16:creationId xmlns:a16="http://schemas.microsoft.com/office/drawing/2014/main" id="{B957A092-AC20-0EA4-D5E1-7181F005DADB}"/>
              </a:ext>
              <a:ext uri="{C183D7F6-B498-43B3-948B-1728B52AA6E4}">
                <adec:decorative xmlns:adec="http://schemas.microsoft.com/office/drawing/2017/decorative" val="1"/>
              </a:ext>
            </a:extLst>
          </p:cNvPr>
          <p:cNvCxnSpPr>
            <a:cxnSpLocks/>
            <a:stCxn id="61" idx="2"/>
            <a:endCxn id="62" idx="0"/>
          </p:cNvCxnSpPr>
          <p:nvPr/>
        </p:nvCxnSpPr>
        <p:spPr>
          <a:xfrm>
            <a:off x="10642758" y="4029214"/>
            <a:ext cx="0" cy="11628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5" name="Straight Arrow Connector 1074">
            <a:extLst>
              <a:ext uri="{FF2B5EF4-FFF2-40B4-BE49-F238E27FC236}">
                <a16:creationId xmlns:a16="http://schemas.microsoft.com/office/drawing/2014/main" id="{2B6ADA0C-DE99-68F8-7BCB-1BB2D4C4DEDC}"/>
              </a:ext>
              <a:ext uri="{C183D7F6-B498-43B3-948B-1728B52AA6E4}">
                <adec:decorative xmlns:adec="http://schemas.microsoft.com/office/drawing/2017/decorative" val="1"/>
              </a:ext>
            </a:extLst>
          </p:cNvPr>
          <p:cNvCxnSpPr>
            <a:cxnSpLocks/>
            <a:stCxn id="62" idx="2"/>
            <a:endCxn id="1024" idx="0"/>
          </p:cNvCxnSpPr>
          <p:nvPr/>
        </p:nvCxnSpPr>
        <p:spPr>
          <a:xfrm>
            <a:off x="10642758" y="4929611"/>
            <a:ext cx="0" cy="22913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8" name="Connector: Elbow 1077">
            <a:extLst>
              <a:ext uri="{FF2B5EF4-FFF2-40B4-BE49-F238E27FC236}">
                <a16:creationId xmlns:a16="http://schemas.microsoft.com/office/drawing/2014/main" id="{36EAA816-BB8A-4E5F-0BFC-18874EFDD33D}"/>
              </a:ext>
              <a:ext uri="{C183D7F6-B498-43B3-948B-1728B52AA6E4}">
                <adec:decorative xmlns:adec="http://schemas.microsoft.com/office/drawing/2017/decorative" val="1"/>
              </a:ext>
            </a:extLst>
          </p:cNvPr>
          <p:cNvCxnSpPr>
            <a:cxnSpLocks/>
            <a:stCxn id="53" idx="2"/>
            <a:endCxn id="56" idx="0"/>
          </p:cNvCxnSpPr>
          <p:nvPr/>
        </p:nvCxnSpPr>
        <p:spPr>
          <a:xfrm rot="5400000">
            <a:off x="6456536" y="2747410"/>
            <a:ext cx="347126" cy="1145357"/>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1" name="Connector: Elbow 1080">
            <a:extLst>
              <a:ext uri="{FF2B5EF4-FFF2-40B4-BE49-F238E27FC236}">
                <a16:creationId xmlns:a16="http://schemas.microsoft.com/office/drawing/2014/main" id="{69364B37-D993-66FC-0530-27D4CEE7C355}"/>
              </a:ext>
              <a:ext uri="{C183D7F6-B498-43B3-948B-1728B52AA6E4}">
                <adec:decorative xmlns:adec="http://schemas.microsoft.com/office/drawing/2017/decorative" val="1"/>
              </a:ext>
            </a:extLst>
          </p:cNvPr>
          <p:cNvCxnSpPr>
            <a:cxnSpLocks/>
            <a:stCxn id="53" idx="2"/>
            <a:endCxn id="57" idx="0"/>
          </p:cNvCxnSpPr>
          <p:nvPr/>
        </p:nvCxnSpPr>
        <p:spPr>
          <a:xfrm rot="16200000" flipH="1">
            <a:off x="7602870" y="2746432"/>
            <a:ext cx="347126" cy="1147312"/>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4" name="Straight Arrow Connector 1083">
            <a:extLst>
              <a:ext uri="{FF2B5EF4-FFF2-40B4-BE49-F238E27FC236}">
                <a16:creationId xmlns:a16="http://schemas.microsoft.com/office/drawing/2014/main" id="{808EA87E-A09D-3EFD-C2B9-764BD434EBD9}"/>
              </a:ext>
              <a:ext uri="{C183D7F6-B498-43B3-948B-1728B52AA6E4}">
                <adec:decorative xmlns:adec="http://schemas.microsoft.com/office/drawing/2017/decorative" val="1"/>
              </a:ext>
            </a:extLst>
          </p:cNvPr>
          <p:cNvCxnSpPr>
            <a:cxnSpLocks/>
            <a:stCxn id="54" idx="2"/>
            <a:endCxn id="61" idx="0"/>
          </p:cNvCxnSpPr>
          <p:nvPr/>
        </p:nvCxnSpPr>
        <p:spPr>
          <a:xfrm>
            <a:off x="10642758" y="3146525"/>
            <a:ext cx="0" cy="34712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90" name="Rectangle 1089">
            <a:extLst>
              <a:ext uri="{FF2B5EF4-FFF2-40B4-BE49-F238E27FC236}">
                <a16:creationId xmlns:a16="http://schemas.microsoft.com/office/drawing/2014/main" id="{A2DFB944-CB6A-A446-C51A-9044702DAD9E}"/>
              </a:ext>
            </a:extLst>
          </p:cNvPr>
          <p:cNvSpPr/>
          <p:nvPr/>
        </p:nvSpPr>
        <p:spPr>
          <a:xfrm>
            <a:off x="5135552" y="3214031"/>
            <a:ext cx="771973"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Novelty</a:t>
            </a:r>
          </a:p>
        </p:txBody>
      </p:sp>
      <p:sp>
        <p:nvSpPr>
          <p:cNvPr id="1094" name="Rectangle 1093">
            <a:extLst>
              <a:ext uri="{FF2B5EF4-FFF2-40B4-BE49-F238E27FC236}">
                <a16:creationId xmlns:a16="http://schemas.microsoft.com/office/drawing/2014/main" id="{C50FB7A4-3B3C-71F2-5E0F-39D995974CC7}"/>
              </a:ext>
            </a:extLst>
          </p:cNvPr>
          <p:cNvSpPr/>
          <p:nvPr/>
        </p:nvSpPr>
        <p:spPr>
          <a:xfrm>
            <a:off x="8449816" y="3236064"/>
            <a:ext cx="1027496" cy="2098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No novelty</a:t>
            </a:r>
          </a:p>
        </p:txBody>
      </p:sp>
      <p:cxnSp>
        <p:nvCxnSpPr>
          <p:cNvPr id="1095" name="Straight Arrow Connector 1094">
            <a:extLst>
              <a:ext uri="{FF2B5EF4-FFF2-40B4-BE49-F238E27FC236}">
                <a16:creationId xmlns:a16="http://schemas.microsoft.com/office/drawing/2014/main" id="{C45266E2-888B-F45C-93CF-D9BDC6DBBA32}"/>
              </a:ext>
              <a:ext uri="{C183D7F6-B498-43B3-948B-1728B52AA6E4}">
                <adec:decorative xmlns:adec="http://schemas.microsoft.com/office/drawing/2017/decorative" val="1"/>
              </a:ext>
            </a:extLst>
          </p:cNvPr>
          <p:cNvCxnSpPr>
            <a:cxnSpLocks/>
            <a:stCxn id="59" idx="2"/>
          </p:cNvCxnSpPr>
          <p:nvPr/>
        </p:nvCxnSpPr>
        <p:spPr>
          <a:xfrm>
            <a:off x="6057420" y="5924389"/>
            <a:ext cx="8380" cy="19156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2" name="Straight Arrow Connector 1101">
            <a:extLst>
              <a:ext uri="{FF2B5EF4-FFF2-40B4-BE49-F238E27FC236}">
                <a16:creationId xmlns:a16="http://schemas.microsoft.com/office/drawing/2014/main" id="{8AC55CCF-03E4-6136-3413-EC75F4E82E55}"/>
              </a:ext>
              <a:ext uri="{C183D7F6-B498-43B3-948B-1728B52AA6E4}">
                <adec:decorative xmlns:adec="http://schemas.microsoft.com/office/drawing/2017/decorative" val="1"/>
              </a:ext>
            </a:extLst>
          </p:cNvPr>
          <p:cNvCxnSpPr>
            <a:cxnSpLocks/>
          </p:cNvCxnSpPr>
          <p:nvPr/>
        </p:nvCxnSpPr>
        <p:spPr>
          <a:xfrm flipH="1">
            <a:off x="8429744" y="5924389"/>
            <a:ext cx="1" cy="19156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4" name="Straight Arrow Connector 1103">
            <a:extLst>
              <a:ext uri="{FF2B5EF4-FFF2-40B4-BE49-F238E27FC236}">
                <a16:creationId xmlns:a16="http://schemas.microsoft.com/office/drawing/2014/main" id="{95E3CF15-0DD5-8EE7-A7E7-B354FEACA58D}"/>
              </a:ext>
              <a:ext uri="{C183D7F6-B498-43B3-948B-1728B52AA6E4}">
                <adec:decorative xmlns:adec="http://schemas.microsoft.com/office/drawing/2017/decorative" val="1"/>
              </a:ext>
            </a:extLst>
          </p:cNvPr>
          <p:cNvCxnSpPr>
            <a:cxnSpLocks/>
          </p:cNvCxnSpPr>
          <p:nvPr/>
        </p:nvCxnSpPr>
        <p:spPr>
          <a:xfrm flipH="1">
            <a:off x="10695089" y="5924389"/>
            <a:ext cx="1" cy="19156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67443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AF47D-94A9-ACBF-BAFE-E44063E1B4C0}"/>
            </a:ext>
          </a:extLst>
        </p:cNvPr>
        <p:cNvGrpSpPr/>
        <p:nvPr/>
      </p:nvGrpSpPr>
      <p:grpSpPr>
        <a:xfrm>
          <a:off x="0" y="0"/>
          <a:ext cx="0" cy="0"/>
          <a:chOff x="0" y="0"/>
          <a:chExt cx="0" cy="0"/>
        </a:xfrm>
      </p:grpSpPr>
      <p:sp>
        <p:nvSpPr>
          <p:cNvPr id="26" name="Rectangle 25" descr="Ministiry of Health Central Social Insurance Medical Council.">
            <a:extLst>
              <a:ext uri="{FF2B5EF4-FFF2-40B4-BE49-F238E27FC236}">
                <a16:creationId xmlns:a16="http://schemas.microsoft.com/office/drawing/2014/main" id="{395F2DFA-F73A-C739-DC04-A5A937EF1362}"/>
              </a:ext>
            </a:extLst>
          </p:cNvPr>
          <p:cNvSpPr/>
          <p:nvPr/>
        </p:nvSpPr>
        <p:spPr>
          <a:xfrm>
            <a:off x="1013084" y="4711215"/>
            <a:ext cx="6116868" cy="4728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
        <p:nvSpPr>
          <p:cNvPr id="2" name="Title 1">
            <a:extLst>
              <a:ext uri="{FF2B5EF4-FFF2-40B4-BE49-F238E27FC236}">
                <a16:creationId xmlns:a16="http://schemas.microsoft.com/office/drawing/2014/main" id="{381BF078-664A-0297-178C-D942C5749273}"/>
              </a:ext>
            </a:extLst>
          </p:cNvPr>
          <p:cNvSpPr>
            <a:spLocks noGrp="1"/>
          </p:cNvSpPr>
          <p:nvPr>
            <p:ph type="title"/>
          </p:nvPr>
        </p:nvSpPr>
        <p:spPr/>
        <p:txBody>
          <a:bodyPr/>
          <a:lstStyle/>
          <a:p>
            <a:r>
              <a:rPr lang="en-US" noProof="0" dirty="0"/>
              <a:t>Fee schedule revision</a:t>
            </a:r>
          </a:p>
        </p:txBody>
      </p:sp>
      <p:sp>
        <p:nvSpPr>
          <p:cNvPr id="4" name="Slide Number Placeholder 3">
            <a:extLst>
              <a:ext uri="{FF2B5EF4-FFF2-40B4-BE49-F238E27FC236}">
                <a16:creationId xmlns:a16="http://schemas.microsoft.com/office/drawing/2014/main" id="{A4A3D521-232D-08C6-805B-F22571E06BF7}"/>
              </a:ext>
            </a:extLst>
          </p:cNvPr>
          <p:cNvSpPr>
            <a:spLocks noGrp="1"/>
          </p:cNvSpPr>
          <p:nvPr>
            <p:ph type="sldNum" sz="quarter" idx="4"/>
          </p:nvPr>
        </p:nvSpPr>
        <p:spPr/>
        <p:txBody>
          <a:bodyPr/>
          <a:lstStyle/>
          <a:p>
            <a:fld id="{B5CEABB6-07DC-46E8-9B57-56EC44A396E5}" type="slidenum">
              <a:rPr lang="en-US" noProof="0" smtClean="0"/>
              <a:pPr/>
              <a:t>17</a:t>
            </a:fld>
            <a:endParaRPr lang="en-US" noProof="0" dirty="0"/>
          </a:p>
        </p:txBody>
      </p:sp>
      <p:sp>
        <p:nvSpPr>
          <p:cNvPr id="5" name="Table Placeholder 4">
            <a:extLst>
              <a:ext uri="{FF2B5EF4-FFF2-40B4-BE49-F238E27FC236}">
                <a16:creationId xmlns:a16="http://schemas.microsoft.com/office/drawing/2014/main" id="{28E15F44-5701-FFA1-7DF3-0FE661A15DF7}"/>
              </a:ext>
            </a:extLst>
          </p:cNvPr>
          <p:cNvSpPr>
            <a:spLocks noGrp="1"/>
          </p:cNvSpPr>
          <p:nvPr>
            <p:ph type="tbl" sz="quarter" idx="11"/>
          </p:nvPr>
        </p:nvSpPr>
        <p:spPr/>
        <p:txBody>
          <a:bodyPr/>
          <a:lstStyle/>
          <a:p>
            <a:r>
              <a:rPr lang="en-US" dirty="0"/>
              <a:t>M</a:t>
            </a:r>
            <a:r>
              <a:rPr lang="en-US" noProof="0" dirty="0" err="1"/>
              <a:t>edical</a:t>
            </a:r>
            <a:r>
              <a:rPr lang="en-US" noProof="0" dirty="0"/>
              <a:t> fee schedule is revised every other year</a:t>
            </a:r>
            <a:r>
              <a:rPr lang="ja-JP" altLang="en-US" dirty="0"/>
              <a:t> </a:t>
            </a:r>
            <a:r>
              <a:rPr lang="en-US" altLang="ja-JP" dirty="0"/>
              <a:t>considering</a:t>
            </a:r>
            <a:r>
              <a:rPr lang="ja-JP" altLang="en-US" dirty="0"/>
              <a:t> </a:t>
            </a:r>
            <a:r>
              <a:rPr lang="en-US" altLang="ja-JP" dirty="0"/>
              <a:t>the</a:t>
            </a:r>
            <a:r>
              <a:rPr lang="ja-JP" altLang="en-US" dirty="0"/>
              <a:t> </a:t>
            </a:r>
            <a:r>
              <a:rPr lang="en-US" altLang="ja-JP" dirty="0"/>
              <a:t>overall</a:t>
            </a:r>
            <a:r>
              <a:rPr lang="ja-JP" altLang="en-US" dirty="0"/>
              <a:t> </a:t>
            </a:r>
            <a:r>
              <a:rPr lang="en-US" altLang="ja-JP" dirty="0"/>
              <a:t>national</a:t>
            </a:r>
            <a:r>
              <a:rPr lang="ja-JP" altLang="en-US" dirty="0"/>
              <a:t> </a:t>
            </a:r>
            <a:r>
              <a:rPr lang="en-US" altLang="ja-JP" dirty="0"/>
              <a:t>budget</a:t>
            </a:r>
            <a:r>
              <a:rPr lang="ja-JP" altLang="en-US" dirty="0"/>
              <a:t> </a:t>
            </a:r>
            <a:r>
              <a:rPr lang="en-US" altLang="ja-JP" dirty="0"/>
              <a:t>and</a:t>
            </a:r>
            <a:r>
              <a:rPr lang="ja-JP" altLang="en-US" dirty="0"/>
              <a:t> </a:t>
            </a:r>
            <a:r>
              <a:rPr lang="en-US" altLang="ja-JP" dirty="0"/>
              <a:t>basic</a:t>
            </a:r>
            <a:r>
              <a:rPr lang="ja-JP" altLang="en-US" dirty="0"/>
              <a:t> </a:t>
            </a:r>
            <a:r>
              <a:rPr lang="en-US" altLang="ja-JP" dirty="0"/>
              <a:t>policy.</a:t>
            </a:r>
            <a:r>
              <a:rPr lang="ja-JP" altLang="en-US" dirty="0"/>
              <a:t> </a:t>
            </a:r>
            <a:endParaRPr lang="en-US" noProof="0" dirty="0"/>
          </a:p>
        </p:txBody>
      </p:sp>
      <p:grpSp>
        <p:nvGrpSpPr>
          <p:cNvPr id="10" name="Group 9">
            <a:extLst>
              <a:ext uri="{FF2B5EF4-FFF2-40B4-BE49-F238E27FC236}">
                <a16:creationId xmlns:a16="http://schemas.microsoft.com/office/drawing/2014/main" id="{ABBB5480-ABCF-57F9-2563-7A6B5F64DA8A}"/>
              </a:ext>
              <a:ext uri="{C183D7F6-B498-43B3-948B-1728B52AA6E4}">
                <adec:decorative xmlns:adec="http://schemas.microsoft.com/office/drawing/2017/decorative" val="1"/>
              </a:ext>
            </a:extLst>
          </p:cNvPr>
          <p:cNvGrpSpPr/>
          <p:nvPr/>
        </p:nvGrpSpPr>
        <p:grpSpPr>
          <a:xfrm>
            <a:off x="467139" y="108959"/>
            <a:ext cx="4197304" cy="307297"/>
            <a:chOff x="562270" y="127168"/>
            <a:chExt cx="4197304" cy="307297"/>
          </a:xfrm>
        </p:grpSpPr>
        <p:sp>
          <p:nvSpPr>
            <p:cNvPr id="11" name="Arrow: Pentagon 10">
              <a:extLst>
                <a:ext uri="{FF2B5EF4-FFF2-40B4-BE49-F238E27FC236}">
                  <a16:creationId xmlns:a16="http://schemas.microsoft.com/office/drawing/2014/main" id="{B5EC123F-0A3D-1CCD-2D5D-B824F9E5EF63}"/>
                </a:ext>
              </a:extLst>
            </p:cNvPr>
            <p:cNvSpPr/>
            <p:nvPr/>
          </p:nvSpPr>
          <p:spPr>
            <a:xfrm>
              <a:off x="3192565"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③AI</a:t>
              </a:r>
            </a:p>
          </p:txBody>
        </p:sp>
        <p:sp>
          <p:nvSpPr>
            <p:cNvPr id="12" name="Arrow: Pentagon 11">
              <a:extLst>
                <a:ext uri="{FF2B5EF4-FFF2-40B4-BE49-F238E27FC236}">
                  <a16:creationId xmlns:a16="http://schemas.microsoft.com/office/drawing/2014/main" id="{AC12AFC5-EFDE-4835-B09E-7FF18AFCC459}"/>
                </a:ext>
              </a:extLst>
            </p:cNvPr>
            <p:cNvSpPr/>
            <p:nvPr/>
          </p:nvSpPr>
          <p:spPr>
            <a:xfrm>
              <a:off x="1817136" y="127168"/>
              <a:ext cx="1567009" cy="307297"/>
            </a:xfrm>
            <a:prstGeom prst="homePlate">
              <a:avLst/>
            </a:prstGeom>
            <a:solidFill>
              <a:srgbClr val="32006E"/>
            </a:solidFill>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②Regulation</a:t>
              </a:r>
            </a:p>
          </p:txBody>
        </p:sp>
        <p:sp>
          <p:nvSpPr>
            <p:cNvPr id="13" name="Arrow: Pentagon 12">
              <a:extLst>
                <a:ext uri="{FF2B5EF4-FFF2-40B4-BE49-F238E27FC236}">
                  <a16:creationId xmlns:a16="http://schemas.microsoft.com/office/drawing/2014/main" id="{94FC181E-AE29-988D-0FD1-BE0CE4FE3297}"/>
                </a:ext>
              </a:extLst>
            </p:cNvPr>
            <p:cNvSpPr/>
            <p:nvPr/>
          </p:nvSpPr>
          <p:spPr>
            <a:xfrm>
              <a:off x="562270"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①Insurance</a:t>
              </a:r>
            </a:p>
          </p:txBody>
        </p:sp>
      </p:grpSp>
      <p:sp>
        <p:nvSpPr>
          <p:cNvPr id="41" name="Rectangle 40">
            <a:extLst>
              <a:ext uri="{FF2B5EF4-FFF2-40B4-BE49-F238E27FC236}">
                <a16:creationId xmlns:a16="http://schemas.microsoft.com/office/drawing/2014/main" id="{999BD91A-9682-F613-C17E-A99B583986E8}"/>
              </a:ext>
            </a:extLst>
          </p:cNvPr>
          <p:cNvSpPr/>
          <p:nvPr/>
        </p:nvSpPr>
        <p:spPr>
          <a:xfrm>
            <a:off x="467140" y="2977558"/>
            <a:ext cx="2930578" cy="843671"/>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Decide revision rate based on healthcare budget</a:t>
            </a:r>
          </a:p>
        </p:txBody>
      </p:sp>
      <p:pic>
        <p:nvPicPr>
          <p:cNvPr id="1026" name="Picture 2" descr="Ministry of Health, Labour and Welfare">
            <a:extLst>
              <a:ext uri="{FF2B5EF4-FFF2-40B4-BE49-F238E27FC236}">
                <a16:creationId xmlns:a16="http://schemas.microsoft.com/office/drawing/2014/main" id="{EE900194-78DC-611E-5E29-2810A650E61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140" t="9386" r="8112" b="13755"/>
          <a:stretch>
            <a:fillRect/>
          </a:stretch>
        </p:blipFill>
        <p:spPr bwMode="auto">
          <a:xfrm>
            <a:off x="3804349" y="2458901"/>
            <a:ext cx="1396233" cy="408575"/>
          </a:xfrm>
          <a:prstGeom prst="rect">
            <a:avLst/>
          </a:prstGeom>
          <a:noFill/>
          <a:extLst>
            <a:ext uri="{909E8E84-426E-40DD-AFC4-6F175D3DCCD1}">
              <a14:hiddenFill xmlns:a14="http://schemas.microsoft.com/office/drawing/2010/main">
                <a:solidFill>
                  <a:srgbClr val="FFFFFF"/>
                </a:solidFill>
              </a14:hiddenFill>
            </a:ext>
          </a:extLst>
        </p:spPr>
      </p:pic>
      <p:pic>
        <p:nvPicPr>
          <p:cNvPr id="7" name="Graphic 6" descr="Cabinet office in Japan">
            <a:extLst>
              <a:ext uri="{FF2B5EF4-FFF2-40B4-BE49-F238E27FC236}">
                <a16:creationId xmlns:a16="http://schemas.microsoft.com/office/drawing/2014/main" id="{0BF85EEE-8BDB-2A9E-965D-CB81E4B9CA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9954" y="2434589"/>
            <a:ext cx="1504950" cy="457200"/>
          </a:xfrm>
          <a:prstGeom prst="rect">
            <a:avLst/>
          </a:prstGeom>
        </p:spPr>
      </p:pic>
      <p:sp>
        <p:nvSpPr>
          <p:cNvPr id="14" name="Rectangle 13">
            <a:extLst>
              <a:ext uri="{FF2B5EF4-FFF2-40B4-BE49-F238E27FC236}">
                <a16:creationId xmlns:a16="http://schemas.microsoft.com/office/drawing/2014/main" id="{E772CA41-26FF-6DC7-51F2-5CB4CBC48048}"/>
              </a:ext>
            </a:extLst>
          </p:cNvPr>
          <p:cNvSpPr/>
          <p:nvPr/>
        </p:nvSpPr>
        <p:spPr>
          <a:xfrm>
            <a:off x="5200582" y="2434589"/>
            <a:ext cx="2475316"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Social Security Council </a:t>
            </a:r>
            <a:endPar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a:p>
            <a:pPr algn="ctr"/>
            <a:r>
              <a:rPr lang="en-US" sz="1200" noProof="0" dirty="0">
                <a:solidFill>
                  <a:schemeClr val="tx1"/>
                </a:solidFill>
                <a:latin typeface="Arial" panose="020B0604020202020204" pitchFamily="34" charset="0"/>
                <a:ea typeface="Meiryo UI" panose="020B0604030504040204" pitchFamily="50" charset="-128"/>
                <a:cs typeface="Arial" panose="020B0604020202020204" pitchFamily="34" charset="0"/>
              </a:rPr>
              <a:t>(Health Insurance WG/Medical WG)</a:t>
            </a:r>
          </a:p>
        </p:txBody>
      </p:sp>
      <p:sp>
        <p:nvSpPr>
          <p:cNvPr id="15" name="Rectangle 14">
            <a:extLst>
              <a:ext uri="{FF2B5EF4-FFF2-40B4-BE49-F238E27FC236}">
                <a16:creationId xmlns:a16="http://schemas.microsoft.com/office/drawing/2014/main" id="{284B1551-FA19-4967-70AE-88DF8DF64270}"/>
              </a:ext>
            </a:extLst>
          </p:cNvPr>
          <p:cNvSpPr/>
          <p:nvPr/>
        </p:nvSpPr>
        <p:spPr>
          <a:xfrm>
            <a:off x="3804348" y="2977558"/>
            <a:ext cx="3871549" cy="843671"/>
          </a:xfrm>
          <a:prstGeom prst="rect">
            <a:avLst/>
          </a:prstGeom>
          <a:solidFill>
            <a:srgbClr val="C5B4E3">
              <a:alpha val="4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Decide fundamental policy for revision</a:t>
            </a:r>
          </a:p>
        </p:txBody>
      </p:sp>
      <p:grpSp>
        <p:nvGrpSpPr>
          <p:cNvPr id="3" name="Group 2">
            <a:extLst>
              <a:ext uri="{FF2B5EF4-FFF2-40B4-BE49-F238E27FC236}">
                <a16:creationId xmlns:a16="http://schemas.microsoft.com/office/drawing/2014/main" id="{C880D117-AAF0-FE8B-DF20-A0D261E6835E}"/>
              </a:ext>
              <a:ext uri="{C183D7F6-B498-43B3-948B-1728B52AA6E4}">
                <adec:decorative xmlns:adec="http://schemas.microsoft.com/office/drawing/2017/decorative" val="1"/>
              </a:ext>
            </a:extLst>
          </p:cNvPr>
          <p:cNvGrpSpPr/>
          <p:nvPr/>
        </p:nvGrpSpPr>
        <p:grpSpPr>
          <a:xfrm>
            <a:off x="1013084" y="4798303"/>
            <a:ext cx="6116868" cy="457200"/>
            <a:chOff x="1181466" y="4798303"/>
            <a:chExt cx="6116868" cy="457200"/>
          </a:xfrm>
        </p:grpSpPr>
        <p:pic>
          <p:nvPicPr>
            <p:cNvPr id="16" name="Picture 2" descr="Ministry of Health, Labour and Welfare">
              <a:extLst>
                <a:ext uri="{FF2B5EF4-FFF2-40B4-BE49-F238E27FC236}">
                  <a16:creationId xmlns:a16="http://schemas.microsoft.com/office/drawing/2014/main" id="{6C83BF40-BD55-A3BA-C83D-A4B4CDC55A1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140" t="9386" r="8112" b="13755"/>
            <a:stretch>
              <a:fillRect/>
            </a:stretch>
          </p:blipFill>
          <p:spPr bwMode="auto">
            <a:xfrm>
              <a:off x="1181466" y="4822615"/>
              <a:ext cx="1396233" cy="408575"/>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F563CAFC-2916-66BE-28E8-6A73D0C09188}"/>
                </a:ext>
              </a:extLst>
            </p:cNvPr>
            <p:cNvSpPr/>
            <p:nvPr/>
          </p:nvSpPr>
          <p:spPr>
            <a:xfrm>
              <a:off x="2577700" y="4798303"/>
              <a:ext cx="4720634"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CSIMC </a:t>
              </a:r>
              <a:r>
                <a:rPr lang="en-US" altLang="ja-JP" sz="1600" dirty="0">
                  <a:solidFill>
                    <a:schemeClr val="tx1"/>
                  </a:solidFill>
                  <a:latin typeface="Arial" panose="020B0604020202020204" pitchFamily="34" charset="0"/>
                  <a:ea typeface="Meiryo UI" panose="020B0604030504040204" pitchFamily="50" charset="-128"/>
                  <a:cs typeface="Arial" panose="020B0604020202020204" pitchFamily="34" charset="0"/>
                </a:rPr>
                <a:t>(</a:t>
              </a:r>
              <a:r>
                <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rPr>
                <a:t>Central Social Insurance Medical Council)</a:t>
              </a:r>
              <a:endParaRPr lang="en-US" sz="12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grpSp>
      <p:sp>
        <p:nvSpPr>
          <p:cNvPr id="18" name="Rectangle 17">
            <a:extLst>
              <a:ext uri="{FF2B5EF4-FFF2-40B4-BE49-F238E27FC236}">
                <a16:creationId xmlns:a16="http://schemas.microsoft.com/office/drawing/2014/main" id="{C1FEB801-6830-7D46-6E43-609F4A8078DD}"/>
              </a:ext>
            </a:extLst>
          </p:cNvPr>
          <p:cNvSpPr/>
          <p:nvPr/>
        </p:nvSpPr>
        <p:spPr>
          <a:xfrm>
            <a:off x="467139" y="5271165"/>
            <a:ext cx="7208758" cy="843671"/>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Decide updated points for each medical fee item</a:t>
            </a:r>
          </a:p>
        </p:txBody>
      </p:sp>
      <p:sp>
        <p:nvSpPr>
          <p:cNvPr id="19" name="Rectangle 18">
            <a:extLst>
              <a:ext uri="{FF2B5EF4-FFF2-40B4-BE49-F238E27FC236}">
                <a16:creationId xmlns:a16="http://schemas.microsoft.com/office/drawing/2014/main" id="{7E08C944-D9B3-D33B-7CE6-4CE142A1CA6F}"/>
              </a:ext>
            </a:extLst>
          </p:cNvPr>
          <p:cNvSpPr/>
          <p:nvPr/>
        </p:nvSpPr>
        <p:spPr>
          <a:xfrm>
            <a:off x="8258476" y="2434589"/>
            <a:ext cx="3466384" cy="3756062"/>
          </a:xfrm>
          <a:prstGeom prst="rect">
            <a:avLst/>
          </a:prstGeom>
          <a:solidFill>
            <a:schemeClr val="bg1">
              <a:alpha val="5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r>
              <a:rPr lang="en-US" sz="20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FY 2026 revision</a:t>
            </a:r>
          </a:p>
          <a:p>
            <a:pPr marL="342900" indent="-342900">
              <a:buFont typeface="Arial" panose="020B0604020202020204" pitchFamily="34" charset="0"/>
              <a:buChar char="•"/>
            </a:pPr>
            <a:r>
              <a:rPr lang="en-US" sz="2000" dirty="0">
                <a:solidFill>
                  <a:schemeClr val="tx1"/>
                </a:solidFill>
                <a:latin typeface="Arial" panose="020B0604020202020204" pitchFamily="34" charset="0"/>
                <a:ea typeface="Meiryo UI" panose="020B0604030504040204" pitchFamily="50" charset="-128"/>
                <a:cs typeface="Arial" panose="020B0604020202020204" pitchFamily="34" charset="0"/>
              </a:rPr>
              <a:t>Service fee: +3.3% driven by rising wage pressures</a:t>
            </a:r>
          </a:p>
          <a:p>
            <a:pPr marL="342900" indent="-342900">
              <a:buFont typeface="Arial" panose="020B0604020202020204" pitchFamily="34" charset="0"/>
              <a:buChar char="•"/>
            </a:pP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Pharmaceutical: -0.86%</a:t>
            </a:r>
          </a:p>
          <a:p>
            <a:pPr marL="342900" indent="-342900">
              <a:buFont typeface="Arial" panose="020B0604020202020204" pitchFamily="34" charset="0"/>
              <a:buChar char="•"/>
            </a:pPr>
            <a:r>
              <a:rPr lang="en-US" sz="2000" dirty="0">
                <a:solidFill>
                  <a:schemeClr val="tx1"/>
                </a:solidFill>
                <a:latin typeface="Arial" panose="020B0604020202020204" pitchFamily="34" charset="0"/>
                <a:ea typeface="Meiryo UI" panose="020B0604030504040204" pitchFamily="50" charset="-128"/>
                <a:cs typeface="Arial" panose="020B0604020202020204" pitchFamily="34" charset="0"/>
              </a:rPr>
              <a:t>Medical device: -0.01%</a:t>
            </a:r>
            <a:endPar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a:p>
            <a:pPr marL="285750" indent="-285750">
              <a:buFont typeface="Arial" panose="020B0604020202020204" pitchFamily="34" charset="0"/>
              <a:buChar char="•"/>
            </a:pPr>
            <a:endParaRPr lang="en-US" sz="16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0" name="TextBox 19">
            <a:extLst>
              <a:ext uri="{FF2B5EF4-FFF2-40B4-BE49-F238E27FC236}">
                <a16:creationId xmlns:a16="http://schemas.microsoft.com/office/drawing/2014/main" id="{80DC75D4-FF92-E9E3-12FB-0E0FBD2DFA11}"/>
              </a:ext>
            </a:extLst>
          </p:cNvPr>
          <p:cNvSpPr txBox="1"/>
          <p:nvPr/>
        </p:nvSpPr>
        <p:spPr>
          <a:xfrm>
            <a:off x="467139" y="6431501"/>
            <a:ext cx="11257722" cy="184666"/>
          </a:xfrm>
          <a:prstGeom prst="rect">
            <a:avLst/>
          </a:prstGeom>
          <a:solidFill>
            <a:schemeClr val="bg1"/>
          </a:solidFill>
        </p:spPr>
        <p:txBody>
          <a:bodyPr wrap="square" lIns="0" tIns="0" rIns="0" bIns="0">
            <a:spAutoFit/>
          </a:bodyPr>
          <a:lstStyle/>
          <a:p>
            <a:r>
              <a:rPr lang="pt-BR" sz="1200" dirty="0">
                <a:latin typeface="Arial" panose="020B0604020202020204" pitchFamily="34" charset="0"/>
                <a:ea typeface="Meiryo UI" panose="020B0604030504040204" pitchFamily="50" charset="-128"/>
                <a:cs typeface="Arial" panose="020B0604020202020204" pitchFamily="34" charset="0"/>
              </a:rPr>
              <a:t>Ministry of Health, Labour and Welfare </a:t>
            </a:r>
            <a:r>
              <a:rPr lang="pt-BR" sz="1200" dirty="0">
                <a:latin typeface="Arial" panose="020B0604020202020204" pitchFamily="34" charset="0"/>
                <a:ea typeface="Meiryo UI" panose="020B0604030504040204" pitchFamily="50" charset="-128"/>
                <a:cs typeface="Arial" panose="020B0604020202020204" pitchFamily="34" charset="0"/>
                <a:hlinkClick r:id="rId5"/>
              </a:rPr>
              <a:t>https://www.mhlw.go.jp/content/12401000/001137908.pdf</a:t>
            </a:r>
            <a:endParaRPr lang="pt-BR" sz="1200" dirty="0">
              <a:latin typeface="Arial" panose="020B0604020202020204" pitchFamily="34" charset="0"/>
              <a:ea typeface="Meiryo UI" panose="020B0604030504040204" pitchFamily="50" charset="-128"/>
              <a:cs typeface="Arial" panose="020B0604020202020204" pitchFamily="34" charset="0"/>
            </a:endParaRPr>
          </a:p>
        </p:txBody>
      </p:sp>
      <p:cxnSp>
        <p:nvCxnSpPr>
          <p:cNvPr id="8" name="Connector: Elbow 7">
            <a:extLst>
              <a:ext uri="{FF2B5EF4-FFF2-40B4-BE49-F238E27FC236}">
                <a16:creationId xmlns:a16="http://schemas.microsoft.com/office/drawing/2014/main" id="{95B23B1C-356E-5B59-6B24-359410F3B0A9}"/>
              </a:ext>
              <a:ext uri="{C183D7F6-B498-43B3-948B-1728B52AA6E4}">
                <adec:decorative xmlns:adec="http://schemas.microsoft.com/office/drawing/2017/decorative" val="1"/>
              </a:ext>
            </a:extLst>
          </p:cNvPr>
          <p:cNvCxnSpPr>
            <a:cxnSpLocks/>
            <a:stCxn id="41" idx="2"/>
            <a:endCxn id="26" idx="0"/>
          </p:cNvCxnSpPr>
          <p:nvPr/>
        </p:nvCxnSpPr>
        <p:spPr>
          <a:xfrm rot="16200000" flipH="1">
            <a:off x="2556980" y="3196677"/>
            <a:ext cx="889986" cy="2139089"/>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nector: Elbow 8">
            <a:extLst>
              <a:ext uri="{FF2B5EF4-FFF2-40B4-BE49-F238E27FC236}">
                <a16:creationId xmlns:a16="http://schemas.microsoft.com/office/drawing/2014/main" id="{3AE40105-3523-BCA6-B870-A213BA9147A9}"/>
              </a:ext>
              <a:ext uri="{C183D7F6-B498-43B3-948B-1728B52AA6E4}">
                <adec:decorative xmlns:adec="http://schemas.microsoft.com/office/drawing/2017/decorative" val="1"/>
              </a:ext>
            </a:extLst>
          </p:cNvPr>
          <p:cNvCxnSpPr>
            <a:cxnSpLocks/>
            <a:stCxn id="15" idx="2"/>
            <a:endCxn id="26" idx="0"/>
          </p:cNvCxnSpPr>
          <p:nvPr/>
        </p:nvCxnSpPr>
        <p:spPr>
          <a:xfrm rot="5400000">
            <a:off x="4460828" y="3431920"/>
            <a:ext cx="889986" cy="1668605"/>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762FEB8-AC51-47B2-AD64-9961930B32F2}"/>
              </a:ext>
              <a:ext uri="{C183D7F6-B498-43B3-948B-1728B52AA6E4}">
                <adec:decorative xmlns:adec="http://schemas.microsoft.com/office/drawing/2017/decorative" val="1"/>
              </a:ext>
            </a:extLst>
          </p:cNvPr>
          <p:cNvCxnSpPr>
            <a:cxnSpLocks/>
          </p:cNvCxnSpPr>
          <p:nvPr/>
        </p:nvCxnSpPr>
        <p:spPr>
          <a:xfrm>
            <a:off x="501547" y="2319722"/>
            <a:ext cx="7250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00D398D7-F69C-844F-E133-49139A0A2FC1}"/>
              </a:ext>
            </a:extLst>
          </p:cNvPr>
          <p:cNvSpPr/>
          <p:nvPr/>
        </p:nvSpPr>
        <p:spPr>
          <a:xfrm>
            <a:off x="501547" y="1970315"/>
            <a:ext cx="7250174" cy="3036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Fee revision process</a:t>
            </a:r>
          </a:p>
        </p:txBody>
      </p:sp>
    </p:spTree>
    <p:extLst>
      <p:ext uri="{BB962C8B-B14F-4D97-AF65-F5344CB8AC3E}">
        <p14:creationId xmlns:p14="http://schemas.microsoft.com/office/powerpoint/2010/main" val="2543965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9F8BD-273D-6308-966F-D37572F31446}"/>
            </a:ext>
          </a:extLst>
        </p:cNvPr>
        <p:cNvGrpSpPr/>
        <p:nvPr/>
      </p:nvGrpSpPr>
      <p:grpSpPr>
        <a:xfrm>
          <a:off x="0" y="0"/>
          <a:ext cx="0" cy="0"/>
          <a:chOff x="0" y="0"/>
          <a:chExt cx="0" cy="0"/>
        </a:xfrm>
      </p:grpSpPr>
      <p:sp>
        <p:nvSpPr>
          <p:cNvPr id="6" name="Table Placeholder 2">
            <a:extLst>
              <a:ext uri="{FF2B5EF4-FFF2-40B4-BE49-F238E27FC236}">
                <a16:creationId xmlns:a16="http://schemas.microsoft.com/office/drawing/2014/main" id="{C2D238A0-E99A-A791-34C5-E0C0941F810C}"/>
              </a:ext>
            </a:extLst>
          </p:cNvPr>
          <p:cNvSpPr>
            <a:spLocks noGrp="1"/>
          </p:cNvSpPr>
          <p:nvPr>
            <p:ph type="tbl" sz="quarter" idx="10"/>
          </p:nvPr>
        </p:nvSpPr>
        <p:spPr>
          <a:xfrm>
            <a:off x="5597994" y="2509520"/>
            <a:ext cx="6126866" cy="3717879"/>
          </a:xfrm>
        </p:spPr>
        <p:txBody>
          <a:bodyPr/>
          <a:lstStyle/>
          <a:p>
            <a:r>
              <a:rPr lang="en-US" sz="1800" noProof="0" dirty="0"/>
              <a:t>Introduced in FY2019 due to rising healthcare costs</a:t>
            </a:r>
          </a:p>
          <a:p>
            <a:r>
              <a:rPr lang="en-US" sz="1800" noProof="0" dirty="0"/>
              <a:t>Applied only to products with large market size or very high unit prices</a:t>
            </a:r>
          </a:p>
          <a:p>
            <a:r>
              <a:rPr lang="en-US" sz="1800" noProof="0" dirty="0"/>
              <a:t>Manufacturer analyses are reviewed and re-analyzed by C2H (Center for Outcomes Research and Economic Evaluation for Health) with domain experts</a:t>
            </a:r>
          </a:p>
          <a:p>
            <a:r>
              <a:rPr lang="en-US" sz="1800" noProof="0" dirty="0"/>
              <a:t>After comprehensive assessment, products with poor cost-effectiveness (≥ 5M JPY/QALY</a:t>
            </a:r>
            <a:r>
              <a:rPr lang="ja-JP" altLang="en-US" sz="1800" noProof="0" dirty="0"/>
              <a:t>≒ </a:t>
            </a:r>
            <a:r>
              <a:rPr lang="en-US" altLang="ja-JP" sz="1800" noProof="0" dirty="0"/>
              <a:t>$32K</a:t>
            </a:r>
            <a:r>
              <a:rPr lang="en-US" sz="1800" noProof="0" dirty="0"/>
              <a:t>) may face price cuts; products contributing to cost savings may receive price increases</a:t>
            </a:r>
          </a:p>
          <a:p>
            <a:r>
              <a:rPr lang="en-US" sz="1800" noProof="0" dirty="0"/>
              <a:t>Challenge: Limited evaluation capacity—currently about 10 products per year; workforce development is needed.</a:t>
            </a:r>
          </a:p>
        </p:txBody>
      </p:sp>
      <p:sp>
        <p:nvSpPr>
          <p:cNvPr id="8" name="Rectangle 7">
            <a:extLst>
              <a:ext uri="{FF2B5EF4-FFF2-40B4-BE49-F238E27FC236}">
                <a16:creationId xmlns:a16="http://schemas.microsoft.com/office/drawing/2014/main" id="{CD4CC815-5F11-2643-8279-B866B59A8EF6}"/>
              </a:ext>
            </a:extLst>
          </p:cNvPr>
          <p:cNvSpPr/>
          <p:nvPr/>
        </p:nvSpPr>
        <p:spPr>
          <a:xfrm>
            <a:off x="497656" y="2499359"/>
            <a:ext cx="4990267" cy="410611"/>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noProof="0" dirty="0">
                <a:solidFill>
                  <a:schemeClr val="tx1"/>
                </a:solidFill>
                <a:latin typeface="Arial" panose="020B0604020202020204" pitchFamily="34" charset="0"/>
                <a:ea typeface="Meiryo" panose="020B0604030504040204" pitchFamily="34" charset="-128"/>
                <a:cs typeface="Arial" panose="020B0604020202020204" pitchFamily="34" charset="0"/>
              </a:rPr>
              <a:t>Reimbursement listing of drugs &amp; medical devices</a:t>
            </a:r>
          </a:p>
        </p:txBody>
      </p:sp>
      <p:sp>
        <p:nvSpPr>
          <p:cNvPr id="9" name="Rectangle 8">
            <a:extLst>
              <a:ext uri="{FF2B5EF4-FFF2-40B4-BE49-F238E27FC236}">
                <a16:creationId xmlns:a16="http://schemas.microsoft.com/office/drawing/2014/main" id="{6AE2BB83-9924-04C7-4D77-61EC0309639D}"/>
              </a:ext>
            </a:extLst>
          </p:cNvPr>
          <p:cNvSpPr/>
          <p:nvPr/>
        </p:nvSpPr>
        <p:spPr>
          <a:xfrm>
            <a:off x="497656" y="3150825"/>
            <a:ext cx="4990267" cy="325120"/>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noProof="0" dirty="0">
                <a:solidFill>
                  <a:schemeClr val="tx1"/>
                </a:solidFill>
                <a:latin typeface="Arial" panose="020B0604020202020204" pitchFamily="34" charset="0"/>
                <a:ea typeface="Meiryo" panose="020B0604030504040204" pitchFamily="34" charset="-128"/>
                <a:cs typeface="Arial" panose="020B0604020202020204" pitchFamily="34" charset="0"/>
              </a:rPr>
              <a:t>CSIMC selects products for CEA</a:t>
            </a:r>
          </a:p>
        </p:txBody>
      </p:sp>
      <p:sp>
        <p:nvSpPr>
          <p:cNvPr id="21" name="Rectangle 20">
            <a:extLst>
              <a:ext uri="{FF2B5EF4-FFF2-40B4-BE49-F238E27FC236}">
                <a16:creationId xmlns:a16="http://schemas.microsoft.com/office/drawing/2014/main" id="{80CB7110-DB01-E701-AF3D-5F0E1D838EF7}"/>
              </a:ext>
            </a:extLst>
          </p:cNvPr>
          <p:cNvSpPr/>
          <p:nvPr/>
        </p:nvSpPr>
        <p:spPr>
          <a:xfrm>
            <a:off x="499974" y="3687638"/>
            <a:ext cx="2053299" cy="1321220"/>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US" noProof="0" dirty="0">
                <a:solidFill>
                  <a:schemeClr val="tx1"/>
                </a:solidFill>
                <a:latin typeface="Arial" panose="020B0604020202020204" pitchFamily="34" charset="0"/>
                <a:ea typeface="Meiryo" panose="020B0604030504040204" pitchFamily="34" charset="-128"/>
                <a:cs typeface="Arial" panose="020B0604020202020204" pitchFamily="34" charset="0"/>
              </a:rPr>
              <a:t>Manufacturer-led analysis</a:t>
            </a:r>
          </a:p>
        </p:txBody>
      </p:sp>
      <p:sp>
        <p:nvSpPr>
          <p:cNvPr id="22" name="Rectangle 21">
            <a:extLst>
              <a:ext uri="{FF2B5EF4-FFF2-40B4-BE49-F238E27FC236}">
                <a16:creationId xmlns:a16="http://schemas.microsoft.com/office/drawing/2014/main" id="{B189DF98-448E-4176-E7E6-FCA5087AB3A3}"/>
              </a:ext>
            </a:extLst>
          </p:cNvPr>
          <p:cNvSpPr/>
          <p:nvPr/>
        </p:nvSpPr>
        <p:spPr>
          <a:xfrm>
            <a:off x="3434624" y="3692720"/>
            <a:ext cx="2053299" cy="1321220"/>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US" noProof="0" dirty="0">
                <a:solidFill>
                  <a:schemeClr val="tx1"/>
                </a:solidFill>
                <a:latin typeface="Arial" panose="020B0604020202020204" pitchFamily="34" charset="0"/>
                <a:ea typeface="Meiryo" panose="020B0604030504040204" pitchFamily="34" charset="-128"/>
                <a:cs typeface="Arial" panose="020B0604020202020204" pitchFamily="34" charset="0"/>
              </a:rPr>
              <a:t>Re-analysis by C2H with health economists and clinical experts</a:t>
            </a:r>
          </a:p>
        </p:txBody>
      </p:sp>
      <p:sp>
        <p:nvSpPr>
          <p:cNvPr id="23" name="Rectangle 22">
            <a:extLst>
              <a:ext uri="{FF2B5EF4-FFF2-40B4-BE49-F238E27FC236}">
                <a16:creationId xmlns:a16="http://schemas.microsoft.com/office/drawing/2014/main" id="{C205979A-C4E5-91FB-0629-B26391C221A7}"/>
              </a:ext>
            </a:extLst>
          </p:cNvPr>
          <p:cNvSpPr/>
          <p:nvPr/>
        </p:nvSpPr>
        <p:spPr>
          <a:xfrm>
            <a:off x="497656" y="5220552"/>
            <a:ext cx="4990267" cy="325120"/>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US" noProof="0" dirty="0">
                <a:solidFill>
                  <a:schemeClr val="tx1"/>
                </a:solidFill>
                <a:latin typeface="Arial" panose="020B0604020202020204" pitchFamily="34" charset="0"/>
                <a:ea typeface="Meiryo" panose="020B0604030504040204" pitchFamily="34" charset="-128"/>
                <a:cs typeface="Arial" panose="020B0604020202020204" pitchFamily="34" charset="0"/>
              </a:rPr>
              <a:t>Comprehensive assessment</a:t>
            </a:r>
          </a:p>
        </p:txBody>
      </p:sp>
      <p:sp>
        <p:nvSpPr>
          <p:cNvPr id="24" name="Rectangle 23">
            <a:extLst>
              <a:ext uri="{FF2B5EF4-FFF2-40B4-BE49-F238E27FC236}">
                <a16:creationId xmlns:a16="http://schemas.microsoft.com/office/drawing/2014/main" id="{5BFB3A8C-7885-9E49-75E9-14AAFCCBA402}"/>
              </a:ext>
            </a:extLst>
          </p:cNvPr>
          <p:cNvSpPr/>
          <p:nvPr/>
        </p:nvSpPr>
        <p:spPr>
          <a:xfrm>
            <a:off x="497656" y="5872018"/>
            <a:ext cx="4990267" cy="325120"/>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algn="ctr"/>
            <a:r>
              <a:rPr lang="en-US" noProof="0" dirty="0">
                <a:solidFill>
                  <a:schemeClr val="tx1"/>
                </a:solidFill>
                <a:latin typeface="Arial" panose="020B0604020202020204" pitchFamily="34" charset="0"/>
                <a:ea typeface="Meiryo" panose="020B0604030504040204" pitchFamily="34" charset="-128"/>
                <a:cs typeface="Arial" panose="020B0604020202020204" pitchFamily="34" charset="0"/>
              </a:rPr>
              <a:t>Post–price-setting price adjustment</a:t>
            </a:r>
          </a:p>
        </p:txBody>
      </p:sp>
      <p:cxnSp>
        <p:nvCxnSpPr>
          <p:cNvPr id="25" name="Straight Arrow Connector 24">
            <a:extLst>
              <a:ext uri="{FF2B5EF4-FFF2-40B4-BE49-F238E27FC236}">
                <a16:creationId xmlns:a16="http://schemas.microsoft.com/office/drawing/2014/main" id="{4810B8FB-B439-F2BF-DBF3-BFEF4771FB74}"/>
              </a:ext>
              <a:ext uri="{C183D7F6-B498-43B3-948B-1728B52AA6E4}">
                <adec:decorative xmlns:adec="http://schemas.microsoft.com/office/drawing/2017/decorative" val="1"/>
              </a:ext>
            </a:extLst>
          </p:cNvPr>
          <p:cNvCxnSpPr>
            <a:cxnSpLocks/>
            <a:stCxn id="8" idx="2"/>
            <a:endCxn id="9" idx="0"/>
          </p:cNvCxnSpPr>
          <p:nvPr/>
        </p:nvCxnSpPr>
        <p:spPr>
          <a:xfrm>
            <a:off x="2992790" y="2909970"/>
            <a:ext cx="0" cy="24085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DE1B93E5-8AE8-8E1A-4640-8FC38C61E92E}"/>
              </a:ext>
              <a:ext uri="{C183D7F6-B498-43B3-948B-1728B52AA6E4}">
                <adec:decorative xmlns:adec="http://schemas.microsoft.com/office/drawing/2017/decorative" val="1"/>
              </a:ext>
            </a:extLst>
          </p:cNvPr>
          <p:cNvCxnSpPr>
            <a:cxnSpLocks/>
            <a:endCxn id="21" idx="0"/>
          </p:cNvCxnSpPr>
          <p:nvPr/>
        </p:nvCxnSpPr>
        <p:spPr>
          <a:xfrm>
            <a:off x="1526624" y="3475945"/>
            <a:ext cx="0" cy="21169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22EE74A0-3A89-0456-C979-1E4081337A7D}"/>
              </a:ext>
              <a:ext uri="{C183D7F6-B498-43B3-948B-1728B52AA6E4}">
                <adec:decorative xmlns:adec="http://schemas.microsoft.com/office/drawing/2017/decorative" val="1"/>
              </a:ext>
            </a:extLst>
          </p:cNvPr>
          <p:cNvCxnSpPr>
            <a:cxnSpLocks/>
          </p:cNvCxnSpPr>
          <p:nvPr/>
        </p:nvCxnSpPr>
        <p:spPr>
          <a:xfrm>
            <a:off x="2531752" y="4207182"/>
            <a:ext cx="87574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A95D9AD-46EF-A91B-49A6-0BD4A42FDB78}"/>
              </a:ext>
              <a:ext uri="{C183D7F6-B498-43B3-948B-1728B52AA6E4}">
                <adec:decorative xmlns:adec="http://schemas.microsoft.com/office/drawing/2017/decorative" val="1"/>
              </a:ext>
            </a:extLst>
          </p:cNvPr>
          <p:cNvCxnSpPr>
            <a:cxnSpLocks/>
          </p:cNvCxnSpPr>
          <p:nvPr/>
        </p:nvCxnSpPr>
        <p:spPr>
          <a:xfrm flipH="1">
            <a:off x="2531752" y="4511982"/>
            <a:ext cx="87574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91C68A6-F832-A1E1-5E35-836A97C331D9}"/>
              </a:ext>
              <a:ext uri="{C183D7F6-B498-43B3-948B-1728B52AA6E4}">
                <adec:decorative xmlns:adec="http://schemas.microsoft.com/office/drawing/2017/decorative" val="1"/>
              </a:ext>
            </a:extLst>
          </p:cNvPr>
          <p:cNvCxnSpPr>
            <a:cxnSpLocks/>
            <a:stCxn id="22" idx="2"/>
          </p:cNvCxnSpPr>
          <p:nvPr/>
        </p:nvCxnSpPr>
        <p:spPr>
          <a:xfrm>
            <a:off x="4461274" y="5013940"/>
            <a:ext cx="0" cy="20661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86BC9BE-9FE1-81C0-AAA0-6784252EBD69}"/>
              </a:ext>
              <a:ext uri="{C183D7F6-B498-43B3-948B-1728B52AA6E4}">
                <adec:decorative xmlns:adec="http://schemas.microsoft.com/office/drawing/2017/decorative" val="1"/>
              </a:ext>
            </a:extLst>
          </p:cNvPr>
          <p:cNvCxnSpPr>
            <a:cxnSpLocks/>
            <a:stCxn id="23" idx="2"/>
            <a:endCxn id="24" idx="0"/>
          </p:cNvCxnSpPr>
          <p:nvPr/>
        </p:nvCxnSpPr>
        <p:spPr>
          <a:xfrm>
            <a:off x="2992790" y="5545672"/>
            <a:ext cx="0" cy="3263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9B1C432-0DF3-5D89-F593-94E05808C246}"/>
              </a:ext>
              <a:ext uri="{C183D7F6-B498-43B3-948B-1728B52AA6E4}">
                <adec:decorative xmlns:adec="http://schemas.microsoft.com/office/drawing/2017/decorative" val="1"/>
              </a:ext>
            </a:extLst>
          </p:cNvPr>
          <p:cNvCxnSpPr>
            <a:cxnSpLocks/>
          </p:cNvCxnSpPr>
          <p:nvPr/>
        </p:nvCxnSpPr>
        <p:spPr>
          <a:xfrm>
            <a:off x="490026" y="2422048"/>
            <a:ext cx="499026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C6145E1F-968D-90FC-B791-3593A87EFC95}"/>
              </a:ext>
            </a:extLst>
          </p:cNvPr>
          <p:cNvSpPr/>
          <p:nvPr/>
        </p:nvSpPr>
        <p:spPr>
          <a:xfrm>
            <a:off x="716856" y="2072641"/>
            <a:ext cx="4536606" cy="3036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Process</a:t>
            </a:r>
          </a:p>
        </p:txBody>
      </p:sp>
      <p:cxnSp>
        <p:nvCxnSpPr>
          <p:cNvPr id="33" name="Straight Connector 32">
            <a:extLst>
              <a:ext uri="{FF2B5EF4-FFF2-40B4-BE49-F238E27FC236}">
                <a16:creationId xmlns:a16="http://schemas.microsoft.com/office/drawing/2014/main" id="{83C0B94E-950F-FEEA-5762-57773CCD8CAD}"/>
              </a:ext>
              <a:ext uri="{C183D7F6-B498-43B3-948B-1728B52AA6E4}">
                <adec:decorative xmlns:adec="http://schemas.microsoft.com/office/drawing/2017/decorative" val="1"/>
              </a:ext>
            </a:extLst>
          </p:cNvPr>
          <p:cNvCxnSpPr>
            <a:cxnSpLocks/>
          </p:cNvCxnSpPr>
          <p:nvPr/>
        </p:nvCxnSpPr>
        <p:spPr>
          <a:xfrm>
            <a:off x="5597994" y="2422048"/>
            <a:ext cx="612686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B05AA1C0-FF18-2C0C-0237-736011293503}"/>
              </a:ext>
            </a:extLst>
          </p:cNvPr>
          <p:cNvSpPr/>
          <p:nvPr/>
        </p:nvSpPr>
        <p:spPr>
          <a:xfrm>
            <a:off x="5597994" y="2072641"/>
            <a:ext cx="6126866" cy="3036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Key Points</a:t>
            </a:r>
          </a:p>
        </p:txBody>
      </p:sp>
      <p:sp>
        <p:nvSpPr>
          <p:cNvPr id="2" name="Title 1">
            <a:extLst>
              <a:ext uri="{FF2B5EF4-FFF2-40B4-BE49-F238E27FC236}">
                <a16:creationId xmlns:a16="http://schemas.microsoft.com/office/drawing/2014/main" id="{9A408A7E-8C64-8E1A-E1D1-065ED339365E}"/>
              </a:ext>
            </a:extLst>
          </p:cNvPr>
          <p:cNvSpPr>
            <a:spLocks noGrp="1"/>
          </p:cNvSpPr>
          <p:nvPr>
            <p:ph type="title"/>
          </p:nvPr>
        </p:nvSpPr>
        <p:spPr/>
        <p:txBody>
          <a:bodyPr/>
          <a:lstStyle/>
          <a:p>
            <a:r>
              <a:rPr lang="en-US" noProof="0" dirty="0"/>
              <a:t>Role of Health Technology Assessment</a:t>
            </a:r>
          </a:p>
        </p:txBody>
      </p:sp>
      <p:sp>
        <p:nvSpPr>
          <p:cNvPr id="4" name="Slide Number Placeholder 3">
            <a:extLst>
              <a:ext uri="{FF2B5EF4-FFF2-40B4-BE49-F238E27FC236}">
                <a16:creationId xmlns:a16="http://schemas.microsoft.com/office/drawing/2014/main" id="{8253E6B7-AB96-494F-C7AB-F0B7FC5A0279}"/>
              </a:ext>
            </a:extLst>
          </p:cNvPr>
          <p:cNvSpPr>
            <a:spLocks noGrp="1"/>
          </p:cNvSpPr>
          <p:nvPr>
            <p:ph type="sldNum" sz="quarter" idx="4"/>
          </p:nvPr>
        </p:nvSpPr>
        <p:spPr/>
        <p:txBody>
          <a:bodyPr/>
          <a:lstStyle/>
          <a:p>
            <a:fld id="{B5CEABB6-07DC-46E8-9B57-56EC44A396E5}" type="slidenum">
              <a:rPr lang="en-US" noProof="0" smtClean="0"/>
              <a:pPr/>
              <a:t>18</a:t>
            </a:fld>
            <a:endParaRPr lang="en-US" noProof="0" dirty="0"/>
          </a:p>
        </p:txBody>
      </p:sp>
      <p:sp>
        <p:nvSpPr>
          <p:cNvPr id="5" name="Table Placeholder 4">
            <a:extLst>
              <a:ext uri="{FF2B5EF4-FFF2-40B4-BE49-F238E27FC236}">
                <a16:creationId xmlns:a16="http://schemas.microsoft.com/office/drawing/2014/main" id="{6063F9E4-1BAA-FB88-3574-3A858AD440D0}"/>
              </a:ext>
            </a:extLst>
          </p:cNvPr>
          <p:cNvSpPr>
            <a:spLocks noGrp="1"/>
          </p:cNvSpPr>
          <p:nvPr>
            <p:ph type="tbl" sz="quarter" idx="11"/>
          </p:nvPr>
        </p:nvSpPr>
        <p:spPr/>
        <p:txBody>
          <a:bodyPr/>
          <a:lstStyle/>
          <a:p>
            <a:r>
              <a:rPr lang="en-US" dirty="0"/>
              <a:t>CEA was introduced in 2019 only for fee schedule revision of drugs and devices with large market sizes or high unit prices</a:t>
            </a:r>
            <a:endParaRPr lang="en-US" noProof="0" dirty="0"/>
          </a:p>
        </p:txBody>
      </p:sp>
      <p:grpSp>
        <p:nvGrpSpPr>
          <p:cNvPr id="10" name="Group 9">
            <a:extLst>
              <a:ext uri="{FF2B5EF4-FFF2-40B4-BE49-F238E27FC236}">
                <a16:creationId xmlns:a16="http://schemas.microsoft.com/office/drawing/2014/main" id="{AABF252E-68A9-79F6-3BA5-B2FA78151C0D}"/>
              </a:ext>
              <a:ext uri="{C183D7F6-B498-43B3-948B-1728B52AA6E4}">
                <adec:decorative xmlns:adec="http://schemas.microsoft.com/office/drawing/2017/decorative" val="1"/>
              </a:ext>
            </a:extLst>
          </p:cNvPr>
          <p:cNvGrpSpPr/>
          <p:nvPr/>
        </p:nvGrpSpPr>
        <p:grpSpPr>
          <a:xfrm>
            <a:off x="467139" y="108959"/>
            <a:ext cx="4197304" cy="307297"/>
            <a:chOff x="562270" y="127168"/>
            <a:chExt cx="4197304" cy="307297"/>
          </a:xfrm>
        </p:grpSpPr>
        <p:sp>
          <p:nvSpPr>
            <p:cNvPr id="11" name="Arrow: Pentagon 10">
              <a:extLst>
                <a:ext uri="{FF2B5EF4-FFF2-40B4-BE49-F238E27FC236}">
                  <a16:creationId xmlns:a16="http://schemas.microsoft.com/office/drawing/2014/main" id="{0BC65424-D503-7D43-1A79-87B5B5E6D227}"/>
                </a:ext>
              </a:extLst>
            </p:cNvPr>
            <p:cNvSpPr/>
            <p:nvPr/>
          </p:nvSpPr>
          <p:spPr>
            <a:xfrm>
              <a:off x="3192565"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③AI</a:t>
              </a:r>
            </a:p>
          </p:txBody>
        </p:sp>
        <p:sp>
          <p:nvSpPr>
            <p:cNvPr id="12" name="Arrow: Pentagon 11">
              <a:extLst>
                <a:ext uri="{FF2B5EF4-FFF2-40B4-BE49-F238E27FC236}">
                  <a16:creationId xmlns:a16="http://schemas.microsoft.com/office/drawing/2014/main" id="{DA5C66D6-D7CC-44FF-990C-A3D673FD02CA}"/>
                </a:ext>
              </a:extLst>
            </p:cNvPr>
            <p:cNvSpPr/>
            <p:nvPr/>
          </p:nvSpPr>
          <p:spPr>
            <a:xfrm>
              <a:off x="1817136" y="127168"/>
              <a:ext cx="1567009" cy="307297"/>
            </a:xfrm>
            <a:prstGeom prst="homePlate">
              <a:avLst/>
            </a:prstGeom>
            <a:solidFill>
              <a:srgbClr val="32006E"/>
            </a:solidFill>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②Regulation</a:t>
              </a:r>
            </a:p>
          </p:txBody>
        </p:sp>
        <p:sp>
          <p:nvSpPr>
            <p:cNvPr id="13" name="Arrow: Pentagon 12">
              <a:extLst>
                <a:ext uri="{FF2B5EF4-FFF2-40B4-BE49-F238E27FC236}">
                  <a16:creationId xmlns:a16="http://schemas.microsoft.com/office/drawing/2014/main" id="{F53A837C-254B-F6D1-439D-CB53074193EE}"/>
                </a:ext>
              </a:extLst>
            </p:cNvPr>
            <p:cNvSpPr/>
            <p:nvPr/>
          </p:nvSpPr>
          <p:spPr>
            <a:xfrm>
              <a:off x="562270"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①Insurance</a:t>
              </a:r>
            </a:p>
          </p:txBody>
        </p:sp>
      </p:grpSp>
      <p:sp>
        <p:nvSpPr>
          <p:cNvPr id="20" name="TextBox 19">
            <a:extLst>
              <a:ext uri="{FF2B5EF4-FFF2-40B4-BE49-F238E27FC236}">
                <a16:creationId xmlns:a16="http://schemas.microsoft.com/office/drawing/2014/main" id="{55CA9E97-2B7B-9B5E-7927-7F8391058222}"/>
              </a:ext>
            </a:extLst>
          </p:cNvPr>
          <p:cNvSpPr txBox="1"/>
          <p:nvPr/>
        </p:nvSpPr>
        <p:spPr>
          <a:xfrm>
            <a:off x="467139" y="6431501"/>
            <a:ext cx="11257722" cy="184666"/>
          </a:xfrm>
          <a:prstGeom prst="rect">
            <a:avLst/>
          </a:prstGeom>
          <a:solidFill>
            <a:schemeClr val="bg1"/>
          </a:solidFill>
        </p:spPr>
        <p:txBody>
          <a:bodyPr wrap="square" lIns="0" tIns="0" rIns="0" bIns="0">
            <a:spAutoFit/>
          </a:bodyPr>
          <a:lstStyle/>
          <a:p>
            <a:r>
              <a:rPr lang="pt-BR" sz="1200" dirty="0">
                <a:latin typeface="Arial" panose="020B0604020202020204" pitchFamily="34" charset="0"/>
                <a:ea typeface="Meiryo UI" panose="020B0604030504040204" pitchFamily="50" charset="-128"/>
                <a:cs typeface="Arial" panose="020B0604020202020204" pitchFamily="34" charset="0"/>
              </a:rPr>
              <a:t>Ministry of Health, Labour and Welfare </a:t>
            </a:r>
            <a:r>
              <a:rPr lang="pt-BR" sz="1200" dirty="0">
                <a:latin typeface="Arial" panose="020B0604020202020204" pitchFamily="34" charset="0"/>
                <a:ea typeface="Meiryo UI" panose="020B0604030504040204" pitchFamily="50" charset="-128"/>
                <a:cs typeface="Arial" panose="020B0604020202020204" pitchFamily="34" charset="0"/>
                <a:hlinkClick r:id="rId3"/>
              </a:rPr>
              <a:t>https://www.mhlw.go.jp/content/12400000/001666329.pdf</a:t>
            </a:r>
            <a:endParaRPr lang="pt-BR" sz="1200" dirty="0">
              <a:latin typeface="Arial" panose="020B0604020202020204" pitchFamily="34" charset="0"/>
              <a:ea typeface="Meiryo UI" panose="020B0604030504040204" pitchFamily="50" charset="-128"/>
              <a:cs typeface="Arial" panose="020B0604020202020204" pitchFamily="34" charset="0"/>
            </a:endParaRPr>
          </a:p>
        </p:txBody>
      </p:sp>
    </p:spTree>
    <p:extLst>
      <p:ext uri="{BB962C8B-B14F-4D97-AF65-F5344CB8AC3E}">
        <p14:creationId xmlns:p14="http://schemas.microsoft.com/office/powerpoint/2010/main" val="19651702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6A6C5-B9D4-1FD6-C847-187767F176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B0334B-D9CA-0036-C35F-9029C37F02E5}"/>
              </a:ext>
            </a:extLst>
          </p:cNvPr>
          <p:cNvSpPr>
            <a:spLocks noGrp="1"/>
          </p:cNvSpPr>
          <p:nvPr>
            <p:ph type="title"/>
          </p:nvPr>
        </p:nvSpPr>
        <p:spPr/>
        <p:txBody>
          <a:bodyPr/>
          <a:lstStyle/>
          <a:p>
            <a:r>
              <a:rPr lang="en-US" noProof="0" dirty="0"/>
              <a:t>Regulatory approval specific to medical device</a:t>
            </a:r>
          </a:p>
        </p:txBody>
      </p:sp>
      <p:sp>
        <p:nvSpPr>
          <p:cNvPr id="4" name="Slide Number Placeholder 3">
            <a:extLst>
              <a:ext uri="{FF2B5EF4-FFF2-40B4-BE49-F238E27FC236}">
                <a16:creationId xmlns:a16="http://schemas.microsoft.com/office/drawing/2014/main" id="{509A873A-CCDA-372C-A0DD-FD6589933040}"/>
              </a:ext>
            </a:extLst>
          </p:cNvPr>
          <p:cNvSpPr>
            <a:spLocks noGrp="1"/>
          </p:cNvSpPr>
          <p:nvPr>
            <p:ph type="sldNum" sz="quarter" idx="4"/>
          </p:nvPr>
        </p:nvSpPr>
        <p:spPr/>
        <p:txBody>
          <a:bodyPr/>
          <a:lstStyle/>
          <a:p>
            <a:fld id="{B5CEABB6-07DC-46E8-9B57-56EC44A396E5}" type="slidenum">
              <a:rPr lang="en-US" noProof="0" smtClean="0"/>
              <a:pPr/>
              <a:t>19</a:t>
            </a:fld>
            <a:endParaRPr lang="en-US" noProof="0" dirty="0"/>
          </a:p>
        </p:txBody>
      </p:sp>
      <p:sp>
        <p:nvSpPr>
          <p:cNvPr id="5" name="Table Placeholder 4">
            <a:extLst>
              <a:ext uri="{FF2B5EF4-FFF2-40B4-BE49-F238E27FC236}">
                <a16:creationId xmlns:a16="http://schemas.microsoft.com/office/drawing/2014/main" id="{13263E29-A1EE-4CA8-8087-52799CC46E60}"/>
              </a:ext>
            </a:extLst>
          </p:cNvPr>
          <p:cNvSpPr>
            <a:spLocks noGrp="1"/>
          </p:cNvSpPr>
          <p:nvPr>
            <p:ph type="tbl" sz="quarter" idx="11"/>
          </p:nvPr>
        </p:nvSpPr>
        <p:spPr/>
        <p:txBody>
          <a:bodyPr/>
          <a:lstStyle/>
          <a:p>
            <a:r>
              <a:rPr lang="en-US" altLang="ja-JP" dirty="0"/>
              <a:t>Medical</a:t>
            </a:r>
            <a:r>
              <a:rPr lang="en-US" noProof="0" dirty="0"/>
              <a:t> device is categorized into 4 classes depending on the risk </a:t>
            </a:r>
            <a:r>
              <a:rPr lang="en-US" dirty="0"/>
              <a:t>in the event of malfunction. The class determines the approval process and speed</a:t>
            </a:r>
            <a:endParaRPr lang="en-US" noProof="0" dirty="0"/>
          </a:p>
        </p:txBody>
      </p:sp>
      <p:grpSp>
        <p:nvGrpSpPr>
          <p:cNvPr id="10" name="Group 9">
            <a:extLst>
              <a:ext uri="{FF2B5EF4-FFF2-40B4-BE49-F238E27FC236}">
                <a16:creationId xmlns:a16="http://schemas.microsoft.com/office/drawing/2014/main" id="{254311A6-6A02-7229-EE6E-BE5693B29313}"/>
              </a:ext>
              <a:ext uri="{C183D7F6-B498-43B3-948B-1728B52AA6E4}">
                <adec:decorative xmlns:adec="http://schemas.microsoft.com/office/drawing/2017/decorative" val="1"/>
              </a:ext>
            </a:extLst>
          </p:cNvPr>
          <p:cNvGrpSpPr/>
          <p:nvPr/>
        </p:nvGrpSpPr>
        <p:grpSpPr>
          <a:xfrm>
            <a:off x="467139" y="108959"/>
            <a:ext cx="4197304" cy="307297"/>
            <a:chOff x="562270" y="127168"/>
            <a:chExt cx="4197304" cy="307297"/>
          </a:xfrm>
        </p:grpSpPr>
        <p:sp>
          <p:nvSpPr>
            <p:cNvPr id="11" name="Arrow: Pentagon 10">
              <a:extLst>
                <a:ext uri="{FF2B5EF4-FFF2-40B4-BE49-F238E27FC236}">
                  <a16:creationId xmlns:a16="http://schemas.microsoft.com/office/drawing/2014/main" id="{1305428D-828D-7ECB-261E-94DC76CBFFA2}"/>
                </a:ext>
              </a:extLst>
            </p:cNvPr>
            <p:cNvSpPr/>
            <p:nvPr/>
          </p:nvSpPr>
          <p:spPr>
            <a:xfrm>
              <a:off x="3192565"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③AI</a:t>
              </a:r>
            </a:p>
          </p:txBody>
        </p:sp>
        <p:sp>
          <p:nvSpPr>
            <p:cNvPr id="12" name="Arrow: Pentagon 11">
              <a:extLst>
                <a:ext uri="{FF2B5EF4-FFF2-40B4-BE49-F238E27FC236}">
                  <a16:creationId xmlns:a16="http://schemas.microsoft.com/office/drawing/2014/main" id="{AEAC81A6-1307-E4A2-5E61-59E9BBD6822A}"/>
                </a:ext>
              </a:extLst>
            </p:cNvPr>
            <p:cNvSpPr/>
            <p:nvPr/>
          </p:nvSpPr>
          <p:spPr>
            <a:xfrm>
              <a:off x="1817136" y="127168"/>
              <a:ext cx="1567009" cy="307297"/>
            </a:xfrm>
            <a:prstGeom prst="homePlate">
              <a:avLst/>
            </a:prstGeom>
            <a:solidFill>
              <a:srgbClr val="32006E"/>
            </a:solidFill>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②Regulation</a:t>
              </a:r>
            </a:p>
          </p:txBody>
        </p:sp>
        <p:sp>
          <p:nvSpPr>
            <p:cNvPr id="13" name="Arrow: Pentagon 12">
              <a:extLst>
                <a:ext uri="{FF2B5EF4-FFF2-40B4-BE49-F238E27FC236}">
                  <a16:creationId xmlns:a16="http://schemas.microsoft.com/office/drawing/2014/main" id="{773C43EF-0B0F-717F-CEAE-4C0975369E4F}"/>
                </a:ext>
              </a:extLst>
            </p:cNvPr>
            <p:cNvSpPr/>
            <p:nvPr/>
          </p:nvSpPr>
          <p:spPr>
            <a:xfrm>
              <a:off x="562270"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①Insurance</a:t>
              </a:r>
            </a:p>
          </p:txBody>
        </p:sp>
      </p:grpSp>
      <p:sp>
        <p:nvSpPr>
          <p:cNvPr id="6" name="TextBox 5">
            <a:extLst>
              <a:ext uri="{FF2B5EF4-FFF2-40B4-BE49-F238E27FC236}">
                <a16:creationId xmlns:a16="http://schemas.microsoft.com/office/drawing/2014/main" id="{84D31914-637F-8B6D-4F63-4459CB7D2750}"/>
              </a:ext>
            </a:extLst>
          </p:cNvPr>
          <p:cNvSpPr txBox="1"/>
          <p:nvPr/>
        </p:nvSpPr>
        <p:spPr>
          <a:xfrm>
            <a:off x="467139" y="6459576"/>
            <a:ext cx="11257722" cy="184666"/>
          </a:xfrm>
          <a:prstGeom prst="rect">
            <a:avLst/>
          </a:prstGeom>
          <a:solidFill>
            <a:schemeClr val="bg1"/>
          </a:solidFill>
        </p:spPr>
        <p:txBody>
          <a:bodyPr wrap="square" lIns="0" tIns="0" rIns="0" bIns="0">
            <a:spAutoFit/>
          </a:bodyPr>
          <a:lstStyle/>
          <a:p>
            <a:r>
              <a:rPr lang="en-US" sz="1200" dirty="0">
                <a:latin typeface="Arial" panose="020B0604020202020204" pitchFamily="34" charset="0"/>
                <a:ea typeface="Meiryo UI" panose="020B0604030504040204" pitchFamily="50" charset="-128"/>
                <a:cs typeface="Arial" panose="020B0604020202020204" pitchFamily="34" charset="0"/>
              </a:rPr>
              <a:t>Pharmaceuticals and Medical Devices Agency (PMDA)</a:t>
            </a:r>
            <a:r>
              <a:rPr lang="pt-BR" sz="1200" dirty="0">
                <a:latin typeface="Arial" panose="020B0604020202020204" pitchFamily="34" charset="0"/>
                <a:ea typeface="Meiryo UI" panose="020B0604030504040204" pitchFamily="50" charset="-128"/>
                <a:cs typeface="Arial" panose="020B0604020202020204" pitchFamily="34" charset="0"/>
              </a:rPr>
              <a:t> </a:t>
            </a:r>
            <a:r>
              <a:rPr lang="pt-BR" sz="1200" dirty="0">
                <a:latin typeface="Arial" panose="020B0604020202020204" pitchFamily="34" charset="0"/>
                <a:ea typeface="Meiryo UI" panose="020B0604030504040204" pitchFamily="50" charset="-128"/>
                <a:cs typeface="Arial" panose="020B0604020202020204" pitchFamily="34" charset="0"/>
                <a:hlinkClick r:id="rId3"/>
              </a:rPr>
              <a:t>https://www.pmda.go.jp/files/000274829.pdf</a:t>
            </a:r>
            <a:endParaRPr lang="pt-BR" sz="1200" dirty="0">
              <a:latin typeface="Arial" panose="020B0604020202020204" pitchFamily="34" charset="0"/>
              <a:ea typeface="Meiryo UI" panose="020B0604030504040204" pitchFamily="50" charset="-128"/>
              <a:cs typeface="Arial" panose="020B0604020202020204" pitchFamily="34" charset="0"/>
            </a:endParaRPr>
          </a:p>
        </p:txBody>
      </p:sp>
      <p:sp>
        <p:nvSpPr>
          <p:cNvPr id="29" name="Arrow: Pentagon 28">
            <a:extLst>
              <a:ext uri="{FF2B5EF4-FFF2-40B4-BE49-F238E27FC236}">
                <a16:creationId xmlns:a16="http://schemas.microsoft.com/office/drawing/2014/main" id="{E8DAE366-54A1-EFF5-C5FE-8FE209171B83}"/>
              </a:ext>
            </a:extLst>
          </p:cNvPr>
          <p:cNvSpPr/>
          <p:nvPr/>
        </p:nvSpPr>
        <p:spPr>
          <a:xfrm>
            <a:off x="8782945" y="2032000"/>
            <a:ext cx="2956088" cy="447040"/>
          </a:xfrm>
          <a:prstGeom prst="homePlate">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ea typeface="Meiryo UI" panose="020B0604030504040204" pitchFamily="50" charset="-128"/>
                <a:cs typeface="Arial" panose="020B0604020202020204" pitchFamily="34" charset="0"/>
              </a:rPr>
              <a:t>Regulatory approval</a:t>
            </a:r>
          </a:p>
        </p:txBody>
      </p:sp>
      <p:sp>
        <p:nvSpPr>
          <p:cNvPr id="31" name="Rectangle 30">
            <a:extLst>
              <a:ext uri="{FF2B5EF4-FFF2-40B4-BE49-F238E27FC236}">
                <a16:creationId xmlns:a16="http://schemas.microsoft.com/office/drawing/2014/main" id="{AADF8F1A-65F2-4179-9DB6-57F1CB23A061}"/>
              </a:ext>
            </a:extLst>
          </p:cNvPr>
          <p:cNvSpPr/>
          <p:nvPr/>
        </p:nvSpPr>
        <p:spPr>
          <a:xfrm>
            <a:off x="8782945" y="2750710"/>
            <a:ext cx="2883965" cy="405892"/>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Discovery research</a:t>
            </a:r>
          </a:p>
        </p:txBody>
      </p:sp>
      <p:sp>
        <p:nvSpPr>
          <p:cNvPr id="33" name="Rectangle 32">
            <a:extLst>
              <a:ext uri="{FF2B5EF4-FFF2-40B4-BE49-F238E27FC236}">
                <a16:creationId xmlns:a16="http://schemas.microsoft.com/office/drawing/2014/main" id="{4E4C3759-71F1-7708-3667-80A73B5F9658}"/>
              </a:ext>
            </a:extLst>
          </p:cNvPr>
          <p:cNvSpPr/>
          <p:nvPr/>
        </p:nvSpPr>
        <p:spPr>
          <a:xfrm>
            <a:off x="8782945" y="4570240"/>
            <a:ext cx="2883965" cy="405892"/>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Regulatory filing to PMDA</a:t>
            </a:r>
          </a:p>
        </p:txBody>
      </p:sp>
      <p:sp>
        <p:nvSpPr>
          <p:cNvPr id="40" name="Rectangle 39">
            <a:extLst>
              <a:ext uri="{FF2B5EF4-FFF2-40B4-BE49-F238E27FC236}">
                <a16:creationId xmlns:a16="http://schemas.microsoft.com/office/drawing/2014/main" id="{2FF9FED1-CC7A-238F-BEC6-3D80F3153D0A}"/>
              </a:ext>
            </a:extLst>
          </p:cNvPr>
          <p:cNvSpPr/>
          <p:nvPr/>
        </p:nvSpPr>
        <p:spPr>
          <a:xfrm>
            <a:off x="8782945" y="3963730"/>
            <a:ext cx="2883965" cy="405892"/>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Clinical trials (Phase I, II, III)</a:t>
            </a:r>
          </a:p>
        </p:txBody>
      </p:sp>
      <p:sp>
        <p:nvSpPr>
          <p:cNvPr id="41" name="Rectangle 40">
            <a:extLst>
              <a:ext uri="{FF2B5EF4-FFF2-40B4-BE49-F238E27FC236}">
                <a16:creationId xmlns:a16="http://schemas.microsoft.com/office/drawing/2014/main" id="{670BA46D-EA8F-8D97-849C-30244DE17D40}"/>
              </a:ext>
            </a:extLst>
          </p:cNvPr>
          <p:cNvSpPr/>
          <p:nvPr/>
        </p:nvSpPr>
        <p:spPr>
          <a:xfrm>
            <a:off x="8782945" y="3357220"/>
            <a:ext cx="2883965" cy="405892"/>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Preclinical trials</a:t>
            </a:r>
          </a:p>
        </p:txBody>
      </p:sp>
      <p:sp>
        <p:nvSpPr>
          <p:cNvPr id="46" name="Rectangle 45">
            <a:extLst>
              <a:ext uri="{FF2B5EF4-FFF2-40B4-BE49-F238E27FC236}">
                <a16:creationId xmlns:a16="http://schemas.microsoft.com/office/drawing/2014/main" id="{F5557641-5DF1-8C76-AFDF-CA49D464664B}"/>
              </a:ext>
            </a:extLst>
          </p:cNvPr>
          <p:cNvSpPr/>
          <p:nvPr/>
        </p:nvSpPr>
        <p:spPr>
          <a:xfrm>
            <a:off x="8782945" y="5177841"/>
            <a:ext cx="2883965" cy="405892"/>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Regulatory review by PMDA</a:t>
            </a:r>
          </a:p>
        </p:txBody>
      </p:sp>
      <p:sp>
        <p:nvSpPr>
          <p:cNvPr id="48" name="Rectangle 47">
            <a:extLst>
              <a:ext uri="{FF2B5EF4-FFF2-40B4-BE49-F238E27FC236}">
                <a16:creationId xmlns:a16="http://schemas.microsoft.com/office/drawing/2014/main" id="{B1573A13-DCF9-B8E6-84D4-3D5F31062850}"/>
              </a:ext>
            </a:extLst>
          </p:cNvPr>
          <p:cNvSpPr/>
          <p:nvPr/>
        </p:nvSpPr>
        <p:spPr>
          <a:xfrm>
            <a:off x="8782945" y="5796474"/>
            <a:ext cx="2883965" cy="405892"/>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Regulatory approval by MHLW</a:t>
            </a:r>
          </a:p>
        </p:txBody>
      </p:sp>
      <p:cxnSp>
        <p:nvCxnSpPr>
          <p:cNvPr id="1025" name="Straight Arrow Connector 1024">
            <a:extLst>
              <a:ext uri="{FF2B5EF4-FFF2-40B4-BE49-F238E27FC236}">
                <a16:creationId xmlns:a16="http://schemas.microsoft.com/office/drawing/2014/main" id="{BCD7E995-D07F-2C49-34F1-BBFEBDCE1EE9}"/>
              </a:ext>
              <a:ext uri="{C183D7F6-B498-43B3-948B-1728B52AA6E4}">
                <adec:decorative xmlns:adec="http://schemas.microsoft.com/office/drawing/2017/decorative" val="1"/>
              </a:ext>
            </a:extLst>
          </p:cNvPr>
          <p:cNvCxnSpPr>
            <a:cxnSpLocks/>
            <a:stCxn id="31" idx="2"/>
            <a:endCxn id="41" idx="0"/>
          </p:cNvCxnSpPr>
          <p:nvPr/>
        </p:nvCxnSpPr>
        <p:spPr>
          <a:xfrm>
            <a:off x="10224928" y="3156602"/>
            <a:ext cx="0" cy="20061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0" name="Straight Arrow Connector 1029">
            <a:extLst>
              <a:ext uri="{FF2B5EF4-FFF2-40B4-BE49-F238E27FC236}">
                <a16:creationId xmlns:a16="http://schemas.microsoft.com/office/drawing/2014/main" id="{D9945C04-ED4F-6E8F-C817-BF7E2C02CC05}"/>
              </a:ext>
              <a:ext uri="{C183D7F6-B498-43B3-948B-1728B52AA6E4}">
                <adec:decorative xmlns:adec="http://schemas.microsoft.com/office/drawing/2017/decorative" val="1"/>
              </a:ext>
            </a:extLst>
          </p:cNvPr>
          <p:cNvCxnSpPr>
            <a:cxnSpLocks/>
            <a:stCxn id="41" idx="2"/>
            <a:endCxn id="40" idx="0"/>
          </p:cNvCxnSpPr>
          <p:nvPr/>
        </p:nvCxnSpPr>
        <p:spPr>
          <a:xfrm>
            <a:off x="10224928" y="3763112"/>
            <a:ext cx="0" cy="20061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1" name="Straight Arrow Connector 1030">
            <a:extLst>
              <a:ext uri="{FF2B5EF4-FFF2-40B4-BE49-F238E27FC236}">
                <a16:creationId xmlns:a16="http://schemas.microsoft.com/office/drawing/2014/main" id="{9284BB1D-A7BE-40CC-61F3-C706D44621F8}"/>
              </a:ext>
              <a:ext uri="{C183D7F6-B498-43B3-948B-1728B52AA6E4}">
                <adec:decorative xmlns:adec="http://schemas.microsoft.com/office/drawing/2017/decorative" val="1"/>
              </a:ext>
            </a:extLst>
          </p:cNvPr>
          <p:cNvCxnSpPr>
            <a:cxnSpLocks/>
            <a:stCxn id="40" idx="2"/>
            <a:endCxn id="33" idx="0"/>
          </p:cNvCxnSpPr>
          <p:nvPr/>
        </p:nvCxnSpPr>
        <p:spPr>
          <a:xfrm>
            <a:off x="10224928" y="4369622"/>
            <a:ext cx="0" cy="20061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2" name="Straight Arrow Connector 1031">
            <a:extLst>
              <a:ext uri="{FF2B5EF4-FFF2-40B4-BE49-F238E27FC236}">
                <a16:creationId xmlns:a16="http://schemas.microsoft.com/office/drawing/2014/main" id="{8065B916-011D-88D7-437B-2BA385EF9577}"/>
              </a:ext>
              <a:ext uri="{C183D7F6-B498-43B3-948B-1728B52AA6E4}">
                <adec:decorative xmlns:adec="http://schemas.microsoft.com/office/drawing/2017/decorative" val="1"/>
              </a:ext>
            </a:extLst>
          </p:cNvPr>
          <p:cNvCxnSpPr>
            <a:cxnSpLocks/>
            <a:stCxn id="33" idx="2"/>
            <a:endCxn id="46" idx="0"/>
          </p:cNvCxnSpPr>
          <p:nvPr/>
        </p:nvCxnSpPr>
        <p:spPr>
          <a:xfrm>
            <a:off x="10224928" y="4976132"/>
            <a:ext cx="0" cy="20170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3" name="Straight Arrow Connector 1032">
            <a:extLst>
              <a:ext uri="{FF2B5EF4-FFF2-40B4-BE49-F238E27FC236}">
                <a16:creationId xmlns:a16="http://schemas.microsoft.com/office/drawing/2014/main" id="{AFA8AA9F-D184-CC93-5BB1-2CEF5FB9FE56}"/>
              </a:ext>
              <a:ext uri="{C183D7F6-B498-43B3-948B-1728B52AA6E4}">
                <adec:decorative xmlns:adec="http://schemas.microsoft.com/office/drawing/2017/decorative" val="1"/>
              </a:ext>
            </a:extLst>
          </p:cNvPr>
          <p:cNvCxnSpPr>
            <a:cxnSpLocks/>
            <a:stCxn id="46" idx="2"/>
            <a:endCxn id="48" idx="0"/>
          </p:cNvCxnSpPr>
          <p:nvPr/>
        </p:nvCxnSpPr>
        <p:spPr>
          <a:xfrm>
            <a:off x="10224928" y="5583733"/>
            <a:ext cx="0" cy="21274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FF768B53-3215-5500-224A-BA35748F344F}"/>
              </a:ext>
            </a:extLst>
          </p:cNvPr>
          <p:cNvSpPr/>
          <p:nvPr/>
        </p:nvSpPr>
        <p:spPr>
          <a:xfrm>
            <a:off x="492039" y="2035535"/>
            <a:ext cx="722886" cy="4464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Class</a:t>
            </a:r>
          </a:p>
        </p:txBody>
      </p:sp>
      <p:sp>
        <p:nvSpPr>
          <p:cNvPr id="7" name="Rectangle 6">
            <a:extLst>
              <a:ext uri="{FF2B5EF4-FFF2-40B4-BE49-F238E27FC236}">
                <a16:creationId xmlns:a16="http://schemas.microsoft.com/office/drawing/2014/main" id="{6B58F77A-A4E8-1DBE-7CF6-969E7A608DDE}"/>
              </a:ext>
            </a:extLst>
          </p:cNvPr>
          <p:cNvSpPr/>
          <p:nvPr/>
        </p:nvSpPr>
        <p:spPr>
          <a:xfrm>
            <a:off x="492039" y="2794286"/>
            <a:ext cx="722886" cy="4464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noProof="0" dirty="0">
                <a:solidFill>
                  <a:schemeClr val="tx1"/>
                </a:solidFill>
                <a:latin typeface="Arial" panose="020B0604020202020204" pitchFamily="34" charset="0"/>
                <a:ea typeface="Meiryo UI" panose="020B0604030504040204" pitchFamily="50" charset="-128"/>
                <a:cs typeface="Arial" panose="020B0604020202020204" pitchFamily="34" charset="0"/>
              </a:rPr>
              <a:t>I</a:t>
            </a:r>
          </a:p>
        </p:txBody>
      </p:sp>
      <p:sp>
        <p:nvSpPr>
          <p:cNvPr id="8" name="Rectangle 7">
            <a:extLst>
              <a:ext uri="{FF2B5EF4-FFF2-40B4-BE49-F238E27FC236}">
                <a16:creationId xmlns:a16="http://schemas.microsoft.com/office/drawing/2014/main" id="{E80AB1E7-0E7A-E780-2B1D-BF0360326729}"/>
              </a:ext>
            </a:extLst>
          </p:cNvPr>
          <p:cNvSpPr/>
          <p:nvPr/>
        </p:nvSpPr>
        <p:spPr>
          <a:xfrm>
            <a:off x="492039" y="3739115"/>
            <a:ext cx="722886" cy="4464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noProof="0" dirty="0">
                <a:solidFill>
                  <a:schemeClr val="tx1"/>
                </a:solidFill>
                <a:latin typeface="Arial" panose="020B0604020202020204" pitchFamily="34" charset="0"/>
                <a:ea typeface="Meiryo UI" panose="020B0604030504040204" pitchFamily="50" charset="-128"/>
                <a:cs typeface="Arial" panose="020B0604020202020204" pitchFamily="34" charset="0"/>
              </a:rPr>
              <a:t>II</a:t>
            </a:r>
          </a:p>
        </p:txBody>
      </p:sp>
      <p:sp>
        <p:nvSpPr>
          <p:cNvPr id="9" name="Rectangle 8">
            <a:extLst>
              <a:ext uri="{FF2B5EF4-FFF2-40B4-BE49-F238E27FC236}">
                <a16:creationId xmlns:a16="http://schemas.microsoft.com/office/drawing/2014/main" id="{8C8070FB-6905-DB7B-DDCE-5945701E7C23}"/>
              </a:ext>
            </a:extLst>
          </p:cNvPr>
          <p:cNvSpPr/>
          <p:nvPr/>
        </p:nvSpPr>
        <p:spPr>
          <a:xfrm>
            <a:off x="492039" y="4683944"/>
            <a:ext cx="722886" cy="4464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noProof="0" dirty="0">
                <a:solidFill>
                  <a:schemeClr val="tx1"/>
                </a:solidFill>
                <a:latin typeface="Arial" panose="020B0604020202020204" pitchFamily="34" charset="0"/>
                <a:ea typeface="Meiryo UI" panose="020B0604030504040204" pitchFamily="50" charset="-128"/>
                <a:cs typeface="Arial" panose="020B0604020202020204" pitchFamily="34" charset="0"/>
              </a:rPr>
              <a:t>III</a:t>
            </a:r>
          </a:p>
        </p:txBody>
      </p:sp>
      <p:sp>
        <p:nvSpPr>
          <p:cNvPr id="14" name="Rectangle 13">
            <a:extLst>
              <a:ext uri="{FF2B5EF4-FFF2-40B4-BE49-F238E27FC236}">
                <a16:creationId xmlns:a16="http://schemas.microsoft.com/office/drawing/2014/main" id="{0CAD41A6-02A7-B72B-3B5B-3E42D2A0BB0D}"/>
              </a:ext>
            </a:extLst>
          </p:cNvPr>
          <p:cNvSpPr/>
          <p:nvPr/>
        </p:nvSpPr>
        <p:spPr>
          <a:xfrm>
            <a:off x="492039" y="5630989"/>
            <a:ext cx="722886" cy="4464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noProof="0" dirty="0">
                <a:solidFill>
                  <a:schemeClr val="tx1"/>
                </a:solidFill>
                <a:latin typeface="Arial" panose="020B0604020202020204" pitchFamily="34" charset="0"/>
                <a:ea typeface="Meiryo UI" panose="020B0604030504040204" pitchFamily="50" charset="-128"/>
                <a:cs typeface="Arial" panose="020B0604020202020204" pitchFamily="34" charset="0"/>
              </a:rPr>
              <a:t>IV</a:t>
            </a:r>
          </a:p>
        </p:txBody>
      </p:sp>
      <p:cxnSp>
        <p:nvCxnSpPr>
          <p:cNvPr id="16" name="Straight Connector 15">
            <a:extLst>
              <a:ext uri="{FF2B5EF4-FFF2-40B4-BE49-F238E27FC236}">
                <a16:creationId xmlns:a16="http://schemas.microsoft.com/office/drawing/2014/main" id="{A20198AF-9CF8-AEEA-1948-6D3D6AD3AA55}"/>
              </a:ext>
              <a:ext uri="{C183D7F6-B498-43B3-948B-1728B52AA6E4}">
                <adec:decorative xmlns:adec="http://schemas.microsoft.com/office/drawing/2017/decorative" val="1"/>
              </a:ext>
            </a:extLst>
          </p:cNvPr>
          <p:cNvCxnSpPr>
            <a:cxnSpLocks/>
          </p:cNvCxnSpPr>
          <p:nvPr/>
        </p:nvCxnSpPr>
        <p:spPr>
          <a:xfrm>
            <a:off x="492039" y="2435823"/>
            <a:ext cx="72288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2FC92BAE-931E-6F77-8076-4326CA46FEB0}"/>
              </a:ext>
            </a:extLst>
          </p:cNvPr>
          <p:cNvSpPr/>
          <p:nvPr/>
        </p:nvSpPr>
        <p:spPr>
          <a:xfrm>
            <a:off x="1894881" y="2035535"/>
            <a:ext cx="3557947" cy="4464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a:solidFill>
                  <a:schemeClr val="tx1"/>
                </a:solidFill>
                <a:latin typeface="Arial" panose="020B0604020202020204" pitchFamily="34" charset="0"/>
                <a:ea typeface="Meiryo UI" panose="020B0604030504040204" pitchFamily="50" charset="-128"/>
                <a:cs typeface="Arial" panose="020B0604020202020204" pitchFamily="34" charset="0"/>
              </a:rPr>
              <a:t>Definition</a:t>
            </a:r>
            <a:endPar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18" name="Straight Connector 17">
            <a:extLst>
              <a:ext uri="{FF2B5EF4-FFF2-40B4-BE49-F238E27FC236}">
                <a16:creationId xmlns:a16="http://schemas.microsoft.com/office/drawing/2014/main" id="{08908776-B5C7-6701-2500-6FCB00BC5BFF}"/>
              </a:ext>
              <a:ext uri="{C183D7F6-B498-43B3-948B-1728B52AA6E4}">
                <adec:decorative xmlns:adec="http://schemas.microsoft.com/office/drawing/2017/decorative" val="1"/>
              </a:ext>
            </a:extLst>
          </p:cNvPr>
          <p:cNvCxnSpPr>
            <a:cxnSpLocks/>
          </p:cNvCxnSpPr>
          <p:nvPr/>
        </p:nvCxnSpPr>
        <p:spPr>
          <a:xfrm>
            <a:off x="1436763" y="2435823"/>
            <a:ext cx="447418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9BC4AC20-2585-BF67-3B1A-23B1BF805A90}"/>
              </a:ext>
            </a:extLst>
          </p:cNvPr>
          <p:cNvSpPr/>
          <p:nvPr/>
        </p:nvSpPr>
        <p:spPr>
          <a:xfrm>
            <a:off x="1451982" y="2633215"/>
            <a:ext cx="4474182" cy="7686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u="sng" dirty="0">
                <a:solidFill>
                  <a:schemeClr val="tx1"/>
                </a:solidFill>
                <a:latin typeface="Arial" panose="020B0604020202020204" pitchFamily="34" charset="0"/>
                <a:ea typeface="Meiryo UI" panose="020B0604030504040204" pitchFamily="50" charset="-128"/>
                <a:cs typeface="Arial" panose="020B0604020202020204" pitchFamily="34" charset="0"/>
              </a:rPr>
              <a:t>Very low risk</a:t>
            </a:r>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 to the human body even in the event of a malfunction</a:t>
            </a:r>
            <a:r>
              <a:rPr lang="ja-JP" altLang="en-US" dirty="0">
                <a:solidFill>
                  <a:schemeClr val="tx1"/>
                </a:solidFill>
                <a:latin typeface="Arial" panose="020B0604020202020204" pitchFamily="34" charset="0"/>
                <a:ea typeface="Meiryo UI" panose="020B0604030504040204" pitchFamily="50" charset="-128"/>
                <a:cs typeface="Arial" panose="020B0604020202020204" pitchFamily="34" charset="0"/>
              </a:rPr>
              <a:t> </a:t>
            </a:r>
            <a:endPar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endParaRPr>
          </a:p>
          <a:p>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(e.g., X-ray film, scalpel)</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1" name="Rectangle 20">
            <a:extLst>
              <a:ext uri="{FF2B5EF4-FFF2-40B4-BE49-F238E27FC236}">
                <a16:creationId xmlns:a16="http://schemas.microsoft.com/office/drawing/2014/main" id="{526C52C6-1004-510D-2376-297D2FD33582}"/>
              </a:ext>
            </a:extLst>
          </p:cNvPr>
          <p:cNvSpPr/>
          <p:nvPr/>
        </p:nvSpPr>
        <p:spPr>
          <a:xfrm>
            <a:off x="1451982" y="3578044"/>
            <a:ext cx="4474182" cy="7686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u="sng" dirty="0">
                <a:solidFill>
                  <a:schemeClr val="tx1"/>
                </a:solidFill>
                <a:latin typeface="Arial" panose="020B0604020202020204" pitchFamily="34" charset="0"/>
                <a:ea typeface="Meiryo UI" panose="020B0604030504040204" pitchFamily="50" charset="-128"/>
                <a:cs typeface="Arial" panose="020B0604020202020204" pitchFamily="34" charset="0"/>
              </a:rPr>
              <a:t>Relatively low risk</a:t>
            </a:r>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 to the human body even in the event of a malfunction</a:t>
            </a:r>
          </a:p>
          <a:p>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(e.g., MRI machine, ultrasound machine)</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2" name="Rectangle 21">
            <a:extLst>
              <a:ext uri="{FF2B5EF4-FFF2-40B4-BE49-F238E27FC236}">
                <a16:creationId xmlns:a16="http://schemas.microsoft.com/office/drawing/2014/main" id="{89153A63-D415-FB2D-254D-5626584F2D5A}"/>
              </a:ext>
            </a:extLst>
          </p:cNvPr>
          <p:cNvSpPr/>
          <p:nvPr/>
        </p:nvSpPr>
        <p:spPr>
          <a:xfrm>
            <a:off x="1436762" y="4522873"/>
            <a:ext cx="4474182" cy="7686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u="sng" dirty="0">
                <a:solidFill>
                  <a:schemeClr val="tx1"/>
                </a:solidFill>
                <a:latin typeface="Arial" panose="020B0604020202020204" pitchFamily="34" charset="0"/>
                <a:ea typeface="Meiryo UI" panose="020B0604030504040204" pitchFamily="50" charset="-128"/>
                <a:cs typeface="Arial" panose="020B0604020202020204" pitchFamily="34" charset="0"/>
              </a:rPr>
              <a:t>Relatively high risk</a:t>
            </a:r>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 to the human body in the event of a malfunction</a:t>
            </a:r>
            <a:r>
              <a:rPr lang="ja-JP" altLang="en-US" dirty="0">
                <a:solidFill>
                  <a:schemeClr val="tx1"/>
                </a:solidFill>
                <a:latin typeface="Arial" panose="020B0604020202020204" pitchFamily="34" charset="0"/>
                <a:ea typeface="Meiryo UI" panose="020B0604030504040204" pitchFamily="50" charset="-128"/>
                <a:cs typeface="Arial" panose="020B0604020202020204" pitchFamily="34" charset="0"/>
              </a:rPr>
              <a:t> </a:t>
            </a:r>
            <a:endPar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endParaRPr>
          </a:p>
          <a:p>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(e.g., ventilator,</a:t>
            </a:r>
            <a:r>
              <a:rPr lang="ja-JP" altLang="en-US" dirty="0">
                <a:solidFill>
                  <a:schemeClr val="tx1"/>
                </a:solidFill>
                <a:latin typeface="Arial" panose="020B0604020202020204" pitchFamily="34" charset="0"/>
                <a:ea typeface="Meiryo UI" panose="020B0604030504040204" pitchFamily="50" charset="-128"/>
                <a:cs typeface="Arial" panose="020B0604020202020204" pitchFamily="34" charset="0"/>
              </a:rPr>
              <a:t> </a:t>
            </a:r>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dialysis machine)</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3" name="Rectangle 22">
            <a:extLst>
              <a:ext uri="{FF2B5EF4-FFF2-40B4-BE49-F238E27FC236}">
                <a16:creationId xmlns:a16="http://schemas.microsoft.com/office/drawing/2014/main" id="{BC8AB73D-D496-E337-FE6F-FF56BFFBC83E}"/>
              </a:ext>
            </a:extLst>
          </p:cNvPr>
          <p:cNvSpPr/>
          <p:nvPr/>
        </p:nvSpPr>
        <p:spPr>
          <a:xfrm>
            <a:off x="1436763" y="5469918"/>
            <a:ext cx="4474182" cy="7686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u="sng" dirty="0">
                <a:solidFill>
                  <a:schemeClr val="tx1"/>
                </a:solidFill>
                <a:latin typeface="Arial" panose="020B0604020202020204" pitchFamily="34" charset="0"/>
                <a:ea typeface="Meiryo UI" panose="020B0604030504040204" pitchFamily="50" charset="-128"/>
                <a:cs typeface="Arial" panose="020B0604020202020204" pitchFamily="34" charset="0"/>
              </a:rPr>
              <a:t>Life-threatening risk</a:t>
            </a:r>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 in the event of a malfunction</a:t>
            </a:r>
          </a:p>
          <a:p>
            <a:r>
              <a:rPr lang="ja-JP" altLang="en-US" dirty="0">
                <a:solidFill>
                  <a:schemeClr val="tx1"/>
                </a:solidFill>
                <a:latin typeface="Arial" panose="020B0604020202020204" pitchFamily="34" charset="0"/>
                <a:ea typeface="Meiryo UI" panose="020B0604030504040204" pitchFamily="50" charset="-128"/>
                <a:cs typeface="Arial" panose="020B0604020202020204" pitchFamily="34" charset="0"/>
              </a:rPr>
              <a:t> </a:t>
            </a:r>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(e.g., pacemaker)</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4" name="Rectangle 23">
            <a:extLst>
              <a:ext uri="{FF2B5EF4-FFF2-40B4-BE49-F238E27FC236}">
                <a16:creationId xmlns:a16="http://schemas.microsoft.com/office/drawing/2014/main" id="{B202EC3F-72D9-037B-4FD3-281F4806F7F8}"/>
              </a:ext>
            </a:extLst>
          </p:cNvPr>
          <p:cNvSpPr/>
          <p:nvPr/>
        </p:nvSpPr>
        <p:spPr>
          <a:xfrm>
            <a:off x="6063346" y="2035535"/>
            <a:ext cx="2079170" cy="4464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2000" dirty="0">
                <a:solidFill>
                  <a:schemeClr val="tx1"/>
                </a:solidFill>
                <a:latin typeface="Arial" panose="020B0604020202020204" pitchFamily="34" charset="0"/>
                <a:ea typeface="Meiryo UI" panose="020B0604030504040204" pitchFamily="50" charset="-128"/>
                <a:cs typeface="Arial" panose="020B0604020202020204" pitchFamily="34" charset="0"/>
              </a:rPr>
              <a:t>Approval Process</a:t>
            </a:r>
            <a:endPar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25" name="Straight Connector 24">
            <a:extLst>
              <a:ext uri="{FF2B5EF4-FFF2-40B4-BE49-F238E27FC236}">
                <a16:creationId xmlns:a16="http://schemas.microsoft.com/office/drawing/2014/main" id="{270721DC-21AE-D722-F153-7D94FFC4928C}"/>
              </a:ext>
              <a:ext uri="{C183D7F6-B498-43B3-948B-1728B52AA6E4}">
                <adec:decorative xmlns:adec="http://schemas.microsoft.com/office/drawing/2017/decorative" val="1"/>
              </a:ext>
            </a:extLst>
          </p:cNvPr>
          <p:cNvCxnSpPr>
            <a:cxnSpLocks/>
          </p:cNvCxnSpPr>
          <p:nvPr/>
        </p:nvCxnSpPr>
        <p:spPr>
          <a:xfrm>
            <a:off x="6063347" y="2435823"/>
            <a:ext cx="2079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C6FC0917-B87D-1EA4-9DE8-50F19672DA2A}"/>
              </a:ext>
            </a:extLst>
          </p:cNvPr>
          <p:cNvSpPr/>
          <p:nvPr/>
        </p:nvSpPr>
        <p:spPr>
          <a:xfrm>
            <a:off x="6063347" y="2794286"/>
            <a:ext cx="2079170" cy="4464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Self-declaration (Submission only)</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7" name="Rectangle 26">
            <a:extLst>
              <a:ext uri="{FF2B5EF4-FFF2-40B4-BE49-F238E27FC236}">
                <a16:creationId xmlns:a16="http://schemas.microsoft.com/office/drawing/2014/main" id="{F9C898CD-B588-8D05-1681-08987E366073}"/>
              </a:ext>
            </a:extLst>
          </p:cNvPr>
          <p:cNvSpPr/>
          <p:nvPr/>
        </p:nvSpPr>
        <p:spPr>
          <a:xfrm>
            <a:off x="6063347" y="3739115"/>
            <a:ext cx="2079170" cy="4464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3</a:t>
            </a:r>
            <a:r>
              <a:rPr lang="en-US" altLang="ja-JP" baseline="30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rd</a:t>
            </a: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 party certification</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8" name="Rectangle 27">
            <a:extLst>
              <a:ext uri="{FF2B5EF4-FFF2-40B4-BE49-F238E27FC236}">
                <a16:creationId xmlns:a16="http://schemas.microsoft.com/office/drawing/2014/main" id="{931DA0F4-FBE6-BA04-6BBF-6F7D61A579EF}"/>
              </a:ext>
            </a:extLst>
          </p:cNvPr>
          <p:cNvSpPr/>
          <p:nvPr/>
        </p:nvSpPr>
        <p:spPr>
          <a:xfrm>
            <a:off x="6063347" y="4683944"/>
            <a:ext cx="2079170" cy="4464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3</a:t>
            </a:r>
            <a:r>
              <a:rPr lang="en-US" altLang="ja-JP" baseline="30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rd</a:t>
            </a: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 party certification</a:t>
            </a:r>
          </a:p>
          <a:p>
            <a:pPr algn="ct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r>
              <a:rPr lang="en-US" altLang="ja-JP"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PMDA approval</a:t>
            </a:r>
            <a:endPar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0" name="Rectangle 29">
            <a:extLst>
              <a:ext uri="{FF2B5EF4-FFF2-40B4-BE49-F238E27FC236}">
                <a16:creationId xmlns:a16="http://schemas.microsoft.com/office/drawing/2014/main" id="{1E9C74E5-4FAB-536C-B46F-98AD0920ABF7}"/>
              </a:ext>
            </a:extLst>
          </p:cNvPr>
          <p:cNvSpPr/>
          <p:nvPr/>
        </p:nvSpPr>
        <p:spPr>
          <a:xfrm>
            <a:off x="6063347" y="5630989"/>
            <a:ext cx="2079170" cy="4464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PMDA approval</a:t>
            </a:r>
            <a:endParaRPr lang="en-US" b="1"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2" name="Rectangle 31">
            <a:extLst>
              <a:ext uri="{FF2B5EF4-FFF2-40B4-BE49-F238E27FC236}">
                <a16:creationId xmlns:a16="http://schemas.microsoft.com/office/drawing/2014/main" id="{2248C8FB-E505-1EFE-948A-23A205EA326E}"/>
              </a:ext>
              <a:ext uri="{C183D7F6-B498-43B3-948B-1728B52AA6E4}">
                <adec:decorative xmlns:adec="http://schemas.microsoft.com/office/drawing/2017/decorative" val="1"/>
              </a:ext>
            </a:extLst>
          </p:cNvPr>
          <p:cNvSpPr/>
          <p:nvPr/>
        </p:nvSpPr>
        <p:spPr>
          <a:xfrm rot="5400000">
            <a:off x="9625549" y="3562788"/>
            <a:ext cx="1179544" cy="3047416"/>
          </a:xfrm>
          <a:prstGeom prst="rect">
            <a:avLst/>
          </a:prstGeom>
          <a:noFill/>
          <a:ln w="57150">
            <a:solidFill>
              <a:srgbClr val="FFC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276517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16A7E-F0E3-6073-5273-16E8655E96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6A058B-E895-1F47-DCB9-508E56894241}"/>
              </a:ext>
            </a:extLst>
          </p:cNvPr>
          <p:cNvSpPr>
            <a:spLocks noGrp="1"/>
          </p:cNvSpPr>
          <p:nvPr>
            <p:ph type="title"/>
          </p:nvPr>
        </p:nvSpPr>
        <p:spPr/>
        <p:txBody>
          <a:bodyPr/>
          <a:lstStyle/>
          <a:p>
            <a:r>
              <a:rPr lang="en-US" noProof="0" dirty="0"/>
              <a:t>Reimbursement listing specific to medical device</a:t>
            </a:r>
          </a:p>
        </p:txBody>
      </p:sp>
      <p:sp>
        <p:nvSpPr>
          <p:cNvPr id="4" name="Slide Number Placeholder 3">
            <a:extLst>
              <a:ext uri="{FF2B5EF4-FFF2-40B4-BE49-F238E27FC236}">
                <a16:creationId xmlns:a16="http://schemas.microsoft.com/office/drawing/2014/main" id="{126F68D4-272B-A8C6-977C-517F125BAE36}"/>
              </a:ext>
            </a:extLst>
          </p:cNvPr>
          <p:cNvSpPr>
            <a:spLocks noGrp="1"/>
          </p:cNvSpPr>
          <p:nvPr>
            <p:ph type="sldNum" sz="quarter" idx="4"/>
          </p:nvPr>
        </p:nvSpPr>
        <p:spPr/>
        <p:txBody>
          <a:bodyPr/>
          <a:lstStyle/>
          <a:p>
            <a:fld id="{B5CEABB6-07DC-46E8-9B57-56EC44A396E5}" type="slidenum">
              <a:rPr lang="en-US" noProof="0" smtClean="0"/>
              <a:pPr/>
              <a:t>20</a:t>
            </a:fld>
            <a:endParaRPr lang="en-US" noProof="0" dirty="0"/>
          </a:p>
        </p:txBody>
      </p:sp>
      <p:sp>
        <p:nvSpPr>
          <p:cNvPr id="5" name="Table Placeholder 4">
            <a:extLst>
              <a:ext uri="{FF2B5EF4-FFF2-40B4-BE49-F238E27FC236}">
                <a16:creationId xmlns:a16="http://schemas.microsoft.com/office/drawing/2014/main" id="{BE732945-E876-60F8-C851-08251ABF02D7}"/>
              </a:ext>
            </a:extLst>
          </p:cNvPr>
          <p:cNvSpPr>
            <a:spLocks noGrp="1"/>
          </p:cNvSpPr>
          <p:nvPr>
            <p:ph type="tbl" sz="quarter" idx="11"/>
          </p:nvPr>
        </p:nvSpPr>
        <p:spPr/>
        <p:txBody>
          <a:bodyPr/>
          <a:lstStyle/>
          <a:p>
            <a:r>
              <a:rPr lang="en-US" noProof="0" dirty="0"/>
              <a:t>For some, value </a:t>
            </a:r>
            <a:r>
              <a:rPr lang="en-US" dirty="0"/>
              <a:t>of</a:t>
            </a:r>
            <a:r>
              <a:rPr lang="en-US" noProof="0" dirty="0"/>
              <a:t> technology is included in service fee. </a:t>
            </a:r>
            <a:r>
              <a:rPr lang="en-US" dirty="0"/>
              <a:t>For others, it can be charged as “functional category” fee, separated from service fee</a:t>
            </a:r>
            <a:endParaRPr lang="en-US" noProof="0" dirty="0"/>
          </a:p>
        </p:txBody>
      </p:sp>
      <p:grpSp>
        <p:nvGrpSpPr>
          <p:cNvPr id="10" name="Group 9">
            <a:extLst>
              <a:ext uri="{FF2B5EF4-FFF2-40B4-BE49-F238E27FC236}">
                <a16:creationId xmlns:a16="http://schemas.microsoft.com/office/drawing/2014/main" id="{12253B72-BB8E-1065-63D6-B78C4C0AB82E}"/>
              </a:ext>
              <a:ext uri="{C183D7F6-B498-43B3-948B-1728B52AA6E4}">
                <adec:decorative xmlns:adec="http://schemas.microsoft.com/office/drawing/2017/decorative" val="1"/>
              </a:ext>
            </a:extLst>
          </p:cNvPr>
          <p:cNvGrpSpPr/>
          <p:nvPr/>
        </p:nvGrpSpPr>
        <p:grpSpPr>
          <a:xfrm>
            <a:off x="467139" y="108959"/>
            <a:ext cx="4197304" cy="307297"/>
            <a:chOff x="562270" y="127168"/>
            <a:chExt cx="4197304" cy="307297"/>
          </a:xfrm>
        </p:grpSpPr>
        <p:sp>
          <p:nvSpPr>
            <p:cNvPr id="11" name="Arrow: Pentagon 10">
              <a:extLst>
                <a:ext uri="{FF2B5EF4-FFF2-40B4-BE49-F238E27FC236}">
                  <a16:creationId xmlns:a16="http://schemas.microsoft.com/office/drawing/2014/main" id="{33B9EF3C-F3F1-6176-8123-AEB6B03F1376}"/>
                </a:ext>
              </a:extLst>
            </p:cNvPr>
            <p:cNvSpPr/>
            <p:nvPr/>
          </p:nvSpPr>
          <p:spPr>
            <a:xfrm>
              <a:off x="3192565"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③AI</a:t>
              </a:r>
            </a:p>
          </p:txBody>
        </p:sp>
        <p:sp>
          <p:nvSpPr>
            <p:cNvPr id="12" name="Arrow: Pentagon 11">
              <a:extLst>
                <a:ext uri="{FF2B5EF4-FFF2-40B4-BE49-F238E27FC236}">
                  <a16:creationId xmlns:a16="http://schemas.microsoft.com/office/drawing/2014/main" id="{EC584ED1-EE7A-9B7B-837C-8BB91142F9C6}"/>
                </a:ext>
              </a:extLst>
            </p:cNvPr>
            <p:cNvSpPr/>
            <p:nvPr/>
          </p:nvSpPr>
          <p:spPr>
            <a:xfrm>
              <a:off x="1817136" y="127168"/>
              <a:ext cx="1567009" cy="307297"/>
            </a:xfrm>
            <a:prstGeom prst="homePlate">
              <a:avLst/>
            </a:prstGeom>
            <a:solidFill>
              <a:srgbClr val="32006E"/>
            </a:solidFill>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②Regulation</a:t>
              </a:r>
            </a:p>
          </p:txBody>
        </p:sp>
        <p:sp>
          <p:nvSpPr>
            <p:cNvPr id="13" name="Arrow: Pentagon 12">
              <a:extLst>
                <a:ext uri="{FF2B5EF4-FFF2-40B4-BE49-F238E27FC236}">
                  <a16:creationId xmlns:a16="http://schemas.microsoft.com/office/drawing/2014/main" id="{D246DECB-11E2-28C6-2B49-8697375CADA7}"/>
                </a:ext>
              </a:extLst>
            </p:cNvPr>
            <p:cNvSpPr/>
            <p:nvPr/>
          </p:nvSpPr>
          <p:spPr>
            <a:xfrm>
              <a:off x="562270"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①Insurance</a:t>
              </a:r>
            </a:p>
          </p:txBody>
        </p:sp>
      </p:grpSp>
      <p:sp>
        <p:nvSpPr>
          <p:cNvPr id="6" name="TextBox 5">
            <a:extLst>
              <a:ext uri="{FF2B5EF4-FFF2-40B4-BE49-F238E27FC236}">
                <a16:creationId xmlns:a16="http://schemas.microsoft.com/office/drawing/2014/main" id="{25F93E62-D090-3AEC-903E-D11B20E074D6}"/>
              </a:ext>
            </a:extLst>
          </p:cNvPr>
          <p:cNvSpPr txBox="1"/>
          <p:nvPr/>
        </p:nvSpPr>
        <p:spPr>
          <a:xfrm>
            <a:off x="467139" y="6481338"/>
            <a:ext cx="11257722" cy="369332"/>
          </a:xfrm>
          <a:prstGeom prst="rect">
            <a:avLst/>
          </a:prstGeom>
          <a:solidFill>
            <a:schemeClr val="bg1"/>
          </a:solidFill>
        </p:spPr>
        <p:txBody>
          <a:bodyPr wrap="square" lIns="0" tIns="0" rIns="0" bIns="0">
            <a:spAutoFit/>
          </a:bodyPr>
          <a:lstStyle/>
          <a:p>
            <a:r>
              <a:rPr lang="pt-BR" sz="1200" dirty="0">
                <a:latin typeface="Arial" panose="020B0604020202020204" pitchFamily="34" charset="0"/>
                <a:ea typeface="Meiryo UI" panose="020B0604030504040204" pitchFamily="50" charset="-128"/>
                <a:cs typeface="Arial" panose="020B0604020202020204" pitchFamily="34" charset="0"/>
              </a:rPr>
              <a:t>MHLW </a:t>
            </a:r>
            <a:r>
              <a:rPr lang="pt-BR" sz="1200" dirty="0">
                <a:latin typeface="Arial" panose="020B0604020202020204" pitchFamily="34" charset="0"/>
                <a:ea typeface="Meiryo UI" panose="020B0604030504040204" pitchFamily="50" charset="-128"/>
                <a:cs typeface="Arial" panose="020B0604020202020204" pitchFamily="34" charset="0"/>
                <a:hlinkClick r:id="rId3"/>
              </a:rPr>
              <a:t>https://www.mhlw.go.jp/content/10800000/001073851.pdf</a:t>
            </a:r>
            <a:endParaRPr lang="pt-BR" sz="1200" dirty="0">
              <a:latin typeface="Arial" panose="020B0604020202020204" pitchFamily="34" charset="0"/>
              <a:ea typeface="Meiryo UI" panose="020B0604030504040204" pitchFamily="50" charset="-128"/>
              <a:cs typeface="Arial" panose="020B0604020202020204" pitchFamily="34" charset="0"/>
            </a:endParaRPr>
          </a:p>
          <a:p>
            <a:r>
              <a:rPr lang="en-US" sz="1200" dirty="0">
                <a:latin typeface="Arial" panose="020B0604020202020204" pitchFamily="34" charset="0"/>
                <a:ea typeface="Meiryo UI" panose="020B0604030504040204" pitchFamily="50" charset="-128"/>
                <a:cs typeface="Arial" panose="020B0604020202020204" pitchFamily="34" charset="0"/>
              </a:rPr>
              <a:t>Matsumoto et al. Current Medical Technology Reimbursement System in Japan </a:t>
            </a:r>
            <a:r>
              <a:rPr lang="en-US" sz="1200" i="1" dirty="0">
                <a:latin typeface="Arial" panose="020B0604020202020204" pitchFamily="34" charset="0"/>
                <a:ea typeface="Meiryo UI" panose="020B0604030504040204" pitchFamily="50" charset="-128"/>
                <a:cs typeface="Arial" panose="020B0604020202020204" pitchFamily="34" charset="0"/>
              </a:rPr>
              <a:t>Value in Health Regional Issues</a:t>
            </a:r>
            <a:r>
              <a:rPr lang="en-US" sz="1200" dirty="0">
                <a:latin typeface="Arial" panose="020B0604020202020204" pitchFamily="34" charset="0"/>
                <a:ea typeface="Meiryo UI" panose="020B0604030504040204" pitchFamily="50" charset="-128"/>
                <a:cs typeface="Arial" panose="020B0604020202020204" pitchFamily="34" charset="0"/>
              </a:rPr>
              <a:t>, 2023; 34, 118-12</a:t>
            </a:r>
            <a:endParaRPr lang="pt-BR" sz="1200" dirty="0">
              <a:latin typeface="Arial" panose="020B0604020202020204" pitchFamily="34" charset="0"/>
              <a:ea typeface="Meiryo UI" panose="020B0604030504040204" pitchFamily="50" charset="-128"/>
              <a:cs typeface="Arial" panose="020B0604020202020204" pitchFamily="34" charset="0"/>
            </a:endParaRPr>
          </a:p>
        </p:txBody>
      </p:sp>
      <p:sp>
        <p:nvSpPr>
          <p:cNvPr id="16" name="Rectangle 15">
            <a:extLst>
              <a:ext uri="{FF2B5EF4-FFF2-40B4-BE49-F238E27FC236}">
                <a16:creationId xmlns:a16="http://schemas.microsoft.com/office/drawing/2014/main" id="{38F45BE6-0DC7-7E9D-2DF3-020EEB83139A}"/>
              </a:ext>
            </a:extLst>
          </p:cNvPr>
          <p:cNvSpPr/>
          <p:nvPr/>
        </p:nvSpPr>
        <p:spPr>
          <a:xfrm>
            <a:off x="6076440" y="2035535"/>
            <a:ext cx="1822596" cy="4464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2000" dirty="0">
                <a:solidFill>
                  <a:schemeClr val="tx1"/>
                </a:solidFill>
                <a:latin typeface="Arial" panose="020B0604020202020204" pitchFamily="34" charset="0"/>
                <a:ea typeface="Meiryo UI" panose="020B0604030504040204" pitchFamily="50" charset="-128"/>
                <a:cs typeface="Arial" panose="020B0604020202020204" pitchFamily="34" charset="0"/>
              </a:rPr>
              <a:t>Medical service</a:t>
            </a:r>
            <a:endPar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17" name="Straight Connector 16">
            <a:extLst>
              <a:ext uri="{FF2B5EF4-FFF2-40B4-BE49-F238E27FC236}">
                <a16:creationId xmlns:a16="http://schemas.microsoft.com/office/drawing/2014/main" id="{D5D6B188-ECE7-AB89-5265-8037A00CA333}"/>
              </a:ext>
              <a:ext uri="{C183D7F6-B498-43B3-948B-1728B52AA6E4}">
                <adec:decorative xmlns:adec="http://schemas.microsoft.com/office/drawing/2017/decorative" val="1"/>
              </a:ext>
            </a:extLst>
          </p:cNvPr>
          <p:cNvCxnSpPr>
            <a:cxnSpLocks/>
          </p:cNvCxnSpPr>
          <p:nvPr/>
        </p:nvCxnSpPr>
        <p:spPr>
          <a:xfrm>
            <a:off x="6076440" y="2435823"/>
            <a:ext cx="182259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BB875908-97D5-F656-2CEB-AC875699B720}"/>
              </a:ext>
            </a:extLst>
          </p:cNvPr>
          <p:cNvSpPr/>
          <p:nvPr/>
        </p:nvSpPr>
        <p:spPr>
          <a:xfrm>
            <a:off x="6076440" y="2642005"/>
            <a:ext cx="1822596" cy="4911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Blood collection</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0" name="Rectangle 19">
            <a:extLst>
              <a:ext uri="{FF2B5EF4-FFF2-40B4-BE49-F238E27FC236}">
                <a16:creationId xmlns:a16="http://schemas.microsoft.com/office/drawing/2014/main" id="{C40EF3D5-B23D-C00A-6D6A-5D189FCFED36}"/>
              </a:ext>
            </a:extLst>
          </p:cNvPr>
          <p:cNvSpPr/>
          <p:nvPr/>
        </p:nvSpPr>
        <p:spPr>
          <a:xfrm>
            <a:off x="6076440" y="4124864"/>
            <a:ext cx="1822596" cy="103687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Pacemaker implantation</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2" name="Rectangle 21">
            <a:extLst>
              <a:ext uri="{FF2B5EF4-FFF2-40B4-BE49-F238E27FC236}">
                <a16:creationId xmlns:a16="http://schemas.microsoft.com/office/drawing/2014/main" id="{975C8D2B-6170-EDD7-D772-38BD42B2BDA9}"/>
              </a:ext>
            </a:extLst>
          </p:cNvPr>
          <p:cNvSpPr/>
          <p:nvPr/>
        </p:nvSpPr>
        <p:spPr>
          <a:xfrm>
            <a:off x="7978391" y="2035535"/>
            <a:ext cx="3752121" cy="4464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2000" dirty="0">
                <a:solidFill>
                  <a:schemeClr val="tx1"/>
                </a:solidFill>
                <a:latin typeface="Arial" panose="020B0604020202020204" pitchFamily="34" charset="0"/>
                <a:ea typeface="Meiryo UI" panose="020B0604030504040204" pitchFamily="50" charset="-128"/>
                <a:cs typeface="Arial" panose="020B0604020202020204" pitchFamily="34" charset="0"/>
              </a:rPr>
              <a:t>Evaluation in fee schedule</a:t>
            </a:r>
            <a:endPar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23" name="Straight Connector 22">
            <a:extLst>
              <a:ext uri="{FF2B5EF4-FFF2-40B4-BE49-F238E27FC236}">
                <a16:creationId xmlns:a16="http://schemas.microsoft.com/office/drawing/2014/main" id="{A1AB53C3-5BC0-9CE6-1B10-342256AFA57B}"/>
              </a:ext>
              <a:ext uri="{C183D7F6-B498-43B3-948B-1728B52AA6E4}">
                <adec:decorative xmlns:adec="http://schemas.microsoft.com/office/drawing/2017/decorative" val="1"/>
              </a:ext>
            </a:extLst>
          </p:cNvPr>
          <p:cNvCxnSpPr>
            <a:cxnSpLocks/>
          </p:cNvCxnSpPr>
          <p:nvPr/>
        </p:nvCxnSpPr>
        <p:spPr>
          <a:xfrm>
            <a:off x="7978391" y="2435823"/>
            <a:ext cx="375212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1DE2245C-4806-3044-738F-BCEE4D575646}"/>
              </a:ext>
            </a:extLst>
          </p:cNvPr>
          <p:cNvSpPr/>
          <p:nvPr/>
        </p:nvSpPr>
        <p:spPr>
          <a:xfrm>
            <a:off x="7978391" y="2642005"/>
            <a:ext cx="3752121" cy="4911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Service</a:t>
            </a: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 fee points for </a:t>
            </a:r>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blood</a:t>
            </a: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 collection</a:t>
            </a:r>
            <a:r>
              <a:rPr lang="ja-JP" alt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a:t>
            </a: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include the value of needle</a:t>
            </a:r>
          </a:p>
        </p:txBody>
      </p:sp>
      <p:sp>
        <p:nvSpPr>
          <p:cNvPr id="26" name="Rectangle 25">
            <a:extLst>
              <a:ext uri="{FF2B5EF4-FFF2-40B4-BE49-F238E27FC236}">
                <a16:creationId xmlns:a16="http://schemas.microsoft.com/office/drawing/2014/main" id="{B40AA5C2-A7A5-11A3-8B62-A5C15C5D2AC4}"/>
              </a:ext>
            </a:extLst>
          </p:cNvPr>
          <p:cNvSpPr/>
          <p:nvPr/>
        </p:nvSpPr>
        <p:spPr>
          <a:xfrm>
            <a:off x="7978391" y="4124864"/>
            <a:ext cx="3752121" cy="103687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Service fee points for </a:t>
            </a: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implantation</a:t>
            </a:r>
            <a:r>
              <a:rPr lang="ja-JP" alt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 </a:t>
            </a:r>
            <a:r>
              <a:rPr lang="en-US" altLang="ja-JP"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 </a:t>
            </a: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technology fee for pacemaker</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8" name="Rectangle 27">
            <a:extLst>
              <a:ext uri="{FF2B5EF4-FFF2-40B4-BE49-F238E27FC236}">
                <a16:creationId xmlns:a16="http://schemas.microsoft.com/office/drawing/2014/main" id="{D7284F2C-6B69-2085-6BB8-EC8109F16ECF}"/>
              </a:ext>
            </a:extLst>
          </p:cNvPr>
          <p:cNvSpPr/>
          <p:nvPr/>
        </p:nvSpPr>
        <p:spPr>
          <a:xfrm>
            <a:off x="4597167" y="2035535"/>
            <a:ext cx="1409786" cy="4464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Device</a:t>
            </a:r>
            <a:endPar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30" name="Straight Connector 29">
            <a:extLst>
              <a:ext uri="{FF2B5EF4-FFF2-40B4-BE49-F238E27FC236}">
                <a16:creationId xmlns:a16="http://schemas.microsoft.com/office/drawing/2014/main" id="{86BE2F6E-686C-C4B9-133A-0D2C8E79768A}"/>
              </a:ext>
              <a:ext uri="{C183D7F6-B498-43B3-948B-1728B52AA6E4}">
                <adec:decorative xmlns:adec="http://schemas.microsoft.com/office/drawing/2017/decorative" val="1"/>
              </a:ext>
            </a:extLst>
          </p:cNvPr>
          <p:cNvCxnSpPr>
            <a:cxnSpLocks/>
          </p:cNvCxnSpPr>
          <p:nvPr/>
        </p:nvCxnSpPr>
        <p:spPr>
          <a:xfrm>
            <a:off x="4597167" y="2435823"/>
            <a:ext cx="140978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4045A49C-8BF0-9275-1ABD-F082BA3BD4DF}"/>
              </a:ext>
            </a:extLst>
          </p:cNvPr>
          <p:cNvSpPr/>
          <p:nvPr/>
        </p:nvSpPr>
        <p:spPr>
          <a:xfrm>
            <a:off x="4597167" y="2642005"/>
            <a:ext cx="1409786" cy="4911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dirty="0">
                <a:solidFill>
                  <a:schemeClr val="tx1"/>
                </a:solidFill>
                <a:latin typeface="Arial" panose="020B0604020202020204" pitchFamily="34" charset="0"/>
                <a:ea typeface="Meiryo UI" panose="020B0604030504040204" pitchFamily="50" charset="-128"/>
                <a:cs typeface="Arial" panose="020B0604020202020204" pitchFamily="34" charset="0"/>
              </a:rPr>
              <a:t>Needle</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5" name="Rectangle 34">
            <a:extLst>
              <a:ext uri="{FF2B5EF4-FFF2-40B4-BE49-F238E27FC236}">
                <a16:creationId xmlns:a16="http://schemas.microsoft.com/office/drawing/2014/main" id="{42A6226D-78F5-E2C4-708C-41C88EE3CC1A}"/>
              </a:ext>
            </a:extLst>
          </p:cNvPr>
          <p:cNvSpPr/>
          <p:nvPr/>
        </p:nvSpPr>
        <p:spPr>
          <a:xfrm>
            <a:off x="6076440" y="3273210"/>
            <a:ext cx="1822596" cy="71906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Ultrasound examination</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6" name="Rectangle 35">
            <a:extLst>
              <a:ext uri="{FF2B5EF4-FFF2-40B4-BE49-F238E27FC236}">
                <a16:creationId xmlns:a16="http://schemas.microsoft.com/office/drawing/2014/main" id="{1BBBE7EE-E09A-9E4E-1EFD-DDA618E1D662}"/>
              </a:ext>
            </a:extLst>
          </p:cNvPr>
          <p:cNvSpPr/>
          <p:nvPr/>
        </p:nvSpPr>
        <p:spPr>
          <a:xfrm>
            <a:off x="4597167" y="3273210"/>
            <a:ext cx="1409786" cy="71906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Ultrasound machine</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7" name="Rectangle 36">
            <a:extLst>
              <a:ext uri="{FF2B5EF4-FFF2-40B4-BE49-F238E27FC236}">
                <a16:creationId xmlns:a16="http://schemas.microsoft.com/office/drawing/2014/main" id="{97B4BA83-51DE-F8B1-A18E-1B6B0C260DC5}"/>
              </a:ext>
            </a:extLst>
          </p:cNvPr>
          <p:cNvSpPr/>
          <p:nvPr/>
        </p:nvSpPr>
        <p:spPr>
          <a:xfrm>
            <a:off x="7978391" y="3273210"/>
            <a:ext cx="3752121" cy="71906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Service</a:t>
            </a: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 fee points for ultrasound examination include the value of ultrasound device</a:t>
            </a:r>
          </a:p>
        </p:txBody>
      </p:sp>
      <p:sp>
        <p:nvSpPr>
          <p:cNvPr id="38" name="Rectangle 37">
            <a:extLst>
              <a:ext uri="{FF2B5EF4-FFF2-40B4-BE49-F238E27FC236}">
                <a16:creationId xmlns:a16="http://schemas.microsoft.com/office/drawing/2014/main" id="{36875540-5ED9-DFE8-3206-63BBC4DED15D}"/>
              </a:ext>
            </a:extLst>
          </p:cNvPr>
          <p:cNvSpPr/>
          <p:nvPr/>
        </p:nvSpPr>
        <p:spPr>
          <a:xfrm>
            <a:off x="4597167" y="4124864"/>
            <a:ext cx="1409786" cy="103687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Pacemaker</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45" name="Rectangle 44">
            <a:extLst>
              <a:ext uri="{FF2B5EF4-FFF2-40B4-BE49-F238E27FC236}">
                <a16:creationId xmlns:a16="http://schemas.microsoft.com/office/drawing/2014/main" id="{AEF9AEF3-B21F-4785-67D4-3294519851A7}"/>
              </a:ext>
            </a:extLst>
          </p:cNvPr>
          <p:cNvSpPr/>
          <p:nvPr/>
        </p:nvSpPr>
        <p:spPr>
          <a:xfrm>
            <a:off x="502913" y="2035535"/>
            <a:ext cx="3988324" cy="4464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2000" dirty="0">
                <a:solidFill>
                  <a:schemeClr val="tx1"/>
                </a:solidFill>
                <a:latin typeface="Arial" panose="020B0604020202020204" pitchFamily="34" charset="0"/>
                <a:ea typeface="Meiryo UI" panose="020B0604030504040204" pitchFamily="50" charset="-128"/>
                <a:cs typeface="Arial" panose="020B0604020202020204" pitchFamily="34" charset="0"/>
              </a:rPr>
              <a:t>Application category</a:t>
            </a:r>
            <a:endPar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47" name="Straight Connector 46">
            <a:extLst>
              <a:ext uri="{FF2B5EF4-FFF2-40B4-BE49-F238E27FC236}">
                <a16:creationId xmlns:a16="http://schemas.microsoft.com/office/drawing/2014/main" id="{A64964CA-84D7-592E-E9EE-5A047ACE094B}"/>
              </a:ext>
              <a:ext uri="{C183D7F6-B498-43B3-948B-1728B52AA6E4}">
                <adec:decorative xmlns:adec="http://schemas.microsoft.com/office/drawing/2017/decorative" val="1"/>
              </a:ext>
            </a:extLst>
          </p:cNvPr>
          <p:cNvCxnSpPr>
            <a:cxnSpLocks/>
          </p:cNvCxnSpPr>
          <p:nvPr/>
        </p:nvCxnSpPr>
        <p:spPr>
          <a:xfrm>
            <a:off x="506167" y="2435823"/>
            <a:ext cx="39849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2A35E1A7-0842-292D-238E-7D967D7954F5}"/>
              </a:ext>
            </a:extLst>
          </p:cNvPr>
          <p:cNvSpPr/>
          <p:nvPr/>
        </p:nvSpPr>
        <p:spPr>
          <a:xfrm>
            <a:off x="506167" y="2588599"/>
            <a:ext cx="3974172" cy="1371016"/>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2000" dirty="0">
                <a:solidFill>
                  <a:schemeClr val="tx1"/>
                </a:solidFill>
                <a:latin typeface="Arial" panose="020B0604020202020204" pitchFamily="34" charset="0"/>
                <a:ea typeface="Meiryo UI" panose="020B0604030504040204" pitchFamily="50" charset="-128"/>
                <a:cs typeface="Arial" panose="020B0604020202020204" pitchFamily="34" charset="0"/>
              </a:rPr>
              <a:t>A (A1, A2, A3)</a:t>
            </a:r>
          </a:p>
          <a:p>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Existing</a:t>
            </a: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service fee </a:t>
            </a:r>
            <a:r>
              <a:rPr lang="en-US" altLang="ja-JP"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include</a:t>
            </a: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 reimbursement for new device</a:t>
            </a:r>
          </a:p>
        </p:txBody>
      </p:sp>
      <p:sp>
        <p:nvSpPr>
          <p:cNvPr id="50" name="Rectangle 49">
            <a:extLst>
              <a:ext uri="{FF2B5EF4-FFF2-40B4-BE49-F238E27FC236}">
                <a16:creationId xmlns:a16="http://schemas.microsoft.com/office/drawing/2014/main" id="{793A88B4-5EDF-268C-9495-3C19E0052E20}"/>
              </a:ext>
            </a:extLst>
          </p:cNvPr>
          <p:cNvSpPr/>
          <p:nvPr/>
        </p:nvSpPr>
        <p:spPr>
          <a:xfrm>
            <a:off x="506167" y="4102056"/>
            <a:ext cx="3974172" cy="1155932"/>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2000" dirty="0">
                <a:solidFill>
                  <a:schemeClr val="tx1"/>
                </a:solidFill>
                <a:latin typeface="Arial" panose="020B0604020202020204" pitchFamily="34" charset="0"/>
                <a:ea typeface="Meiryo UI" panose="020B0604030504040204" pitchFamily="50" charset="-128"/>
                <a:cs typeface="Arial" panose="020B0604020202020204" pitchFamily="34" charset="0"/>
              </a:rPr>
              <a:t>B (B1, B2, B3)</a:t>
            </a:r>
            <a:endParaRPr lang="en-US" altLang="ja-JP" sz="1600" dirty="0">
              <a:solidFill>
                <a:schemeClr val="tx1"/>
              </a:solidFill>
              <a:latin typeface="Arial" panose="020B0604020202020204" pitchFamily="34" charset="0"/>
              <a:ea typeface="Meiryo UI" panose="020B0604030504040204" pitchFamily="50" charset="-128"/>
              <a:cs typeface="Arial" panose="020B0604020202020204" pitchFamily="34" charset="0"/>
            </a:endParaRPr>
          </a:p>
          <a:p>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New device can be covered by existing “functional category” for technology </a:t>
            </a:r>
            <a:r>
              <a:rPr lang="en-US" altLang="ja-JP"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separated from</a:t>
            </a: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 service fee</a:t>
            </a:r>
          </a:p>
        </p:txBody>
      </p:sp>
      <p:sp>
        <p:nvSpPr>
          <p:cNvPr id="55" name="Rectangle 54">
            <a:extLst>
              <a:ext uri="{FF2B5EF4-FFF2-40B4-BE49-F238E27FC236}">
                <a16:creationId xmlns:a16="http://schemas.microsoft.com/office/drawing/2014/main" id="{A7223EFD-4046-8A9F-30A3-88783B61C211}"/>
              </a:ext>
            </a:extLst>
          </p:cNvPr>
          <p:cNvSpPr/>
          <p:nvPr/>
        </p:nvSpPr>
        <p:spPr>
          <a:xfrm>
            <a:off x="4597167" y="5400431"/>
            <a:ext cx="1409786" cy="9281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New device</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63" name="Rectangle 62">
            <a:extLst>
              <a:ext uri="{FF2B5EF4-FFF2-40B4-BE49-F238E27FC236}">
                <a16:creationId xmlns:a16="http://schemas.microsoft.com/office/drawing/2014/main" id="{5F698B81-0CA6-8E13-B069-EED1C40A147C}"/>
              </a:ext>
            </a:extLst>
          </p:cNvPr>
          <p:cNvSpPr/>
          <p:nvPr/>
        </p:nvSpPr>
        <p:spPr>
          <a:xfrm>
            <a:off x="7978391" y="5400431"/>
            <a:ext cx="3752121" cy="9281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Service fee does not cover medical technology fee for new device and new “functional category” is needed</a:t>
            </a:r>
          </a:p>
        </p:txBody>
      </p:sp>
      <p:sp>
        <p:nvSpPr>
          <p:cNvPr id="1027" name="Rectangle 1026">
            <a:extLst>
              <a:ext uri="{FF2B5EF4-FFF2-40B4-BE49-F238E27FC236}">
                <a16:creationId xmlns:a16="http://schemas.microsoft.com/office/drawing/2014/main" id="{01C0E49C-3193-BEAB-E754-CC9C75D24A97}"/>
              </a:ext>
            </a:extLst>
          </p:cNvPr>
          <p:cNvSpPr/>
          <p:nvPr/>
        </p:nvSpPr>
        <p:spPr>
          <a:xfrm>
            <a:off x="506167" y="5400431"/>
            <a:ext cx="3974172" cy="1034706"/>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2000" dirty="0">
                <a:solidFill>
                  <a:schemeClr val="tx1"/>
                </a:solidFill>
                <a:latin typeface="Arial" panose="020B0604020202020204" pitchFamily="34" charset="0"/>
                <a:ea typeface="Meiryo UI" panose="020B0604030504040204" pitchFamily="50" charset="-128"/>
                <a:cs typeface="Arial" panose="020B0604020202020204" pitchFamily="34" charset="0"/>
              </a:rPr>
              <a:t>C (C1, C2)</a:t>
            </a:r>
            <a:endParaRPr lang="en-US" altLang="ja-JP" sz="1600" dirty="0">
              <a:solidFill>
                <a:schemeClr val="tx1"/>
              </a:solidFill>
              <a:latin typeface="Arial" panose="020B0604020202020204" pitchFamily="34" charset="0"/>
              <a:ea typeface="Meiryo UI" panose="020B0604030504040204" pitchFamily="50" charset="-128"/>
              <a:cs typeface="Arial" panose="020B0604020202020204" pitchFamily="34" charset="0"/>
            </a:endParaRPr>
          </a:p>
          <a:p>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F</a:t>
            </a: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ee schedule needs to create new “functional category” for new device</a:t>
            </a:r>
          </a:p>
        </p:txBody>
      </p:sp>
      <p:sp>
        <p:nvSpPr>
          <p:cNvPr id="3" name="Rectangle 2">
            <a:extLst>
              <a:ext uri="{FF2B5EF4-FFF2-40B4-BE49-F238E27FC236}">
                <a16:creationId xmlns:a16="http://schemas.microsoft.com/office/drawing/2014/main" id="{AD12AE6B-006E-4918-2A40-16FFC42C8BAE}"/>
              </a:ext>
            </a:extLst>
          </p:cNvPr>
          <p:cNvSpPr/>
          <p:nvPr/>
        </p:nvSpPr>
        <p:spPr>
          <a:xfrm>
            <a:off x="6076440" y="5400431"/>
            <a:ext cx="1822596" cy="9281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p:txBody>
      </p:sp>
      <p:cxnSp>
        <p:nvCxnSpPr>
          <p:cNvPr id="8" name="Straight Connector 7">
            <a:extLst>
              <a:ext uri="{FF2B5EF4-FFF2-40B4-BE49-F238E27FC236}">
                <a16:creationId xmlns:a16="http://schemas.microsoft.com/office/drawing/2014/main" id="{B41BF00C-6022-662D-0565-B56124A31601}"/>
              </a:ext>
              <a:ext uri="{C183D7F6-B498-43B3-948B-1728B52AA6E4}">
                <adec:decorative xmlns:adec="http://schemas.microsoft.com/office/drawing/2017/decorative" val="1"/>
              </a:ext>
            </a:extLst>
          </p:cNvPr>
          <p:cNvCxnSpPr/>
          <p:nvPr/>
        </p:nvCxnSpPr>
        <p:spPr>
          <a:xfrm>
            <a:off x="467139" y="4030835"/>
            <a:ext cx="11221277" cy="0"/>
          </a:xfrm>
          <a:prstGeom prst="line">
            <a:avLst/>
          </a:prstGeom>
          <a:ln w="12700">
            <a:solidFill>
              <a:schemeClr val="tx1">
                <a:lumMod val="65000"/>
                <a:lumOff val="3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B28F511-CCAA-ACDB-7CB7-61A611DCE4D7}"/>
              </a:ext>
              <a:ext uri="{C183D7F6-B498-43B3-948B-1728B52AA6E4}">
                <adec:decorative xmlns:adec="http://schemas.microsoft.com/office/drawing/2017/decorative" val="1"/>
              </a:ext>
            </a:extLst>
          </p:cNvPr>
          <p:cNvCxnSpPr/>
          <p:nvPr/>
        </p:nvCxnSpPr>
        <p:spPr>
          <a:xfrm>
            <a:off x="467139" y="5329209"/>
            <a:ext cx="11221277" cy="0"/>
          </a:xfrm>
          <a:prstGeom prst="line">
            <a:avLst/>
          </a:prstGeom>
          <a:ln w="12700">
            <a:solidFill>
              <a:schemeClr val="tx1">
                <a:lumMod val="65000"/>
                <a:lumOff val="3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91E86D2-2AF8-BACD-8A82-25D8ADE95019}"/>
              </a:ext>
              <a:ext uri="{C183D7F6-B498-43B3-948B-1728B52AA6E4}">
                <adec:decorative xmlns:adec="http://schemas.microsoft.com/office/drawing/2017/decorative" val="1"/>
              </a:ext>
            </a:extLst>
          </p:cNvPr>
          <p:cNvCxnSpPr>
            <a:cxnSpLocks/>
          </p:cNvCxnSpPr>
          <p:nvPr/>
        </p:nvCxnSpPr>
        <p:spPr>
          <a:xfrm>
            <a:off x="4597167" y="3185299"/>
            <a:ext cx="7133345" cy="0"/>
          </a:xfrm>
          <a:prstGeom prst="line">
            <a:avLst/>
          </a:prstGeom>
          <a:ln w="12700">
            <a:solidFill>
              <a:schemeClr val="tx1">
                <a:lumMod val="65000"/>
                <a:lumOff val="35000"/>
              </a:schemeClr>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5836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24003-0BA3-BCC0-6AD3-0E626CEE27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905044-6CE1-9547-2401-D71DB68A0F15}"/>
              </a:ext>
            </a:extLst>
          </p:cNvPr>
          <p:cNvSpPr>
            <a:spLocks noGrp="1"/>
          </p:cNvSpPr>
          <p:nvPr>
            <p:ph type="title"/>
          </p:nvPr>
        </p:nvSpPr>
        <p:spPr>
          <a:xfrm>
            <a:off x="467139" y="589724"/>
            <a:ext cx="11221278" cy="362776"/>
          </a:xfrm>
        </p:spPr>
        <p:txBody>
          <a:bodyPr/>
          <a:lstStyle/>
          <a:p>
            <a:r>
              <a:rPr lang="en-US" noProof="0" dirty="0"/>
              <a:t>Agenda</a:t>
            </a:r>
          </a:p>
        </p:txBody>
      </p:sp>
      <p:sp>
        <p:nvSpPr>
          <p:cNvPr id="4" name="Slide Number Placeholder 3">
            <a:extLst>
              <a:ext uri="{FF2B5EF4-FFF2-40B4-BE49-F238E27FC236}">
                <a16:creationId xmlns:a16="http://schemas.microsoft.com/office/drawing/2014/main" id="{D2581C52-9F0B-899F-99EC-C2D10FD510E8}"/>
              </a:ext>
            </a:extLst>
          </p:cNvPr>
          <p:cNvSpPr>
            <a:spLocks noGrp="1"/>
          </p:cNvSpPr>
          <p:nvPr>
            <p:ph type="sldNum" sz="quarter" idx="4"/>
          </p:nvPr>
        </p:nvSpPr>
        <p:spPr/>
        <p:txBody>
          <a:bodyPr/>
          <a:lstStyle/>
          <a:p>
            <a:fld id="{B5CEABB6-07DC-46E8-9B57-56EC44A396E5}" type="slidenum">
              <a:rPr lang="en-US" noProof="0" smtClean="0"/>
              <a:pPr/>
              <a:t>21</a:t>
            </a:fld>
            <a:endParaRPr lang="en-US" noProof="0" dirty="0"/>
          </a:p>
        </p:txBody>
      </p:sp>
      <p:sp>
        <p:nvSpPr>
          <p:cNvPr id="6" name="Rectangle 5">
            <a:extLst>
              <a:ext uri="{FF2B5EF4-FFF2-40B4-BE49-F238E27FC236}">
                <a16:creationId xmlns:a16="http://schemas.microsoft.com/office/drawing/2014/main" id="{F1DB5F78-E0B8-2FA3-34C7-8AABAFF14BF6}"/>
              </a:ext>
            </a:extLst>
          </p:cNvPr>
          <p:cNvSpPr/>
          <p:nvPr/>
        </p:nvSpPr>
        <p:spPr>
          <a:xfrm>
            <a:off x="467139" y="2064970"/>
            <a:ext cx="11221278" cy="735496"/>
          </a:xfrm>
          <a:prstGeom prst="rect">
            <a:avLst/>
          </a:prstGeom>
          <a:solidFill>
            <a:srgbClr val="C5B4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Meiryo UI" panose="020B0604030504040204" pitchFamily="50" charset="-128"/>
                <a:cs typeface="Arial" panose="020B0604020202020204" pitchFamily="34" charset="0"/>
              </a:rPr>
              <a:t>1</a:t>
            </a:r>
            <a:r>
              <a:rPr lang="en-US" sz="2400" b="1" noProof="0" dirty="0">
                <a:latin typeface="Arial" panose="020B0604020202020204" pitchFamily="34" charset="0"/>
                <a:ea typeface="Meiryo UI" panose="020B0604030504040204" pitchFamily="50" charset="-128"/>
                <a:cs typeface="Arial" panose="020B0604020202020204" pitchFamily="34" charset="0"/>
              </a:rPr>
              <a:t>. Overview of Japan’s Public Health Insurance System </a:t>
            </a:r>
          </a:p>
        </p:txBody>
      </p:sp>
      <p:sp>
        <p:nvSpPr>
          <p:cNvPr id="7" name="Rectangle 6">
            <a:extLst>
              <a:ext uri="{FF2B5EF4-FFF2-40B4-BE49-F238E27FC236}">
                <a16:creationId xmlns:a16="http://schemas.microsoft.com/office/drawing/2014/main" id="{3CAD8913-DF25-407D-4697-27A86261B45B}"/>
              </a:ext>
            </a:extLst>
          </p:cNvPr>
          <p:cNvSpPr/>
          <p:nvPr/>
        </p:nvSpPr>
        <p:spPr>
          <a:xfrm>
            <a:off x="467139" y="3506988"/>
            <a:ext cx="11221278" cy="735496"/>
          </a:xfrm>
          <a:prstGeom prst="rect">
            <a:avLst/>
          </a:prstGeom>
          <a:solidFill>
            <a:srgbClr val="C5B4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Meiryo UI" panose="020B0604030504040204" pitchFamily="50" charset="-128"/>
                <a:cs typeface="Arial" panose="020B0604020202020204" pitchFamily="34" charset="0"/>
              </a:rPr>
              <a:t>2</a:t>
            </a:r>
            <a:r>
              <a:rPr lang="en-US" sz="2400" b="1" noProof="0" dirty="0">
                <a:latin typeface="Arial" panose="020B0604020202020204" pitchFamily="34" charset="0"/>
                <a:ea typeface="Meiryo UI" panose="020B0604030504040204" pitchFamily="50" charset="-128"/>
                <a:cs typeface="Arial" panose="020B0604020202020204" pitchFamily="34" charset="0"/>
              </a:rPr>
              <a:t>. Medical Regulatory Approval and Reimbursement </a:t>
            </a:r>
          </a:p>
        </p:txBody>
      </p:sp>
      <p:sp>
        <p:nvSpPr>
          <p:cNvPr id="8" name="Rectangle 7">
            <a:extLst>
              <a:ext uri="{FF2B5EF4-FFF2-40B4-BE49-F238E27FC236}">
                <a16:creationId xmlns:a16="http://schemas.microsoft.com/office/drawing/2014/main" id="{18968658-680F-54C3-754C-30547FC92C28}"/>
              </a:ext>
            </a:extLst>
          </p:cNvPr>
          <p:cNvSpPr/>
          <p:nvPr/>
        </p:nvSpPr>
        <p:spPr>
          <a:xfrm>
            <a:off x="467139" y="4949006"/>
            <a:ext cx="11221278" cy="735496"/>
          </a:xfrm>
          <a:prstGeom prst="rect">
            <a:avLst/>
          </a:prstGeom>
          <a:solidFill>
            <a:srgbClr val="3200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Meiryo UI" panose="020B0604030504040204" pitchFamily="50" charset="-128"/>
                <a:cs typeface="Arial" panose="020B0604020202020204" pitchFamily="34" charset="0"/>
              </a:rPr>
              <a:t>3</a:t>
            </a:r>
            <a:r>
              <a:rPr lang="en-US" sz="2400" b="1" noProof="0" dirty="0">
                <a:latin typeface="Arial" panose="020B0604020202020204" pitchFamily="34" charset="0"/>
                <a:ea typeface="Meiryo UI" panose="020B0604030504040204" pitchFamily="50" charset="-128"/>
                <a:cs typeface="Arial" panose="020B0604020202020204" pitchFamily="34" charset="0"/>
              </a:rPr>
              <a:t>. Approval and Reimbursement for AI Medical Devices</a:t>
            </a:r>
          </a:p>
        </p:txBody>
      </p:sp>
    </p:spTree>
    <p:extLst>
      <p:ext uri="{BB962C8B-B14F-4D97-AF65-F5344CB8AC3E}">
        <p14:creationId xmlns:p14="http://schemas.microsoft.com/office/powerpoint/2010/main" val="21080634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26822-CBE7-54F3-A4D8-48CAA85B82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E95547-81A4-DBFE-4433-F39F0E0978E7}"/>
              </a:ext>
            </a:extLst>
          </p:cNvPr>
          <p:cNvSpPr>
            <a:spLocks noGrp="1"/>
          </p:cNvSpPr>
          <p:nvPr>
            <p:ph type="title"/>
          </p:nvPr>
        </p:nvSpPr>
        <p:spPr/>
        <p:txBody>
          <a:bodyPr/>
          <a:lstStyle/>
          <a:p>
            <a:r>
              <a:rPr lang="en-US" dirty="0"/>
              <a:t>Financial difficulties at macro-level </a:t>
            </a:r>
            <a:r>
              <a:rPr lang="en-US" noProof="0" dirty="0"/>
              <a:t>and micro-level</a:t>
            </a:r>
          </a:p>
        </p:txBody>
      </p:sp>
      <p:sp>
        <p:nvSpPr>
          <p:cNvPr id="3" name="Table Placeholder 2">
            <a:extLst>
              <a:ext uri="{FF2B5EF4-FFF2-40B4-BE49-F238E27FC236}">
                <a16:creationId xmlns:a16="http://schemas.microsoft.com/office/drawing/2014/main" id="{B7121988-0289-AFA3-B35A-FBA85E903607}"/>
              </a:ext>
            </a:extLst>
          </p:cNvPr>
          <p:cNvSpPr>
            <a:spLocks noGrp="1"/>
          </p:cNvSpPr>
          <p:nvPr>
            <p:ph type="tbl" sz="quarter" idx="10"/>
          </p:nvPr>
        </p:nvSpPr>
        <p:spPr/>
        <p:txBody>
          <a:bodyPr/>
          <a:lstStyle/>
          <a:p>
            <a:pPr>
              <a:lnSpc>
                <a:spcPct val="100000"/>
              </a:lnSpc>
            </a:pPr>
            <a:r>
              <a:rPr lang="en-US" noProof="0" dirty="0"/>
              <a:t>Pressures </a:t>
            </a:r>
            <a:r>
              <a:rPr lang="en-US" dirty="0"/>
              <a:t>to</a:t>
            </a:r>
            <a:r>
              <a:rPr lang="en-US" noProof="0" dirty="0"/>
              <a:t> restrict healthcare expenditure from national perspective</a:t>
            </a:r>
            <a:endParaRPr lang="en-US" altLang="ja-JP" noProof="0" dirty="0"/>
          </a:p>
          <a:p>
            <a:pPr>
              <a:lnSpc>
                <a:spcPct val="100000"/>
              </a:lnSpc>
            </a:pPr>
            <a:endParaRPr lang="en-US" altLang="ja-JP" sz="1100" noProof="0" dirty="0"/>
          </a:p>
          <a:p>
            <a:pPr>
              <a:lnSpc>
                <a:spcPct val="100000"/>
              </a:lnSpc>
            </a:pPr>
            <a:r>
              <a:rPr lang="en-US" altLang="ja-JP" noProof="0" dirty="0"/>
              <a:t>Financial difficulties and labor shortages in healthcare providers</a:t>
            </a:r>
          </a:p>
          <a:p>
            <a:pPr lvl="1">
              <a:lnSpc>
                <a:spcPct val="100000"/>
              </a:lnSpc>
            </a:pPr>
            <a:r>
              <a:rPr lang="en-US" altLang="ja-JP" noProof="0" dirty="0"/>
              <a:t>Uneven distribution of healthcare professionals by region and specialty</a:t>
            </a:r>
          </a:p>
          <a:p>
            <a:pPr lvl="1">
              <a:lnSpc>
                <a:spcPct val="100000"/>
              </a:lnSpc>
            </a:pPr>
            <a:r>
              <a:rPr lang="en-US" altLang="ja-JP" noProof="0" dirty="0"/>
              <a:t>Rising costs such as personnel and utility expenses due to inflation</a:t>
            </a:r>
          </a:p>
          <a:p>
            <a:pPr lvl="2">
              <a:lnSpc>
                <a:spcPct val="100000"/>
              </a:lnSpc>
            </a:pPr>
            <a:r>
              <a:rPr lang="en-US" altLang="ja-JP" noProof="0" dirty="0"/>
              <a:t>Record high of 717 hospital bankruptcies and closures in 2025</a:t>
            </a:r>
          </a:p>
          <a:p>
            <a:pPr lvl="2">
              <a:lnSpc>
                <a:spcPct val="100000"/>
              </a:lnSpc>
            </a:pPr>
            <a:r>
              <a:rPr lang="en-US" altLang="ja-JP" noProof="0" dirty="0"/>
              <a:t>80% of university hospitals are in the red</a:t>
            </a:r>
          </a:p>
          <a:p>
            <a:pPr lvl="2">
              <a:lnSpc>
                <a:spcPct val="100000"/>
              </a:lnSpc>
            </a:pPr>
            <a:endParaRPr lang="en-US" sz="1100" noProof="0" dirty="0"/>
          </a:p>
          <a:p>
            <a:pPr>
              <a:lnSpc>
                <a:spcPct val="100000"/>
              </a:lnSpc>
              <a:buFont typeface="Wingdings" panose="05000000000000000000" pitchFamily="2" charset="2"/>
              <a:buChar char="Ø"/>
            </a:pPr>
            <a:r>
              <a:rPr lang="en-US" noProof="0" dirty="0"/>
              <a:t>Improving productivity through AI medical devices may help address labor shortages and improve hospital finances</a:t>
            </a:r>
          </a:p>
          <a:p>
            <a:pPr>
              <a:lnSpc>
                <a:spcPct val="100000"/>
              </a:lnSpc>
              <a:buFont typeface="Wingdings" panose="05000000000000000000" pitchFamily="2" charset="2"/>
              <a:buChar char="Ø"/>
            </a:pPr>
            <a:r>
              <a:rPr lang="en-US" altLang="ja-JP" dirty="0"/>
              <a:t>Whether the devices receive insurance coverage and how points are allocated will be the key to widespread adoption</a:t>
            </a:r>
            <a:endParaRPr lang="en-US" noProof="0" dirty="0"/>
          </a:p>
        </p:txBody>
      </p:sp>
      <p:sp>
        <p:nvSpPr>
          <p:cNvPr id="4" name="Slide Number Placeholder 3">
            <a:extLst>
              <a:ext uri="{FF2B5EF4-FFF2-40B4-BE49-F238E27FC236}">
                <a16:creationId xmlns:a16="http://schemas.microsoft.com/office/drawing/2014/main" id="{D85333D5-F590-446D-1AD8-4D5A4C347ADB}"/>
              </a:ext>
            </a:extLst>
          </p:cNvPr>
          <p:cNvSpPr>
            <a:spLocks noGrp="1"/>
          </p:cNvSpPr>
          <p:nvPr>
            <p:ph type="sldNum" sz="quarter" idx="4"/>
          </p:nvPr>
        </p:nvSpPr>
        <p:spPr/>
        <p:txBody>
          <a:bodyPr/>
          <a:lstStyle/>
          <a:p>
            <a:fld id="{B5CEABB6-07DC-46E8-9B57-56EC44A396E5}" type="slidenum">
              <a:rPr lang="en-US" noProof="0" smtClean="0"/>
              <a:pPr/>
              <a:t>22</a:t>
            </a:fld>
            <a:endParaRPr lang="en-US" noProof="0" dirty="0"/>
          </a:p>
        </p:txBody>
      </p:sp>
      <p:sp>
        <p:nvSpPr>
          <p:cNvPr id="5" name="Table Placeholder 4">
            <a:extLst>
              <a:ext uri="{FF2B5EF4-FFF2-40B4-BE49-F238E27FC236}">
                <a16:creationId xmlns:a16="http://schemas.microsoft.com/office/drawing/2014/main" id="{C84D7E5A-61AA-8A97-4424-D7C8EA99BD1C}"/>
              </a:ext>
            </a:extLst>
          </p:cNvPr>
          <p:cNvSpPr>
            <a:spLocks noGrp="1"/>
          </p:cNvSpPr>
          <p:nvPr>
            <p:ph type="tbl" sz="quarter" idx="11"/>
          </p:nvPr>
        </p:nvSpPr>
        <p:spPr/>
        <p:txBody>
          <a:bodyPr/>
          <a:lstStyle/>
          <a:p>
            <a:r>
              <a:rPr lang="en-US" altLang="ja-JP" noProof="0" dirty="0"/>
              <a:t>Downward pressure of healthcare expenditure and shortage of medical workers and demand new medical technologies</a:t>
            </a:r>
            <a:endParaRPr lang="en-US" noProof="0" dirty="0"/>
          </a:p>
        </p:txBody>
      </p:sp>
      <p:grpSp>
        <p:nvGrpSpPr>
          <p:cNvPr id="10" name="Group 9">
            <a:extLst>
              <a:ext uri="{FF2B5EF4-FFF2-40B4-BE49-F238E27FC236}">
                <a16:creationId xmlns:a16="http://schemas.microsoft.com/office/drawing/2014/main" id="{6735C2E9-ACED-2BA9-2FC2-E27401DB8530}"/>
              </a:ext>
              <a:ext uri="{C183D7F6-B498-43B3-948B-1728B52AA6E4}">
                <adec:decorative xmlns:adec="http://schemas.microsoft.com/office/drawing/2017/decorative" val="1"/>
              </a:ext>
            </a:extLst>
          </p:cNvPr>
          <p:cNvGrpSpPr/>
          <p:nvPr/>
        </p:nvGrpSpPr>
        <p:grpSpPr>
          <a:xfrm>
            <a:off x="467139" y="108959"/>
            <a:ext cx="4197304" cy="307297"/>
            <a:chOff x="562270" y="127168"/>
            <a:chExt cx="4197304" cy="307297"/>
          </a:xfrm>
        </p:grpSpPr>
        <p:sp>
          <p:nvSpPr>
            <p:cNvPr id="11" name="Arrow: Pentagon 10">
              <a:extLst>
                <a:ext uri="{FF2B5EF4-FFF2-40B4-BE49-F238E27FC236}">
                  <a16:creationId xmlns:a16="http://schemas.microsoft.com/office/drawing/2014/main" id="{A8DE84F8-CD0D-71C5-0D51-F114AAD93AC8}"/>
                </a:ext>
              </a:extLst>
            </p:cNvPr>
            <p:cNvSpPr/>
            <p:nvPr/>
          </p:nvSpPr>
          <p:spPr>
            <a:xfrm>
              <a:off x="3192565" y="127168"/>
              <a:ext cx="1567009" cy="307297"/>
            </a:xfrm>
            <a:prstGeom prst="homePlate">
              <a:avLst/>
            </a:prstGeom>
            <a:solidFill>
              <a:srgbClr val="32006E"/>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③AI</a:t>
              </a:r>
            </a:p>
          </p:txBody>
        </p:sp>
        <p:sp>
          <p:nvSpPr>
            <p:cNvPr id="12" name="Arrow: Pentagon 11">
              <a:extLst>
                <a:ext uri="{FF2B5EF4-FFF2-40B4-BE49-F238E27FC236}">
                  <a16:creationId xmlns:a16="http://schemas.microsoft.com/office/drawing/2014/main" id="{66D41416-F772-90A9-8C9A-F131C68BBA57}"/>
                </a:ext>
              </a:extLst>
            </p:cNvPr>
            <p:cNvSpPr/>
            <p:nvPr/>
          </p:nvSpPr>
          <p:spPr>
            <a:xfrm>
              <a:off x="1817136"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②Regulation</a:t>
              </a:r>
            </a:p>
          </p:txBody>
        </p:sp>
        <p:sp>
          <p:nvSpPr>
            <p:cNvPr id="13" name="Arrow: Pentagon 12">
              <a:extLst>
                <a:ext uri="{FF2B5EF4-FFF2-40B4-BE49-F238E27FC236}">
                  <a16:creationId xmlns:a16="http://schemas.microsoft.com/office/drawing/2014/main" id="{7F588E0F-AAF0-97F5-400D-5BCD03808187}"/>
                </a:ext>
              </a:extLst>
            </p:cNvPr>
            <p:cNvSpPr/>
            <p:nvPr/>
          </p:nvSpPr>
          <p:spPr>
            <a:xfrm>
              <a:off x="562270"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①Insurance</a:t>
              </a:r>
            </a:p>
          </p:txBody>
        </p:sp>
      </p:grpSp>
    </p:spTree>
    <p:extLst>
      <p:ext uri="{BB962C8B-B14F-4D97-AF65-F5344CB8AC3E}">
        <p14:creationId xmlns:p14="http://schemas.microsoft.com/office/powerpoint/2010/main" val="37765878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06E26-91C5-96F9-A907-26DBDEA9C1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D62528-C657-BAE1-B8B1-0298B17B35D3}"/>
              </a:ext>
            </a:extLst>
          </p:cNvPr>
          <p:cNvSpPr>
            <a:spLocks noGrp="1"/>
          </p:cNvSpPr>
          <p:nvPr>
            <p:ph type="title"/>
          </p:nvPr>
        </p:nvSpPr>
        <p:spPr/>
        <p:txBody>
          <a:bodyPr/>
          <a:lstStyle/>
          <a:p>
            <a:r>
              <a:rPr lang="en-US" altLang="ja-JP" noProof="0" dirty="0"/>
              <a:t>Difficulty in evaluating AI medical device</a:t>
            </a:r>
            <a:r>
              <a:rPr lang="en-US" noProof="0" dirty="0"/>
              <a:t> </a:t>
            </a:r>
          </a:p>
        </p:txBody>
      </p:sp>
      <p:sp>
        <p:nvSpPr>
          <p:cNvPr id="3" name="Table Placeholder 2">
            <a:extLst>
              <a:ext uri="{FF2B5EF4-FFF2-40B4-BE49-F238E27FC236}">
                <a16:creationId xmlns:a16="http://schemas.microsoft.com/office/drawing/2014/main" id="{5C495603-17BD-D2E8-F7D2-34175602D119}"/>
              </a:ext>
            </a:extLst>
          </p:cNvPr>
          <p:cNvSpPr>
            <a:spLocks noGrp="1"/>
          </p:cNvSpPr>
          <p:nvPr>
            <p:ph type="tbl" sz="quarter" idx="10"/>
          </p:nvPr>
        </p:nvSpPr>
        <p:spPr/>
        <p:txBody>
          <a:bodyPr/>
          <a:lstStyle/>
          <a:p>
            <a:pPr>
              <a:lnSpc>
                <a:spcPct val="100000"/>
              </a:lnSpc>
            </a:pPr>
            <a:r>
              <a:rPr lang="en-US" noProof="0" dirty="0"/>
              <a:t>Regulatory approval</a:t>
            </a:r>
          </a:p>
          <a:p>
            <a:pPr lvl="1">
              <a:lnSpc>
                <a:spcPct val="100000"/>
              </a:lnSpc>
            </a:pPr>
            <a:r>
              <a:rPr lang="en-US" altLang="ja-JP" dirty="0"/>
              <a:t>Is it a "medical device" or not?</a:t>
            </a:r>
          </a:p>
          <a:p>
            <a:pPr lvl="1">
              <a:lnSpc>
                <a:spcPct val="100000"/>
              </a:lnSpc>
            </a:pPr>
            <a:r>
              <a:rPr lang="en-US" altLang="ja-JP" dirty="0"/>
              <a:t>If so, which Class (I-IV) does it fall under?</a:t>
            </a:r>
            <a:endParaRPr lang="en-US" altLang="ja-JP" noProof="0" dirty="0"/>
          </a:p>
          <a:p>
            <a:pPr lvl="1">
              <a:lnSpc>
                <a:spcPct val="100000"/>
              </a:lnSpc>
            </a:pPr>
            <a:r>
              <a:rPr lang="en-US" altLang="ja-JP" dirty="0"/>
              <a:t>Is it possible to do test marketing?</a:t>
            </a:r>
          </a:p>
          <a:p>
            <a:pPr lvl="1">
              <a:lnSpc>
                <a:spcPct val="100000"/>
              </a:lnSpc>
            </a:pPr>
            <a:endParaRPr lang="en-US" altLang="ja-JP" sz="1200" noProof="0" dirty="0"/>
          </a:p>
          <a:p>
            <a:r>
              <a:rPr lang="en-US" dirty="0"/>
              <a:t>Reimbursement listing</a:t>
            </a:r>
          </a:p>
          <a:p>
            <a:pPr lvl="1"/>
            <a:r>
              <a:rPr lang="en-US" dirty="0"/>
              <a:t>Which application category (A1-C2) applies?</a:t>
            </a:r>
          </a:p>
          <a:p>
            <a:pPr lvl="1"/>
            <a:r>
              <a:rPr lang="en-US" dirty="0"/>
              <a:t>Any add-on evaluation beyond typical tangible medical device?</a:t>
            </a:r>
          </a:p>
          <a:p>
            <a:pPr lvl="1"/>
            <a:endParaRPr lang="en-US" sz="1200" dirty="0"/>
          </a:p>
          <a:p>
            <a:r>
              <a:rPr lang="en-US" dirty="0"/>
              <a:t>Fee schedule revision</a:t>
            </a:r>
          </a:p>
          <a:p>
            <a:pPr lvl="1">
              <a:lnSpc>
                <a:spcPct val="100000"/>
              </a:lnSpc>
            </a:pPr>
            <a:r>
              <a:rPr lang="en-US" noProof="0" dirty="0"/>
              <a:t>Any add-on re-evaluation for post</a:t>
            </a:r>
            <a:r>
              <a:rPr lang="en-US" dirty="0"/>
              <a:t>-</a:t>
            </a:r>
            <a:r>
              <a:rPr lang="en-US" altLang="ja-JP" noProof="0" dirty="0"/>
              <a:t>marketing</a:t>
            </a:r>
            <a:r>
              <a:rPr lang="ja-JP" altLang="en-US" noProof="0" dirty="0"/>
              <a:t> </a:t>
            </a:r>
            <a:r>
              <a:rPr lang="en-US" altLang="ja-JP" noProof="0" dirty="0"/>
              <a:t>improvement?</a:t>
            </a:r>
          </a:p>
        </p:txBody>
      </p:sp>
      <p:sp>
        <p:nvSpPr>
          <p:cNvPr id="4" name="Slide Number Placeholder 3">
            <a:extLst>
              <a:ext uri="{FF2B5EF4-FFF2-40B4-BE49-F238E27FC236}">
                <a16:creationId xmlns:a16="http://schemas.microsoft.com/office/drawing/2014/main" id="{27EDD182-3DE1-0B64-EC77-3AEB8167B477}"/>
              </a:ext>
            </a:extLst>
          </p:cNvPr>
          <p:cNvSpPr>
            <a:spLocks noGrp="1"/>
          </p:cNvSpPr>
          <p:nvPr>
            <p:ph type="sldNum" sz="quarter" idx="4"/>
          </p:nvPr>
        </p:nvSpPr>
        <p:spPr/>
        <p:txBody>
          <a:bodyPr/>
          <a:lstStyle/>
          <a:p>
            <a:fld id="{B5CEABB6-07DC-46E8-9B57-56EC44A396E5}" type="slidenum">
              <a:rPr lang="en-US" noProof="0" smtClean="0"/>
              <a:pPr/>
              <a:t>23</a:t>
            </a:fld>
            <a:endParaRPr lang="en-US" noProof="0" dirty="0"/>
          </a:p>
        </p:txBody>
      </p:sp>
      <p:sp>
        <p:nvSpPr>
          <p:cNvPr id="5" name="Table Placeholder 4">
            <a:extLst>
              <a:ext uri="{FF2B5EF4-FFF2-40B4-BE49-F238E27FC236}">
                <a16:creationId xmlns:a16="http://schemas.microsoft.com/office/drawing/2014/main" id="{A7CF57A6-D090-846D-82B1-8AD37E25E4D7}"/>
              </a:ext>
            </a:extLst>
          </p:cNvPr>
          <p:cNvSpPr>
            <a:spLocks noGrp="1"/>
          </p:cNvSpPr>
          <p:nvPr>
            <p:ph type="tbl" sz="quarter" idx="11"/>
          </p:nvPr>
        </p:nvSpPr>
        <p:spPr/>
        <p:txBody>
          <a:bodyPr/>
          <a:lstStyle/>
          <a:p>
            <a:r>
              <a:rPr lang="en-US" altLang="ja-JP" noProof="0" dirty="0"/>
              <a:t>AI is intangible and its effectiveness and function can vary, which causes difficulty in categorizing AI medical devices within</a:t>
            </a:r>
            <a:r>
              <a:rPr lang="en-US" altLang="ja-JP" dirty="0"/>
              <a:t> existing framework</a:t>
            </a:r>
            <a:endParaRPr lang="en-US" noProof="0" dirty="0"/>
          </a:p>
        </p:txBody>
      </p:sp>
      <p:grpSp>
        <p:nvGrpSpPr>
          <p:cNvPr id="10" name="Group 9">
            <a:extLst>
              <a:ext uri="{FF2B5EF4-FFF2-40B4-BE49-F238E27FC236}">
                <a16:creationId xmlns:a16="http://schemas.microsoft.com/office/drawing/2014/main" id="{EB10B36C-1AB2-0F37-D11E-E26F010786C5}"/>
              </a:ext>
              <a:ext uri="{C183D7F6-B498-43B3-948B-1728B52AA6E4}">
                <adec:decorative xmlns:adec="http://schemas.microsoft.com/office/drawing/2017/decorative" val="1"/>
              </a:ext>
            </a:extLst>
          </p:cNvPr>
          <p:cNvGrpSpPr/>
          <p:nvPr/>
        </p:nvGrpSpPr>
        <p:grpSpPr>
          <a:xfrm>
            <a:off x="467139" y="108959"/>
            <a:ext cx="4197304" cy="307297"/>
            <a:chOff x="562270" y="127168"/>
            <a:chExt cx="4197304" cy="307297"/>
          </a:xfrm>
        </p:grpSpPr>
        <p:sp>
          <p:nvSpPr>
            <p:cNvPr id="11" name="Arrow: Pentagon 10">
              <a:extLst>
                <a:ext uri="{FF2B5EF4-FFF2-40B4-BE49-F238E27FC236}">
                  <a16:creationId xmlns:a16="http://schemas.microsoft.com/office/drawing/2014/main" id="{AAAF68CD-D2E0-E601-A52A-4FDC2BCDB34E}"/>
                </a:ext>
              </a:extLst>
            </p:cNvPr>
            <p:cNvSpPr/>
            <p:nvPr/>
          </p:nvSpPr>
          <p:spPr>
            <a:xfrm>
              <a:off x="3192565" y="127168"/>
              <a:ext cx="1567009" cy="307297"/>
            </a:xfrm>
            <a:prstGeom prst="homePlate">
              <a:avLst/>
            </a:prstGeom>
            <a:solidFill>
              <a:srgbClr val="32006E"/>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③AI</a:t>
              </a:r>
            </a:p>
          </p:txBody>
        </p:sp>
        <p:sp>
          <p:nvSpPr>
            <p:cNvPr id="12" name="Arrow: Pentagon 11">
              <a:extLst>
                <a:ext uri="{FF2B5EF4-FFF2-40B4-BE49-F238E27FC236}">
                  <a16:creationId xmlns:a16="http://schemas.microsoft.com/office/drawing/2014/main" id="{B3F5C515-F6C8-2E5E-B9FF-3323D5AFD857}"/>
                </a:ext>
              </a:extLst>
            </p:cNvPr>
            <p:cNvSpPr/>
            <p:nvPr/>
          </p:nvSpPr>
          <p:spPr>
            <a:xfrm>
              <a:off x="1817136"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②Regulation</a:t>
              </a:r>
            </a:p>
          </p:txBody>
        </p:sp>
        <p:sp>
          <p:nvSpPr>
            <p:cNvPr id="13" name="Arrow: Pentagon 12">
              <a:extLst>
                <a:ext uri="{FF2B5EF4-FFF2-40B4-BE49-F238E27FC236}">
                  <a16:creationId xmlns:a16="http://schemas.microsoft.com/office/drawing/2014/main" id="{999258D0-21FD-4E23-8190-2AAE9B6D125D}"/>
                </a:ext>
              </a:extLst>
            </p:cNvPr>
            <p:cNvSpPr/>
            <p:nvPr/>
          </p:nvSpPr>
          <p:spPr>
            <a:xfrm>
              <a:off x="562270"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①Insurance</a:t>
              </a:r>
            </a:p>
          </p:txBody>
        </p:sp>
      </p:grpSp>
    </p:spTree>
    <p:extLst>
      <p:ext uri="{BB962C8B-B14F-4D97-AF65-F5344CB8AC3E}">
        <p14:creationId xmlns:p14="http://schemas.microsoft.com/office/powerpoint/2010/main" val="35539507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3E6DF-FB1F-39EB-B425-5F301DC89F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D52777-116A-F657-2DB4-7C08BCAFDCA6}"/>
              </a:ext>
            </a:extLst>
          </p:cNvPr>
          <p:cNvSpPr>
            <a:spLocks noGrp="1"/>
          </p:cNvSpPr>
          <p:nvPr>
            <p:ph type="title"/>
          </p:nvPr>
        </p:nvSpPr>
        <p:spPr/>
        <p:txBody>
          <a:bodyPr/>
          <a:lstStyle/>
          <a:p>
            <a:r>
              <a:rPr lang="en-US" noProof="0" dirty="0"/>
              <a:t>Regulatory approval for AI medical device</a:t>
            </a:r>
          </a:p>
        </p:txBody>
      </p:sp>
      <p:sp>
        <p:nvSpPr>
          <p:cNvPr id="4" name="Slide Number Placeholder 3">
            <a:extLst>
              <a:ext uri="{FF2B5EF4-FFF2-40B4-BE49-F238E27FC236}">
                <a16:creationId xmlns:a16="http://schemas.microsoft.com/office/drawing/2014/main" id="{C5119465-CE84-0769-99F8-66850443A7E2}"/>
              </a:ext>
            </a:extLst>
          </p:cNvPr>
          <p:cNvSpPr>
            <a:spLocks noGrp="1"/>
          </p:cNvSpPr>
          <p:nvPr>
            <p:ph type="sldNum" sz="quarter" idx="4"/>
          </p:nvPr>
        </p:nvSpPr>
        <p:spPr/>
        <p:txBody>
          <a:bodyPr/>
          <a:lstStyle/>
          <a:p>
            <a:fld id="{B5CEABB6-07DC-46E8-9B57-56EC44A396E5}" type="slidenum">
              <a:rPr lang="en-US" noProof="0" smtClean="0"/>
              <a:pPr/>
              <a:t>24</a:t>
            </a:fld>
            <a:endParaRPr lang="en-US" noProof="0" dirty="0"/>
          </a:p>
        </p:txBody>
      </p:sp>
      <p:sp>
        <p:nvSpPr>
          <p:cNvPr id="5" name="Table Placeholder 4">
            <a:extLst>
              <a:ext uri="{FF2B5EF4-FFF2-40B4-BE49-F238E27FC236}">
                <a16:creationId xmlns:a16="http://schemas.microsoft.com/office/drawing/2014/main" id="{7987646A-2073-5D10-39F9-27B522F0DDB6}"/>
              </a:ext>
            </a:extLst>
          </p:cNvPr>
          <p:cNvSpPr>
            <a:spLocks noGrp="1"/>
          </p:cNvSpPr>
          <p:nvPr>
            <p:ph type="tbl" sz="quarter" idx="11"/>
          </p:nvPr>
        </p:nvSpPr>
        <p:spPr/>
        <p:txBody>
          <a:bodyPr/>
          <a:lstStyle/>
          <a:p>
            <a:r>
              <a:rPr lang="en-US" altLang="ja-JP" noProof="0" dirty="0"/>
              <a:t>51 AI medical devices had been approved until Sep 2025. Many devices use image recognition while recent approvals granted to diverse applications </a:t>
            </a:r>
            <a:endParaRPr lang="en-US" noProof="0" dirty="0"/>
          </a:p>
        </p:txBody>
      </p:sp>
      <p:sp>
        <p:nvSpPr>
          <p:cNvPr id="6" name="TextBox 5">
            <a:extLst>
              <a:ext uri="{FF2B5EF4-FFF2-40B4-BE49-F238E27FC236}">
                <a16:creationId xmlns:a16="http://schemas.microsoft.com/office/drawing/2014/main" id="{3F457AD9-C9EF-79DF-FF41-28E0C084E0D0}"/>
              </a:ext>
            </a:extLst>
          </p:cNvPr>
          <p:cNvSpPr txBox="1"/>
          <p:nvPr/>
        </p:nvSpPr>
        <p:spPr>
          <a:xfrm>
            <a:off x="467139" y="6459576"/>
            <a:ext cx="11257722" cy="184666"/>
          </a:xfrm>
          <a:prstGeom prst="rect">
            <a:avLst/>
          </a:prstGeom>
          <a:solidFill>
            <a:schemeClr val="bg1"/>
          </a:solidFill>
        </p:spPr>
        <p:txBody>
          <a:bodyPr wrap="square" lIns="0" tIns="0" rIns="0" bIns="0">
            <a:spAutoFit/>
          </a:bodyPr>
          <a:lstStyle/>
          <a:p>
            <a:r>
              <a:rPr lang="en-US" sz="1200" dirty="0">
                <a:latin typeface="Arial" panose="020B0604020202020204" pitchFamily="34" charset="0"/>
                <a:ea typeface="Meiryo UI" panose="020B0604030504040204" pitchFamily="50" charset="-128"/>
                <a:cs typeface="Arial" panose="020B0604020202020204" pitchFamily="34" charset="0"/>
              </a:rPr>
              <a:t>Pharmaceuticals and Medical Devices Agency (PMDA)</a:t>
            </a:r>
            <a:r>
              <a:rPr lang="pt-BR" sz="1200" dirty="0">
                <a:latin typeface="Arial" panose="020B0604020202020204" pitchFamily="34" charset="0"/>
                <a:ea typeface="Meiryo UI" panose="020B0604030504040204" pitchFamily="50" charset="-128"/>
                <a:cs typeface="Arial" panose="020B0604020202020204" pitchFamily="34" charset="0"/>
              </a:rPr>
              <a:t> </a:t>
            </a:r>
            <a:r>
              <a:rPr lang="pt-BR" sz="1200" dirty="0">
                <a:latin typeface="Arial" panose="020B0604020202020204" pitchFamily="34" charset="0"/>
                <a:ea typeface="Meiryo UI" panose="020B0604030504040204" pitchFamily="50" charset="-128"/>
                <a:cs typeface="Arial" panose="020B0604020202020204" pitchFamily="34" charset="0"/>
                <a:hlinkClick r:id="rId3"/>
              </a:rPr>
              <a:t>https://www.pmda.go.jp/files/000274829.pdf</a:t>
            </a:r>
            <a:endParaRPr lang="pt-BR" sz="1200" dirty="0">
              <a:latin typeface="Arial" panose="020B0604020202020204" pitchFamily="34" charset="0"/>
              <a:ea typeface="Meiryo UI" panose="020B0604030504040204" pitchFamily="50" charset="-128"/>
              <a:cs typeface="Arial" panose="020B0604020202020204" pitchFamily="34" charset="0"/>
            </a:endParaRPr>
          </a:p>
        </p:txBody>
      </p:sp>
      <p:sp>
        <p:nvSpPr>
          <p:cNvPr id="3" name="Rectangle 2">
            <a:extLst>
              <a:ext uri="{FF2B5EF4-FFF2-40B4-BE49-F238E27FC236}">
                <a16:creationId xmlns:a16="http://schemas.microsoft.com/office/drawing/2014/main" id="{84877035-1BAA-0927-A30B-5627B9BFCAD0}"/>
              </a:ext>
            </a:extLst>
          </p:cNvPr>
          <p:cNvSpPr/>
          <p:nvPr/>
        </p:nvSpPr>
        <p:spPr>
          <a:xfrm>
            <a:off x="492039" y="2035535"/>
            <a:ext cx="860106" cy="4464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Class</a:t>
            </a:r>
          </a:p>
        </p:txBody>
      </p:sp>
      <p:sp>
        <p:nvSpPr>
          <p:cNvPr id="7" name="Rectangle 6">
            <a:extLst>
              <a:ext uri="{FF2B5EF4-FFF2-40B4-BE49-F238E27FC236}">
                <a16:creationId xmlns:a16="http://schemas.microsoft.com/office/drawing/2014/main" id="{7E10FA0B-69F4-FD1E-BB7C-058703216A17}"/>
              </a:ext>
            </a:extLst>
          </p:cNvPr>
          <p:cNvSpPr/>
          <p:nvPr/>
        </p:nvSpPr>
        <p:spPr>
          <a:xfrm>
            <a:off x="492039" y="2555420"/>
            <a:ext cx="860106" cy="6537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Not medical device</a:t>
            </a:r>
          </a:p>
        </p:txBody>
      </p:sp>
      <p:cxnSp>
        <p:nvCxnSpPr>
          <p:cNvPr id="16" name="Straight Connector 15">
            <a:extLst>
              <a:ext uri="{FF2B5EF4-FFF2-40B4-BE49-F238E27FC236}">
                <a16:creationId xmlns:a16="http://schemas.microsoft.com/office/drawing/2014/main" id="{B7A2C275-1111-AACB-9E02-149874D406AF}"/>
              </a:ext>
              <a:ext uri="{C183D7F6-B498-43B3-948B-1728B52AA6E4}">
                <adec:decorative xmlns:adec="http://schemas.microsoft.com/office/drawing/2017/decorative" val="1"/>
              </a:ext>
            </a:extLst>
          </p:cNvPr>
          <p:cNvCxnSpPr>
            <a:cxnSpLocks/>
          </p:cNvCxnSpPr>
          <p:nvPr/>
        </p:nvCxnSpPr>
        <p:spPr>
          <a:xfrm>
            <a:off x="492039" y="2435823"/>
            <a:ext cx="8601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4A118A34-B5D5-28AF-45D0-E88488798BD0}"/>
              </a:ext>
            </a:extLst>
          </p:cNvPr>
          <p:cNvSpPr/>
          <p:nvPr/>
        </p:nvSpPr>
        <p:spPr>
          <a:xfrm>
            <a:off x="1483090" y="2017064"/>
            <a:ext cx="1854565" cy="4464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Risk to patients</a:t>
            </a:r>
          </a:p>
        </p:txBody>
      </p:sp>
      <p:cxnSp>
        <p:nvCxnSpPr>
          <p:cNvPr id="18" name="Straight Connector 17">
            <a:extLst>
              <a:ext uri="{FF2B5EF4-FFF2-40B4-BE49-F238E27FC236}">
                <a16:creationId xmlns:a16="http://schemas.microsoft.com/office/drawing/2014/main" id="{D4C0D225-75E2-8782-9604-08A6C703AFBF}"/>
              </a:ext>
              <a:ext uri="{C183D7F6-B498-43B3-948B-1728B52AA6E4}">
                <adec:decorative xmlns:adec="http://schemas.microsoft.com/office/drawing/2017/decorative" val="1"/>
              </a:ext>
            </a:extLst>
          </p:cNvPr>
          <p:cNvCxnSpPr>
            <a:cxnSpLocks/>
          </p:cNvCxnSpPr>
          <p:nvPr/>
        </p:nvCxnSpPr>
        <p:spPr>
          <a:xfrm>
            <a:off x="1483090" y="2435823"/>
            <a:ext cx="18545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F1F10B16-845C-89AF-B09A-7E397E2A0CE1}"/>
              </a:ext>
            </a:extLst>
          </p:cNvPr>
          <p:cNvSpPr/>
          <p:nvPr/>
        </p:nvSpPr>
        <p:spPr>
          <a:xfrm>
            <a:off x="1483089" y="2555420"/>
            <a:ext cx="1854565" cy="6537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None</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4" name="Rectangle 23">
            <a:extLst>
              <a:ext uri="{FF2B5EF4-FFF2-40B4-BE49-F238E27FC236}">
                <a16:creationId xmlns:a16="http://schemas.microsoft.com/office/drawing/2014/main" id="{31286616-F7A1-33FC-0FD2-AE9EFA3E10AC}"/>
              </a:ext>
            </a:extLst>
          </p:cNvPr>
          <p:cNvSpPr/>
          <p:nvPr/>
        </p:nvSpPr>
        <p:spPr>
          <a:xfrm>
            <a:off x="3478290" y="2035535"/>
            <a:ext cx="4494568" cy="4464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2000" dirty="0">
                <a:solidFill>
                  <a:schemeClr val="tx1"/>
                </a:solidFill>
                <a:latin typeface="Arial" panose="020B0604020202020204" pitchFamily="34" charset="0"/>
                <a:ea typeface="Meiryo UI" panose="020B0604030504040204" pitchFamily="50" charset="-128"/>
                <a:cs typeface="Arial" panose="020B0604020202020204" pitchFamily="34" charset="0"/>
              </a:rPr>
              <a:t>Examples of AI medical device</a:t>
            </a:r>
            <a:endPar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25" name="Straight Connector 24">
            <a:extLst>
              <a:ext uri="{FF2B5EF4-FFF2-40B4-BE49-F238E27FC236}">
                <a16:creationId xmlns:a16="http://schemas.microsoft.com/office/drawing/2014/main" id="{87162400-2B2A-3CA2-20E6-B4B41D20D3C5}"/>
              </a:ext>
              <a:ext uri="{C183D7F6-B498-43B3-948B-1728B52AA6E4}">
                <adec:decorative xmlns:adec="http://schemas.microsoft.com/office/drawing/2017/decorative" val="1"/>
              </a:ext>
            </a:extLst>
          </p:cNvPr>
          <p:cNvCxnSpPr>
            <a:cxnSpLocks/>
          </p:cNvCxnSpPr>
          <p:nvPr/>
        </p:nvCxnSpPr>
        <p:spPr>
          <a:xfrm>
            <a:off x="3478290" y="2435823"/>
            <a:ext cx="449456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64BAEAD7-FB45-74FF-98CD-1D8804594FBC}"/>
              </a:ext>
            </a:extLst>
          </p:cNvPr>
          <p:cNvSpPr/>
          <p:nvPr/>
        </p:nvSpPr>
        <p:spPr>
          <a:xfrm>
            <a:off x="3478290" y="2555420"/>
            <a:ext cx="4494568" cy="65373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91440"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Medical record creation via voice recognition</a:t>
            </a:r>
          </a:p>
          <a:p>
            <a:pPr marL="91440"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Fitness apps</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7" name="Rectangle 26">
            <a:extLst>
              <a:ext uri="{FF2B5EF4-FFF2-40B4-BE49-F238E27FC236}">
                <a16:creationId xmlns:a16="http://schemas.microsoft.com/office/drawing/2014/main" id="{5C0B6C0F-7950-2D0B-CBFC-97F43FA10C11}"/>
              </a:ext>
            </a:extLst>
          </p:cNvPr>
          <p:cNvSpPr/>
          <p:nvPr/>
        </p:nvSpPr>
        <p:spPr>
          <a:xfrm>
            <a:off x="3478289" y="3996714"/>
            <a:ext cx="3159281" cy="73549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91440"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Behavioral change apps</a:t>
            </a:r>
          </a:p>
          <a:p>
            <a:pPr marL="91440"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Smartwatch irregular rhythm notification</a:t>
            </a:r>
          </a:p>
        </p:txBody>
      </p:sp>
      <p:sp>
        <p:nvSpPr>
          <p:cNvPr id="28" name="Rectangle 27">
            <a:extLst>
              <a:ext uri="{FF2B5EF4-FFF2-40B4-BE49-F238E27FC236}">
                <a16:creationId xmlns:a16="http://schemas.microsoft.com/office/drawing/2014/main" id="{B626EEA4-1884-E057-0893-53C157501C87}"/>
              </a:ext>
            </a:extLst>
          </p:cNvPr>
          <p:cNvSpPr/>
          <p:nvPr/>
        </p:nvSpPr>
        <p:spPr>
          <a:xfrm>
            <a:off x="3478290" y="4863434"/>
            <a:ext cx="3159282" cy="9144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91440"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Genetic mutation analysis</a:t>
            </a:r>
          </a:p>
          <a:p>
            <a:pPr marL="91440" indent="-91440">
              <a:buFont typeface="Arial" panose="020B0604020202020204" pitchFamily="34" charset="0"/>
              <a:buChar char="•"/>
            </a:pPr>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Treatment planning support</a:t>
            </a:r>
          </a:p>
          <a:p>
            <a:pPr marL="91440" indent="-91440">
              <a:buFont typeface="Arial" panose="020B0604020202020204" pitchFamily="34" charset="0"/>
              <a:buChar char="•"/>
            </a:pPr>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Surgery support</a:t>
            </a:r>
          </a:p>
          <a:p>
            <a:pPr marL="91440" indent="-91440">
              <a:buFont typeface="Arial" panose="020B0604020202020204" pitchFamily="34" charset="0"/>
              <a:buChar char="•"/>
            </a:pPr>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Device control programs</a:t>
            </a:r>
            <a:endParaRPr lang="en-US"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4" name="Rectangle 33">
            <a:extLst>
              <a:ext uri="{FF2B5EF4-FFF2-40B4-BE49-F238E27FC236}">
                <a16:creationId xmlns:a16="http://schemas.microsoft.com/office/drawing/2014/main" id="{3CD48483-1351-C580-BBA6-15FD572AED48}"/>
              </a:ext>
            </a:extLst>
          </p:cNvPr>
          <p:cNvSpPr/>
          <p:nvPr/>
        </p:nvSpPr>
        <p:spPr>
          <a:xfrm>
            <a:off x="3478290" y="3354602"/>
            <a:ext cx="4494568" cy="48244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NA</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9" name="Rectangle 28">
            <a:extLst>
              <a:ext uri="{FF2B5EF4-FFF2-40B4-BE49-F238E27FC236}">
                <a16:creationId xmlns:a16="http://schemas.microsoft.com/office/drawing/2014/main" id="{5FA0A76D-F493-6066-24C4-268A808CE2AE}"/>
              </a:ext>
            </a:extLst>
          </p:cNvPr>
          <p:cNvSpPr/>
          <p:nvPr/>
        </p:nvSpPr>
        <p:spPr>
          <a:xfrm>
            <a:off x="6742851" y="3996713"/>
            <a:ext cx="1257128" cy="176798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Image diagnosis</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1" name="Rectangle 30">
            <a:extLst>
              <a:ext uri="{FF2B5EF4-FFF2-40B4-BE49-F238E27FC236}">
                <a16:creationId xmlns:a16="http://schemas.microsoft.com/office/drawing/2014/main" id="{C2D8D568-2005-A736-53B4-677B638146A3}"/>
              </a:ext>
            </a:extLst>
          </p:cNvPr>
          <p:cNvSpPr/>
          <p:nvPr/>
        </p:nvSpPr>
        <p:spPr>
          <a:xfrm>
            <a:off x="8258476" y="2434589"/>
            <a:ext cx="3429942" cy="3971183"/>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20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Two-stage approval system</a:t>
            </a:r>
            <a:endParaRPr lang="en-US" altLang="ja-JP" b="1"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a:p>
            <a:pPr marL="182880" indent="-18288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1</a:t>
            </a:r>
            <a:r>
              <a:rPr lang="en-US" altLang="ja-JP" baseline="30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st</a:t>
            </a: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 stage approval: Market launch with a limited intended use</a:t>
            </a:r>
          </a:p>
          <a:p>
            <a:pPr marL="182880" indent="-182880">
              <a:buFont typeface="Arial" panose="020B0604020202020204" pitchFamily="34" charset="0"/>
              <a:buChar char="•"/>
            </a:pPr>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2</a:t>
            </a:r>
            <a:r>
              <a:rPr lang="en-US" altLang="ja-JP" baseline="30000" dirty="0">
                <a:solidFill>
                  <a:schemeClr val="tx1"/>
                </a:solidFill>
                <a:latin typeface="Arial" panose="020B0604020202020204" pitchFamily="34" charset="0"/>
                <a:ea typeface="Meiryo UI" panose="020B0604030504040204" pitchFamily="50" charset="-128"/>
                <a:cs typeface="Arial" panose="020B0604020202020204" pitchFamily="34" charset="0"/>
              </a:rPr>
              <a:t>nd</a:t>
            </a:r>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 stage approval: </a:t>
            </a: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Obtain second-stage approval based on RWD (Real World Data) or clinical trial results</a:t>
            </a:r>
          </a:p>
          <a:p>
            <a:pPr marL="182880" indent="-182880">
              <a:buFont typeface="Arial" panose="020B0604020202020204" pitchFamily="34" charset="0"/>
              <a:buChar char="•"/>
            </a:pPr>
            <a:endPar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a:p>
            <a:pPr marL="182880" indent="-182880">
              <a:buFont typeface="Wingdings" panose="05000000000000000000" pitchFamily="2" charset="2"/>
              <a:buChar char="Ø"/>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This system can significantly shorten the regulatory approval period (from over 4 years to approx. 1 year~).</a:t>
            </a:r>
          </a:p>
        </p:txBody>
      </p:sp>
      <p:sp>
        <p:nvSpPr>
          <p:cNvPr id="32" name="Rectangle 31">
            <a:extLst>
              <a:ext uri="{FF2B5EF4-FFF2-40B4-BE49-F238E27FC236}">
                <a16:creationId xmlns:a16="http://schemas.microsoft.com/office/drawing/2014/main" id="{0703777B-866A-B127-9519-EEACDA43D38A}"/>
              </a:ext>
            </a:extLst>
          </p:cNvPr>
          <p:cNvSpPr/>
          <p:nvPr/>
        </p:nvSpPr>
        <p:spPr>
          <a:xfrm>
            <a:off x="492039" y="3354574"/>
            <a:ext cx="860106" cy="4824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noProof="0" dirty="0">
                <a:solidFill>
                  <a:schemeClr val="tx1"/>
                </a:solidFill>
                <a:latin typeface="Arial" panose="020B0604020202020204" pitchFamily="34" charset="0"/>
                <a:ea typeface="Meiryo UI" panose="020B0604030504040204" pitchFamily="50" charset="-128"/>
                <a:cs typeface="Arial" panose="020B0604020202020204" pitchFamily="34" charset="0"/>
              </a:rPr>
              <a:t>I</a:t>
            </a:r>
          </a:p>
        </p:txBody>
      </p:sp>
      <p:sp>
        <p:nvSpPr>
          <p:cNvPr id="33" name="Rectangle 32">
            <a:extLst>
              <a:ext uri="{FF2B5EF4-FFF2-40B4-BE49-F238E27FC236}">
                <a16:creationId xmlns:a16="http://schemas.microsoft.com/office/drawing/2014/main" id="{13630410-7EC0-B660-2CF8-8008B8B7532E}"/>
              </a:ext>
            </a:extLst>
          </p:cNvPr>
          <p:cNvSpPr/>
          <p:nvPr/>
        </p:nvSpPr>
        <p:spPr>
          <a:xfrm>
            <a:off x="492039" y="3996713"/>
            <a:ext cx="860106" cy="73549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noProof="0" dirty="0">
                <a:solidFill>
                  <a:schemeClr val="tx1"/>
                </a:solidFill>
                <a:latin typeface="Arial" panose="020B0604020202020204" pitchFamily="34" charset="0"/>
                <a:ea typeface="Meiryo UI" panose="020B0604030504040204" pitchFamily="50" charset="-128"/>
                <a:cs typeface="Arial" panose="020B0604020202020204" pitchFamily="34" charset="0"/>
              </a:rPr>
              <a:t>II</a:t>
            </a:r>
          </a:p>
        </p:txBody>
      </p:sp>
      <p:sp>
        <p:nvSpPr>
          <p:cNvPr id="35" name="Rectangle 34">
            <a:extLst>
              <a:ext uri="{FF2B5EF4-FFF2-40B4-BE49-F238E27FC236}">
                <a16:creationId xmlns:a16="http://schemas.microsoft.com/office/drawing/2014/main" id="{4BA4BD37-6353-70EC-720B-E223B713FCB6}"/>
              </a:ext>
            </a:extLst>
          </p:cNvPr>
          <p:cNvSpPr/>
          <p:nvPr/>
        </p:nvSpPr>
        <p:spPr>
          <a:xfrm>
            <a:off x="492039" y="4863434"/>
            <a:ext cx="860106" cy="91445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noProof="0" dirty="0">
                <a:solidFill>
                  <a:schemeClr val="tx1"/>
                </a:solidFill>
                <a:latin typeface="Arial" panose="020B0604020202020204" pitchFamily="34" charset="0"/>
                <a:ea typeface="Meiryo UI" panose="020B0604030504040204" pitchFamily="50" charset="-128"/>
                <a:cs typeface="Arial" panose="020B0604020202020204" pitchFamily="34" charset="0"/>
              </a:rPr>
              <a:t>III</a:t>
            </a:r>
          </a:p>
        </p:txBody>
      </p:sp>
      <p:sp>
        <p:nvSpPr>
          <p:cNvPr id="36" name="Rectangle 35">
            <a:extLst>
              <a:ext uri="{FF2B5EF4-FFF2-40B4-BE49-F238E27FC236}">
                <a16:creationId xmlns:a16="http://schemas.microsoft.com/office/drawing/2014/main" id="{B173F8E4-7E57-25A1-D104-4678D44C2BD2}"/>
              </a:ext>
            </a:extLst>
          </p:cNvPr>
          <p:cNvSpPr/>
          <p:nvPr/>
        </p:nvSpPr>
        <p:spPr>
          <a:xfrm>
            <a:off x="492039" y="5923332"/>
            <a:ext cx="860106" cy="4824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400" noProof="0" dirty="0">
                <a:solidFill>
                  <a:schemeClr val="tx1"/>
                </a:solidFill>
                <a:latin typeface="Arial" panose="020B0604020202020204" pitchFamily="34" charset="0"/>
                <a:ea typeface="Meiryo UI" panose="020B0604030504040204" pitchFamily="50" charset="-128"/>
                <a:cs typeface="Arial" panose="020B0604020202020204" pitchFamily="34" charset="0"/>
              </a:rPr>
              <a:t>IV</a:t>
            </a:r>
          </a:p>
        </p:txBody>
      </p:sp>
      <p:sp>
        <p:nvSpPr>
          <p:cNvPr id="37" name="Rectangle 36">
            <a:extLst>
              <a:ext uri="{FF2B5EF4-FFF2-40B4-BE49-F238E27FC236}">
                <a16:creationId xmlns:a16="http://schemas.microsoft.com/office/drawing/2014/main" id="{E9E0AE7F-0F75-5FBA-123B-7E00FE815AAE}"/>
              </a:ext>
            </a:extLst>
          </p:cNvPr>
          <p:cNvSpPr/>
          <p:nvPr/>
        </p:nvSpPr>
        <p:spPr>
          <a:xfrm>
            <a:off x="1483090" y="3354575"/>
            <a:ext cx="1854565" cy="4824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Very low</a:t>
            </a:r>
          </a:p>
          <a:p>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(e.g., X-ray film)</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8" name="Rectangle 37">
            <a:extLst>
              <a:ext uri="{FF2B5EF4-FFF2-40B4-BE49-F238E27FC236}">
                <a16:creationId xmlns:a16="http://schemas.microsoft.com/office/drawing/2014/main" id="{2654FC17-64D3-50EB-D315-4D4DD4B98ED3}"/>
              </a:ext>
            </a:extLst>
          </p:cNvPr>
          <p:cNvSpPr/>
          <p:nvPr/>
        </p:nvSpPr>
        <p:spPr>
          <a:xfrm>
            <a:off x="1483090" y="3996714"/>
            <a:ext cx="1854565" cy="73549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Relatively low</a:t>
            </a:r>
          </a:p>
          <a:p>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(e.g., MRI machine)</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39" name="Rectangle 38">
            <a:extLst>
              <a:ext uri="{FF2B5EF4-FFF2-40B4-BE49-F238E27FC236}">
                <a16:creationId xmlns:a16="http://schemas.microsoft.com/office/drawing/2014/main" id="{6051CD67-021C-E82C-90A8-33D9A94969FE}"/>
              </a:ext>
            </a:extLst>
          </p:cNvPr>
          <p:cNvSpPr/>
          <p:nvPr/>
        </p:nvSpPr>
        <p:spPr>
          <a:xfrm>
            <a:off x="1483089" y="4863434"/>
            <a:ext cx="1854565" cy="91445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Relatively high</a:t>
            </a:r>
          </a:p>
          <a:p>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(e.g., ventilator)</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40" name="Rectangle 39">
            <a:extLst>
              <a:ext uri="{FF2B5EF4-FFF2-40B4-BE49-F238E27FC236}">
                <a16:creationId xmlns:a16="http://schemas.microsoft.com/office/drawing/2014/main" id="{DA978863-3B03-6B5A-0ECB-CBA199477B8C}"/>
              </a:ext>
            </a:extLst>
          </p:cNvPr>
          <p:cNvSpPr/>
          <p:nvPr/>
        </p:nvSpPr>
        <p:spPr>
          <a:xfrm>
            <a:off x="1483089" y="5923332"/>
            <a:ext cx="1854565" cy="48244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Life-threatening</a:t>
            </a:r>
          </a:p>
          <a:p>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(e.g., pacemaker)</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21" name="Rectangle 20">
            <a:extLst>
              <a:ext uri="{FF2B5EF4-FFF2-40B4-BE49-F238E27FC236}">
                <a16:creationId xmlns:a16="http://schemas.microsoft.com/office/drawing/2014/main" id="{10D27DCB-B33C-BC61-5576-86ED83060303}"/>
              </a:ext>
            </a:extLst>
          </p:cNvPr>
          <p:cNvSpPr/>
          <p:nvPr/>
        </p:nvSpPr>
        <p:spPr>
          <a:xfrm>
            <a:off x="3505410" y="5923332"/>
            <a:ext cx="4494568" cy="48244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NA</a:t>
            </a:r>
            <a:endParaRPr lang="en-US"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cxnSp>
        <p:nvCxnSpPr>
          <p:cNvPr id="22" name="Straight Connector 21">
            <a:extLst>
              <a:ext uri="{FF2B5EF4-FFF2-40B4-BE49-F238E27FC236}">
                <a16:creationId xmlns:a16="http://schemas.microsoft.com/office/drawing/2014/main" id="{62E5D0B7-F886-905E-E192-4CD0F1F69B9A}"/>
              </a:ext>
              <a:ext uri="{C183D7F6-B498-43B3-948B-1728B52AA6E4}">
                <adec:decorative xmlns:adec="http://schemas.microsoft.com/office/drawing/2017/decorative" val="1"/>
              </a:ext>
            </a:extLst>
          </p:cNvPr>
          <p:cNvCxnSpPr/>
          <p:nvPr/>
        </p:nvCxnSpPr>
        <p:spPr>
          <a:xfrm>
            <a:off x="467139" y="3274454"/>
            <a:ext cx="7498080" cy="0"/>
          </a:xfrm>
          <a:prstGeom prst="line">
            <a:avLst/>
          </a:prstGeom>
          <a:ln w="12700">
            <a:solidFill>
              <a:schemeClr val="tx1">
                <a:lumMod val="65000"/>
                <a:lumOff val="3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866427A-B968-B361-4DDA-46C488462BFB}"/>
              </a:ext>
              <a:ext uri="{C183D7F6-B498-43B3-948B-1728B52AA6E4}">
                <adec:decorative xmlns:adec="http://schemas.microsoft.com/office/drawing/2017/decorative" val="1"/>
              </a:ext>
            </a:extLst>
          </p:cNvPr>
          <p:cNvCxnSpPr/>
          <p:nvPr/>
        </p:nvCxnSpPr>
        <p:spPr>
          <a:xfrm>
            <a:off x="467139" y="3911764"/>
            <a:ext cx="7498080" cy="0"/>
          </a:xfrm>
          <a:prstGeom prst="line">
            <a:avLst/>
          </a:prstGeom>
          <a:ln w="12700">
            <a:solidFill>
              <a:schemeClr val="tx1">
                <a:lumMod val="65000"/>
                <a:lumOff val="3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B49B8B4-FC24-49A4-E8C9-A3385352928D}"/>
              </a:ext>
              <a:ext uri="{C183D7F6-B498-43B3-948B-1728B52AA6E4}">
                <adec:decorative xmlns:adec="http://schemas.microsoft.com/office/drawing/2017/decorative" val="1"/>
              </a:ext>
            </a:extLst>
          </p:cNvPr>
          <p:cNvCxnSpPr/>
          <p:nvPr/>
        </p:nvCxnSpPr>
        <p:spPr>
          <a:xfrm>
            <a:off x="467139" y="5856557"/>
            <a:ext cx="7498080" cy="0"/>
          </a:xfrm>
          <a:prstGeom prst="line">
            <a:avLst/>
          </a:prstGeom>
          <a:ln w="12700">
            <a:solidFill>
              <a:schemeClr val="tx1">
                <a:lumMod val="65000"/>
                <a:lumOff val="3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213E189A-E6B1-B49F-0F8D-849B10E408DA}"/>
              </a:ext>
              <a:ext uri="{C183D7F6-B498-43B3-948B-1728B52AA6E4}">
                <adec:decorative xmlns:adec="http://schemas.microsoft.com/office/drawing/2017/decorative" val="1"/>
              </a:ext>
            </a:extLst>
          </p:cNvPr>
          <p:cNvCxnSpPr/>
          <p:nvPr/>
        </p:nvCxnSpPr>
        <p:spPr>
          <a:xfrm>
            <a:off x="467139" y="4792408"/>
            <a:ext cx="6144768" cy="0"/>
          </a:xfrm>
          <a:prstGeom prst="line">
            <a:avLst/>
          </a:prstGeom>
          <a:ln w="12700">
            <a:solidFill>
              <a:schemeClr val="tx1">
                <a:lumMod val="65000"/>
                <a:lumOff val="35000"/>
              </a:schemeClr>
            </a:solidFill>
            <a:prstDash val="lgDash"/>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AA5207C8-0530-18A2-FC94-3954026423C8}"/>
              </a:ext>
              <a:ext uri="{C183D7F6-B498-43B3-948B-1728B52AA6E4}">
                <adec:decorative xmlns:adec="http://schemas.microsoft.com/office/drawing/2017/decorative" val="1"/>
              </a:ext>
            </a:extLst>
          </p:cNvPr>
          <p:cNvGrpSpPr/>
          <p:nvPr/>
        </p:nvGrpSpPr>
        <p:grpSpPr>
          <a:xfrm>
            <a:off x="467139" y="108959"/>
            <a:ext cx="4197304" cy="307297"/>
            <a:chOff x="562270" y="127168"/>
            <a:chExt cx="4197304" cy="307297"/>
          </a:xfrm>
        </p:grpSpPr>
        <p:sp>
          <p:nvSpPr>
            <p:cNvPr id="9" name="Arrow: Pentagon 8">
              <a:extLst>
                <a:ext uri="{FF2B5EF4-FFF2-40B4-BE49-F238E27FC236}">
                  <a16:creationId xmlns:a16="http://schemas.microsoft.com/office/drawing/2014/main" id="{C28044F9-DE4A-D8C1-E60D-BDDEA85149D7}"/>
                </a:ext>
              </a:extLst>
            </p:cNvPr>
            <p:cNvSpPr/>
            <p:nvPr/>
          </p:nvSpPr>
          <p:spPr>
            <a:xfrm>
              <a:off x="3192565" y="127168"/>
              <a:ext cx="1567009" cy="307297"/>
            </a:xfrm>
            <a:prstGeom prst="homePlate">
              <a:avLst/>
            </a:prstGeom>
            <a:solidFill>
              <a:srgbClr val="32006E"/>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③AI</a:t>
              </a:r>
            </a:p>
          </p:txBody>
        </p:sp>
        <p:sp>
          <p:nvSpPr>
            <p:cNvPr id="14" name="Arrow: Pentagon 13">
              <a:extLst>
                <a:ext uri="{FF2B5EF4-FFF2-40B4-BE49-F238E27FC236}">
                  <a16:creationId xmlns:a16="http://schemas.microsoft.com/office/drawing/2014/main" id="{9BE380F7-22ED-FC97-B0EC-90DC997066ED}"/>
                </a:ext>
              </a:extLst>
            </p:cNvPr>
            <p:cNvSpPr/>
            <p:nvPr/>
          </p:nvSpPr>
          <p:spPr>
            <a:xfrm>
              <a:off x="1817136"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②Regulation</a:t>
              </a:r>
            </a:p>
          </p:txBody>
        </p:sp>
        <p:sp>
          <p:nvSpPr>
            <p:cNvPr id="15" name="Arrow: Pentagon 14">
              <a:extLst>
                <a:ext uri="{FF2B5EF4-FFF2-40B4-BE49-F238E27FC236}">
                  <a16:creationId xmlns:a16="http://schemas.microsoft.com/office/drawing/2014/main" id="{44B103F1-6A0B-1984-7103-5B047CCB9BB4}"/>
                </a:ext>
              </a:extLst>
            </p:cNvPr>
            <p:cNvSpPr/>
            <p:nvPr/>
          </p:nvSpPr>
          <p:spPr>
            <a:xfrm>
              <a:off x="562270"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①Insurance</a:t>
              </a:r>
            </a:p>
          </p:txBody>
        </p:sp>
      </p:grpSp>
    </p:spTree>
    <p:extLst>
      <p:ext uri="{BB962C8B-B14F-4D97-AF65-F5344CB8AC3E}">
        <p14:creationId xmlns:p14="http://schemas.microsoft.com/office/powerpoint/2010/main" val="40707005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B445D-F656-CDF7-F3A7-FC4D6624D4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BB64C5-589B-D961-B3EC-DC2CCEC193C1}"/>
              </a:ext>
            </a:extLst>
          </p:cNvPr>
          <p:cNvSpPr>
            <a:spLocks noGrp="1"/>
          </p:cNvSpPr>
          <p:nvPr>
            <p:ph type="title"/>
          </p:nvPr>
        </p:nvSpPr>
        <p:spPr/>
        <p:txBody>
          <a:bodyPr/>
          <a:lstStyle/>
          <a:p>
            <a:r>
              <a:rPr lang="en-US" noProof="0" dirty="0"/>
              <a:t>Reimbursement listing and revision for AI medical device</a:t>
            </a:r>
          </a:p>
        </p:txBody>
      </p:sp>
      <p:sp>
        <p:nvSpPr>
          <p:cNvPr id="4" name="Slide Number Placeholder 3">
            <a:extLst>
              <a:ext uri="{FF2B5EF4-FFF2-40B4-BE49-F238E27FC236}">
                <a16:creationId xmlns:a16="http://schemas.microsoft.com/office/drawing/2014/main" id="{C2C72BDB-5EC1-33E1-EDF6-5DA117C4FC77}"/>
              </a:ext>
            </a:extLst>
          </p:cNvPr>
          <p:cNvSpPr>
            <a:spLocks noGrp="1"/>
          </p:cNvSpPr>
          <p:nvPr>
            <p:ph type="sldNum" sz="quarter" idx="4"/>
          </p:nvPr>
        </p:nvSpPr>
        <p:spPr/>
        <p:txBody>
          <a:bodyPr/>
          <a:lstStyle/>
          <a:p>
            <a:fld id="{B5CEABB6-07DC-46E8-9B57-56EC44A396E5}" type="slidenum">
              <a:rPr lang="en-US" noProof="0" smtClean="0"/>
              <a:pPr/>
              <a:t>25</a:t>
            </a:fld>
            <a:endParaRPr lang="en-US" noProof="0" dirty="0"/>
          </a:p>
        </p:txBody>
      </p:sp>
      <p:sp>
        <p:nvSpPr>
          <p:cNvPr id="5" name="Table Placeholder 4">
            <a:extLst>
              <a:ext uri="{FF2B5EF4-FFF2-40B4-BE49-F238E27FC236}">
                <a16:creationId xmlns:a16="http://schemas.microsoft.com/office/drawing/2014/main" id="{C7539EAD-221E-DC30-4A9C-901BCD049344}"/>
              </a:ext>
            </a:extLst>
          </p:cNvPr>
          <p:cNvSpPr>
            <a:spLocks noGrp="1"/>
          </p:cNvSpPr>
          <p:nvPr>
            <p:ph type="tbl" sz="quarter" idx="11"/>
          </p:nvPr>
        </p:nvSpPr>
        <p:spPr/>
        <p:txBody>
          <a:bodyPr/>
          <a:lstStyle/>
          <a:p>
            <a:r>
              <a:rPr lang="en-US" noProof="0" dirty="0"/>
              <a:t>Appropriate price for AI medical device remains unclear and is evaluated on a case-by-case basis </a:t>
            </a:r>
          </a:p>
        </p:txBody>
      </p:sp>
      <p:sp>
        <p:nvSpPr>
          <p:cNvPr id="29" name="Table Placeholder 2">
            <a:extLst>
              <a:ext uri="{FF2B5EF4-FFF2-40B4-BE49-F238E27FC236}">
                <a16:creationId xmlns:a16="http://schemas.microsoft.com/office/drawing/2014/main" id="{A9A8C9B0-7BCB-D2D0-E1EF-8E51E42D552B}"/>
              </a:ext>
            </a:extLst>
          </p:cNvPr>
          <p:cNvSpPr>
            <a:spLocks noGrp="1"/>
          </p:cNvSpPr>
          <p:nvPr>
            <p:ph type="tbl" sz="quarter" idx="10"/>
          </p:nvPr>
        </p:nvSpPr>
        <p:spPr>
          <a:xfrm>
            <a:off x="467139" y="1938131"/>
            <a:ext cx="11221278" cy="4622672"/>
          </a:xfrm>
        </p:spPr>
        <p:txBody>
          <a:bodyPr/>
          <a:lstStyle/>
          <a:p>
            <a:r>
              <a:rPr lang="en-US" dirty="0"/>
              <a:t>Reimbursement listing</a:t>
            </a:r>
          </a:p>
          <a:p>
            <a:pPr lvl="1"/>
            <a:r>
              <a:rPr lang="en-US" sz="2000" dirty="0"/>
              <a:t>Many AI medical devices are filed under C1/C2 categories (new “functional categories”)</a:t>
            </a:r>
          </a:p>
          <a:p>
            <a:pPr lvl="1"/>
            <a:r>
              <a:rPr lang="en-US" altLang="ja-JP" sz="2000" noProof="0" dirty="0"/>
              <a:t>While "Cost-Based Method" is the principle for devices with no comparators, the definition of "costs" remains ambiguous</a:t>
            </a:r>
          </a:p>
          <a:p>
            <a:pPr lvl="2"/>
            <a:r>
              <a:rPr lang="en-US" altLang="ja-JP" sz="1800" noProof="0" dirty="0"/>
              <a:t>Industries are advocating for the inclusion of server management fees and cybersecurity costs</a:t>
            </a:r>
          </a:p>
          <a:p>
            <a:pPr lvl="2"/>
            <a:r>
              <a:rPr lang="en-US" altLang="ja-JP" sz="1800" noProof="0" dirty="0"/>
              <a:t>Evaluations remain on a case-by-case basis</a:t>
            </a:r>
            <a:endParaRPr lang="en-US" altLang="ja-JP" noProof="0" dirty="0"/>
          </a:p>
          <a:p>
            <a:pPr lvl="1"/>
            <a:r>
              <a:rPr lang="en-US" altLang="ja-JP" sz="2000" noProof="0" dirty="0"/>
              <a:t>Most devices currently secure reimbursement via "Comparison method + Add-on premiums“</a:t>
            </a:r>
          </a:p>
          <a:p>
            <a:pPr lvl="1"/>
            <a:r>
              <a:rPr lang="en-US" altLang="ja-JP" sz="2000" dirty="0"/>
              <a:t>N</a:t>
            </a:r>
            <a:r>
              <a:rPr lang="en-US" altLang="ja-JP" sz="2000" noProof="0" dirty="0"/>
              <a:t>ow possible to claim specialized fees such as “Program Management Fees” or “Program Guidance Fees” as add-ons</a:t>
            </a:r>
            <a:endParaRPr lang="en-US" altLang="ja-JP" noProof="0" dirty="0"/>
          </a:p>
          <a:p>
            <a:r>
              <a:rPr lang="en-US" altLang="ja-JP" noProof="0" dirty="0"/>
              <a:t>"Challenge Application" system</a:t>
            </a:r>
          </a:p>
          <a:p>
            <a:pPr lvl="1"/>
            <a:r>
              <a:rPr lang="en-US" altLang="ja-JP" sz="2000" dirty="0"/>
              <a:t>Mechanism</a:t>
            </a:r>
            <a:r>
              <a:rPr lang="en-US" altLang="ja-JP" sz="2000" noProof="0" dirty="0"/>
              <a:t> to re-evaluate points </a:t>
            </a:r>
            <a:r>
              <a:rPr lang="en-US" altLang="ja-JP" sz="2000" dirty="0"/>
              <a:t>after </a:t>
            </a:r>
            <a:r>
              <a:rPr lang="en-US" altLang="ja-JP" sz="2000" noProof="0" dirty="0"/>
              <a:t>listing, based on real-world clinical performance</a:t>
            </a:r>
          </a:p>
          <a:p>
            <a:pPr lvl="1"/>
            <a:r>
              <a:rPr lang="en-US" altLang="ja-JP" sz="2000" noProof="0" dirty="0"/>
              <a:t>Requires high-level clinical evidence, such as peer-reviewed publications</a:t>
            </a:r>
          </a:p>
          <a:p>
            <a:pPr lvl="1"/>
            <a:r>
              <a:rPr lang="en-US" altLang="ja-JP" sz="2000" noProof="0" dirty="0"/>
              <a:t>Due to this rigor, some companies end up withdrawing their applications</a:t>
            </a:r>
          </a:p>
        </p:txBody>
      </p:sp>
      <p:sp>
        <p:nvSpPr>
          <p:cNvPr id="32" name="TextBox 31">
            <a:extLst>
              <a:ext uri="{FF2B5EF4-FFF2-40B4-BE49-F238E27FC236}">
                <a16:creationId xmlns:a16="http://schemas.microsoft.com/office/drawing/2014/main" id="{FF291A92-478A-162E-A669-A2DD44CF929D}"/>
              </a:ext>
            </a:extLst>
          </p:cNvPr>
          <p:cNvSpPr txBox="1"/>
          <p:nvPr/>
        </p:nvSpPr>
        <p:spPr>
          <a:xfrm>
            <a:off x="467139" y="6481338"/>
            <a:ext cx="11257722" cy="184666"/>
          </a:xfrm>
          <a:prstGeom prst="rect">
            <a:avLst/>
          </a:prstGeom>
          <a:solidFill>
            <a:schemeClr val="bg1"/>
          </a:solidFill>
        </p:spPr>
        <p:txBody>
          <a:bodyPr wrap="square" lIns="0" tIns="0" rIns="0" bIns="0">
            <a:spAutoFit/>
          </a:bodyPr>
          <a:lstStyle/>
          <a:p>
            <a:r>
              <a:rPr lang="pt-BR" sz="1200" dirty="0">
                <a:latin typeface="Arial" panose="020B0604020202020204" pitchFamily="34" charset="0"/>
                <a:ea typeface="Meiryo UI" panose="020B0604030504040204" pitchFamily="50" charset="-128"/>
                <a:cs typeface="Arial" panose="020B0604020202020204" pitchFamily="34" charset="0"/>
              </a:rPr>
              <a:t>MHLW </a:t>
            </a:r>
            <a:r>
              <a:rPr lang="pt-BR" sz="1200" dirty="0">
                <a:latin typeface="Arial" panose="020B0604020202020204" pitchFamily="34" charset="0"/>
                <a:ea typeface="Meiryo UI" panose="020B0604030504040204" pitchFamily="50" charset="-128"/>
                <a:cs typeface="Arial" panose="020B0604020202020204" pitchFamily="34" charset="0"/>
                <a:hlinkClick r:id="rId3"/>
              </a:rPr>
              <a:t>https://www.mhlw.go.jp/content/12404000/001168428.pdf</a:t>
            </a:r>
            <a:r>
              <a:rPr lang="pt-BR" sz="1200" dirty="0">
                <a:latin typeface="Arial" panose="020B0604020202020204" pitchFamily="34" charset="0"/>
                <a:ea typeface="Meiryo UI" panose="020B0604030504040204" pitchFamily="50" charset="-128"/>
                <a:cs typeface="Arial" panose="020B0604020202020204" pitchFamily="34" charset="0"/>
              </a:rPr>
              <a:t> </a:t>
            </a:r>
            <a:r>
              <a:rPr lang="pt-BR" sz="1200" dirty="0">
                <a:latin typeface="Arial" panose="020B0604020202020204" pitchFamily="34" charset="0"/>
                <a:ea typeface="Meiryo UI" panose="020B0604030504040204" pitchFamily="50" charset="-128"/>
                <a:cs typeface="Arial" panose="020B0604020202020204" pitchFamily="34" charset="0"/>
                <a:hlinkClick r:id="rId4"/>
              </a:rPr>
              <a:t>https://www.mhlw.go.jp/content/10808000/001568750.pdf</a:t>
            </a:r>
            <a:endParaRPr lang="pt-BR" sz="1200" dirty="0">
              <a:latin typeface="Arial" panose="020B0604020202020204" pitchFamily="34" charset="0"/>
              <a:ea typeface="Meiryo UI" panose="020B0604030504040204" pitchFamily="50" charset="-128"/>
              <a:cs typeface="Arial" panose="020B0604020202020204" pitchFamily="34" charset="0"/>
            </a:endParaRPr>
          </a:p>
        </p:txBody>
      </p:sp>
      <p:grpSp>
        <p:nvGrpSpPr>
          <p:cNvPr id="35" name="Group 34">
            <a:extLst>
              <a:ext uri="{FF2B5EF4-FFF2-40B4-BE49-F238E27FC236}">
                <a16:creationId xmlns:a16="http://schemas.microsoft.com/office/drawing/2014/main" id="{4234EA52-5428-D034-6349-F44FFEC18376}"/>
              </a:ext>
              <a:ext uri="{C183D7F6-B498-43B3-948B-1728B52AA6E4}">
                <adec:decorative xmlns:adec="http://schemas.microsoft.com/office/drawing/2017/decorative" val="1"/>
              </a:ext>
            </a:extLst>
          </p:cNvPr>
          <p:cNvGrpSpPr/>
          <p:nvPr/>
        </p:nvGrpSpPr>
        <p:grpSpPr>
          <a:xfrm>
            <a:off x="467139" y="108959"/>
            <a:ext cx="4197304" cy="307297"/>
            <a:chOff x="562270" y="127168"/>
            <a:chExt cx="4197304" cy="307297"/>
          </a:xfrm>
        </p:grpSpPr>
        <p:sp>
          <p:nvSpPr>
            <p:cNvPr id="40" name="Arrow: Pentagon 39">
              <a:extLst>
                <a:ext uri="{FF2B5EF4-FFF2-40B4-BE49-F238E27FC236}">
                  <a16:creationId xmlns:a16="http://schemas.microsoft.com/office/drawing/2014/main" id="{52C96F20-F13E-E910-2342-0E14D1EF71B0}"/>
                </a:ext>
              </a:extLst>
            </p:cNvPr>
            <p:cNvSpPr/>
            <p:nvPr/>
          </p:nvSpPr>
          <p:spPr>
            <a:xfrm>
              <a:off x="3192565" y="127168"/>
              <a:ext cx="1567009" cy="307297"/>
            </a:xfrm>
            <a:prstGeom prst="homePlate">
              <a:avLst/>
            </a:prstGeom>
            <a:solidFill>
              <a:srgbClr val="32006E"/>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③AI</a:t>
              </a:r>
            </a:p>
          </p:txBody>
        </p:sp>
        <p:sp>
          <p:nvSpPr>
            <p:cNvPr id="41" name="Arrow: Pentagon 40">
              <a:extLst>
                <a:ext uri="{FF2B5EF4-FFF2-40B4-BE49-F238E27FC236}">
                  <a16:creationId xmlns:a16="http://schemas.microsoft.com/office/drawing/2014/main" id="{A517C165-25C2-8561-D318-0E2ED796D59C}"/>
                </a:ext>
              </a:extLst>
            </p:cNvPr>
            <p:cNvSpPr/>
            <p:nvPr/>
          </p:nvSpPr>
          <p:spPr>
            <a:xfrm>
              <a:off x="1817136"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②Regulation</a:t>
              </a:r>
            </a:p>
          </p:txBody>
        </p:sp>
        <p:sp>
          <p:nvSpPr>
            <p:cNvPr id="45" name="Arrow: Pentagon 44">
              <a:extLst>
                <a:ext uri="{FF2B5EF4-FFF2-40B4-BE49-F238E27FC236}">
                  <a16:creationId xmlns:a16="http://schemas.microsoft.com/office/drawing/2014/main" id="{EE7C662D-552D-6E8D-8F18-65EBF8F3C695}"/>
                </a:ext>
              </a:extLst>
            </p:cNvPr>
            <p:cNvSpPr/>
            <p:nvPr/>
          </p:nvSpPr>
          <p:spPr>
            <a:xfrm>
              <a:off x="562270"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①Insurance</a:t>
              </a:r>
            </a:p>
          </p:txBody>
        </p:sp>
      </p:grpSp>
    </p:spTree>
    <p:extLst>
      <p:ext uri="{BB962C8B-B14F-4D97-AF65-F5344CB8AC3E}">
        <p14:creationId xmlns:p14="http://schemas.microsoft.com/office/powerpoint/2010/main" val="2218158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016B0-003B-61AB-66C4-A79090067A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841467-9982-FB6A-0BB0-49BFE3598765}"/>
              </a:ext>
            </a:extLst>
          </p:cNvPr>
          <p:cNvSpPr>
            <a:spLocks noGrp="1"/>
          </p:cNvSpPr>
          <p:nvPr>
            <p:ph type="title"/>
          </p:nvPr>
        </p:nvSpPr>
        <p:spPr/>
        <p:txBody>
          <a:bodyPr/>
          <a:lstStyle/>
          <a:p>
            <a:r>
              <a:rPr lang="en-US" noProof="0" dirty="0"/>
              <a:t>Example I. </a:t>
            </a:r>
            <a:r>
              <a:rPr lang="en-US" noProof="0" dirty="0" err="1"/>
              <a:t>EndoBRAIN</a:t>
            </a:r>
            <a:r>
              <a:rPr lang="en-US" noProof="0" dirty="0"/>
              <a:t>-EYE® </a:t>
            </a:r>
          </a:p>
        </p:txBody>
      </p:sp>
      <p:sp>
        <p:nvSpPr>
          <p:cNvPr id="4" name="Slide Number Placeholder 3">
            <a:extLst>
              <a:ext uri="{FF2B5EF4-FFF2-40B4-BE49-F238E27FC236}">
                <a16:creationId xmlns:a16="http://schemas.microsoft.com/office/drawing/2014/main" id="{B0E86FB3-416B-D3AF-6077-29ED444F920A}"/>
              </a:ext>
            </a:extLst>
          </p:cNvPr>
          <p:cNvSpPr>
            <a:spLocks noGrp="1"/>
          </p:cNvSpPr>
          <p:nvPr>
            <p:ph type="sldNum" sz="quarter" idx="4"/>
          </p:nvPr>
        </p:nvSpPr>
        <p:spPr/>
        <p:txBody>
          <a:bodyPr/>
          <a:lstStyle/>
          <a:p>
            <a:fld id="{B5CEABB6-07DC-46E8-9B57-56EC44A396E5}" type="slidenum">
              <a:rPr lang="en-US" noProof="0" smtClean="0"/>
              <a:pPr/>
              <a:t>26</a:t>
            </a:fld>
            <a:endParaRPr lang="en-US" noProof="0" dirty="0"/>
          </a:p>
        </p:txBody>
      </p:sp>
      <p:sp>
        <p:nvSpPr>
          <p:cNvPr id="5" name="Table Placeholder 4">
            <a:extLst>
              <a:ext uri="{FF2B5EF4-FFF2-40B4-BE49-F238E27FC236}">
                <a16:creationId xmlns:a16="http://schemas.microsoft.com/office/drawing/2014/main" id="{C7B37EF9-12EA-6552-D810-382075C13C1F}"/>
              </a:ext>
            </a:extLst>
          </p:cNvPr>
          <p:cNvSpPr>
            <a:spLocks noGrp="1"/>
          </p:cNvSpPr>
          <p:nvPr>
            <p:ph type="tbl" sz="quarter" idx="11"/>
          </p:nvPr>
        </p:nvSpPr>
        <p:spPr/>
        <p:txBody>
          <a:bodyPr/>
          <a:lstStyle/>
          <a:p>
            <a:r>
              <a:rPr lang="en-US" noProof="0" dirty="0"/>
              <a:t>While AI increases detection, it raises concerns about unnecessary surgeries and higher healthcare spending</a:t>
            </a:r>
          </a:p>
        </p:txBody>
      </p:sp>
      <p:sp>
        <p:nvSpPr>
          <p:cNvPr id="32" name="TextBox 31">
            <a:extLst>
              <a:ext uri="{FF2B5EF4-FFF2-40B4-BE49-F238E27FC236}">
                <a16:creationId xmlns:a16="http://schemas.microsoft.com/office/drawing/2014/main" id="{0D1BD47A-F8B0-6D1F-D20A-20A1E27C1F95}"/>
              </a:ext>
            </a:extLst>
          </p:cNvPr>
          <p:cNvSpPr txBox="1"/>
          <p:nvPr/>
        </p:nvSpPr>
        <p:spPr>
          <a:xfrm>
            <a:off x="467139" y="6481338"/>
            <a:ext cx="11257722" cy="369332"/>
          </a:xfrm>
          <a:prstGeom prst="rect">
            <a:avLst/>
          </a:prstGeom>
          <a:solidFill>
            <a:schemeClr val="bg1"/>
          </a:solidFill>
        </p:spPr>
        <p:txBody>
          <a:bodyPr wrap="square" lIns="0" tIns="0" rIns="0" bIns="0">
            <a:spAutoFit/>
          </a:bodyPr>
          <a:lstStyle/>
          <a:p>
            <a:r>
              <a:rPr lang="pt-BR" sz="1200" dirty="0">
                <a:latin typeface="Arial" panose="020B0604020202020204" pitchFamily="34" charset="0"/>
                <a:ea typeface="Meiryo UI" panose="020B0604030504040204" pitchFamily="50" charset="-128"/>
                <a:cs typeface="Arial" panose="020B0604020202020204" pitchFamily="34" charset="0"/>
              </a:rPr>
              <a:t>AMED </a:t>
            </a:r>
            <a:r>
              <a:rPr lang="pt-BR" sz="1200" dirty="0">
                <a:latin typeface="Arial" panose="020B0604020202020204" pitchFamily="34" charset="0"/>
                <a:ea typeface="Meiryo UI" panose="020B0604030504040204" pitchFamily="50" charset="-128"/>
                <a:cs typeface="Arial" panose="020B0604020202020204" pitchFamily="34" charset="0"/>
                <a:hlinkClick r:id="rId3"/>
              </a:rPr>
              <a:t>https://www.amed.go.jp/en/news/release_20200129.html</a:t>
            </a:r>
            <a:r>
              <a:rPr lang="pt-BR" sz="1200" dirty="0">
                <a:latin typeface="Arial" panose="020B0604020202020204" pitchFamily="34" charset="0"/>
                <a:ea typeface="Meiryo UI" panose="020B0604030504040204" pitchFamily="50" charset="-128"/>
                <a:cs typeface="Arial" panose="020B0604020202020204" pitchFamily="34" charset="0"/>
              </a:rPr>
              <a:t> NetIB-News </a:t>
            </a:r>
            <a:r>
              <a:rPr lang="pt-BR" sz="1200" dirty="0">
                <a:latin typeface="Arial" panose="020B0604020202020204" pitchFamily="34" charset="0"/>
                <a:ea typeface="Meiryo UI" panose="020B0604030504040204" pitchFamily="50" charset="-128"/>
                <a:cs typeface="Arial" panose="020B0604020202020204" pitchFamily="34" charset="0"/>
                <a:hlinkClick r:id="rId4"/>
              </a:rPr>
              <a:t>https://www.data-max.co.jp/article/39367</a:t>
            </a:r>
            <a:endParaRPr lang="pt-BR" sz="1200" dirty="0">
              <a:latin typeface="Arial" panose="020B0604020202020204" pitchFamily="34" charset="0"/>
              <a:ea typeface="Meiryo UI" panose="020B0604030504040204" pitchFamily="50" charset="-128"/>
              <a:cs typeface="Arial" panose="020B0604020202020204" pitchFamily="34" charset="0"/>
            </a:endParaRPr>
          </a:p>
          <a:p>
            <a:r>
              <a:rPr lang="pt-BR" sz="1200" dirty="0">
                <a:latin typeface="Arial" panose="020B0604020202020204" pitchFamily="34" charset="0"/>
                <a:ea typeface="Meiryo UI" panose="020B0604030504040204" pitchFamily="50" charset="-128"/>
                <a:cs typeface="Arial" panose="020B0604020202020204" pitchFamily="34" charset="0"/>
              </a:rPr>
              <a:t>Cybernet </a:t>
            </a:r>
            <a:r>
              <a:rPr lang="pt-BR" sz="1200" dirty="0">
                <a:latin typeface="Arial" panose="020B0604020202020204" pitchFamily="34" charset="0"/>
                <a:ea typeface="Meiryo UI" panose="020B0604030504040204" pitchFamily="50" charset="-128"/>
                <a:cs typeface="Arial" panose="020B0604020202020204" pitchFamily="34" charset="0"/>
                <a:hlinkClick r:id="rId5"/>
              </a:rPr>
              <a:t>https://www.cybernet.co.jp/company/about/news/press/2021/20210420.html</a:t>
            </a:r>
            <a:endParaRPr lang="pt-BR" sz="1200" dirty="0">
              <a:latin typeface="Arial" panose="020B0604020202020204" pitchFamily="34" charset="0"/>
              <a:ea typeface="Meiryo UI" panose="020B0604030504040204" pitchFamily="50" charset="-128"/>
              <a:cs typeface="Arial" panose="020B0604020202020204" pitchFamily="34" charset="0"/>
            </a:endParaRPr>
          </a:p>
        </p:txBody>
      </p:sp>
      <p:grpSp>
        <p:nvGrpSpPr>
          <p:cNvPr id="3" name="Group 2">
            <a:extLst>
              <a:ext uri="{FF2B5EF4-FFF2-40B4-BE49-F238E27FC236}">
                <a16:creationId xmlns:a16="http://schemas.microsoft.com/office/drawing/2014/main" id="{478CB0EF-A593-580D-293C-38A66C2482A1}"/>
              </a:ext>
              <a:ext uri="{C183D7F6-B498-43B3-948B-1728B52AA6E4}">
                <adec:decorative xmlns:adec="http://schemas.microsoft.com/office/drawing/2017/decorative" val="1"/>
              </a:ext>
            </a:extLst>
          </p:cNvPr>
          <p:cNvGrpSpPr/>
          <p:nvPr/>
        </p:nvGrpSpPr>
        <p:grpSpPr>
          <a:xfrm>
            <a:off x="467139" y="108959"/>
            <a:ext cx="4197304" cy="307297"/>
            <a:chOff x="562270" y="127168"/>
            <a:chExt cx="4197304" cy="307297"/>
          </a:xfrm>
        </p:grpSpPr>
        <p:sp>
          <p:nvSpPr>
            <p:cNvPr id="6" name="Arrow: Pentagon 5">
              <a:extLst>
                <a:ext uri="{FF2B5EF4-FFF2-40B4-BE49-F238E27FC236}">
                  <a16:creationId xmlns:a16="http://schemas.microsoft.com/office/drawing/2014/main" id="{F335F99E-32CE-8DCF-4D04-DD5C82E407F1}"/>
                </a:ext>
              </a:extLst>
            </p:cNvPr>
            <p:cNvSpPr/>
            <p:nvPr/>
          </p:nvSpPr>
          <p:spPr>
            <a:xfrm>
              <a:off x="3192565" y="127168"/>
              <a:ext cx="1567009" cy="307297"/>
            </a:xfrm>
            <a:prstGeom prst="homePlate">
              <a:avLst/>
            </a:prstGeom>
            <a:solidFill>
              <a:srgbClr val="32006E"/>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③AI</a:t>
              </a:r>
            </a:p>
          </p:txBody>
        </p:sp>
        <p:sp>
          <p:nvSpPr>
            <p:cNvPr id="7" name="Arrow: Pentagon 6">
              <a:extLst>
                <a:ext uri="{FF2B5EF4-FFF2-40B4-BE49-F238E27FC236}">
                  <a16:creationId xmlns:a16="http://schemas.microsoft.com/office/drawing/2014/main" id="{5D45DFA8-FD45-D955-3BC6-7FEC38552544}"/>
                </a:ext>
              </a:extLst>
            </p:cNvPr>
            <p:cNvSpPr/>
            <p:nvPr/>
          </p:nvSpPr>
          <p:spPr>
            <a:xfrm>
              <a:off x="1817136"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②Regulation</a:t>
              </a:r>
            </a:p>
          </p:txBody>
        </p:sp>
        <p:sp>
          <p:nvSpPr>
            <p:cNvPr id="8" name="Arrow: Pentagon 7">
              <a:extLst>
                <a:ext uri="{FF2B5EF4-FFF2-40B4-BE49-F238E27FC236}">
                  <a16:creationId xmlns:a16="http://schemas.microsoft.com/office/drawing/2014/main" id="{24BB066C-D965-4E4E-38F0-A2673C6B84EB}"/>
                </a:ext>
              </a:extLst>
            </p:cNvPr>
            <p:cNvSpPr/>
            <p:nvPr/>
          </p:nvSpPr>
          <p:spPr>
            <a:xfrm>
              <a:off x="562270"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①Insurance</a:t>
              </a:r>
            </a:p>
          </p:txBody>
        </p:sp>
      </p:grpSp>
      <p:sp>
        <p:nvSpPr>
          <p:cNvPr id="11" name="Rectangle 10">
            <a:extLst>
              <a:ext uri="{FF2B5EF4-FFF2-40B4-BE49-F238E27FC236}">
                <a16:creationId xmlns:a16="http://schemas.microsoft.com/office/drawing/2014/main" id="{0656ED22-8D98-3FA4-6C49-39171B1C0073}"/>
              </a:ext>
            </a:extLst>
          </p:cNvPr>
          <p:cNvSpPr/>
          <p:nvPr/>
        </p:nvSpPr>
        <p:spPr>
          <a:xfrm>
            <a:off x="467140" y="3878584"/>
            <a:ext cx="3530430" cy="238969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91440"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AI analyzes endoscopic images in real-time during a colonoscopy</a:t>
            </a:r>
          </a:p>
          <a:p>
            <a:pPr marL="91440"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When the system detects a potential lesion (polyp), it triggers an alert to assist abnormality identification</a:t>
            </a:r>
          </a:p>
        </p:txBody>
      </p:sp>
      <p:sp>
        <p:nvSpPr>
          <p:cNvPr id="12" name="Rectangle 11">
            <a:extLst>
              <a:ext uri="{FF2B5EF4-FFF2-40B4-BE49-F238E27FC236}">
                <a16:creationId xmlns:a16="http://schemas.microsoft.com/office/drawing/2014/main" id="{659583E8-9A92-AA41-91C7-57641025D20F}"/>
              </a:ext>
            </a:extLst>
          </p:cNvPr>
          <p:cNvSpPr/>
          <p:nvPr/>
        </p:nvSpPr>
        <p:spPr>
          <a:xfrm>
            <a:off x="4250857" y="1784977"/>
            <a:ext cx="7474004" cy="2001278"/>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sz="20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Approval</a:t>
            </a:r>
            <a:endParaRPr lang="en-US" altLang="ja-JP" b="1"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a:p>
            <a:pPr marL="91440"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Initial approval (Jan 2020)</a:t>
            </a:r>
            <a:endPar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endParaRPr>
          </a:p>
          <a:p>
            <a:pPr marL="548640" lvl="1"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Class II</a:t>
            </a:r>
          </a:p>
          <a:p>
            <a:pPr marL="548640" lvl="1"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Provided alerts for polyp detection without pinpointing the location</a:t>
            </a:r>
          </a:p>
          <a:p>
            <a:pPr marL="91440"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Partial revision </a:t>
            </a:r>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approval</a:t>
            </a: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 (Apr 2021)</a:t>
            </a:r>
          </a:p>
          <a:p>
            <a:pPr marL="548640" lvl="1"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Added rectangular box display for lesion localization and a speedometer to encourage optimal endoscope movement</a:t>
            </a:r>
          </a:p>
        </p:txBody>
      </p:sp>
      <p:sp>
        <p:nvSpPr>
          <p:cNvPr id="13" name="Rectangle 12">
            <a:extLst>
              <a:ext uri="{FF2B5EF4-FFF2-40B4-BE49-F238E27FC236}">
                <a16:creationId xmlns:a16="http://schemas.microsoft.com/office/drawing/2014/main" id="{5832BA1E-142F-EC61-C2FB-06A6E8892FAF}"/>
              </a:ext>
            </a:extLst>
          </p:cNvPr>
          <p:cNvSpPr/>
          <p:nvPr/>
        </p:nvSpPr>
        <p:spPr>
          <a:xfrm>
            <a:off x="4250857" y="3962400"/>
            <a:ext cx="7474004" cy="2518938"/>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sz="20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Reimbursement</a:t>
            </a:r>
            <a:endParaRPr lang="en-US" altLang="ja-JP" b="1"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a:p>
            <a:pPr marL="91440"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Initial status (2021): </a:t>
            </a:r>
          </a:p>
          <a:p>
            <a:pPr marL="548640" lvl="1"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A1 (All-inclusive): same points (~1,5</a:t>
            </a:r>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5</a:t>
            </a: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0pts</a:t>
            </a:r>
            <a:r>
              <a:rPr lang="ja-JP" alt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$100) regardless of AI use. No incentive despite the software cost (1.5M JPY</a:t>
            </a:r>
            <a:r>
              <a:rPr lang="ja-JP" altLang="en-US"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$9,500)</a:t>
            </a:r>
          </a:p>
          <a:p>
            <a:pPr marL="91440"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"Challenge Application" (Feb 2022–Feb 2024): </a:t>
            </a:r>
          </a:p>
          <a:p>
            <a:pPr marL="548640" lvl="1"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Submitted peer-reviewed data of improved Adenoma Detection Rate</a:t>
            </a:r>
          </a:p>
          <a:p>
            <a:pPr marL="548640" lvl="1"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Evaluated as C2 (new ”functional category”)</a:t>
            </a:r>
          </a:p>
          <a:p>
            <a:pPr marL="548640" lvl="1"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Add-on 60pts (</a:t>
            </a:r>
            <a:r>
              <a:rPr lang="ja-JP" altLang="en-US" dirty="0">
                <a:solidFill>
                  <a:schemeClr val="tx1"/>
                </a:solidFill>
                <a:latin typeface="Arial" panose="020B0604020202020204" pitchFamily="34" charset="0"/>
                <a:ea typeface="Meiryo UI" panose="020B0604030504040204" pitchFamily="50" charset="-128"/>
                <a:cs typeface="Arial" panose="020B0604020202020204" pitchFamily="34" charset="0"/>
              </a:rPr>
              <a:t>≒</a:t>
            </a: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$4) can be added to when the AI assists in the detection and </a:t>
            </a:r>
            <a:r>
              <a:rPr lang="en-US" altLang="ja-JP"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subsequent surgery</a:t>
            </a:r>
          </a:p>
        </p:txBody>
      </p:sp>
      <p:pic>
        <p:nvPicPr>
          <p:cNvPr id="10" name="Picture 9" descr="Image of EndoBrain-eye">
            <a:extLst>
              <a:ext uri="{FF2B5EF4-FFF2-40B4-BE49-F238E27FC236}">
                <a16:creationId xmlns:a16="http://schemas.microsoft.com/office/drawing/2014/main" id="{C994B512-837E-D869-2756-114DF4522F25}"/>
              </a:ext>
            </a:extLst>
          </p:cNvPr>
          <p:cNvPicPr>
            <a:picLocks noChangeAspect="1"/>
          </p:cNvPicPr>
          <p:nvPr/>
        </p:nvPicPr>
        <p:blipFill>
          <a:blip r:embed="rId6"/>
          <a:stretch>
            <a:fillRect/>
          </a:stretch>
        </p:blipFill>
        <p:spPr>
          <a:xfrm>
            <a:off x="504286" y="1819297"/>
            <a:ext cx="3382851" cy="1921185"/>
          </a:xfrm>
          <a:prstGeom prst="rect">
            <a:avLst/>
          </a:prstGeom>
        </p:spPr>
      </p:pic>
    </p:spTree>
    <p:extLst>
      <p:ext uri="{BB962C8B-B14F-4D97-AF65-F5344CB8AC3E}">
        <p14:creationId xmlns:p14="http://schemas.microsoft.com/office/powerpoint/2010/main" val="37557171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CCDC8-3D8E-B68F-9C70-CB127FBAAB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69BAA3-D773-958C-905B-45121CF9D767}"/>
              </a:ext>
            </a:extLst>
          </p:cNvPr>
          <p:cNvSpPr>
            <a:spLocks noGrp="1"/>
          </p:cNvSpPr>
          <p:nvPr>
            <p:ph type="title"/>
          </p:nvPr>
        </p:nvSpPr>
        <p:spPr/>
        <p:txBody>
          <a:bodyPr/>
          <a:lstStyle/>
          <a:p>
            <a:r>
              <a:rPr lang="en-US" noProof="0" dirty="0"/>
              <a:t>Example II. </a:t>
            </a:r>
            <a:r>
              <a:rPr lang="en-US" noProof="0" dirty="0" err="1"/>
              <a:t>CureApp</a:t>
            </a:r>
            <a:r>
              <a:rPr lang="en-US" noProof="0" dirty="0"/>
              <a:t> SC </a:t>
            </a:r>
          </a:p>
        </p:txBody>
      </p:sp>
      <p:sp>
        <p:nvSpPr>
          <p:cNvPr id="4" name="Slide Number Placeholder 3">
            <a:extLst>
              <a:ext uri="{FF2B5EF4-FFF2-40B4-BE49-F238E27FC236}">
                <a16:creationId xmlns:a16="http://schemas.microsoft.com/office/drawing/2014/main" id="{CA747847-F3C1-14EA-C2FE-29E9AC3390DD}"/>
              </a:ext>
            </a:extLst>
          </p:cNvPr>
          <p:cNvSpPr>
            <a:spLocks noGrp="1"/>
          </p:cNvSpPr>
          <p:nvPr>
            <p:ph type="sldNum" sz="quarter" idx="4"/>
          </p:nvPr>
        </p:nvSpPr>
        <p:spPr/>
        <p:txBody>
          <a:bodyPr/>
          <a:lstStyle/>
          <a:p>
            <a:fld id="{B5CEABB6-07DC-46E8-9B57-56EC44A396E5}" type="slidenum">
              <a:rPr lang="en-US" noProof="0" smtClean="0"/>
              <a:pPr/>
              <a:t>27</a:t>
            </a:fld>
            <a:endParaRPr lang="en-US" noProof="0" dirty="0"/>
          </a:p>
        </p:txBody>
      </p:sp>
      <p:sp>
        <p:nvSpPr>
          <p:cNvPr id="5" name="Table Placeholder 4">
            <a:extLst>
              <a:ext uri="{FF2B5EF4-FFF2-40B4-BE49-F238E27FC236}">
                <a16:creationId xmlns:a16="http://schemas.microsoft.com/office/drawing/2014/main" id="{8DA4160E-2D6D-79A6-C506-3F39A700A351}"/>
              </a:ext>
            </a:extLst>
          </p:cNvPr>
          <p:cNvSpPr>
            <a:spLocks noGrp="1"/>
          </p:cNvSpPr>
          <p:nvPr>
            <p:ph type="tbl" sz="quarter" idx="11"/>
          </p:nvPr>
        </p:nvSpPr>
        <p:spPr/>
        <p:txBody>
          <a:bodyPr/>
          <a:lstStyle/>
          <a:p>
            <a:r>
              <a:rPr lang="en-US" noProof="0" dirty="0"/>
              <a:t>Does this technology hold the same value as the technology that it referred to?</a:t>
            </a:r>
          </a:p>
        </p:txBody>
      </p:sp>
      <p:grpSp>
        <p:nvGrpSpPr>
          <p:cNvPr id="3" name="Group 2">
            <a:extLst>
              <a:ext uri="{FF2B5EF4-FFF2-40B4-BE49-F238E27FC236}">
                <a16:creationId xmlns:a16="http://schemas.microsoft.com/office/drawing/2014/main" id="{7833523B-C42E-D3E2-A22A-7DC08E032E67}"/>
              </a:ext>
            </a:extLst>
          </p:cNvPr>
          <p:cNvGrpSpPr/>
          <p:nvPr/>
        </p:nvGrpSpPr>
        <p:grpSpPr>
          <a:xfrm>
            <a:off x="467139" y="108959"/>
            <a:ext cx="4197304" cy="307297"/>
            <a:chOff x="562270" y="127168"/>
            <a:chExt cx="4197304" cy="307297"/>
          </a:xfrm>
        </p:grpSpPr>
        <p:sp>
          <p:nvSpPr>
            <p:cNvPr id="6" name="Arrow: Pentagon 5">
              <a:extLst>
                <a:ext uri="{FF2B5EF4-FFF2-40B4-BE49-F238E27FC236}">
                  <a16:creationId xmlns:a16="http://schemas.microsoft.com/office/drawing/2014/main" id="{30DC7222-7654-FD57-F15F-936E792E6A4C}"/>
                </a:ext>
              </a:extLst>
            </p:cNvPr>
            <p:cNvSpPr/>
            <p:nvPr/>
          </p:nvSpPr>
          <p:spPr>
            <a:xfrm>
              <a:off x="3192565" y="127168"/>
              <a:ext cx="1567009" cy="307297"/>
            </a:xfrm>
            <a:prstGeom prst="homePlate">
              <a:avLst/>
            </a:prstGeom>
            <a:solidFill>
              <a:srgbClr val="32006E"/>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　③AI</a:t>
              </a:r>
            </a:p>
          </p:txBody>
        </p:sp>
        <p:sp>
          <p:nvSpPr>
            <p:cNvPr id="7" name="Arrow: Pentagon 6">
              <a:extLst>
                <a:ext uri="{FF2B5EF4-FFF2-40B4-BE49-F238E27FC236}">
                  <a16:creationId xmlns:a16="http://schemas.microsoft.com/office/drawing/2014/main" id="{C497C09B-22C8-6BD9-862B-AC1A45E8A35B}"/>
                </a:ext>
              </a:extLst>
            </p:cNvPr>
            <p:cNvSpPr/>
            <p:nvPr/>
          </p:nvSpPr>
          <p:spPr>
            <a:xfrm>
              <a:off x="1817136"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②Regulation</a:t>
              </a:r>
            </a:p>
          </p:txBody>
        </p:sp>
        <p:sp>
          <p:nvSpPr>
            <p:cNvPr id="8" name="Arrow: Pentagon 7">
              <a:extLst>
                <a:ext uri="{FF2B5EF4-FFF2-40B4-BE49-F238E27FC236}">
                  <a16:creationId xmlns:a16="http://schemas.microsoft.com/office/drawing/2014/main" id="{36B3C231-976F-0007-F115-40FEC3669408}"/>
                </a:ext>
              </a:extLst>
            </p:cNvPr>
            <p:cNvSpPr/>
            <p:nvPr/>
          </p:nvSpPr>
          <p:spPr>
            <a:xfrm>
              <a:off x="562270"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①Insurance</a:t>
              </a:r>
            </a:p>
          </p:txBody>
        </p:sp>
      </p:grpSp>
      <p:sp>
        <p:nvSpPr>
          <p:cNvPr id="11" name="Rectangle 10">
            <a:extLst>
              <a:ext uri="{FF2B5EF4-FFF2-40B4-BE49-F238E27FC236}">
                <a16:creationId xmlns:a16="http://schemas.microsoft.com/office/drawing/2014/main" id="{DEC3AD50-B5C6-C208-F5F7-AE75B29544FF}"/>
              </a:ext>
            </a:extLst>
          </p:cNvPr>
          <p:cNvSpPr/>
          <p:nvPr/>
        </p:nvSpPr>
        <p:spPr>
          <a:xfrm>
            <a:off x="467140" y="3878584"/>
            <a:ext cx="3530430" cy="238969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91440"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Addresses psychological dependence on nicotine through AI-driven personalized messages and videos</a:t>
            </a:r>
          </a:p>
          <a:p>
            <a:pPr marL="91440"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Patient app</a:t>
            </a:r>
          </a:p>
          <a:p>
            <a:pPr marL="91440"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Portable CO checker: real-time measurement of </a:t>
            </a:r>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c</a:t>
            </a:r>
            <a:r>
              <a:rPr lang="en-US" altLang="ja-JP" noProof="0" dirty="0" err="1">
                <a:solidFill>
                  <a:schemeClr val="tx1"/>
                </a:solidFill>
                <a:latin typeface="Arial" panose="020B0604020202020204" pitchFamily="34" charset="0"/>
                <a:ea typeface="Meiryo UI" panose="020B0604030504040204" pitchFamily="50" charset="-128"/>
                <a:cs typeface="Arial" panose="020B0604020202020204" pitchFamily="34" charset="0"/>
              </a:rPr>
              <a:t>arbon</a:t>
            </a: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 monoxide in breath</a:t>
            </a:r>
          </a:p>
          <a:p>
            <a:pPr marL="91440"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Physician app: monitoring tool</a:t>
            </a:r>
          </a:p>
        </p:txBody>
      </p:sp>
      <p:sp>
        <p:nvSpPr>
          <p:cNvPr id="12" name="Rectangle 11">
            <a:extLst>
              <a:ext uri="{FF2B5EF4-FFF2-40B4-BE49-F238E27FC236}">
                <a16:creationId xmlns:a16="http://schemas.microsoft.com/office/drawing/2014/main" id="{D031241E-A58A-058B-28EF-E5F63E920D3D}"/>
              </a:ext>
            </a:extLst>
          </p:cNvPr>
          <p:cNvSpPr/>
          <p:nvPr/>
        </p:nvSpPr>
        <p:spPr>
          <a:xfrm>
            <a:off x="4250857" y="1961984"/>
            <a:ext cx="7474004" cy="735496"/>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sz="20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Approval</a:t>
            </a:r>
            <a:endParaRPr lang="en-US" altLang="ja-JP" b="1"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a:p>
            <a:pPr marL="91440"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Aug 2020: Class II</a:t>
            </a:r>
          </a:p>
        </p:txBody>
      </p:sp>
      <p:sp>
        <p:nvSpPr>
          <p:cNvPr id="13" name="Rectangle 12">
            <a:extLst>
              <a:ext uri="{FF2B5EF4-FFF2-40B4-BE49-F238E27FC236}">
                <a16:creationId xmlns:a16="http://schemas.microsoft.com/office/drawing/2014/main" id="{9D64457F-A796-87C8-8F07-E162AD8B6B7D}"/>
              </a:ext>
            </a:extLst>
          </p:cNvPr>
          <p:cNvSpPr/>
          <p:nvPr/>
        </p:nvSpPr>
        <p:spPr>
          <a:xfrm>
            <a:off x="4250857" y="2838285"/>
            <a:ext cx="7474004" cy="3643053"/>
          </a:xfrm>
          <a:prstGeom prst="rect">
            <a:avLst/>
          </a:prstGeom>
          <a:solidFill>
            <a:srgbClr val="C5B4E3">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altLang="ja-JP" sz="20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Reimbursement</a:t>
            </a:r>
            <a:endParaRPr lang="en-US" altLang="ja-JP" b="1"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a:p>
            <a:pPr marL="91440"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Insurance listing (Dec 2020): </a:t>
            </a:r>
          </a:p>
          <a:p>
            <a:pPr marL="548640" lvl="1"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C2 (new “</a:t>
            </a:r>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f</a:t>
            </a:r>
            <a:r>
              <a:rPr lang="en-US" altLang="ja-JP" noProof="0" dirty="0" err="1">
                <a:solidFill>
                  <a:schemeClr val="tx1"/>
                </a:solidFill>
                <a:latin typeface="Arial" panose="020B0604020202020204" pitchFamily="34" charset="0"/>
                <a:ea typeface="Meiryo UI" panose="020B0604030504040204" pitchFamily="50" charset="-128"/>
                <a:cs typeface="Arial" panose="020B0604020202020204" pitchFamily="34" charset="0"/>
              </a:rPr>
              <a:t>unctional</a:t>
            </a: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 </a:t>
            </a:r>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c</a:t>
            </a:r>
            <a:r>
              <a:rPr lang="en-US" altLang="ja-JP" noProof="0" dirty="0" err="1">
                <a:solidFill>
                  <a:schemeClr val="tx1"/>
                </a:solidFill>
                <a:latin typeface="Arial" panose="020B0604020202020204" pitchFamily="34" charset="0"/>
                <a:ea typeface="Meiryo UI" panose="020B0604030504040204" pitchFamily="50" charset="-128"/>
                <a:cs typeface="Arial" panose="020B0604020202020204" pitchFamily="34" charset="0"/>
              </a:rPr>
              <a:t>ategory</a:t>
            </a: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a:t>
            </a:r>
          </a:p>
          <a:p>
            <a:pPr marL="548640" lvl="1"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Fee Structure:</a:t>
            </a:r>
          </a:p>
          <a:p>
            <a:pPr marL="1005840" lvl="2"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Add-on for “Program Guidance Fees”: </a:t>
            </a:r>
          </a:p>
          <a:p>
            <a:pPr marL="1463040" lvl="3"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140pts (Instruction on system use; $9)</a:t>
            </a:r>
          </a:p>
          <a:p>
            <a:pPr marL="1005840" lvl="2"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System add-on </a:t>
            </a:r>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f</a:t>
            </a: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ee: </a:t>
            </a:r>
          </a:p>
          <a:p>
            <a:pPr marL="1463040" lvl="3"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2,400pts (Covers the cost of the software/device; $151)</a:t>
            </a:r>
          </a:p>
          <a:p>
            <a:pPr marL="548640" lvl="1"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Reference device: </a:t>
            </a:r>
          </a:p>
          <a:p>
            <a:pPr marL="1005840" lvl="2" indent="-91440">
              <a:buFont typeface="Arial" panose="020B0604020202020204" pitchFamily="34" charset="0"/>
              <a:buChar char="•"/>
            </a:pP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Implantable </a:t>
            </a:r>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n</a:t>
            </a:r>
            <a:r>
              <a:rPr lang="en-US" altLang="ja-JP" noProof="0" dirty="0" err="1">
                <a:solidFill>
                  <a:schemeClr val="tx1"/>
                </a:solidFill>
                <a:latin typeface="Arial" panose="020B0604020202020204" pitchFamily="34" charset="0"/>
                <a:ea typeface="Meiryo UI" panose="020B0604030504040204" pitchFamily="50" charset="-128"/>
                <a:cs typeface="Arial" panose="020B0604020202020204" pitchFamily="34" charset="0"/>
              </a:rPr>
              <a:t>eurostimulators</a:t>
            </a:r>
            <a:endPar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endParaRPr>
          </a:p>
          <a:p>
            <a:pPr marL="1463040" lvl="3" indent="-91440">
              <a:buFont typeface="Arial" panose="020B0604020202020204" pitchFamily="34" charset="0"/>
              <a:buChar char="•"/>
            </a:pPr>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F</a:t>
            </a: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or patients with implanted neurostimulation systems in the brain, spinal </a:t>
            </a:r>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c</a:t>
            </a:r>
            <a:r>
              <a:rPr lang="en-US" altLang="ja-JP" noProof="0" dirty="0" err="1">
                <a:solidFill>
                  <a:schemeClr val="tx1"/>
                </a:solidFill>
                <a:latin typeface="Arial" panose="020B0604020202020204" pitchFamily="34" charset="0"/>
                <a:ea typeface="Meiryo UI" panose="020B0604030504040204" pitchFamily="50" charset="-128"/>
                <a:cs typeface="Arial" panose="020B0604020202020204" pitchFamily="34" charset="0"/>
              </a:rPr>
              <a:t>ord</a:t>
            </a: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 or </a:t>
            </a:r>
            <a:r>
              <a:rPr lang="en-US" altLang="ja-JP" dirty="0">
                <a:solidFill>
                  <a:schemeClr val="tx1"/>
                </a:solidFill>
                <a:latin typeface="Arial" panose="020B0604020202020204" pitchFamily="34" charset="0"/>
                <a:ea typeface="Meiryo UI" panose="020B0604030504040204" pitchFamily="50" charset="-128"/>
                <a:cs typeface="Arial" panose="020B0604020202020204" pitchFamily="34" charset="0"/>
              </a:rPr>
              <a:t>v</a:t>
            </a:r>
            <a:r>
              <a:rPr lang="en-US" altLang="ja-JP" noProof="0" dirty="0" err="1">
                <a:solidFill>
                  <a:schemeClr val="tx1"/>
                </a:solidFill>
                <a:latin typeface="Arial" panose="020B0604020202020204" pitchFamily="34" charset="0"/>
                <a:ea typeface="Meiryo UI" panose="020B0604030504040204" pitchFamily="50" charset="-128"/>
                <a:cs typeface="Arial" panose="020B0604020202020204" pitchFamily="34" charset="0"/>
              </a:rPr>
              <a:t>agus</a:t>
            </a:r>
            <a:r>
              <a:rPr lang="en-US" altLang="ja-JP" noProof="0" dirty="0">
                <a:solidFill>
                  <a:schemeClr val="tx1"/>
                </a:solidFill>
                <a:latin typeface="Arial" panose="020B0604020202020204" pitchFamily="34" charset="0"/>
                <a:ea typeface="Meiryo UI" panose="020B0604030504040204" pitchFamily="50" charset="-128"/>
                <a:cs typeface="Arial" panose="020B0604020202020204" pitchFamily="34" charset="0"/>
              </a:rPr>
              <a:t> nerve, for home-based management of chronic pain, tremors, or epilepsy</a:t>
            </a:r>
          </a:p>
        </p:txBody>
      </p:sp>
      <p:pic>
        <p:nvPicPr>
          <p:cNvPr id="1026" name="Picture 2" descr="CureApp SCのスマートフォンアプリとポータブルCOチェッカー">
            <a:extLst>
              <a:ext uri="{FF2B5EF4-FFF2-40B4-BE49-F238E27FC236}">
                <a16:creationId xmlns:a16="http://schemas.microsoft.com/office/drawing/2014/main" id="{6A282677-CF48-1DEE-C3B7-7D5A3B28EB1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530" r="15155"/>
          <a:stretch>
            <a:fillRect/>
          </a:stretch>
        </p:blipFill>
        <p:spPr bwMode="auto">
          <a:xfrm>
            <a:off x="492026" y="1893612"/>
            <a:ext cx="1774459" cy="184028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72E820D-E20C-9C49-06FE-BB38C4444926}"/>
              </a:ext>
            </a:extLst>
          </p:cNvPr>
          <p:cNvSpPr txBox="1"/>
          <p:nvPr/>
        </p:nvSpPr>
        <p:spPr>
          <a:xfrm>
            <a:off x="467139" y="6481338"/>
            <a:ext cx="11257722" cy="369332"/>
          </a:xfrm>
          <a:prstGeom prst="rect">
            <a:avLst/>
          </a:prstGeom>
          <a:solidFill>
            <a:schemeClr val="bg1"/>
          </a:solidFill>
        </p:spPr>
        <p:txBody>
          <a:bodyPr wrap="square" lIns="0" tIns="0" rIns="0" bIns="0">
            <a:spAutoFit/>
          </a:bodyPr>
          <a:lstStyle/>
          <a:p>
            <a:r>
              <a:rPr lang="pt-BR" sz="1200" dirty="0">
                <a:latin typeface="Arial" panose="020B0604020202020204" pitchFamily="34" charset="0"/>
                <a:ea typeface="Meiryo UI" panose="020B0604030504040204" pitchFamily="50" charset="-128"/>
                <a:cs typeface="Arial" panose="020B0604020202020204" pitchFamily="34" charset="0"/>
              </a:rPr>
              <a:t>PMDA </a:t>
            </a:r>
            <a:r>
              <a:rPr lang="pt-BR" sz="1200" dirty="0">
                <a:latin typeface="Arial" panose="020B0604020202020204" pitchFamily="34" charset="0"/>
                <a:ea typeface="Meiryo UI" panose="020B0604030504040204" pitchFamily="50" charset="-128"/>
                <a:cs typeface="Arial" panose="020B0604020202020204" pitchFamily="34" charset="0"/>
                <a:hlinkClick r:id="rId4"/>
              </a:rPr>
              <a:t>https://www.pmda.go.jp/medical_devices/2020/M20200911001/230909000_30200BZX00271000_C100_1.pdf</a:t>
            </a:r>
            <a:endParaRPr lang="pt-BR" sz="1200" dirty="0">
              <a:latin typeface="Arial" panose="020B0604020202020204" pitchFamily="34" charset="0"/>
              <a:ea typeface="Meiryo UI" panose="020B0604030504040204" pitchFamily="50" charset="-128"/>
              <a:cs typeface="Arial" panose="020B0604020202020204" pitchFamily="34" charset="0"/>
            </a:endParaRPr>
          </a:p>
          <a:p>
            <a:r>
              <a:rPr lang="pt-BR" sz="1200" dirty="0">
                <a:latin typeface="Arial" panose="020B0604020202020204" pitchFamily="34" charset="0"/>
                <a:ea typeface="Meiryo UI" panose="020B0604030504040204" pitchFamily="50" charset="-128"/>
                <a:cs typeface="Arial" panose="020B0604020202020204" pitchFamily="34" charset="0"/>
              </a:rPr>
              <a:t>MHLW </a:t>
            </a:r>
            <a:r>
              <a:rPr lang="pt-BR" sz="1200" dirty="0">
                <a:latin typeface="Arial" panose="020B0604020202020204" pitchFamily="34" charset="0"/>
                <a:ea typeface="Meiryo UI" panose="020B0604030504040204" pitchFamily="50" charset="-128"/>
                <a:cs typeface="Arial" panose="020B0604020202020204" pitchFamily="34" charset="0"/>
                <a:hlinkClick r:id="rId5"/>
              </a:rPr>
              <a:t>https://www.mhlw.go.jp/content/12404000/000693018.pdf</a:t>
            </a:r>
            <a:endParaRPr lang="pt-BR" sz="1200" dirty="0">
              <a:latin typeface="Arial" panose="020B0604020202020204" pitchFamily="34" charset="0"/>
              <a:ea typeface="Meiryo UI" panose="020B0604030504040204" pitchFamily="50" charset="-128"/>
              <a:cs typeface="Arial" panose="020B0604020202020204" pitchFamily="34" charset="0"/>
            </a:endParaRPr>
          </a:p>
        </p:txBody>
      </p:sp>
    </p:spTree>
    <p:extLst>
      <p:ext uri="{BB962C8B-B14F-4D97-AF65-F5344CB8AC3E}">
        <p14:creationId xmlns:p14="http://schemas.microsoft.com/office/powerpoint/2010/main" val="31449930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E95D4-8E48-62C7-6B87-5006122956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D37233-A891-5C83-9085-E0E1A45220D3}"/>
              </a:ext>
            </a:extLst>
          </p:cNvPr>
          <p:cNvSpPr>
            <a:spLocks noGrp="1"/>
          </p:cNvSpPr>
          <p:nvPr>
            <p:ph type="title"/>
          </p:nvPr>
        </p:nvSpPr>
        <p:spPr>
          <a:xfrm>
            <a:off x="467139" y="589724"/>
            <a:ext cx="11221278" cy="362776"/>
          </a:xfrm>
        </p:spPr>
        <p:txBody>
          <a:bodyPr/>
          <a:lstStyle/>
          <a:p>
            <a:r>
              <a:rPr lang="en-US" noProof="0" dirty="0"/>
              <a:t>Summary: Challenges and opportunities</a:t>
            </a:r>
          </a:p>
        </p:txBody>
      </p:sp>
      <p:sp>
        <p:nvSpPr>
          <p:cNvPr id="3" name="Table Placeholder 2">
            <a:extLst>
              <a:ext uri="{FF2B5EF4-FFF2-40B4-BE49-F238E27FC236}">
                <a16:creationId xmlns:a16="http://schemas.microsoft.com/office/drawing/2014/main" id="{AA944269-91C0-7226-BF1D-03F689235450}"/>
              </a:ext>
            </a:extLst>
          </p:cNvPr>
          <p:cNvSpPr>
            <a:spLocks noGrp="1"/>
          </p:cNvSpPr>
          <p:nvPr>
            <p:ph type="tbl" sz="quarter" idx="10"/>
          </p:nvPr>
        </p:nvSpPr>
        <p:spPr>
          <a:xfrm>
            <a:off x="467139" y="1052911"/>
            <a:ext cx="11221278" cy="4622672"/>
          </a:xfrm>
        </p:spPr>
        <p:txBody>
          <a:bodyPr/>
          <a:lstStyle/>
          <a:p>
            <a:pPr marL="0" indent="0">
              <a:spcBef>
                <a:spcPts val="0"/>
              </a:spcBef>
              <a:buNone/>
            </a:pPr>
            <a:r>
              <a:rPr lang="en-US" b="1" noProof="0" dirty="0"/>
              <a:t>1. Structural fiscal </a:t>
            </a:r>
            <a:r>
              <a:rPr lang="en-US" altLang="ja-JP" b="1" dirty="0"/>
              <a:t>pressure</a:t>
            </a:r>
            <a:endParaRPr lang="en-US" b="1" noProof="0" dirty="0"/>
          </a:p>
          <a:p>
            <a:pPr lvl="1">
              <a:spcBef>
                <a:spcPts val="0"/>
              </a:spcBef>
            </a:pPr>
            <a:r>
              <a:rPr lang="en-US" sz="2000" noProof="0" dirty="0"/>
              <a:t>Rising healthcare expenditures, driven by aging, are sustained by premiums from the working-class, taxes, and national bond issuance</a:t>
            </a:r>
          </a:p>
          <a:p>
            <a:pPr lvl="1">
              <a:spcBef>
                <a:spcPts val="0"/>
              </a:spcBef>
            </a:pPr>
            <a:r>
              <a:rPr lang="en-US" sz="2000" noProof="0" dirty="0"/>
              <a:t>Operational inefficiencies due to a historically fragmented insurers that the government is attempting to harmonize</a:t>
            </a:r>
          </a:p>
          <a:p>
            <a:pPr marL="0" indent="0">
              <a:spcBef>
                <a:spcPts val="0"/>
              </a:spcBef>
              <a:buNone/>
            </a:pPr>
            <a:r>
              <a:rPr lang="en-US" altLang="ja-JP" b="1" noProof="0" dirty="0"/>
              <a:t>2. </a:t>
            </a:r>
            <a:r>
              <a:rPr lang="en-US" altLang="ja-JP" b="1" dirty="0"/>
              <a:t>Dilemma</a:t>
            </a:r>
            <a:r>
              <a:rPr lang="en-US" b="1" noProof="0" dirty="0"/>
              <a:t> of price </a:t>
            </a:r>
            <a:r>
              <a:rPr lang="en-US" altLang="ja-JP" b="1" dirty="0"/>
              <a:t>setting</a:t>
            </a:r>
            <a:endParaRPr lang="en-US" b="1" noProof="0" dirty="0"/>
          </a:p>
          <a:p>
            <a:pPr lvl="1">
              <a:spcBef>
                <a:spcPts val="0"/>
              </a:spcBef>
            </a:pPr>
            <a:r>
              <a:rPr lang="en-US" sz="2000" noProof="0" dirty="0"/>
              <a:t>While medical services, drugs, and devices are priced via the fee </a:t>
            </a:r>
            <a:r>
              <a:rPr lang="en-US" altLang="ja-JP" sz="2000" dirty="0"/>
              <a:t>schedule</a:t>
            </a:r>
            <a:r>
              <a:rPr lang="en-US" sz="2000" noProof="0" dirty="0"/>
              <a:t>, the system is caught in a "pincer movement" between two opposing forces:</a:t>
            </a:r>
            <a:endParaRPr lang="en-US" sz="2000" dirty="0"/>
          </a:p>
          <a:p>
            <a:pPr lvl="2">
              <a:lnSpc>
                <a:spcPct val="100000"/>
              </a:lnSpc>
              <a:spcBef>
                <a:spcPts val="0"/>
              </a:spcBef>
            </a:pPr>
            <a:r>
              <a:rPr lang="en-US" sz="1800" noProof="0" dirty="0"/>
              <a:t>Macro-level: National pressure to restrict healthcare spending</a:t>
            </a:r>
          </a:p>
          <a:p>
            <a:pPr lvl="2">
              <a:lnSpc>
                <a:spcPct val="100000"/>
              </a:lnSpc>
              <a:spcBef>
                <a:spcPts val="0"/>
              </a:spcBef>
            </a:pPr>
            <a:r>
              <a:rPr lang="en-US" sz="1800" noProof="0" dirty="0"/>
              <a:t>Micro-level: Demands for higher points from healthcare providers and manufacturers due to inflation, rising wages, and material costs</a:t>
            </a:r>
          </a:p>
          <a:p>
            <a:pPr lvl="1">
              <a:lnSpc>
                <a:spcPct val="100000"/>
              </a:lnSpc>
              <a:spcBef>
                <a:spcPts val="0"/>
              </a:spcBef>
            </a:pPr>
            <a:r>
              <a:rPr lang="en-US" sz="2000" noProof="0" dirty="0"/>
              <a:t>Whether the current pricing scheme is "appropriate" </a:t>
            </a:r>
            <a:r>
              <a:rPr lang="en-US" sz="2000" dirty="0"/>
              <a:t>remains</a:t>
            </a:r>
            <a:r>
              <a:rPr lang="en-US" sz="2000" noProof="0" dirty="0"/>
              <a:t> a subject of debate</a:t>
            </a:r>
          </a:p>
          <a:p>
            <a:pPr marL="0" indent="0">
              <a:spcBef>
                <a:spcPts val="0"/>
              </a:spcBef>
              <a:buNone/>
            </a:pPr>
            <a:r>
              <a:rPr lang="en-US" b="1" dirty="0"/>
              <a:t>3. Role and reality of AI medical devices</a:t>
            </a:r>
          </a:p>
          <a:p>
            <a:pPr lvl="1">
              <a:spcBef>
                <a:spcPts val="0"/>
              </a:spcBef>
            </a:pPr>
            <a:r>
              <a:rPr lang="en-US" sz="2000" dirty="0"/>
              <a:t>AI medical devices hold the potential to address regional labor shortages and contribute to cost containment</a:t>
            </a:r>
          </a:p>
          <a:p>
            <a:pPr lvl="1">
              <a:spcBef>
                <a:spcPts val="0"/>
              </a:spcBef>
            </a:pPr>
            <a:r>
              <a:rPr lang="en-US" sz="2000" dirty="0"/>
              <a:t>However, many cases are difficult to fit into existing regulatory and value-assessment frameworks</a:t>
            </a:r>
          </a:p>
          <a:p>
            <a:pPr lvl="1">
              <a:spcBef>
                <a:spcPts val="0"/>
              </a:spcBef>
            </a:pPr>
            <a:r>
              <a:rPr lang="en-US" sz="2000" dirty="0"/>
              <a:t>Currently, decisions are being made on a case-by-case basis as regulatory updates and infrastructure developments remain very much a "work in progress."</a:t>
            </a:r>
            <a:endParaRPr lang="en-US" sz="2000" noProof="0" dirty="0"/>
          </a:p>
        </p:txBody>
      </p:sp>
      <p:sp>
        <p:nvSpPr>
          <p:cNvPr id="4" name="Slide Number Placeholder 3">
            <a:extLst>
              <a:ext uri="{FF2B5EF4-FFF2-40B4-BE49-F238E27FC236}">
                <a16:creationId xmlns:a16="http://schemas.microsoft.com/office/drawing/2014/main" id="{5B91DB85-0816-D88A-633F-F58EA35AA512}"/>
              </a:ext>
            </a:extLst>
          </p:cNvPr>
          <p:cNvSpPr>
            <a:spLocks noGrp="1"/>
          </p:cNvSpPr>
          <p:nvPr>
            <p:ph type="sldNum" sz="quarter" idx="4"/>
          </p:nvPr>
        </p:nvSpPr>
        <p:spPr/>
        <p:txBody>
          <a:bodyPr/>
          <a:lstStyle/>
          <a:p>
            <a:fld id="{B5CEABB6-07DC-46E8-9B57-56EC44A396E5}" type="slidenum">
              <a:rPr lang="en-US" noProof="0" smtClean="0"/>
              <a:pPr/>
              <a:t>28</a:t>
            </a:fld>
            <a:endParaRPr lang="en-US" noProof="0" dirty="0"/>
          </a:p>
        </p:txBody>
      </p:sp>
    </p:spTree>
    <p:extLst>
      <p:ext uri="{BB962C8B-B14F-4D97-AF65-F5344CB8AC3E}">
        <p14:creationId xmlns:p14="http://schemas.microsoft.com/office/powerpoint/2010/main" val="25896143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091AF01-3EAC-1A2D-E3FC-FDD0D1EC23C6}"/>
              </a:ext>
            </a:extLst>
          </p:cNvPr>
          <p:cNvSpPr>
            <a:spLocks noGrp="1"/>
          </p:cNvSpPr>
          <p:nvPr>
            <p:ph type="title"/>
          </p:nvPr>
        </p:nvSpPr>
        <p:spPr/>
        <p:txBody>
          <a:bodyPr>
            <a:normAutofit/>
          </a:bodyPr>
          <a:lstStyle/>
          <a:p>
            <a:r>
              <a:rPr lang="en-US" sz="4400" b="1" noProof="0" dirty="0"/>
              <a:t>Thank you for your attention!</a:t>
            </a:r>
          </a:p>
        </p:txBody>
      </p:sp>
      <p:sp>
        <p:nvSpPr>
          <p:cNvPr id="7" name="Content Placeholder 6">
            <a:extLst>
              <a:ext uri="{FF2B5EF4-FFF2-40B4-BE49-F238E27FC236}">
                <a16:creationId xmlns:a16="http://schemas.microsoft.com/office/drawing/2014/main" id="{1E4008FF-7392-82F0-3CA8-164ECD63EE8E}"/>
              </a:ext>
            </a:extLst>
          </p:cNvPr>
          <p:cNvSpPr>
            <a:spLocks noGrp="1"/>
          </p:cNvSpPr>
          <p:nvPr>
            <p:ph idx="1"/>
          </p:nvPr>
        </p:nvSpPr>
        <p:spPr>
          <a:xfrm>
            <a:off x="6091514" y="7738233"/>
            <a:ext cx="5057103" cy="2519363"/>
          </a:xfrm>
        </p:spPr>
        <p:txBody>
          <a:bodyPr>
            <a:normAutofit/>
          </a:bodyPr>
          <a:lstStyle/>
          <a:p>
            <a:endParaRPr lang="en-US" dirty="0"/>
          </a:p>
          <a:p>
            <a:endParaRPr lang="en-US" b="1" noProof="0" dirty="0"/>
          </a:p>
          <a:p>
            <a:endParaRPr lang="en-US" b="1" dirty="0"/>
          </a:p>
          <a:p>
            <a:endParaRPr lang="en-US" b="1" noProof="0" dirty="0"/>
          </a:p>
          <a:p>
            <a:r>
              <a:rPr lang="en-US" b="1" noProof="0" dirty="0"/>
              <a:t>Contact</a:t>
            </a:r>
            <a:r>
              <a:rPr lang="en-US" noProof="0" dirty="0"/>
              <a:t>: skoiso@uw.edu</a:t>
            </a:r>
          </a:p>
          <a:p>
            <a:r>
              <a:rPr lang="en-US" noProof="0" dirty="0"/>
              <a:t>	</a:t>
            </a:r>
          </a:p>
        </p:txBody>
      </p:sp>
      <p:sp>
        <p:nvSpPr>
          <p:cNvPr id="4" name="Slide Number Placeholder 3">
            <a:extLst>
              <a:ext uri="{FF2B5EF4-FFF2-40B4-BE49-F238E27FC236}">
                <a16:creationId xmlns:a16="http://schemas.microsoft.com/office/drawing/2014/main" id="{25977C92-B112-3017-1E4D-F3693FAB2E2D}"/>
              </a:ext>
            </a:extLst>
          </p:cNvPr>
          <p:cNvSpPr>
            <a:spLocks noGrp="1"/>
          </p:cNvSpPr>
          <p:nvPr>
            <p:ph type="sldNum" sz="quarter" idx="4294967295"/>
          </p:nvPr>
        </p:nvSpPr>
        <p:spPr>
          <a:xfrm>
            <a:off x="11560175" y="6561138"/>
            <a:ext cx="631825" cy="295275"/>
          </a:xfrm>
        </p:spPr>
        <p:txBody>
          <a:bodyPr/>
          <a:lstStyle/>
          <a:p>
            <a:fld id="{B5CEABB6-07DC-46E8-9B57-56EC44A396E5}" type="slidenum">
              <a:rPr lang="en-US" noProof="0" smtClean="0"/>
              <a:pPr/>
              <a:t>29</a:t>
            </a:fld>
            <a:endParaRPr lang="en-US" noProof="0" dirty="0"/>
          </a:p>
        </p:txBody>
      </p:sp>
    </p:spTree>
    <p:extLst>
      <p:ext uri="{BB962C8B-B14F-4D97-AF65-F5344CB8AC3E}">
        <p14:creationId xmlns:p14="http://schemas.microsoft.com/office/powerpoint/2010/main" val="7066669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5FE5356-73AA-7AC0-B8F7-24C264F8224D}"/>
              </a:ext>
            </a:extLst>
          </p:cNvPr>
          <p:cNvSpPr>
            <a:spLocks noGrp="1"/>
          </p:cNvSpPr>
          <p:nvPr>
            <p:ph type="title"/>
          </p:nvPr>
        </p:nvSpPr>
        <p:spPr/>
        <p:txBody>
          <a:bodyPr/>
          <a:lstStyle/>
          <a:p>
            <a:r>
              <a:rPr lang="en-US" b="1" noProof="0" dirty="0"/>
              <a:t>Appendix</a:t>
            </a:r>
          </a:p>
        </p:txBody>
      </p:sp>
      <p:sp>
        <p:nvSpPr>
          <p:cNvPr id="4" name="Slide Number Placeholder 3">
            <a:extLst>
              <a:ext uri="{FF2B5EF4-FFF2-40B4-BE49-F238E27FC236}">
                <a16:creationId xmlns:a16="http://schemas.microsoft.com/office/drawing/2014/main" id="{61454029-83CA-16AE-0DA1-FF1260E3F53B}"/>
              </a:ext>
            </a:extLst>
          </p:cNvPr>
          <p:cNvSpPr>
            <a:spLocks noGrp="1"/>
          </p:cNvSpPr>
          <p:nvPr>
            <p:ph type="sldNum" sz="quarter" idx="4294967295"/>
          </p:nvPr>
        </p:nvSpPr>
        <p:spPr>
          <a:xfrm>
            <a:off x="11560175" y="6561138"/>
            <a:ext cx="631825" cy="295275"/>
          </a:xfrm>
        </p:spPr>
        <p:txBody>
          <a:bodyPr/>
          <a:lstStyle/>
          <a:p>
            <a:fld id="{B5CEABB6-07DC-46E8-9B57-56EC44A396E5}" type="slidenum">
              <a:rPr lang="en-US" noProof="0" smtClean="0"/>
              <a:pPr/>
              <a:t>30</a:t>
            </a:fld>
            <a:endParaRPr lang="en-US" noProof="0" dirty="0"/>
          </a:p>
        </p:txBody>
      </p:sp>
    </p:spTree>
    <p:extLst>
      <p:ext uri="{BB962C8B-B14F-4D97-AF65-F5344CB8AC3E}">
        <p14:creationId xmlns:p14="http://schemas.microsoft.com/office/powerpoint/2010/main" val="15790820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C2D15-5E2F-8693-3BAA-254AEBDFA4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E9C57D-E87C-7257-5D94-F0497A9909E7}"/>
              </a:ext>
            </a:extLst>
          </p:cNvPr>
          <p:cNvSpPr>
            <a:spLocks noGrp="1"/>
          </p:cNvSpPr>
          <p:nvPr>
            <p:ph type="title"/>
          </p:nvPr>
        </p:nvSpPr>
        <p:spPr/>
        <p:txBody>
          <a:bodyPr/>
          <a:lstStyle/>
          <a:p>
            <a:r>
              <a:rPr lang="en-US" noProof="0" dirty="0"/>
              <a:t>Health expenditure by budget source</a:t>
            </a:r>
          </a:p>
        </p:txBody>
      </p:sp>
      <p:sp>
        <p:nvSpPr>
          <p:cNvPr id="4" name="Slide Number Placeholder 3">
            <a:extLst>
              <a:ext uri="{FF2B5EF4-FFF2-40B4-BE49-F238E27FC236}">
                <a16:creationId xmlns:a16="http://schemas.microsoft.com/office/drawing/2014/main" id="{AAAE7C38-0561-BC1C-D633-FD11A70A3052}"/>
              </a:ext>
            </a:extLst>
          </p:cNvPr>
          <p:cNvSpPr>
            <a:spLocks noGrp="1"/>
          </p:cNvSpPr>
          <p:nvPr>
            <p:ph type="sldNum" sz="quarter" idx="4"/>
          </p:nvPr>
        </p:nvSpPr>
        <p:spPr/>
        <p:txBody>
          <a:bodyPr/>
          <a:lstStyle/>
          <a:p>
            <a:fld id="{B5CEABB6-07DC-46E8-9B57-56EC44A396E5}" type="slidenum">
              <a:rPr lang="en-US" noProof="0" smtClean="0"/>
              <a:pPr/>
              <a:t>31</a:t>
            </a:fld>
            <a:endParaRPr lang="en-US" noProof="0" dirty="0"/>
          </a:p>
        </p:txBody>
      </p:sp>
      <p:sp>
        <p:nvSpPr>
          <p:cNvPr id="5" name="Table Placeholder 4">
            <a:extLst>
              <a:ext uri="{FF2B5EF4-FFF2-40B4-BE49-F238E27FC236}">
                <a16:creationId xmlns:a16="http://schemas.microsoft.com/office/drawing/2014/main" id="{47F8FC33-BB37-1B67-08A0-36E743511857}"/>
              </a:ext>
            </a:extLst>
          </p:cNvPr>
          <p:cNvSpPr>
            <a:spLocks noGrp="1"/>
          </p:cNvSpPr>
          <p:nvPr>
            <p:ph type="tbl" sz="quarter" idx="11"/>
          </p:nvPr>
        </p:nvSpPr>
        <p:spPr/>
        <p:txBody>
          <a:bodyPr/>
          <a:lstStyle/>
          <a:p>
            <a:endParaRPr lang="en-US" noProof="0" dirty="0"/>
          </a:p>
        </p:txBody>
      </p:sp>
      <p:grpSp>
        <p:nvGrpSpPr>
          <p:cNvPr id="10" name="Group 9">
            <a:extLst>
              <a:ext uri="{FF2B5EF4-FFF2-40B4-BE49-F238E27FC236}">
                <a16:creationId xmlns:a16="http://schemas.microsoft.com/office/drawing/2014/main" id="{7A1B3A05-06AF-4C67-1ACC-F6C653771051}"/>
              </a:ext>
            </a:extLst>
          </p:cNvPr>
          <p:cNvGrpSpPr/>
          <p:nvPr/>
        </p:nvGrpSpPr>
        <p:grpSpPr>
          <a:xfrm>
            <a:off x="467139" y="108959"/>
            <a:ext cx="4197304" cy="307297"/>
            <a:chOff x="562270" y="127168"/>
            <a:chExt cx="4197304" cy="307297"/>
          </a:xfrm>
        </p:grpSpPr>
        <p:sp>
          <p:nvSpPr>
            <p:cNvPr id="11" name="Arrow: Pentagon 10">
              <a:extLst>
                <a:ext uri="{FF2B5EF4-FFF2-40B4-BE49-F238E27FC236}">
                  <a16:creationId xmlns:a16="http://schemas.microsoft.com/office/drawing/2014/main" id="{F6421243-6B3E-21D6-8E21-902440241266}"/>
                </a:ext>
              </a:extLst>
            </p:cNvPr>
            <p:cNvSpPr/>
            <p:nvPr/>
          </p:nvSpPr>
          <p:spPr>
            <a:xfrm>
              <a:off x="3192565"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③AI</a:t>
              </a:r>
            </a:p>
          </p:txBody>
        </p:sp>
        <p:sp>
          <p:nvSpPr>
            <p:cNvPr id="12" name="Arrow: Pentagon 11">
              <a:extLst>
                <a:ext uri="{FF2B5EF4-FFF2-40B4-BE49-F238E27FC236}">
                  <a16:creationId xmlns:a16="http://schemas.microsoft.com/office/drawing/2014/main" id="{C52A0589-5906-4AAD-A7C1-961AFA0FF667}"/>
                </a:ext>
              </a:extLst>
            </p:cNvPr>
            <p:cNvSpPr/>
            <p:nvPr/>
          </p:nvSpPr>
          <p:spPr>
            <a:xfrm>
              <a:off x="1817136" y="127168"/>
              <a:ext cx="1567009" cy="307297"/>
            </a:xfrm>
            <a:prstGeom prst="homePlate">
              <a:avLst/>
            </a:prstGeom>
            <a:solidFill>
              <a:srgbClr val="C5B4E3"/>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noProof="0" dirty="0">
                  <a:latin typeface="Arial" panose="020B0604020202020204" pitchFamily="34" charset="0"/>
                  <a:ea typeface="Meiryo UI" panose="020B0604030504040204" pitchFamily="50" charset="-128"/>
                  <a:cs typeface="Arial" panose="020B0604020202020204" pitchFamily="34" charset="0"/>
                </a:rPr>
                <a:t>     ②Regulation</a:t>
              </a:r>
            </a:p>
          </p:txBody>
        </p:sp>
        <p:sp>
          <p:nvSpPr>
            <p:cNvPr id="13" name="Arrow: Pentagon 12">
              <a:extLst>
                <a:ext uri="{FF2B5EF4-FFF2-40B4-BE49-F238E27FC236}">
                  <a16:creationId xmlns:a16="http://schemas.microsoft.com/office/drawing/2014/main" id="{FB44FA73-5997-FFD7-3C78-BFA03A5D5B84}"/>
                </a:ext>
              </a:extLst>
            </p:cNvPr>
            <p:cNvSpPr/>
            <p:nvPr/>
          </p:nvSpPr>
          <p:spPr>
            <a:xfrm>
              <a:off x="562270" y="127168"/>
              <a:ext cx="1567009" cy="307297"/>
            </a:xfrm>
            <a:prstGeom prst="homePlate">
              <a:avLst/>
            </a:prstGeom>
            <a:solidFill>
              <a:srgbClr val="32006E"/>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latin typeface="Arial" panose="020B0604020202020204" pitchFamily="34" charset="0"/>
                  <a:ea typeface="Meiryo UI" panose="020B0604030504040204" pitchFamily="50" charset="-128"/>
                  <a:cs typeface="Arial" panose="020B0604020202020204" pitchFamily="34" charset="0"/>
                </a:rPr>
                <a:t>①Insurance</a:t>
              </a:r>
            </a:p>
          </p:txBody>
        </p:sp>
      </p:grpSp>
      <p:sp>
        <p:nvSpPr>
          <p:cNvPr id="6" name="TextBox 5">
            <a:extLst>
              <a:ext uri="{FF2B5EF4-FFF2-40B4-BE49-F238E27FC236}">
                <a16:creationId xmlns:a16="http://schemas.microsoft.com/office/drawing/2014/main" id="{2991995E-42A9-1EEB-89BB-13845F57B01B}"/>
              </a:ext>
            </a:extLst>
          </p:cNvPr>
          <p:cNvSpPr txBox="1"/>
          <p:nvPr/>
        </p:nvSpPr>
        <p:spPr>
          <a:xfrm>
            <a:off x="467139" y="6431501"/>
            <a:ext cx="11257722" cy="184666"/>
          </a:xfrm>
          <a:prstGeom prst="rect">
            <a:avLst/>
          </a:prstGeom>
          <a:solidFill>
            <a:schemeClr val="bg1"/>
          </a:solidFill>
        </p:spPr>
        <p:txBody>
          <a:bodyPr wrap="square" lIns="0" tIns="0" rIns="0" bIns="0">
            <a:spAutoFit/>
          </a:bodyPr>
          <a:lstStyle/>
          <a:p>
            <a:r>
              <a:rPr lang="pt-BR" sz="1200" dirty="0">
                <a:latin typeface="Arial" panose="020B0604020202020204" pitchFamily="34" charset="0"/>
                <a:ea typeface="Meiryo UI" panose="020B0604030504040204" pitchFamily="50" charset="-128"/>
                <a:cs typeface="Arial" panose="020B0604020202020204" pitchFamily="34" charset="0"/>
              </a:rPr>
              <a:t>Ministry of Health, Labour and Welfare </a:t>
            </a:r>
            <a:r>
              <a:rPr lang="pt-BR" sz="1200" dirty="0">
                <a:latin typeface="Arial" panose="020B0604020202020204" pitchFamily="34" charset="0"/>
                <a:ea typeface="Meiryo UI" panose="020B0604030504040204" pitchFamily="50" charset="-128"/>
                <a:cs typeface="Arial" panose="020B0604020202020204" pitchFamily="34" charset="0"/>
                <a:hlinkClick r:id="rId4"/>
              </a:rPr>
              <a:t>https://www.mhlw.go.jp/stf/seisakunitsuite/bunya/kenkou_iryou/iryouhoken/iryouhoken01/index.html</a:t>
            </a:r>
            <a:endParaRPr lang="pt-BR" sz="1200" dirty="0">
              <a:latin typeface="Arial" panose="020B0604020202020204" pitchFamily="34" charset="0"/>
              <a:ea typeface="Meiryo UI" panose="020B0604030504040204" pitchFamily="50" charset="-128"/>
              <a:cs typeface="Arial" panose="020B0604020202020204" pitchFamily="34" charset="0"/>
            </a:endParaRPr>
          </a:p>
        </p:txBody>
      </p:sp>
      <p:graphicFrame>
        <p:nvGraphicFramePr>
          <p:cNvPr id="27" name="Chart 26">
            <a:extLst>
              <a:ext uri="{FF2B5EF4-FFF2-40B4-BE49-F238E27FC236}">
                <a16:creationId xmlns:a16="http://schemas.microsoft.com/office/drawing/2014/main" id="{7AD09BB0-FB39-10D0-2D0C-66C51634ABE3}"/>
              </a:ext>
            </a:extLst>
          </p:cNvPr>
          <p:cNvGraphicFramePr>
            <a:graphicFrameLocks/>
          </p:cNvGraphicFramePr>
          <p:nvPr>
            <p:extLst>
              <p:ext uri="{D42A27DB-BD31-4B8C-83A1-F6EECF244321}">
                <p14:modId xmlns:p14="http://schemas.microsoft.com/office/powerpoint/2010/main" val="3248251771"/>
              </p:ext>
            </p:extLst>
          </p:nvPr>
        </p:nvGraphicFramePr>
        <p:xfrm>
          <a:off x="7048498" y="2178996"/>
          <a:ext cx="4286251" cy="4089280"/>
        </p:xfrm>
        <a:graphic>
          <a:graphicData uri="http://schemas.openxmlformats.org/drawingml/2006/chart">
            <c:chart xmlns:c="http://schemas.openxmlformats.org/drawingml/2006/chart" xmlns:r="http://schemas.openxmlformats.org/officeDocument/2006/relationships" r:id="rId5"/>
          </a:graphicData>
        </a:graphic>
      </p:graphicFrame>
      <p:pic>
        <p:nvPicPr>
          <p:cNvPr id="29" name="Picture 28">
            <a:extLst>
              <a:ext uri="{FF2B5EF4-FFF2-40B4-BE49-F238E27FC236}">
                <a16:creationId xmlns:a16="http://schemas.microsoft.com/office/drawing/2014/main" id="{183B36A2-DEBA-2D8C-ABDC-37DFB858AA10}"/>
              </a:ext>
            </a:extLst>
          </p:cNvPr>
          <p:cNvPicPr>
            <a:picLocks noChangeAspect="1"/>
          </p:cNvPicPr>
          <p:nvPr/>
        </p:nvPicPr>
        <p:blipFill>
          <a:blip r:embed="rId6"/>
          <a:stretch>
            <a:fillRect/>
          </a:stretch>
        </p:blipFill>
        <p:spPr>
          <a:xfrm>
            <a:off x="848329" y="2619945"/>
            <a:ext cx="997049" cy="997049"/>
          </a:xfrm>
          <a:prstGeom prst="rect">
            <a:avLst/>
          </a:prstGeom>
        </p:spPr>
      </p:pic>
      <p:pic>
        <p:nvPicPr>
          <p:cNvPr id="31" name="Picture 30">
            <a:extLst>
              <a:ext uri="{FF2B5EF4-FFF2-40B4-BE49-F238E27FC236}">
                <a16:creationId xmlns:a16="http://schemas.microsoft.com/office/drawing/2014/main" id="{5559FAE7-FA5A-954F-E336-C80C49F9766C}"/>
              </a:ext>
            </a:extLst>
          </p:cNvPr>
          <p:cNvPicPr>
            <a:picLocks noChangeAspect="1"/>
          </p:cNvPicPr>
          <p:nvPr/>
        </p:nvPicPr>
        <p:blipFill>
          <a:blip r:embed="rId7"/>
          <a:stretch>
            <a:fillRect/>
          </a:stretch>
        </p:blipFill>
        <p:spPr>
          <a:xfrm>
            <a:off x="5449840" y="2567960"/>
            <a:ext cx="997049" cy="997049"/>
          </a:xfrm>
          <a:prstGeom prst="rect">
            <a:avLst/>
          </a:prstGeom>
        </p:spPr>
      </p:pic>
      <p:pic>
        <p:nvPicPr>
          <p:cNvPr id="33" name="Picture 32">
            <a:extLst>
              <a:ext uri="{FF2B5EF4-FFF2-40B4-BE49-F238E27FC236}">
                <a16:creationId xmlns:a16="http://schemas.microsoft.com/office/drawing/2014/main" id="{CD0EFBB0-878F-391C-599F-2C2F20B545BC}"/>
              </a:ext>
            </a:extLst>
          </p:cNvPr>
          <p:cNvPicPr>
            <a:picLocks noChangeAspect="1"/>
          </p:cNvPicPr>
          <p:nvPr/>
        </p:nvPicPr>
        <p:blipFill>
          <a:blip r:embed="rId8"/>
          <a:stretch>
            <a:fillRect/>
          </a:stretch>
        </p:blipFill>
        <p:spPr>
          <a:xfrm>
            <a:off x="3218422" y="4446569"/>
            <a:ext cx="997049" cy="997049"/>
          </a:xfrm>
          <a:prstGeom prst="rect">
            <a:avLst/>
          </a:prstGeom>
        </p:spPr>
      </p:pic>
      <p:pic>
        <p:nvPicPr>
          <p:cNvPr id="40" name="Picture 39">
            <a:extLst>
              <a:ext uri="{FF2B5EF4-FFF2-40B4-BE49-F238E27FC236}">
                <a16:creationId xmlns:a16="http://schemas.microsoft.com/office/drawing/2014/main" id="{A060F337-E972-9E6C-581A-6A12F0535D57}"/>
              </a:ext>
            </a:extLst>
          </p:cNvPr>
          <p:cNvPicPr>
            <a:picLocks noChangeAspect="1"/>
          </p:cNvPicPr>
          <p:nvPr/>
        </p:nvPicPr>
        <p:blipFill>
          <a:blip r:embed="rId9"/>
          <a:stretch>
            <a:fillRect/>
          </a:stretch>
        </p:blipFill>
        <p:spPr>
          <a:xfrm>
            <a:off x="867520" y="4427623"/>
            <a:ext cx="997049" cy="997049"/>
          </a:xfrm>
          <a:prstGeom prst="rect">
            <a:avLst/>
          </a:prstGeom>
        </p:spPr>
      </p:pic>
      <p:cxnSp>
        <p:nvCxnSpPr>
          <p:cNvPr id="43" name="Straight Arrow Connector 42">
            <a:extLst>
              <a:ext uri="{FF2B5EF4-FFF2-40B4-BE49-F238E27FC236}">
                <a16:creationId xmlns:a16="http://schemas.microsoft.com/office/drawing/2014/main" id="{0C97FF67-86D7-6136-0239-B3E0819907D4}"/>
              </a:ext>
            </a:extLst>
          </p:cNvPr>
          <p:cNvCxnSpPr>
            <a:cxnSpLocks/>
          </p:cNvCxnSpPr>
          <p:nvPr/>
        </p:nvCxnSpPr>
        <p:spPr>
          <a:xfrm flipH="1">
            <a:off x="2032424" y="2999060"/>
            <a:ext cx="3133579" cy="0"/>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60B07E02-3924-0D36-8C47-2F0C416BFA58}"/>
              </a:ext>
            </a:extLst>
          </p:cNvPr>
          <p:cNvCxnSpPr>
            <a:cxnSpLocks/>
          </p:cNvCxnSpPr>
          <p:nvPr/>
        </p:nvCxnSpPr>
        <p:spPr>
          <a:xfrm>
            <a:off x="2086315" y="3278802"/>
            <a:ext cx="3133579" cy="0"/>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87654C69-2C10-106E-A5A8-6B92D832F325}"/>
              </a:ext>
            </a:extLst>
          </p:cNvPr>
          <p:cNvSpPr/>
          <p:nvPr/>
        </p:nvSpPr>
        <p:spPr>
          <a:xfrm>
            <a:off x="2002861" y="2630775"/>
            <a:ext cx="3192705"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noProof="0" dirty="0">
                <a:solidFill>
                  <a:schemeClr val="tx1"/>
                </a:solidFill>
                <a:latin typeface="Arial" panose="020B0604020202020204" pitchFamily="34" charset="0"/>
                <a:ea typeface="Meiryo UI" panose="020B0604030504040204" pitchFamily="50" charset="-128"/>
                <a:cs typeface="Arial" panose="020B0604020202020204" pitchFamily="34" charset="0"/>
              </a:rPr>
              <a:t>Medical care/treatment</a:t>
            </a:r>
            <a:r>
              <a:rPr lang="en-US" sz="1200" dirty="0">
                <a:solidFill>
                  <a:schemeClr val="tx1"/>
                </a:solidFill>
                <a:latin typeface="Arial" panose="020B0604020202020204" pitchFamily="34" charset="0"/>
                <a:ea typeface="Meiryo UI" panose="020B0604030504040204" pitchFamily="50" charset="-128"/>
                <a:cs typeface="Arial" panose="020B0604020202020204" pitchFamily="34" charset="0"/>
              </a:rPr>
              <a:t> &amp; Charge</a:t>
            </a:r>
            <a:endParaRPr lang="en-US" sz="1200" noProof="0" dirty="0">
              <a:solidFill>
                <a:schemeClr val="tx1"/>
              </a:solidFill>
              <a:latin typeface="Arial" panose="020B0604020202020204" pitchFamily="34" charset="0"/>
              <a:ea typeface="Meiryo UI" panose="020B0604030504040204" pitchFamily="50" charset="-128"/>
              <a:cs typeface="Arial" panose="020B0604020202020204" pitchFamily="34" charset="0"/>
            </a:endParaRPr>
          </a:p>
        </p:txBody>
      </p:sp>
      <p:sp>
        <p:nvSpPr>
          <p:cNvPr id="48" name="Rectangle 47">
            <a:extLst>
              <a:ext uri="{FF2B5EF4-FFF2-40B4-BE49-F238E27FC236}">
                <a16:creationId xmlns:a16="http://schemas.microsoft.com/office/drawing/2014/main" id="{B4901B38-9787-E857-518C-EB93373A2312}"/>
              </a:ext>
            </a:extLst>
          </p:cNvPr>
          <p:cNvSpPr/>
          <p:nvPr/>
        </p:nvSpPr>
        <p:spPr>
          <a:xfrm>
            <a:off x="2562774" y="3357831"/>
            <a:ext cx="2180660" cy="2308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①</a:t>
            </a:r>
            <a:r>
              <a:rPr lang="en-US" altLang="ja-JP" sz="1400" b="1" dirty="0">
                <a:solidFill>
                  <a:schemeClr val="tx1"/>
                </a:solidFill>
                <a:latin typeface="Arial" panose="020B0604020202020204" pitchFamily="34" charset="0"/>
                <a:ea typeface="Meiryo UI" panose="020B0604030504040204" pitchFamily="50" charset="-128"/>
                <a:cs typeface="Arial" panose="020B0604020202020204" pitchFamily="34" charset="0"/>
              </a:rPr>
              <a:t>Out-of-Pocket </a:t>
            </a:r>
            <a:r>
              <a:rPr lang="en-US" sz="1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payment</a:t>
            </a:r>
          </a:p>
        </p:txBody>
      </p:sp>
      <p:cxnSp>
        <p:nvCxnSpPr>
          <p:cNvPr id="49" name="Straight Arrow Connector 48">
            <a:extLst>
              <a:ext uri="{FF2B5EF4-FFF2-40B4-BE49-F238E27FC236}">
                <a16:creationId xmlns:a16="http://schemas.microsoft.com/office/drawing/2014/main" id="{DFE2B229-A773-C156-EB53-7B566EDB1FF8}"/>
              </a:ext>
            </a:extLst>
          </p:cNvPr>
          <p:cNvCxnSpPr>
            <a:cxnSpLocks/>
          </p:cNvCxnSpPr>
          <p:nvPr/>
        </p:nvCxnSpPr>
        <p:spPr>
          <a:xfrm>
            <a:off x="2021335" y="3573510"/>
            <a:ext cx="1111576" cy="953678"/>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F77A167A-587E-5023-C97F-65F51FC654C9}"/>
              </a:ext>
            </a:extLst>
          </p:cNvPr>
          <p:cNvSpPr/>
          <p:nvPr/>
        </p:nvSpPr>
        <p:spPr>
          <a:xfrm>
            <a:off x="847275" y="3607824"/>
            <a:ext cx="1017294"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Patient</a:t>
            </a:r>
          </a:p>
        </p:txBody>
      </p:sp>
      <p:sp>
        <p:nvSpPr>
          <p:cNvPr id="51" name="Rectangle 50">
            <a:extLst>
              <a:ext uri="{FF2B5EF4-FFF2-40B4-BE49-F238E27FC236}">
                <a16:creationId xmlns:a16="http://schemas.microsoft.com/office/drawing/2014/main" id="{E272D74F-417D-225B-9AE0-81FB84BB0DF9}"/>
              </a:ext>
            </a:extLst>
          </p:cNvPr>
          <p:cNvSpPr/>
          <p:nvPr/>
        </p:nvSpPr>
        <p:spPr>
          <a:xfrm>
            <a:off x="5418505" y="3635352"/>
            <a:ext cx="1119023" cy="3379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Healthcare Provider</a:t>
            </a:r>
          </a:p>
        </p:txBody>
      </p:sp>
      <p:sp>
        <p:nvSpPr>
          <p:cNvPr id="52" name="Rectangle 51">
            <a:extLst>
              <a:ext uri="{FF2B5EF4-FFF2-40B4-BE49-F238E27FC236}">
                <a16:creationId xmlns:a16="http://schemas.microsoft.com/office/drawing/2014/main" id="{45E21A18-ADD4-107C-80C4-E29816BEF4A0}"/>
              </a:ext>
            </a:extLst>
          </p:cNvPr>
          <p:cNvSpPr/>
          <p:nvPr/>
        </p:nvSpPr>
        <p:spPr>
          <a:xfrm>
            <a:off x="3252122" y="5459123"/>
            <a:ext cx="924813" cy="2098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Insurer</a:t>
            </a:r>
          </a:p>
        </p:txBody>
      </p:sp>
      <p:cxnSp>
        <p:nvCxnSpPr>
          <p:cNvPr id="53" name="Straight Arrow Connector 52">
            <a:extLst>
              <a:ext uri="{FF2B5EF4-FFF2-40B4-BE49-F238E27FC236}">
                <a16:creationId xmlns:a16="http://schemas.microsoft.com/office/drawing/2014/main" id="{033A1ED7-83FB-39DA-0115-1A93FCD0573B}"/>
              </a:ext>
            </a:extLst>
          </p:cNvPr>
          <p:cNvCxnSpPr>
            <a:cxnSpLocks/>
          </p:cNvCxnSpPr>
          <p:nvPr/>
        </p:nvCxnSpPr>
        <p:spPr>
          <a:xfrm flipH="1">
            <a:off x="4095420" y="3566526"/>
            <a:ext cx="912798" cy="846563"/>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BB02D49E-C394-4575-2FD7-E48E3AEE8457}"/>
              </a:ext>
            </a:extLst>
          </p:cNvPr>
          <p:cNvSpPr/>
          <p:nvPr/>
        </p:nvSpPr>
        <p:spPr>
          <a:xfrm rot="19022470">
            <a:off x="4149075" y="3732355"/>
            <a:ext cx="631659" cy="1734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noProof="0" dirty="0">
                <a:solidFill>
                  <a:schemeClr val="tx1"/>
                </a:solidFill>
                <a:latin typeface="Arial" panose="020B0604020202020204" pitchFamily="34" charset="0"/>
                <a:ea typeface="Meiryo UI" panose="020B0604030504040204" pitchFamily="50" charset="-128"/>
                <a:cs typeface="Arial" panose="020B0604020202020204" pitchFamily="34" charset="0"/>
              </a:rPr>
              <a:t>Claim</a:t>
            </a:r>
          </a:p>
        </p:txBody>
      </p:sp>
      <p:cxnSp>
        <p:nvCxnSpPr>
          <p:cNvPr id="55" name="Straight Arrow Connector 54">
            <a:extLst>
              <a:ext uri="{FF2B5EF4-FFF2-40B4-BE49-F238E27FC236}">
                <a16:creationId xmlns:a16="http://schemas.microsoft.com/office/drawing/2014/main" id="{7E86008F-DED8-844C-2E75-9E5BD0FBB769}"/>
              </a:ext>
            </a:extLst>
          </p:cNvPr>
          <p:cNvCxnSpPr>
            <a:cxnSpLocks/>
          </p:cNvCxnSpPr>
          <p:nvPr/>
        </p:nvCxnSpPr>
        <p:spPr>
          <a:xfrm flipV="1">
            <a:off x="4298503" y="3733327"/>
            <a:ext cx="1004078" cy="931219"/>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61889106-C959-B8A2-2CBA-DFDAFC5B9A09}"/>
              </a:ext>
            </a:extLst>
          </p:cNvPr>
          <p:cNvSpPr/>
          <p:nvPr/>
        </p:nvSpPr>
        <p:spPr>
          <a:xfrm rot="19022470">
            <a:off x="4196136" y="4395420"/>
            <a:ext cx="1230925" cy="1576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noProof="0" dirty="0">
                <a:solidFill>
                  <a:schemeClr val="tx1"/>
                </a:solidFill>
                <a:latin typeface="Arial" panose="020B0604020202020204" pitchFamily="34" charset="0"/>
                <a:ea typeface="Meiryo UI" panose="020B0604030504040204" pitchFamily="50" charset="-128"/>
                <a:cs typeface="Arial" panose="020B0604020202020204" pitchFamily="34" charset="0"/>
              </a:rPr>
              <a:t>Claim payment</a:t>
            </a:r>
          </a:p>
        </p:txBody>
      </p:sp>
      <p:sp>
        <p:nvSpPr>
          <p:cNvPr id="57" name="Rectangle 56">
            <a:extLst>
              <a:ext uri="{FF2B5EF4-FFF2-40B4-BE49-F238E27FC236}">
                <a16:creationId xmlns:a16="http://schemas.microsoft.com/office/drawing/2014/main" id="{26414064-4389-766E-8168-C9A34DADFC86}"/>
              </a:ext>
            </a:extLst>
          </p:cNvPr>
          <p:cNvSpPr/>
          <p:nvPr/>
        </p:nvSpPr>
        <p:spPr>
          <a:xfrm rot="2475002">
            <a:off x="2132573" y="3726797"/>
            <a:ext cx="1057189"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②</a:t>
            </a:r>
            <a:r>
              <a:rPr lang="en-US" sz="1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Premium</a:t>
            </a:r>
          </a:p>
        </p:txBody>
      </p:sp>
      <p:cxnSp>
        <p:nvCxnSpPr>
          <p:cNvPr id="58" name="Straight Arrow Connector 57">
            <a:extLst>
              <a:ext uri="{FF2B5EF4-FFF2-40B4-BE49-F238E27FC236}">
                <a16:creationId xmlns:a16="http://schemas.microsoft.com/office/drawing/2014/main" id="{8B86D4EB-8B39-7010-48CA-051A6880AB20}"/>
              </a:ext>
            </a:extLst>
          </p:cNvPr>
          <p:cNvCxnSpPr>
            <a:cxnSpLocks/>
          </p:cNvCxnSpPr>
          <p:nvPr/>
        </p:nvCxnSpPr>
        <p:spPr>
          <a:xfrm>
            <a:off x="1970512" y="5070353"/>
            <a:ext cx="1240877" cy="0"/>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563BF529-48FE-12A7-4FA0-BA3E354CA86F}"/>
              </a:ext>
            </a:extLst>
          </p:cNvPr>
          <p:cNvSpPr/>
          <p:nvPr/>
        </p:nvSpPr>
        <p:spPr>
          <a:xfrm>
            <a:off x="698812" y="5438435"/>
            <a:ext cx="1354018"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Government</a:t>
            </a:r>
          </a:p>
        </p:txBody>
      </p:sp>
      <p:sp>
        <p:nvSpPr>
          <p:cNvPr id="60" name="Rectangle 59">
            <a:extLst>
              <a:ext uri="{FF2B5EF4-FFF2-40B4-BE49-F238E27FC236}">
                <a16:creationId xmlns:a16="http://schemas.microsoft.com/office/drawing/2014/main" id="{0B3DFB2F-6AB2-FC0A-B5A3-5E57EEB7099C}"/>
              </a:ext>
            </a:extLst>
          </p:cNvPr>
          <p:cNvSpPr/>
          <p:nvPr/>
        </p:nvSpPr>
        <p:spPr>
          <a:xfrm>
            <a:off x="2038385" y="4782821"/>
            <a:ext cx="924813" cy="2308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③</a:t>
            </a:r>
            <a:r>
              <a:rPr lang="en-US" sz="1400" b="1" noProof="0" dirty="0">
                <a:solidFill>
                  <a:schemeClr val="tx1"/>
                </a:solidFill>
                <a:latin typeface="Arial" panose="020B0604020202020204" pitchFamily="34" charset="0"/>
                <a:ea typeface="Meiryo UI" panose="020B0604030504040204" pitchFamily="50" charset="-128"/>
                <a:cs typeface="Arial" panose="020B0604020202020204" pitchFamily="34" charset="0"/>
              </a:rPr>
              <a:t>Budget</a:t>
            </a:r>
          </a:p>
        </p:txBody>
      </p:sp>
      <p:sp>
        <p:nvSpPr>
          <p:cNvPr id="63" name="Rectangle 62">
            <a:extLst>
              <a:ext uri="{FF2B5EF4-FFF2-40B4-BE49-F238E27FC236}">
                <a16:creationId xmlns:a16="http://schemas.microsoft.com/office/drawing/2014/main" id="{510C2465-FBD9-C2E0-DD05-29978A23730B}"/>
              </a:ext>
            </a:extLst>
          </p:cNvPr>
          <p:cNvSpPr/>
          <p:nvPr/>
        </p:nvSpPr>
        <p:spPr>
          <a:xfrm>
            <a:off x="7259203" y="1931555"/>
            <a:ext cx="4249491" cy="2539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2000" noProof="0" dirty="0">
                <a:solidFill>
                  <a:schemeClr val="tx1"/>
                </a:solidFill>
                <a:latin typeface="Arial" panose="020B0604020202020204" pitchFamily="34" charset="0"/>
                <a:ea typeface="Meiryo UI" panose="020B0604030504040204" pitchFamily="50" charset="-128"/>
                <a:cs typeface="Arial" panose="020B0604020202020204" pitchFamily="34" charset="0"/>
              </a:rPr>
              <a:t>Health expenditure share by source</a:t>
            </a:r>
          </a:p>
        </p:txBody>
      </p:sp>
    </p:spTree>
    <p:extLst>
      <p:ext uri="{BB962C8B-B14F-4D97-AF65-F5344CB8AC3E}">
        <p14:creationId xmlns:p14="http://schemas.microsoft.com/office/powerpoint/2010/main" val="4281991067"/>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smtClean="0">
            <a:solidFill>
              <a:schemeClr val="tx1"/>
            </a:solidFill>
            <a:latin typeface="Meiryo UI" panose="020B0604030504040204" pitchFamily="50" charset="-128"/>
            <a:ea typeface="Meiryo UI" panose="020B0604030504040204" pitchFamily="50" charset="-128"/>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22318419_win32_SL_V9" id="{8502042B-488E-4F33-AD20-77B40A1BC1AA}" vid="{A90C26AF-23CA-48C5-BFF9-84DC7B1C91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50B30E212BAFC4FA7534AFFB67A36C3" ma:contentTypeVersion="17" ma:contentTypeDescription="Create a new document." ma:contentTypeScope="" ma:versionID="1295e896256cba98299c08d19fe3ad13">
  <xsd:schema xmlns:xsd="http://www.w3.org/2001/XMLSchema" xmlns:xs="http://www.w3.org/2001/XMLSchema" xmlns:p="http://schemas.microsoft.com/office/2006/metadata/properties" xmlns:ns3="006ef7e9-e438-4bc7-8ed6-04359ef1fa5d" xmlns:ns4="0fc30df0-37aa-4ddc-82ec-f47591415e12" targetNamespace="http://schemas.microsoft.com/office/2006/metadata/properties" ma:root="true" ma:fieldsID="8e9751099d4fa8ee5db177a2b2141a23" ns3:_="" ns4:_="">
    <xsd:import namespace="006ef7e9-e438-4bc7-8ed6-04359ef1fa5d"/>
    <xsd:import namespace="0fc30df0-37aa-4ddc-82ec-f47591415e12"/>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OCR" minOccurs="0"/>
                <xsd:element ref="ns4:SharedWithUsers" minOccurs="0"/>
                <xsd:element ref="ns4:SharedWithDetails" minOccurs="0"/>
                <xsd:element ref="ns4:SharingHintHash" minOccurs="0"/>
                <xsd:element ref="ns3:MediaServiceDateTaken" minOccurs="0"/>
                <xsd:element ref="ns3:_activity" minOccurs="0"/>
                <xsd:element ref="ns3:MediaServiceObjectDetectorVersions" minOccurs="0"/>
                <xsd:element ref="ns3:MediaServiceSearchProperties" minOccurs="0"/>
                <xsd:element ref="ns3:MediaServiceSystemTag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6ef7e9-e438-4bc7-8ed6-04359ef1fa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_activity" ma:index="20" nillable="true" ma:displayName="_activity" ma:hidden="true" ma:internalName="_activity">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SystemTags" ma:index="23" nillable="true" ma:displayName="MediaServiceSystemTags" ma:hidden="true" ma:internalName="MediaServiceSystemTag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fc30df0-37aa-4ddc-82ec-f47591415e12"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006ef7e9-e438-4bc7-8ed6-04359ef1fa5d" xsi:nil="true"/>
    <_activity xmlns="006ef7e9-e438-4bc7-8ed6-04359ef1fa5d" xsi:nil="true"/>
  </documentManagement>
</p:properties>
</file>

<file path=customXml/itemProps1.xml><?xml version="1.0" encoding="utf-8"?>
<ds:datastoreItem xmlns:ds="http://schemas.openxmlformats.org/officeDocument/2006/customXml" ds:itemID="{FAEEDDBB-459B-486B-89BE-31FD106964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06ef7e9-e438-4bc7-8ed6-04359ef1fa5d"/>
    <ds:schemaRef ds:uri="0fc30df0-37aa-4ddc-82ec-f47591415e1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7B39BD0-040C-43BE-B0E4-512B09E8003F}">
  <ds:schemaRefs>
    <ds:schemaRef ds:uri="http://schemas.microsoft.com/sharepoint/v3/contenttype/forms"/>
  </ds:schemaRefs>
</ds:datastoreItem>
</file>

<file path=customXml/itemProps3.xml><?xml version="1.0" encoding="utf-8"?>
<ds:datastoreItem xmlns:ds="http://schemas.openxmlformats.org/officeDocument/2006/customXml" ds:itemID="{AB045227-5724-4DBF-9712-031B1BFB2C3C}">
  <ds:schemaRefs>
    <ds:schemaRef ds:uri="http://purl.org/dc/terms/"/>
    <ds:schemaRef ds:uri="http://www.w3.org/XML/1998/namespace"/>
    <ds:schemaRef ds:uri="http://schemas.openxmlformats.org/package/2006/metadata/core-properties"/>
    <ds:schemaRef ds:uri="http://schemas.microsoft.com/office/2006/documentManagement/types"/>
    <ds:schemaRef ds:uri="006ef7e9-e438-4bc7-8ed6-04359ef1fa5d"/>
    <ds:schemaRef ds:uri="http://purl.org/dc/dcmitype/"/>
    <ds:schemaRef ds:uri="http://purl.org/dc/elements/1.1/"/>
    <ds:schemaRef ds:uri="http://schemas.microsoft.com/office/infopath/2007/PartnerControls"/>
    <ds:schemaRef ds:uri="0fc30df0-37aa-4ddc-82ec-f47591415e12"/>
    <ds:schemaRef ds:uri="http://schemas.microsoft.com/office/2006/metadata/propertie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{D9ACC382-1284-438C-B537-ACFEECFC47F0}tf22318419_win32</Template>
  <TotalTime>13300</TotalTime>
  <Words>7915</Words>
  <Application>Microsoft Office PowerPoint</Application>
  <PresentationFormat>Widescreen</PresentationFormat>
  <Paragraphs>848</Paragraphs>
  <Slides>31</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Meiryo UI</vt:lpstr>
      <vt:lpstr>Arial</vt:lpstr>
      <vt:lpstr>Calibri</vt:lpstr>
      <vt:lpstr>Wingdings</vt:lpstr>
      <vt:lpstr>Custom</vt:lpstr>
      <vt:lpstr>Japan’s Health  Insurance System and Reimbursement for  AI Medical Devices</vt:lpstr>
      <vt:lpstr>Key questions for this talk</vt:lpstr>
      <vt:lpstr>Agenda</vt:lpstr>
      <vt:lpstr>Agenda</vt:lpstr>
      <vt:lpstr>Universal health coverage and demographic challenges</vt:lpstr>
      <vt:lpstr>Japan's healthcare system</vt:lpstr>
      <vt:lpstr>Japan's healthcare system</vt:lpstr>
      <vt:lpstr>Rising health expenditure due to aging</vt:lpstr>
      <vt:lpstr>Japan's healthcare system</vt:lpstr>
      <vt:lpstr>Different coinsurance by age and income level</vt:lpstr>
      <vt:lpstr>Japan's healthcare system</vt:lpstr>
      <vt:lpstr>Different insurance provider by age and occupation</vt:lpstr>
      <vt:lpstr>Reallocation of budgets</vt:lpstr>
      <vt:lpstr>Agenda</vt:lpstr>
      <vt:lpstr>Nationwide standardized points</vt:lpstr>
      <vt:lpstr>Regulatory approval and listing for reimbursement</vt:lpstr>
      <vt:lpstr>Fee schedule revision</vt:lpstr>
      <vt:lpstr>Role of Health Technology Assessment</vt:lpstr>
      <vt:lpstr>Regulatory approval specific to medical device</vt:lpstr>
      <vt:lpstr>Reimbursement listing specific to medical device</vt:lpstr>
      <vt:lpstr>Agenda</vt:lpstr>
      <vt:lpstr>Financial difficulties at macro-level and micro-level</vt:lpstr>
      <vt:lpstr>Difficulty in evaluating AI medical device </vt:lpstr>
      <vt:lpstr>Regulatory approval for AI medical device</vt:lpstr>
      <vt:lpstr>Reimbursement listing and revision for AI medical device</vt:lpstr>
      <vt:lpstr>Example I. EndoBRAIN-EYE® </vt:lpstr>
      <vt:lpstr>Example II. CureApp SC </vt:lpstr>
      <vt:lpstr>Summary: Challenges and opportunities</vt:lpstr>
      <vt:lpstr>Thank you for your attention!</vt:lpstr>
      <vt:lpstr>Appendix</vt:lpstr>
      <vt:lpstr>Health expenditure by budget source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Koiso, Satoshi</dc:creator>
  <cp:lastModifiedBy>Satoshi Koiso</cp:lastModifiedBy>
  <cp:revision>111</cp:revision>
  <cp:lastPrinted>2025-04-13T10:58:46Z</cp:lastPrinted>
  <dcterms:created xsi:type="dcterms:W3CDTF">2025-03-13T23:30:58Z</dcterms:created>
  <dcterms:modified xsi:type="dcterms:W3CDTF">2026-06-19T05:32:02Z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0x010100150B30E212BAFC4FA7534AFFB67A36C3</vt:lpwstr>
  </property>
</Properties>
</file>